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1.jpeg" ContentType="image/jpeg"/>
  <Override PartName="/ppt/notesSlides/notesSlide2.xml" ContentType="application/vnd.openxmlformats-officedocument.presentationml.notesSlide+xml"/>
  <Override PartName="/ppt/notesSlides/notesSlide3.xml" ContentType="application/vnd.openxmlformats-officedocument.presentationml.notesSlide+xml"/>
  <Override PartName="/ppt/media/image2.jpeg" ContentType="image/jpeg"/>
  <Override PartName="/ppt/notesSlides/notesSlide4.xml" ContentType="application/vnd.openxmlformats-officedocument.presentationml.notesSlide+xml"/>
  <Override PartName="/ppt/media/image3.jpeg" ContentType="image/jpeg"/>
  <Override PartName="/ppt/media/image4.jpeg" ContentType="image/jpeg"/>
  <Override PartName="/ppt/media/image5.jpeg" ContentType="image/jpeg"/>
  <Override PartName="/ppt/media/image6.jpeg" ContentType="image/jpeg"/>
  <Override PartName="/ppt/media/image7.jpeg" ContentType="image/jpeg"/>
  <Override PartName="/ppt/media/image8.jpeg" ContentType="image/jpeg"/>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B0E26"/>
        </a:fontRef>
        <a:srgbClr val="0B0E26"/>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ECCDD"/>
          </a:solidFill>
        </a:fill>
      </a:tcStyle>
    </a:wholeTbl>
    <a:band2H>
      <a:tcTxStyle b="def" i="def"/>
      <a:tcStyle>
        <a:tcBdr/>
        <a:fill>
          <a:solidFill>
            <a:srgbClr val="E8E7E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B0E26"/>
        </a:fontRef>
        <a:srgbClr val="0B0E26"/>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rgbClr val="CECCDD"/>
          </a:solidFill>
        </a:fill>
      </a:tcStyle>
    </a:wholeTbl>
    <a:band2H>
      <a:tcTxStyle b="def" i="def"/>
      <a:tcStyle>
        <a:tcBdr/>
        <a:fill>
          <a:solidFill>
            <a:srgbClr val="E8E7EF"/>
          </a:solidFill>
        </a:fill>
      </a:tcStyle>
    </a:band2H>
    <a:firstCol>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1"/>
          </a:solidFill>
        </a:fill>
      </a:tcStyle>
    </a:firstCol>
    <a:lastRow>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381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1"/>
          </a:solidFill>
        </a:fill>
      </a:tcStyle>
    </a:lastRow>
    <a:firstRow>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381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1"/>
          </a:solidFill>
        </a:fill>
      </a:tcStyle>
    </a:firstRow>
  </a:tblStyle>
  <a:tblStyle styleId="{EEE7283C-3CF3-47DC-8721-378D4A62B228}" styleName="">
    <a:tblBg/>
    <a:wholeTbl>
      <a:tcTxStyle b="off" i="off">
        <a:fontRef idx="minor">
          <a:srgbClr val="0B0E26"/>
        </a:fontRef>
        <a:srgbClr val="0B0E26"/>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rgbClr val="CBCBD1"/>
          </a:solidFill>
        </a:fill>
      </a:tcStyle>
    </a:wholeTbl>
    <a:band2H>
      <a:tcTxStyle b="def" i="def"/>
      <a:tcStyle>
        <a:tcBdr/>
        <a:fill>
          <a:solidFill>
            <a:srgbClr val="E7E7EA"/>
          </a:solidFill>
        </a:fill>
      </a:tcStyle>
    </a:band2H>
    <a:firstCol>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3"/>
          </a:solidFill>
        </a:fill>
      </a:tcStyle>
    </a:firstCol>
    <a:lastRow>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381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3"/>
          </a:solidFill>
        </a:fill>
      </a:tcStyle>
    </a:lastRow>
    <a:firstRow>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381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3"/>
          </a:solidFill>
        </a:fill>
      </a:tcStyle>
    </a:firstRow>
  </a:tblStyle>
  <a:tblStyle styleId="{CF821DB8-F4EB-4A41-A1BA-3FCAFE7338EE}" styleName="">
    <a:tblBg/>
    <a:wholeTbl>
      <a:tcTxStyle b="off" i="off">
        <a:fontRef idx="minor">
          <a:srgbClr val="0B0E26"/>
        </a:fontRef>
        <a:srgbClr val="0B0E26"/>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rgbClr val="EBEFF9"/>
          </a:solidFill>
        </a:fill>
      </a:tcStyle>
    </a:wholeTbl>
    <a:band2H>
      <a:tcTxStyle b="def" i="def"/>
      <a:tcStyle>
        <a:tcBdr/>
        <a:fill>
          <a:solidFill>
            <a:srgbClr val="F5F7FC"/>
          </a:solidFill>
        </a:fill>
      </a:tcStyle>
    </a:band2H>
    <a:firstCol>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6"/>
          </a:solidFill>
        </a:fill>
      </a:tcStyle>
    </a:firstCol>
    <a:lastRow>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381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6"/>
          </a:solidFill>
        </a:fill>
      </a:tcStyle>
    </a:lastRow>
    <a:firstRow>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381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chemeClr val="accent6"/>
          </a:solidFill>
        </a:fill>
      </a:tcStyle>
    </a:firstRow>
  </a:tblStyle>
  <a:tblStyle styleId="{33BA23B1-9221-436E-865A-0063620EA4FD}" styleName="">
    <a:tblBg/>
    <a:wholeTbl>
      <a:tcTxStyle b="off" i="off">
        <a:fontRef idx="minor">
          <a:srgbClr val="0B0E26"/>
        </a:fontRef>
        <a:srgbClr val="0B0E26"/>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7"/>
          </a:solidFill>
        </a:fill>
      </a:tcStyle>
    </a:wholeTbl>
    <a:band2H>
      <a:tcTxStyle b="def" i="def"/>
      <a:tcStyle>
        <a:tcBdr/>
        <a:fill>
          <a:solidFill>
            <a:srgbClr val="26251B"/>
          </a:solidFill>
        </a:fill>
      </a:tcStyle>
    </a:band2H>
    <a:firstCol>
      <a:tcTxStyle b="on" i="off">
        <a:fontRef idx="minor">
          <a:srgbClr val="26251B"/>
        </a:fontRef>
        <a:srgbClr val="26251B"/>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B0E26"/>
        </a:fontRef>
        <a:srgbClr val="0B0E26"/>
      </a:tcTxStyle>
      <a:tcStyle>
        <a:tcBdr>
          <a:left>
            <a:ln w="12700" cap="flat">
              <a:noFill/>
              <a:miter lim="400000"/>
            </a:ln>
          </a:left>
          <a:right>
            <a:ln w="12700" cap="flat">
              <a:noFill/>
              <a:miter lim="400000"/>
            </a:ln>
          </a:right>
          <a:top>
            <a:ln w="50800" cap="flat">
              <a:solidFill>
                <a:srgbClr val="0B0E26"/>
              </a:solidFill>
              <a:prstDash val="solid"/>
              <a:round/>
            </a:ln>
          </a:top>
          <a:bottom>
            <a:ln w="25400" cap="flat">
              <a:solidFill>
                <a:srgbClr val="0B0E26"/>
              </a:solidFill>
              <a:prstDash val="solid"/>
              <a:round/>
            </a:ln>
          </a:bottom>
          <a:insideH>
            <a:ln w="12700" cap="flat">
              <a:noFill/>
              <a:miter lim="400000"/>
            </a:ln>
          </a:insideH>
          <a:insideV>
            <a:ln w="12700" cap="flat">
              <a:noFill/>
              <a:miter lim="400000"/>
            </a:ln>
          </a:insideV>
        </a:tcBdr>
        <a:fill>
          <a:solidFill>
            <a:srgbClr val="26251B"/>
          </a:solidFill>
        </a:fill>
      </a:tcStyle>
    </a:lastRow>
    <a:firstRow>
      <a:tcTxStyle b="on" i="off">
        <a:fontRef idx="minor">
          <a:srgbClr val="26251B"/>
        </a:fontRef>
        <a:srgbClr val="26251B"/>
      </a:tcTxStyle>
      <a:tcStyle>
        <a:tcBdr>
          <a:left>
            <a:ln w="12700" cap="flat">
              <a:noFill/>
              <a:miter lim="400000"/>
            </a:ln>
          </a:left>
          <a:right>
            <a:ln w="12700" cap="flat">
              <a:noFill/>
              <a:miter lim="400000"/>
            </a:ln>
          </a:right>
          <a:top>
            <a:ln w="25400" cap="flat">
              <a:solidFill>
                <a:srgbClr val="0B0E26"/>
              </a:solidFill>
              <a:prstDash val="solid"/>
              <a:round/>
            </a:ln>
          </a:top>
          <a:bottom>
            <a:ln w="25400" cap="flat">
              <a:solidFill>
                <a:srgbClr val="0B0E26"/>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0B0E26"/>
        </a:fontRef>
        <a:srgbClr val="0B0E26"/>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rgbClr val="CACACB"/>
          </a:solidFill>
        </a:fill>
      </a:tcStyle>
    </a:wholeTbl>
    <a:band2H>
      <a:tcTxStyle b="def" i="def"/>
      <a:tcStyle>
        <a:tcBdr/>
        <a:fill>
          <a:solidFill>
            <a:srgbClr val="E6E6E7"/>
          </a:solidFill>
        </a:fill>
      </a:tcStyle>
    </a:band2H>
    <a:firstCol>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rgbClr val="0B0E26"/>
          </a:solidFill>
        </a:fill>
      </a:tcStyle>
    </a:firstCol>
    <a:lastRow>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38100" cap="flat">
              <a:solidFill>
                <a:srgbClr val="26251B"/>
              </a:solidFill>
              <a:prstDash val="solid"/>
              <a:round/>
            </a:ln>
          </a:top>
          <a:bottom>
            <a:ln w="127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rgbClr val="0B0E26"/>
          </a:solidFill>
        </a:fill>
      </a:tcStyle>
    </a:lastRow>
    <a:firstRow>
      <a:tcTxStyle b="on" i="off">
        <a:fontRef idx="minor">
          <a:srgbClr val="26251B"/>
        </a:fontRef>
        <a:srgbClr val="26251B"/>
      </a:tcTxStyle>
      <a:tcStyle>
        <a:tcBdr>
          <a:left>
            <a:ln w="12700" cap="flat">
              <a:solidFill>
                <a:srgbClr val="26251B"/>
              </a:solidFill>
              <a:prstDash val="solid"/>
              <a:round/>
            </a:ln>
          </a:left>
          <a:right>
            <a:ln w="12700" cap="flat">
              <a:solidFill>
                <a:srgbClr val="26251B"/>
              </a:solidFill>
              <a:prstDash val="solid"/>
              <a:round/>
            </a:ln>
          </a:right>
          <a:top>
            <a:ln w="12700" cap="flat">
              <a:solidFill>
                <a:srgbClr val="26251B"/>
              </a:solidFill>
              <a:prstDash val="solid"/>
              <a:round/>
            </a:ln>
          </a:top>
          <a:bottom>
            <a:ln w="38100" cap="flat">
              <a:solidFill>
                <a:srgbClr val="26251B"/>
              </a:solidFill>
              <a:prstDash val="solid"/>
              <a:round/>
            </a:ln>
          </a:bottom>
          <a:insideH>
            <a:ln w="12700" cap="flat">
              <a:solidFill>
                <a:srgbClr val="26251B"/>
              </a:solidFill>
              <a:prstDash val="solid"/>
              <a:round/>
            </a:ln>
          </a:insideH>
          <a:insideV>
            <a:ln w="12700" cap="flat">
              <a:solidFill>
                <a:srgbClr val="26251B"/>
              </a:solidFill>
              <a:prstDash val="solid"/>
              <a:round/>
            </a:ln>
          </a:insideV>
        </a:tcBdr>
        <a:fill>
          <a:solidFill>
            <a:srgbClr val="0B0E2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1"/>
  <c:roundedCorners val="0"/>
  <c:chart>
    <c:autoTitleDeleted val="1"/>
    <c:plotArea>
      <c:layout>
        <c:manualLayout>
          <c:layoutTarget val="inner"/>
          <c:xMode val="edge"/>
          <c:yMode val="edge"/>
          <c:x val="0.0694346"/>
          <c:y val="0.120688"/>
          <c:w val="0.925565"/>
          <c:h val="0.762207"/>
        </c:manualLayout>
      </c:layout>
      <c:barChart>
        <c:barDir val="col"/>
        <c:grouping val="stacked"/>
        <c:varyColors val="0"/>
        <c:ser>
          <c:idx val="0"/>
          <c:order val="0"/>
          <c:tx>
            <c:strRef>
              <c:f>Sheet1!$B$1</c:f>
              <c:strCache>
                <c:ptCount val="1"/>
                <c:pt idx="0">
                  <c:v>Advisory Teams (Desk)</c:v>
                </c:pt>
              </c:strCache>
            </c:strRef>
          </c:tx>
          <c:spPr>
            <a:solidFill>
              <a:schemeClr val="accent3"/>
            </a:solidFill>
            <a:ln w="12700" cap="flat">
              <a:noFill/>
              <a:miter lim="400000"/>
            </a:ln>
            <a:effectLst/>
          </c:spPr>
          <c:invertIfNegative val="0"/>
          <c:dLbls>
            <c:numFmt formatCode="[&lt;1];&quot;₹&quot;0.0" sourceLinked="0"/>
            <c:txPr>
              <a:bodyPr/>
              <a:lstStyle/>
              <a:p>
                <a:pPr>
                  <a:defRPr b="1" i="0" strike="noStrike" sz="900" u="none">
                    <a:solidFill>
                      <a:srgbClr val="FFFFFF"/>
                    </a:solidFill>
                    <a:latin typeface="Calibri"/>
                  </a:defRPr>
                </a:pPr>
              </a:p>
            </c:txPr>
            <c:dLblPos val="ctr"/>
            <c:showLegendKey val="0"/>
            <c:showVal val="1"/>
            <c:showCatName val="0"/>
            <c:showSerName val="0"/>
            <c:showPercent val="0"/>
            <c:showBubbleSize val="0"/>
            <c:showLeaderLines val="0"/>
          </c:dLbls>
          <c:cat>
            <c:strRef>
              <c:f>Sheet1!$A$2:$A$6</c:f>
              <c:strCache>
                <c:ptCount val="5"/>
                <c:pt idx="0">
                  <c:v>Month 15
₹87 L</c:v>
                </c:pt>
                <c:pt idx="1">
                  <c:v>Year 2
₹2.3 Cr</c:v>
                </c:pt>
                <c:pt idx="2">
                  <c:v>Year 3
₹6.5 Cr</c:v>
                </c:pt>
                <c:pt idx="3">
                  <c:v>Year 4
₹13.2 Cr</c:v>
                </c:pt>
                <c:pt idx="4">
                  <c:v>Year 5
₹23.1 Cr</c:v>
                </c:pt>
              </c:strCache>
            </c:strRef>
          </c:cat>
          <c:val>
            <c:numRef>
              <c:f>Sheet1!$B$2:$B$6</c:f>
              <c:numCache>
                <c:ptCount val="5"/>
                <c:pt idx="0">
                  <c:v>0.650000</c:v>
                </c:pt>
                <c:pt idx="1">
                  <c:v>1.430000</c:v>
                </c:pt>
                <c:pt idx="2">
                  <c:v>3.760000</c:v>
                </c:pt>
                <c:pt idx="3">
                  <c:v>7.100000</c:v>
                </c:pt>
                <c:pt idx="4">
                  <c:v>11.130000</c:v>
                </c:pt>
              </c:numCache>
            </c:numRef>
          </c:val>
        </c:ser>
        <c:ser>
          <c:idx val="1"/>
          <c:order val="1"/>
          <c:tx>
            <c:strRef>
              <c:f>Sheet1!$C$1</c:f>
              <c:strCache>
                <c:ptCount val="1"/>
                <c:pt idx="0">
                  <c:v>Individual (Plus/Pro)</c:v>
                </c:pt>
              </c:strCache>
            </c:strRef>
          </c:tx>
          <c:spPr>
            <a:solidFill>
              <a:schemeClr val="accent1"/>
            </a:solidFill>
            <a:ln w="12700" cap="flat">
              <a:noFill/>
              <a:miter lim="400000"/>
            </a:ln>
            <a:effectLst/>
          </c:spPr>
          <c:invertIfNegative val="0"/>
          <c:dLbls>
            <c:numFmt formatCode="[&lt;1];&quot;₹&quot;0.0" sourceLinked="0"/>
            <c:txPr>
              <a:bodyPr/>
              <a:lstStyle/>
              <a:p>
                <a:pPr>
                  <a:defRPr b="1" i="0" strike="noStrike" sz="900" u="none">
                    <a:solidFill>
                      <a:srgbClr val="FFFFFF"/>
                    </a:solidFill>
                    <a:latin typeface="Calibri"/>
                  </a:defRPr>
                </a:pPr>
              </a:p>
            </c:txPr>
            <c:dLblPos val="ctr"/>
            <c:showLegendKey val="0"/>
            <c:showVal val="1"/>
            <c:showCatName val="0"/>
            <c:showSerName val="0"/>
            <c:showPercent val="0"/>
            <c:showBubbleSize val="0"/>
            <c:showLeaderLines val="0"/>
          </c:dLbls>
          <c:cat>
            <c:strRef>
              <c:f>Sheet1!$A$2:$A$6</c:f>
              <c:strCache>
                <c:ptCount val="5"/>
                <c:pt idx="0">
                  <c:v>Month 15
₹87 L</c:v>
                </c:pt>
                <c:pt idx="1">
                  <c:v>Year 2
₹2.3 Cr</c:v>
                </c:pt>
                <c:pt idx="2">
                  <c:v>Year 3
₹6.5 Cr</c:v>
                </c:pt>
                <c:pt idx="3">
                  <c:v>Year 4
₹13.2 Cr</c:v>
                </c:pt>
                <c:pt idx="4">
                  <c:v>Year 5
₹23.1 Cr</c:v>
                </c:pt>
              </c:strCache>
            </c:strRef>
          </c:cat>
          <c:val>
            <c:numRef>
              <c:f>Sheet1!$C$2:$C$6</c:f>
              <c:numCache>
                <c:ptCount val="5"/>
                <c:pt idx="0">
                  <c:v>0.040000</c:v>
                </c:pt>
                <c:pt idx="1">
                  <c:v>0.120000</c:v>
                </c:pt>
                <c:pt idx="2">
                  <c:v>0.420000</c:v>
                </c:pt>
                <c:pt idx="3">
                  <c:v>1.080000</c:v>
                </c:pt>
                <c:pt idx="4">
                  <c:v>2.310000</c:v>
                </c:pt>
              </c:numCache>
            </c:numRef>
          </c:val>
        </c:ser>
        <c:ser>
          <c:idx val="2"/>
          <c:order val="2"/>
          <c:tx>
            <c:strRef>
              <c:f>Sheet1!$D$1</c:f>
              <c:strCache>
                <c:ptCount val="1"/>
                <c:pt idx="0">
                  <c:v>Broker &amp; Wealth APIs</c:v>
                </c:pt>
              </c:strCache>
            </c:strRef>
          </c:tx>
          <c:spPr>
            <a:solidFill>
              <a:srgbClr val="F8CB7A"/>
            </a:solidFill>
            <a:ln w="12700" cap="flat">
              <a:noFill/>
              <a:miter lim="400000"/>
            </a:ln>
            <a:effectLst/>
          </c:spPr>
          <c:invertIfNegative val="0"/>
          <c:dLbls>
            <c:numFmt formatCode="[&lt;1];&quot;₹&quot;0.0" sourceLinked="0"/>
            <c:txPr>
              <a:bodyPr/>
              <a:lstStyle/>
              <a:p>
                <a:pPr>
                  <a:defRPr b="1" i="0" strike="noStrike" sz="900" u="none">
                    <a:solidFill>
                      <a:srgbClr val="0B0E26"/>
                    </a:solidFill>
                    <a:latin typeface="Calibri"/>
                  </a:defRPr>
                </a:pPr>
              </a:p>
            </c:txPr>
            <c:dLblPos val="ctr"/>
            <c:showLegendKey val="0"/>
            <c:showVal val="1"/>
            <c:showCatName val="0"/>
            <c:showSerName val="0"/>
            <c:showPercent val="0"/>
            <c:showBubbleSize val="0"/>
            <c:showLeaderLines val="0"/>
          </c:dLbls>
          <c:cat>
            <c:strRef>
              <c:f>Sheet1!$A$2:$A$6</c:f>
              <c:strCache>
                <c:ptCount val="5"/>
                <c:pt idx="0">
                  <c:v>Month 15
₹87 L</c:v>
                </c:pt>
                <c:pt idx="1">
                  <c:v>Year 2
₹2.3 Cr</c:v>
                </c:pt>
                <c:pt idx="2">
                  <c:v>Year 3
₹6.5 Cr</c:v>
                </c:pt>
                <c:pt idx="3">
                  <c:v>Year 4
₹13.2 Cr</c:v>
                </c:pt>
                <c:pt idx="4">
                  <c:v>Year 5
₹23.1 Cr</c:v>
                </c:pt>
              </c:strCache>
            </c:strRef>
          </c:cat>
          <c:val>
            <c:numRef>
              <c:f>Sheet1!$D$2:$D$6</c:f>
              <c:numCache>
                <c:ptCount val="5"/>
                <c:pt idx="0">
                  <c:v>0.170000</c:v>
                </c:pt>
                <c:pt idx="1">
                  <c:v>0.660000</c:v>
                </c:pt>
                <c:pt idx="2">
                  <c:v>1.490000</c:v>
                </c:pt>
                <c:pt idx="3">
                  <c:v>2.850000</c:v>
                </c:pt>
                <c:pt idx="4">
                  <c:v>5.060000</c:v>
                </c:pt>
              </c:numCache>
            </c:numRef>
          </c:val>
        </c:ser>
        <c:ser>
          <c:idx val="3"/>
          <c:order val="3"/>
          <c:tx>
            <c:strRef>
              <c:f>Sheet1!$E$1</c:f>
              <c:strCache>
                <c:ptCount val="1"/>
                <c:pt idx="0">
                  <c:v>Model Portfolios (Y2+)</c:v>
                </c:pt>
              </c:strCache>
            </c:strRef>
          </c:tx>
          <c:spPr>
            <a:solidFill>
              <a:srgbClr val="9ED9BD"/>
            </a:solidFill>
            <a:ln w="12700" cap="flat">
              <a:noFill/>
              <a:miter lim="400000"/>
            </a:ln>
            <a:effectLst/>
          </c:spPr>
          <c:invertIfNegative val="0"/>
          <c:dLbls>
            <c:numFmt formatCode="[&lt;1];&quot;₹&quot;0.0" sourceLinked="0"/>
            <c:txPr>
              <a:bodyPr/>
              <a:lstStyle/>
              <a:p>
                <a:pPr>
                  <a:defRPr b="1" i="0" strike="noStrike" sz="900" u="none">
                    <a:solidFill>
                      <a:srgbClr val="0B0E26"/>
                    </a:solidFill>
                    <a:latin typeface="Calibri"/>
                  </a:defRPr>
                </a:pPr>
              </a:p>
            </c:txPr>
            <c:dLblPos val="ctr"/>
            <c:showLegendKey val="0"/>
            <c:showVal val="1"/>
            <c:showCatName val="0"/>
            <c:showSerName val="0"/>
            <c:showPercent val="0"/>
            <c:showBubbleSize val="0"/>
            <c:showLeaderLines val="0"/>
          </c:dLbls>
          <c:cat>
            <c:strRef>
              <c:f>Sheet1!$A$2:$A$6</c:f>
              <c:strCache>
                <c:ptCount val="5"/>
                <c:pt idx="0">
                  <c:v>Month 15
₹87 L</c:v>
                </c:pt>
                <c:pt idx="1">
                  <c:v>Year 2
₹2.3 Cr</c:v>
                </c:pt>
                <c:pt idx="2">
                  <c:v>Year 3
₹6.5 Cr</c:v>
                </c:pt>
                <c:pt idx="3">
                  <c:v>Year 4
₹13.2 Cr</c:v>
                </c:pt>
                <c:pt idx="4">
                  <c:v>Year 5
₹23.1 Cr</c:v>
                </c:pt>
              </c:strCache>
            </c:strRef>
          </c:cat>
          <c:val>
            <c:numRef>
              <c:f>Sheet1!$E$2:$E$6</c:f>
              <c:numCache>
                <c:ptCount val="5"/>
                <c:pt idx="0">
                  <c:v>0.000000</c:v>
                </c:pt>
                <c:pt idx="1">
                  <c:v>0.110000</c:v>
                </c:pt>
                <c:pt idx="2">
                  <c:v>0.840000</c:v>
                </c:pt>
                <c:pt idx="3">
                  <c:v>2.190000</c:v>
                </c:pt>
                <c:pt idx="4">
                  <c:v>4.600000</c:v>
                </c:pt>
              </c:numCache>
            </c:numRef>
          </c:val>
        </c:ser>
        <c:gapWidth val="55"/>
        <c:overlap val="100"/>
        <c:axId val="2094734552"/>
        <c:axId val="2094734553"/>
      </c:barChart>
      <c:catAx>
        <c:axId val="2094734552"/>
        <c:scaling>
          <c:orientation val="minMax"/>
        </c:scaling>
        <c:delete val="0"/>
        <c:axPos val="b"/>
        <c:numFmt formatCode="General" sourceLinked="0"/>
        <c:majorTickMark val="out"/>
        <c:minorTickMark val="none"/>
        <c:tickLblPos val="low"/>
        <c:spPr>
          <a:ln w="12700" cap="flat">
            <a:solidFill>
              <a:schemeClr val="accent6"/>
            </a:solidFill>
            <a:prstDash val="solid"/>
            <a:miter lim="800000"/>
          </a:ln>
        </c:spPr>
        <c:txPr>
          <a:bodyPr rot="0"/>
          <a:lstStyle/>
          <a:p>
            <a:pPr>
              <a:defRPr b="1" i="0" strike="noStrike" sz="1200" u="none">
                <a:solidFill>
                  <a:srgbClr val="0B0E26"/>
                </a:solidFill>
                <a:latin typeface="Calibri"/>
              </a:defRPr>
            </a:pPr>
          </a:p>
        </c:txPr>
        <c:crossAx val="2094734553"/>
        <c:crosses val="autoZero"/>
        <c:auto val="1"/>
        <c:lblAlgn val="ctr"/>
        <c:noMultiLvlLbl val="1"/>
      </c:catAx>
      <c:valAx>
        <c:axId val="2094734553"/>
        <c:scaling>
          <c:orientation val="minMax"/>
          <c:max val="28"/>
        </c:scaling>
        <c:delete val="0"/>
        <c:axPos val="l"/>
        <c:majorGridlines>
          <c:spPr>
            <a:ln w="12700" cap="flat">
              <a:solidFill>
                <a:srgbClr val="E3E7F2"/>
              </a:solidFill>
              <a:prstDash val="solid"/>
              <a:miter lim="800000"/>
            </a:ln>
          </c:spPr>
        </c:majorGridlines>
        <c:numFmt formatCode="&quot;₹&quot;0&quot; Cr&quot;" sourceLinked="0"/>
        <c:majorTickMark val="none"/>
        <c:minorTickMark val="none"/>
        <c:tickLblPos val="nextTo"/>
        <c:spPr>
          <a:ln w="12700" cap="flat">
            <a:noFill/>
            <a:prstDash val="solid"/>
            <a:miter lim="800000"/>
          </a:ln>
        </c:spPr>
        <c:txPr>
          <a:bodyPr rot="0"/>
          <a:lstStyle/>
          <a:p>
            <a:pPr>
              <a:defRPr b="0" i="0" strike="noStrike" sz="1000" u="none">
                <a:solidFill>
                  <a:srgbClr val="7C88B0"/>
                </a:solidFill>
                <a:latin typeface="Calibri"/>
              </a:defRPr>
            </a:pPr>
          </a:p>
        </c:txPr>
        <c:crossAx val="2094734552"/>
        <c:crosses val="autoZero"/>
        <c:crossBetween val="between"/>
        <c:majorUnit val="7"/>
        <c:minorUnit val="3.5"/>
      </c:valAx>
      <c:spPr>
        <a:noFill/>
        <a:ln w="12700" cap="flat">
          <a:noFill/>
          <a:miter lim="400000"/>
        </a:ln>
        <a:effectLst/>
      </c:spPr>
    </c:plotArea>
    <c:legend>
      <c:legendPos val="t"/>
      <c:layout>
        <c:manualLayout>
          <c:xMode val="edge"/>
          <c:yMode val="edge"/>
          <c:x val="0.0330881"/>
          <c:y val="0"/>
          <c:w val="0.953126"/>
          <c:h val="0.0571937"/>
        </c:manualLayout>
      </c:layout>
      <c:overlay val="1"/>
      <c:spPr>
        <a:noFill/>
        <a:ln w="12700" cap="flat">
          <a:noFill/>
          <a:miter lim="400000"/>
        </a:ln>
        <a:effectLst/>
      </c:spPr>
      <c:txPr>
        <a:bodyPr rot="0"/>
        <a:lstStyle/>
        <a:p>
          <a:pPr>
            <a:defRPr b="0" i="0" strike="noStrike" sz="1100" u="none">
              <a:solidFill>
                <a:srgbClr val="434B6B"/>
              </a:solidFill>
              <a:latin typeface="Calibri"/>
            </a:defRPr>
          </a:pPr>
        </a:p>
      </c:txPr>
    </c:legend>
    <c:plotVisOnly val="0"/>
    <c:dispBlanksAs val="gap"/>
  </c:chart>
  <c:spPr>
    <a:noFill/>
    <a:ln>
      <a:noFill/>
    </a:ln>
    <a:effectLst/>
  </c:spPr>
  <c:externalData r:id="rId1">
    <c:autoUpdate val="0"/>
  </c:externalData>
</c:chartSpace>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62" name="Shape 62"/>
          <p:cNvSpPr/>
          <p:nvPr>
            <p:ph type="sldImg"/>
          </p:nvPr>
        </p:nvSpPr>
        <p:spPr>
          <a:xfrm>
            <a:off x="1143000" y="685800"/>
            <a:ext cx="4572000" cy="3429000"/>
          </a:xfrm>
          <a:prstGeom prst="rect">
            <a:avLst/>
          </a:prstGeom>
        </p:spPr>
        <p:txBody>
          <a:bodyPr/>
          <a:lstStyle/>
          <a:p>
            <a:pPr/>
          </a:p>
        </p:txBody>
      </p:sp>
      <p:sp>
        <p:nvSpPr>
          <p:cNvPr id="63" name="Shape 6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0B0E26"/>
        </a:solidFill>
        <a:latin typeface="+mn-lt"/>
        <a:ea typeface="+mn-ea"/>
        <a:cs typeface="+mn-cs"/>
        <a:sym typeface="Calibri"/>
      </a:defRPr>
    </a:lvl1pPr>
    <a:lvl2pPr indent="228600" latinLnBrk="0">
      <a:defRPr sz="1200">
        <a:solidFill>
          <a:srgbClr val="0B0E26"/>
        </a:solidFill>
        <a:latin typeface="+mn-lt"/>
        <a:ea typeface="+mn-ea"/>
        <a:cs typeface="+mn-cs"/>
        <a:sym typeface="Calibri"/>
      </a:defRPr>
    </a:lvl2pPr>
    <a:lvl3pPr indent="457200" latinLnBrk="0">
      <a:defRPr sz="1200">
        <a:solidFill>
          <a:srgbClr val="0B0E26"/>
        </a:solidFill>
        <a:latin typeface="+mn-lt"/>
        <a:ea typeface="+mn-ea"/>
        <a:cs typeface="+mn-cs"/>
        <a:sym typeface="Calibri"/>
      </a:defRPr>
    </a:lvl3pPr>
    <a:lvl4pPr indent="685800" latinLnBrk="0">
      <a:defRPr sz="1200">
        <a:solidFill>
          <a:srgbClr val="0B0E26"/>
        </a:solidFill>
        <a:latin typeface="+mn-lt"/>
        <a:ea typeface="+mn-ea"/>
        <a:cs typeface="+mn-cs"/>
        <a:sym typeface="Calibri"/>
      </a:defRPr>
    </a:lvl4pPr>
    <a:lvl5pPr indent="914400" latinLnBrk="0">
      <a:defRPr sz="1200">
        <a:solidFill>
          <a:srgbClr val="0B0E26"/>
        </a:solidFill>
        <a:latin typeface="+mn-lt"/>
        <a:ea typeface="+mn-ea"/>
        <a:cs typeface="+mn-cs"/>
        <a:sym typeface="Calibri"/>
      </a:defRPr>
    </a:lvl5pPr>
    <a:lvl6pPr indent="1143000" latinLnBrk="0">
      <a:defRPr sz="1200">
        <a:solidFill>
          <a:srgbClr val="0B0E26"/>
        </a:solidFill>
        <a:latin typeface="+mn-lt"/>
        <a:ea typeface="+mn-ea"/>
        <a:cs typeface="+mn-cs"/>
        <a:sym typeface="Calibri"/>
      </a:defRPr>
    </a:lvl6pPr>
    <a:lvl7pPr indent="1371600" latinLnBrk="0">
      <a:defRPr sz="1200">
        <a:solidFill>
          <a:srgbClr val="0B0E26"/>
        </a:solidFill>
        <a:latin typeface="+mn-lt"/>
        <a:ea typeface="+mn-ea"/>
        <a:cs typeface="+mn-cs"/>
        <a:sym typeface="Calibri"/>
      </a:defRPr>
    </a:lvl7pPr>
    <a:lvl8pPr indent="1600200" latinLnBrk="0">
      <a:defRPr sz="1200">
        <a:solidFill>
          <a:srgbClr val="0B0E26"/>
        </a:solidFill>
        <a:latin typeface="+mn-lt"/>
        <a:ea typeface="+mn-ea"/>
        <a:cs typeface="+mn-cs"/>
        <a:sym typeface="Calibri"/>
      </a:defRPr>
    </a:lvl8pPr>
    <a:lvl9pPr indent="1828800" latinLnBrk="0">
      <a:defRPr sz="1200">
        <a:solidFill>
          <a:srgbClr val="0B0E26"/>
        </a:solidFill>
        <a:latin typeface="+mn-lt"/>
        <a:ea typeface="+mn-ea"/>
        <a:cs typeface="+mn-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3" name="Shape 83"/>
          <p:cNvSpPr/>
          <p:nvPr>
            <p:ph type="sldImg"/>
          </p:nvPr>
        </p:nvSpPr>
        <p:spPr>
          <a:prstGeom prst="rect">
            <a:avLst/>
          </a:prstGeom>
        </p:spPr>
        <p:txBody>
          <a:bodyPr/>
          <a:lstStyle/>
          <a:p>
            <a:pPr/>
          </a:p>
        </p:txBody>
      </p:sp>
      <p:sp>
        <p:nvSpPr>
          <p:cNvPr id="84" name="Shape 84"/>
          <p:cNvSpPr/>
          <p:nvPr>
            <p:ph type="body" sz="quarter" idx="1"/>
          </p:nvPr>
        </p:nvSpPr>
        <p:spPr>
          <a:prstGeom prst="rect">
            <a:avLst/>
          </a:prstGeom>
        </p:spPr>
        <p:txBody>
          <a:bodyPr/>
          <a:lstStyle/>
          <a:p>
            <a:pPr/>
            <a:r>
              <a:t>Anvest is India's AI research co-pilot. Professionals and serious investors ask in plain English and get answers built from exchange filings, with the source one click away; the same question flows into an editable screen, a costed backtest and portfolio planning. The screenshot is a real answer from 19 October: TCS's September-quarter revenue (₹73,188 cr) and profit (₹13,934 cr) match the NSE XBRL filing exactly.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p>
            <a:pPr/>
            <a:r>
              <a:t>The first buyer is the professional: 2,304 research analysts, 1,057 investment advisers and 539 portfolio managers registered with SEBI, plus distribution professionals, who track a constant stream of filings by hand. Serious investors face the same scattered workflow without the time. General AI can't fix this on its own because it has no verified Indian filings underneath.</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6" name="Shape 166"/>
          <p:cNvSpPr/>
          <p:nvPr>
            <p:ph type="sldImg"/>
          </p:nvPr>
        </p:nvSpPr>
        <p:spPr>
          <a:prstGeom prst="rect">
            <a:avLst/>
          </a:prstGeom>
        </p:spPr>
        <p:txBody>
          <a:bodyPr/>
          <a:lstStyle/>
          <a:p>
            <a:pPr/>
          </a:p>
        </p:txBody>
      </p:sp>
      <p:sp>
        <p:nvSpPr>
          <p:cNvPr id="167" name="Shape 167"/>
          <p:cNvSpPr/>
          <p:nvPr>
            <p:ph type="body" sz="quarter" idx="1"/>
          </p:nvPr>
        </p:nvSpPr>
        <p:spPr>
          <a:prstGeom prst="rect">
            <a:avLst/>
          </a:prstGeom>
        </p:spPr>
        <p:txBody>
          <a:bodyPr/>
          <a:lstStyle/>
          <a:p>
            <a:pPr/>
            <a:r>
              <a:t>Live end-to-end product flow verified on 19 Oct 2026: asking 'Find profitable companies with high ROE and low debt' translates into the explicit formula (profit_margin &gt; 0 AND roe &gt; 15 AND debt_to_equity &lt; 1), matching 516 companies. One click runs a 1-year historical backtest net of Indian brokerage, STT, stamp duty, and slippage against the Nifty 500, and converts the top 10 holdings into an equal-weight virtual paper-trading basket.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 name="Shape 215"/>
          <p:cNvSpPr/>
          <p:nvPr>
            <p:ph type="sldImg"/>
          </p:nvPr>
        </p:nvSpPr>
        <p:spPr>
          <a:prstGeom prst="rect">
            <a:avLst/>
          </a:prstGeom>
        </p:spPr>
        <p:txBody>
          <a:bodyPr/>
          <a:lstStyle/>
          <a:p>
            <a:pPr/>
          </a:p>
        </p:txBody>
      </p:sp>
      <p:sp>
        <p:nvSpPr>
          <p:cNvPr id="216" name="Shape 216"/>
          <p:cNvSpPr/>
          <p:nvPr>
            <p:ph type="body" sz="quarter" idx="1"/>
          </p:nvPr>
        </p:nvSpPr>
        <p:spPr>
          <a:prstGeom prst="rect">
            <a:avLst/>
          </a:prstGeom>
        </p:spPr>
        <p:txBody>
          <a:bodyPr/>
          <a:lstStyle/>
          <a:p>
            <a:pPr/>
            <a:r>
              <a:t>Six live workflows, all reading the same verified warehouse, which is why one founder could build them. The free modules (IPO hub, fund X-ray, bond board, curated screens) bring people in at no acquisition cost; research, backtesting and Desk features are what they pay for. The IPO tile shows Jio Platforms' issue, whose ₹1,065–1,119 band and ₹30,213 Cr size come from its red herring prospectus.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255"/>
          <p:cNvSpPr/>
          <p:nvPr>
            <p:ph type="sldImg"/>
          </p:nvPr>
        </p:nvSpPr>
        <p:spPr>
          <a:prstGeom prst="rect">
            <a:avLst/>
          </a:prstGeom>
        </p:spPr>
        <p:txBody>
          <a:bodyPr/>
          <a:lstStyle/>
          <a:p>
            <a:pPr/>
          </a:p>
        </p:txBody>
      </p:sp>
      <p:sp>
        <p:nvSpPr>
          <p:cNvPr id="256" name="Shape 256"/>
          <p:cNvSpPr/>
          <p:nvPr>
            <p:ph type="body" sz="quarter" idx="1"/>
          </p:nvPr>
        </p:nvSpPr>
        <p:spPr>
          <a:prstGeom prst="rect">
            <a:avLst/>
          </a:prstGeom>
        </p:spPr>
        <p:txBody>
          <a:bodyPr/>
          <a:lstStyle/>
          <a:p>
            <a:pPr/>
            <a:r>
              <a:t>Production snapshot, 20 October 2026: 31 registered accounts, 418 logged research queries across 16 accounts, 238 saved backtest records and 2 saved screens. These totals include founder and testing activity and do not establish retention or paying demand. Revenue and PAT matched the original NSE XBRL for 50 recent consolidated results. The audit measures source-data extraction, not 50 complete AI answers. The earlier four-question live spot-check remains separate.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4" name="Shape 284"/>
          <p:cNvSpPr/>
          <p:nvPr>
            <p:ph type="sldImg"/>
          </p:nvPr>
        </p:nvSpPr>
        <p:spPr>
          <a:prstGeom prst="rect">
            <a:avLst/>
          </a:prstGeom>
        </p:spPr>
        <p:txBody>
          <a:bodyPr/>
          <a:lstStyle/>
          <a:p>
            <a:pPr/>
          </a:p>
        </p:txBody>
      </p:sp>
      <p:sp>
        <p:nvSpPr>
          <p:cNvPr id="285" name="Shape 285"/>
          <p:cNvSpPr/>
          <p:nvPr>
            <p:ph type="body" sz="quarter" idx="1"/>
          </p:nvPr>
        </p:nvSpPr>
        <p:spPr>
          <a:prstGeom prst="rect">
            <a:avLst/>
          </a:prstGeom>
        </p:spPr>
        <p:txBody>
          <a:bodyPr/>
          <a:lstStyle/>
          <a:p>
            <a:pPr/>
            <a:r>
              <a:t>Four tailwinds: grounded AI makes filing research automatable; SEBI's retail algo framework formalises strategy providers (RA registration, funded this round, is what opens the regulated strategy layer later); brokers are exposing accounts to AI agents through MCP; and India's investor base keeps growing. AlphaSense shows professionals pay for source-cited AI research; Anvest offers it at an Indian price point with near-zero marginal data cost.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8" name="Shape 308"/>
          <p:cNvSpPr/>
          <p:nvPr>
            <p:ph type="sldImg"/>
          </p:nvPr>
        </p:nvSpPr>
        <p:spPr>
          <a:prstGeom prst="rect">
            <a:avLst/>
          </a:prstGeom>
        </p:spPr>
        <p:txBody>
          <a:bodyPr/>
          <a:lstStyle/>
          <a:p>
            <a:pPr/>
          </a:p>
        </p:txBody>
      </p:sp>
      <p:sp>
        <p:nvSpPr>
          <p:cNvPr id="309" name="Shape 309"/>
          <p:cNvSpPr/>
          <p:nvPr>
            <p:ph type="body" sz="quarter" idx="1"/>
          </p:nvPr>
        </p:nvSpPr>
        <p:spPr>
          <a:prstGeom prst="rect">
            <a:avLst/>
          </a:prstGeom>
        </p:spPr>
        <p:txBody>
          <a:bodyPr/>
          <a:lstStyle/>
          <a:p>
            <a:pPr/>
            <a:r>
              <a:t>Bottom-up at list prices. The professional segment is the entry: 2,304 RAs, 1,057 IAs and 539 PMS firms, plus distributors, are high-intent buyers we can reach directly, but at Indian prices their SAM is about ₹78 Cr. The venture-scale pool is active investors (about ₹2,292 Cr SAM) reached through self-serve and partner distribution. The year-5 scenario needs about 1% of SAM.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8" name="Shape 318"/>
          <p:cNvSpPr/>
          <p:nvPr>
            <p:ph type="sldImg"/>
          </p:nvPr>
        </p:nvSpPr>
        <p:spPr>
          <a:prstGeom prst="rect">
            <a:avLst/>
          </a:prstGeom>
        </p:spPr>
        <p:txBody>
          <a:bodyPr/>
          <a:lstStyle/>
          <a:p>
            <a:pPr/>
          </a:p>
        </p:txBody>
      </p:sp>
      <p:sp>
        <p:nvSpPr>
          <p:cNvPr id="319" name="Shape 319"/>
          <p:cNvSpPr/>
          <p:nvPr>
            <p:ph type="body" sz="quarter" idx="1"/>
          </p:nvPr>
        </p:nvSpPr>
        <p:spPr>
          <a:prstGeom prst="rect">
            <a:avLst/>
          </a:prstGeom>
        </p:spPr>
        <p:txBody>
          <a:bodyPr/>
          <a:lstStyle/>
          <a:p>
            <a:pPr/>
            <a:r>
              <a:t>Built from each vendor's public product pages on 19 October 2026. Closest alternatives: Trendlyne (AI screener creation, screener backtests, portfolio reports, baskets) and Tijori (natural-language screener and filing timeline) on research; Streak on technical strategies and execution through Zerodha. None connects cited filing answers to costed backtests and paper trading in one account. Our accuracy spot-check matched 3 of 3 answers to the NSE filings; a published head-to-head benchmark is a month-15 milestone.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2" name="Shape 372"/>
          <p:cNvSpPr/>
          <p:nvPr>
            <p:ph type="sldImg"/>
          </p:nvPr>
        </p:nvSpPr>
        <p:spPr>
          <a:prstGeom prst="rect">
            <a:avLst/>
          </a:prstGeom>
        </p:spPr>
        <p:txBody>
          <a:bodyPr/>
          <a:lstStyle/>
          <a:p>
            <a:pPr/>
          </a:p>
        </p:txBody>
      </p:sp>
      <p:sp>
        <p:nvSpPr>
          <p:cNvPr id="373" name="Shape 373"/>
          <p:cNvSpPr/>
          <p:nvPr>
            <p:ph type="body" sz="quarter" idx="1"/>
          </p:nvPr>
        </p:nvSpPr>
        <p:spPr>
          <a:prstGeom prst="rect">
            <a:avLst/>
          </a:prstGeom>
        </p:spPr>
        <p:txBody>
          <a:bodyPr/>
          <a:lstStyle/>
          <a:p>
            <a:pPr/>
            <a:r>
              <a:t>The chatbot is replaceable; the verified corpus is not. Internal audits: 15,899 cash-flow rows recovered from filings the exchange's own context labels broke (zero non-reconciling); 3,608 figures where two sources disagreed across 1,022 companies, 1,521 of them 10x scaling errors, flagged by a cross-source audit (spot checks confirmed the exchange XBRL side); and every tier-1 bank result in a 21-filing Q1 FY27 sample was a scanned PDF. Each fix compounds and is hard to rediscover.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3" name="Shape 413"/>
          <p:cNvSpPr/>
          <p:nvPr>
            <p:ph type="sldImg"/>
          </p:nvPr>
        </p:nvSpPr>
        <p:spPr>
          <a:prstGeom prst="rect">
            <a:avLst/>
          </a:prstGeom>
        </p:spPr>
        <p:txBody>
          <a:bodyPr/>
          <a:lstStyle/>
          <a:p>
            <a:pPr/>
          </a:p>
        </p:txBody>
      </p:sp>
      <p:sp>
        <p:nvSpPr>
          <p:cNvPr id="414" name="Shape 414"/>
          <p:cNvSpPr/>
          <p:nvPr>
            <p:ph type="body" sz="quarter" idx="1"/>
          </p:nvPr>
        </p:nvSpPr>
        <p:spPr>
          <a:prstGeom prst="rect">
            <a:avLst/>
          </a:prstGeom>
        </p:spPr>
        <p:txBody>
          <a:bodyPr/>
          <a:lstStyle/>
          <a:p>
            <a:pPr/>
            <a:r>
              <a:t>Two engines carry this round: Desk seats (1–5+ seats, so solo RAs and IAs can start small) and API/MCP licences for brokers and wealth apps, priced per active user with volume tiers. Plus and Pro are self-serve upside from the free funnel; strategies come after RA registration and empanelment, post-Series A. Pricing is launch pricing; checkout goes live in the first 90 days.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1" name="Shape 451"/>
          <p:cNvSpPr/>
          <p:nvPr>
            <p:ph type="sldImg"/>
          </p:nvPr>
        </p:nvSpPr>
        <p:spPr>
          <a:prstGeom prst="rect">
            <a:avLst/>
          </a:prstGeom>
        </p:spPr>
        <p:txBody>
          <a:bodyPr/>
          <a:lstStyle/>
          <a:p>
            <a:pPr/>
          </a:p>
        </p:txBody>
      </p:sp>
      <p:sp>
        <p:nvSpPr>
          <p:cNvPr id="452" name="Shape 452"/>
          <p:cNvSpPr/>
          <p:nvPr>
            <p:ph type="body" sz="quarter" idx="1"/>
          </p:nvPr>
        </p:nvSpPr>
        <p:spPr>
          <a:prstGeom prst="rect">
            <a:avLst/>
          </a:prstGeom>
        </p:spPr>
        <p:txBody>
          <a:bodyPr/>
          <a:lstStyle/>
          <a:p>
            <a:pPr/>
            <a:r>
              <a:t>Professionals first: a short list of 200 firms, 40 demos and 10 paid pilots in the first 90 days, with seats from month 3. Search pages, partner integrations and shareable answers compound distribution without paid consumer acquisition.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0" name="Shape 500"/>
          <p:cNvSpPr/>
          <p:nvPr>
            <p:ph type="sldImg"/>
          </p:nvPr>
        </p:nvSpPr>
        <p:spPr>
          <a:prstGeom prst="rect">
            <a:avLst/>
          </a:prstGeom>
        </p:spPr>
        <p:txBody>
          <a:bodyPr/>
          <a:lstStyle/>
          <a:p>
            <a:pPr/>
          </a:p>
        </p:txBody>
      </p:sp>
      <p:sp>
        <p:nvSpPr>
          <p:cNvPr id="501" name="Shape 501"/>
          <p:cNvSpPr/>
          <p:nvPr>
            <p:ph type="body" sz="quarter" idx="1"/>
          </p:nvPr>
        </p:nvSpPr>
        <p:spPr>
          <a:prstGeom prst="rect">
            <a:avLst/>
          </a:prstGeom>
        </p:spPr>
        <p:txBody>
          <a:bodyPr/>
          <a:lstStyle/>
          <a:p>
            <a:pPr/>
            <a:r>
              <a:t>Algorithms already run more than half of NSE cash turnover. SEBI's framework, in force since April 2026, formalises retail algo trading through registered, tagged algos. Anvest owns the pre-trade layer: rules that combine fundamentals, filings and technicals (P/E, ROE, RSI, moving averages), costed backtests and paper trading, rebalanced periodically. Live deployment comes later through partner brokers once RA registration and empanelment are in place; providers and brokers may share disclosed subscription revenue.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6" name="Shape 536"/>
          <p:cNvSpPr/>
          <p:nvPr>
            <p:ph type="sldImg"/>
          </p:nvPr>
        </p:nvSpPr>
        <p:spPr>
          <a:prstGeom prst="rect">
            <a:avLst/>
          </a:prstGeom>
        </p:spPr>
        <p:txBody>
          <a:bodyPr/>
          <a:lstStyle/>
          <a:p>
            <a:pPr/>
          </a:p>
        </p:txBody>
      </p:sp>
      <p:sp>
        <p:nvSpPr>
          <p:cNvPr id="537" name="Shape 537"/>
          <p:cNvSpPr/>
          <p:nvPr>
            <p:ph type="body" sz="quarter" idx="1"/>
          </p:nvPr>
        </p:nvSpPr>
        <p:spPr>
          <a:prstGeom prst="rect">
            <a:avLst/>
          </a:prstGeom>
        </p:spPr>
        <p:txBody>
          <a:bodyPr/>
          <a:lstStyle/>
          <a:p>
            <a:pPr/>
            <a:r>
              <a:t>Bottom-up monthly model: users, conversion and churn; sellers and their productivity; partner users with tiered pricing; salaries, serving, data licence, compliance and growth spend. On the $500K plan, revenue covers costs by about month 42 with cash never below about ₹51 L, even without new funding; on $400K, cash lasts about 31 months. The year-5 scenario assumes a Series A near month 18.</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9" name="Shape 569"/>
          <p:cNvSpPr/>
          <p:nvPr>
            <p:ph type="sldImg"/>
          </p:nvPr>
        </p:nvSpPr>
        <p:spPr>
          <a:prstGeom prst="rect">
            <a:avLst/>
          </a:prstGeom>
        </p:spPr>
        <p:txBody>
          <a:bodyPr/>
          <a:lstStyle/>
          <a:p>
            <a:pPr/>
          </a:p>
        </p:txBody>
      </p:sp>
      <p:sp>
        <p:nvSpPr>
          <p:cNvPr id="570" name="Shape 570"/>
          <p:cNvSpPr/>
          <p:nvPr>
            <p:ph type="body" sz="quarter" idx="1"/>
          </p:nvPr>
        </p:nvSpPr>
        <p:spPr>
          <a:prstGeom prst="rect">
            <a:avLst/>
          </a:prstGeom>
        </p:spPr>
        <p:txBody>
          <a:bodyPr/>
          <a:lstStyle/>
          <a:p>
            <a:pPr/>
            <a:r>
              <a:t>Harsh goes full-time on Anvest when this round closes. Seven years in backend and distributed systems and current work on production agentic LLM systems; built the whole data engine and platform alone. The round adds a growth and partnerships lead, a data engineer, a full-stack and quant engineer and, at $500K, a second seller; the compliance and capital-markets adviser bench is being assembled.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11" name="Shape 611"/>
          <p:cNvSpPr/>
          <p:nvPr>
            <p:ph type="sldImg"/>
          </p:nvPr>
        </p:nvSpPr>
        <p:spPr>
          <a:prstGeom prst="rect">
            <a:avLst/>
          </a:prstGeom>
        </p:spPr>
        <p:txBody>
          <a:bodyPr/>
          <a:lstStyle/>
          <a:p>
            <a:pPr/>
          </a:p>
        </p:txBody>
      </p:sp>
      <p:sp>
        <p:nvSpPr>
          <p:cNvPr id="612" name="Shape 612"/>
          <p:cNvSpPr/>
          <p:nvPr>
            <p:ph type="body" sz="quarter" idx="1"/>
          </p:nvPr>
        </p:nvSpPr>
        <p:spPr>
          <a:prstGeom prst="rect">
            <a:avLst/>
          </a:prstGeom>
        </p:spPr>
        <p:txBody>
          <a:bodyPr/>
          <a:lstStyle/>
          <a:p>
            <a:pPr/>
            <a:r>
              <a:t>We are raising $500K on a $3.5M post-money cap through CCD/CCPS, identical terms for every investor, with a first close at $400K and room to $700K. Use of funds sums to $500K: team $185K, compliance and infrastructure $65K, growth and founder $100K, reserve and runway $150K. By month 15 the plan delivers ₹87 L ARR from 77 Desk teams and two paying partners, plus RA registration and a published benchmark.</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2" name="Shape 622"/>
          <p:cNvSpPr/>
          <p:nvPr>
            <p:ph type="sldImg"/>
          </p:nvPr>
        </p:nvSpPr>
        <p:spPr>
          <a:prstGeom prst="rect">
            <a:avLst/>
          </a:prstGeom>
        </p:spPr>
        <p:txBody>
          <a:bodyPr/>
          <a:lstStyle/>
          <a:p>
            <a:pPr/>
          </a:p>
        </p:txBody>
      </p:sp>
      <p:sp>
        <p:nvSpPr>
          <p:cNvPr id="623" name="Shape 623"/>
          <p:cNvSpPr/>
          <p:nvPr>
            <p:ph type="body" sz="quarter" idx="1"/>
          </p:nvPr>
        </p:nvSpPr>
        <p:spPr>
          <a:prstGeom prst="rect">
            <a:avLst/>
          </a:prstGeom>
        </p:spPr>
        <p:txBody>
          <a:bodyPr/>
          <a:lstStyle/>
          <a:p>
            <a:pPr/>
            <a:r>
              <a:t>Close on the vision, then invite a live demo. The QR code opens the live 'profitable companies with high ROE and low debt' screen without sign-in, so investors can try the product immediately.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8" name="Shape 638"/>
          <p:cNvSpPr/>
          <p:nvPr>
            <p:ph type="sldImg"/>
          </p:nvPr>
        </p:nvSpPr>
        <p:spPr>
          <a:prstGeom prst="rect">
            <a:avLst/>
          </a:prstGeom>
        </p:spPr>
        <p:txBody>
          <a:bodyPr/>
          <a:lstStyle/>
          <a:p>
            <a:pPr/>
          </a:p>
        </p:txBody>
      </p:sp>
      <p:sp>
        <p:nvSpPr>
          <p:cNvPr id="639" name="Shape 639"/>
          <p:cNvSpPr/>
          <p:nvPr>
            <p:ph type="body" sz="quarter" idx="1"/>
          </p:nvPr>
        </p:nvSpPr>
        <p:spPr>
          <a:prstGeom prst="rect">
            <a:avLst/>
          </a:prstGeom>
        </p:spPr>
        <p:txBody>
          <a:bodyPr/>
          <a:lstStyle/>
          <a:p>
            <a:pPr/>
            <a:r>
              <a:t> By Years 3–5 the Desk sales assumption expands beyond the initial 7,250 firms into broader distributors, family offices and CA/wealth practices. 4,132 seats equal 19% of the initial 21,750-seat segment, so this expansion is a condition of the scenario. The model includes salaries for all added sellers and higher marketing spend. Scenario cash excludes an unpriced Series A.</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VER">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18" name="Click to add title"/>
          <p:cNvSpPr txBox="1"/>
          <p:nvPr>
            <p:ph type="title" hasCustomPrompt="1"/>
          </p:nvPr>
        </p:nvSpPr>
        <p:spPr>
          <a:xfrm>
            <a:off x="548640" y="1051560"/>
            <a:ext cx="6035041" cy="1188722"/>
          </a:xfrm>
          <a:prstGeom prst="rect">
            <a:avLst/>
          </a:prstGeom>
        </p:spPr>
        <p:txBody>
          <a:bodyPr anchor="t">
            <a:normAutofit fontScale="100000" lnSpcReduction="0"/>
          </a:bodyPr>
          <a:lstStyle>
            <a:lvl1pPr algn="l">
              <a:defRPr b="1" sz="7200">
                <a:solidFill>
                  <a:srgbClr val="FFFFFF"/>
                </a:solidFill>
              </a:defRPr>
            </a:lvl1pPr>
          </a:lstStyle>
          <a:p>
            <a:pPr/>
            <a:r>
              <a:t>Click to add title</a:t>
            </a:r>
          </a:p>
        </p:txBody>
      </p:sp>
      <p:sp>
        <p:nvSpPr>
          <p:cNvPr id="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26" name="Click to add title"/>
          <p:cNvSpPr txBox="1"/>
          <p:nvPr>
            <p:ph type="title" hasCustomPrompt="1"/>
          </p:nvPr>
        </p:nvSpPr>
        <p:spPr>
          <a:xfrm>
            <a:off x="548640" y="1737360"/>
            <a:ext cx="10607041" cy="1783080"/>
          </a:xfrm>
          <a:prstGeom prst="rect">
            <a:avLst/>
          </a:prstGeom>
        </p:spPr>
        <p:txBody>
          <a:bodyPr anchor="t">
            <a:normAutofit fontScale="100000" lnSpcReduction="0"/>
          </a:bodyPr>
          <a:lstStyle>
            <a:lvl1pPr algn="l">
              <a:defRPr b="1" sz="4000">
                <a:solidFill>
                  <a:srgbClr val="FFFFFF"/>
                </a:solidFill>
              </a:defRPr>
            </a:lvl1pPr>
          </a:lstStyle>
          <a:p>
            <a:pPr/>
            <a:r>
              <a:t>Click to add title</a:t>
            </a:r>
          </a:p>
        </p:txBody>
      </p:sp>
      <p:sp>
        <p:nvSpPr>
          <p:cNvPr id="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HERO">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34" name="Body Level One…"/>
          <p:cNvSpPr txBox="1"/>
          <p:nvPr>
            <p:ph type="body" sz="quarter" idx="1" hasCustomPrompt="1"/>
          </p:nvPr>
        </p:nvSpPr>
        <p:spPr>
          <a:xfrm>
            <a:off x="548640" y="384047"/>
            <a:ext cx="8229601" cy="274322"/>
          </a:xfrm>
          <a:prstGeom prst="rect">
            <a:avLst/>
          </a:prstGeom>
        </p:spPr>
        <p:txBody>
          <a:bodyPr>
            <a:normAutofit fontScale="100000" lnSpcReduction="0"/>
          </a:bodyPr>
          <a:lstStyle>
            <a:lvl1pPr marL="0" indent="0">
              <a:spcBef>
                <a:spcPts val="200"/>
              </a:spcBef>
              <a:buSzTx/>
              <a:buFontTx/>
              <a:buNone/>
              <a:defRPr b="1" spc="200" sz="1200">
                <a:solidFill>
                  <a:schemeClr val="accent2"/>
                </a:solidFill>
              </a:defRPr>
            </a:lvl1pPr>
            <a:lvl2pPr marL="579663" indent="-122463">
              <a:spcBef>
                <a:spcPts val="200"/>
              </a:spcBef>
              <a:buFontTx/>
              <a:defRPr b="1" spc="200" sz="1200">
                <a:solidFill>
                  <a:schemeClr val="accent2"/>
                </a:solidFill>
              </a:defRPr>
            </a:lvl2pPr>
            <a:lvl3pPr marL="1028700" indent="-114300">
              <a:spcBef>
                <a:spcPts val="200"/>
              </a:spcBef>
              <a:buFontTx/>
              <a:defRPr b="1" spc="200" sz="1200">
                <a:solidFill>
                  <a:schemeClr val="accent2"/>
                </a:solidFill>
              </a:defRPr>
            </a:lvl3pPr>
            <a:lvl4pPr marL="1508760" indent="-137160">
              <a:spcBef>
                <a:spcPts val="200"/>
              </a:spcBef>
              <a:buFontTx/>
              <a:defRPr b="1" spc="200" sz="1200">
                <a:solidFill>
                  <a:schemeClr val="accent2"/>
                </a:solidFill>
              </a:defRPr>
            </a:lvl4pPr>
            <a:lvl5pPr marL="1965960" indent="-137160">
              <a:spcBef>
                <a:spcPts val="200"/>
              </a:spcBef>
              <a:buFontTx/>
              <a:defRPr b="1" spc="200" sz="1200">
                <a:solidFill>
                  <a:schemeClr val="accent2"/>
                </a:solidFill>
              </a:defRPr>
            </a:lvl5pPr>
          </a:lstStyle>
          <a:p>
            <a:pPr/>
            <a:r>
              <a:t>Click to add text</a:t>
            </a:r>
          </a:p>
          <a:p>
            <a:pPr lvl="1"/>
            <a:r>
              <a:t/>
            </a:r>
          </a:p>
          <a:p>
            <a:pPr lvl="2"/>
            <a:r>
              <a:t/>
            </a:r>
          </a:p>
          <a:p>
            <a:pPr lvl="3"/>
            <a:r>
              <a:t/>
            </a:r>
          </a:p>
          <a:p>
            <a:pPr lvl="4"/>
            <a:r>
              <a:t/>
            </a:r>
          </a:p>
        </p:txBody>
      </p:sp>
      <p:sp>
        <p:nvSpPr>
          <p:cNvPr id="35" name="Click to add title"/>
          <p:cNvSpPr txBox="1"/>
          <p:nvPr>
            <p:ph type="title" hasCustomPrompt="1"/>
          </p:nvPr>
        </p:nvSpPr>
        <p:spPr>
          <a:xfrm>
            <a:off x="548640" y="676655"/>
            <a:ext cx="11094416" cy="868682"/>
          </a:xfrm>
          <a:prstGeom prst="rect">
            <a:avLst/>
          </a:prstGeom>
        </p:spPr>
        <p:txBody>
          <a:bodyPr anchor="t">
            <a:normAutofit fontScale="100000" lnSpcReduction="0"/>
          </a:bodyPr>
          <a:lstStyle>
            <a:lvl1pPr algn="l">
              <a:defRPr b="1" sz="3200">
                <a:solidFill>
                  <a:srgbClr val="FFFFFF"/>
                </a:solidFill>
              </a:defRPr>
            </a:lvl1pPr>
          </a:lstStyle>
          <a:p>
            <a:pPr/>
            <a:r>
              <a:t>Click to add title</a:t>
            </a:r>
          </a:p>
        </p:txBody>
      </p:sp>
      <p:sp>
        <p:nvSpPr>
          <p:cNvPr id="3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ARK">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43" name="Body Level One…"/>
          <p:cNvSpPr txBox="1"/>
          <p:nvPr>
            <p:ph type="body" sz="quarter" idx="1" hasCustomPrompt="1"/>
          </p:nvPr>
        </p:nvSpPr>
        <p:spPr>
          <a:xfrm>
            <a:off x="548640" y="384047"/>
            <a:ext cx="8229601" cy="274322"/>
          </a:xfrm>
          <a:prstGeom prst="rect">
            <a:avLst/>
          </a:prstGeom>
        </p:spPr>
        <p:txBody>
          <a:bodyPr>
            <a:normAutofit fontScale="100000" lnSpcReduction="0"/>
          </a:bodyPr>
          <a:lstStyle>
            <a:lvl1pPr marL="0" indent="0">
              <a:spcBef>
                <a:spcPts val="200"/>
              </a:spcBef>
              <a:buSzTx/>
              <a:buFontTx/>
              <a:buNone/>
              <a:defRPr b="1" spc="200" sz="1200">
                <a:solidFill>
                  <a:schemeClr val="accent2"/>
                </a:solidFill>
              </a:defRPr>
            </a:lvl1pPr>
            <a:lvl2pPr marL="579663" indent="-122463">
              <a:spcBef>
                <a:spcPts val="200"/>
              </a:spcBef>
              <a:buFontTx/>
              <a:defRPr b="1" spc="200" sz="1200">
                <a:solidFill>
                  <a:schemeClr val="accent2"/>
                </a:solidFill>
              </a:defRPr>
            </a:lvl2pPr>
            <a:lvl3pPr marL="1028700" indent="-114300">
              <a:spcBef>
                <a:spcPts val="200"/>
              </a:spcBef>
              <a:buFontTx/>
              <a:defRPr b="1" spc="200" sz="1200">
                <a:solidFill>
                  <a:schemeClr val="accent2"/>
                </a:solidFill>
              </a:defRPr>
            </a:lvl3pPr>
            <a:lvl4pPr marL="1508760" indent="-137160">
              <a:spcBef>
                <a:spcPts val="200"/>
              </a:spcBef>
              <a:buFontTx/>
              <a:defRPr b="1" spc="200" sz="1200">
                <a:solidFill>
                  <a:schemeClr val="accent2"/>
                </a:solidFill>
              </a:defRPr>
            </a:lvl4pPr>
            <a:lvl5pPr marL="1965960" indent="-137160">
              <a:spcBef>
                <a:spcPts val="200"/>
              </a:spcBef>
              <a:buFontTx/>
              <a:defRPr b="1" spc="200" sz="1200">
                <a:solidFill>
                  <a:schemeClr val="accent2"/>
                </a:solidFill>
              </a:defRPr>
            </a:lvl5pPr>
          </a:lstStyle>
          <a:p>
            <a:pPr/>
            <a:r>
              <a:t>Click to add text</a:t>
            </a:r>
          </a:p>
          <a:p>
            <a:pPr lvl="1"/>
            <a:r>
              <a:t/>
            </a:r>
          </a:p>
          <a:p>
            <a:pPr lvl="2"/>
            <a:r>
              <a:t/>
            </a:r>
          </a:p>
          <a:p>
            <a:pPr lvl="3"/>
            <a:r>
              <a:t/>
            </a:r>
          </a:p>
          <a:p>
            <a:pPr lvl="4"/>
            <a:r>
              <a:t/>
            </a:r>
          </a:p>
        </p:txBody>
      </p:sp>
      <p:sp>
        <p:nvSpPr>
          <p:cNvPr id="44" name="Click to add title"/>
          <p:cNvSpPr txBox="1"/>
          <p:nvPr>
            <p:ph type="title" hasCustomPrompt="1"/>
          </p:nvPr>
        </p:nvSpPr>
        <p:spPr>
          <a:xfrm>
            <a:off x="548640" y="676655"/>
            <a:ext cx="11094416" cy="868682"/>
          </a:xfrm>
          <a:prstGeom prst="rect">
            <a:avLst/>
          </a:prstGeom>
        </p:spPr>
        <p:txBody>
          <a:bodyPr anchor="t">
            <a:normAutofit fontScale="100000" lnSpcReduction="0"/>
          </a:bodyPr>
          <a:lstStyle>
            <a:lvl1pPr algn="l">
              <a:defRPr b="1" sz="3200">
                <a:solidFill>
                  <a:srgbClr val="FFFFFF"/>
                </a:solidFill>
              </a:defRPr>
            </a:lvl1pPr>
          </a:lstStyle>
          <a:p>
            <a:pPr/>
            <a:r>
              <a:t>Click to add title</a:t>
            </a:r>
          </a:p>
        </p:txBody>
      </p:sp>
      <p:sp>
        <p:nvSpPr>
          <p:cNvPr id="45" name="Text 0"/>
          <p:cNvSpPr txBox="1"/>
          <p:nvPr/>
        </p:nvSpPr>
        <p:spPr>
          <a:xfrm>
            <a:off x="548640" y="6478568"/>
            <a:ext cx="731520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chemeClr val="accent5"/>
                </a:solidFill>
              </a:defRPr>
            </a:lvl1pPr>
          </a:lstStyle>
          <a:p>
            <a:pPr/>
            <a:r>
              <a:t>Anvest  ·  Confidential  ·  20 Oct 2026</a:t>
            </a:r>
          </a:p>
        </p:txBody>
      </p:sp>
      <p:sp>
        <p:nvSpPr>
          <p:cNvPr id="46" name="Slide Number"/>
          <p:cNvSpPr txBox="1"/>
          <p:nvPr>
            <p:ph type="sldNum" sz="quarter" idx="2"/>
          </p:nvPr>
        </p:nvSpPr>
        <p:spPr>
          <a:xfrm>
            <a:off x="11501619" y="6419088"/>
            <a:ext cx="141438" cy="13707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LIGHT">
    <p:bg>
      <p:bgPr>
        <a:blipFill rotWithShape="1">
          <a:blip r:embed="rId2"/>
          <a:srcRect l="0" t="0" r="0" b="0"/>
          <a:stretch>
            <a:fillRect/>
          </a:stretch>
        </a:blipFill>
      </p:bgPr>
    </p:bg>
    <p:spTree>
      <p:nvGrpSpPr>
        <p:cNvPr id="1" name=""/>
        <p:cNvGrpSpPr/>
        <p:nvPr/>
      </p:nvGrpSpPr>
      <p:grpSpPr>
        <a:xfrm>
          <a:off x="0" y="0"/>
          <a:ext cx="0" cy="0"/>
          <a:chOff x="0" y="0"/>
          <a:chExt cx="0" cy="0"/>
        </a:xfrm>
      </p:grpSpPr>
      <p:sp>
        <p:nvSpPr>
          <p:cNvPr id="53" name="Body Level One…"/>
          <p:cNvSpPr txBox="1"/>
          <p:nvPr>
            <p:ph type="body" sz="quarter" idx="1" hasCustomPrompt="1"/>
          </p:nvPr>
        </p:nvSpPr>
        <p:spPr>
          <a:xfrm>
            <a:off x="548640" y="384047"/>
            <a:ext cx="8229601" cy="274322"/>
          </a:xfrm>
          <a:prstGeom prst="rect">
            <a:avLst/>
          </a:prstGeom>
        </p:spPr>
        <p:txBody>
          <a:bodyPr>
            <a:normAutofit fontScale="100000" lnSpcReduction="0"/>
          </a:bodyPr>
          <a:lstStyle>
            <a:lvl1pPr marL="0" indent="0">
              <a:spcBef>
                <a:spcPts val="200"/>
              </a:spcBef>
              <a:buSzTx/>
              <a:buFontTx/>
              <a:buNone/>
              <a:defRPr b="1" spc="200" sz="1200">
                <a:solidFill>
                  <a:schemeClr val="accent1"/>
                </a:solidFill>
              </a:defRPr>
            </a:lvl1pPr>
            <a:lvl2pPr marL="579663" indent="-122463">
              <a:spcBef>
                <a:spcPts val="200"/>
              </a:spcBef>
              <a:buFontTx/>
              <a:defRPr b="1" spc="200" sz="1200">
                <a:solidFill>
                  <a:schemeClr val="accent1"/>
                </a:solidFill>
              </a:defRPr>
            </a:lvl2pPr>
            <a:lvl3pPr marL="1028700" indent="-114300">
              <a:spcBef>
                <a:spcPts val="200"/>
              </a:spcBef>
              <a:buFontTx/>
              <a:defRPr b="1" spc="200" sz="1200">
                <a:solidFill>
                  <a:schemeClr val="accent1"/>
                </a:solidFill>
              </a:defRPr>
            </a:lvl3pPr>
            <a:lvl4pPr marL="1508760" indent="-137160">
              <a:spcBef>
                <a:spcPts val="200"/>
              </a:spcBef>
              <a:buFontTx/>
              <a:defRPr b="1" spc="200" sz="1200">
                <a:solidFill>
                  <a:schemeClr val="accent1"/>
                </a:solidFill>
              </a:defRPr>
            </a:lvl4pPr>
            <a:lvl5pPr marL="1965960" indent="-137160">
              <a:spcBef>
                <a:spcPts val="200"/>
              </a:spcBef>
              <a:buFontTx/>
              <a:defRPr b="1" spc="200" sz="1200">
                <a:solidFill>
                  <a:schemeClr val="accent1"/>
                </a:solidFill>
              </a:defRPr>
            </a:lvl5pPr>
          </a:lstStyle>
          <a:p>
            <a:pPr/>
            <a:r>
              <a:t>Click to add text</a:t>
            </a:r>
          </a:p>
          <a:p>
            <a:pPr lvl="1"/>
            <a:r>
              <a:t/>
            </a:r>
          </a:p>
          <a:p>
            <a:pPr lvl="2"/>
            <a:r>
              <a:t/>
            </a:r>
          </a:p>
          <a:p>
            <a:pPr lvl="3"/>
            <a:r>
              <a:t/>
            </a:r>
          </a:p>
          <a:p>
            <a:pPr lvl="4"/>
            <a:r>
              <a:t/>
            </a:r>
          </a:p>
        </p:txBody>
      </p:sp>
      <p:sp>
        <p:nvSpPr>
          <p:cNvPr id="54" name="Click to add title"/>
          <p:cNvSpPr txBox="1"/>
          <p:nvPr>
            <p:ph type="title" hasCustomPrompt="1"/>
          </p:nvPr>
        </p:nvSpPr>
        <p:spPr>
          <a:xfrm>
            <a:off x="548640" y="676655"/>
            <a:ext cx="11094416" cy="868682"/>
          </a:xfrm>
          <a:prstGeom prst="rect">
            <a:avLst/>
          </a:prstGeom>
        </p:spPr>
        <p:txBody>
          <a:bodyPr anchor="t">
            <a:normAutofit fontScale="100000" lnSpcReduction="0"/>
          </a:bodyPr>
          <a:lstStyle>
            <a:lvl1pPr algn="l">
              <a:defRPr b="1" sz="3200"/>
            </a:lvl1pPr>
          </a:lstStyle>
          <a:p>
            <a:pPr/>
            <a:r>
              <a:t>Click to add title</a:t>
            </a:r>
          </a:p>
        </p:txBody>
      </p:sp>
      <p:sp>
        <p:nvSpPr>
          <p:cNvPr id="55" name="Text 0"/>
          <p:cNvSpPr txBox="1"/>
          <p:nvPr/>
        </p:nvSpPr>
        <p:spPr>
          <a:xfrm>
            <a:off x="548640" y="6478568"/>
            <a:ext cx="731520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chemeClr val="accent5"/>
                </a:solidFill>
              </a:defRPr>
            </a:lvl1pPr>
          </a:lstStyle>
          <a:p>
            <a:pPr/>
            <a:r>
              <a:t>Anvest  ·  Confidential  ·  20 Oct 2026</a:t>
            </a:r>
          </a:p>
        </p:txBody>
      </p:sp>
      <p:sp>
        <p:nvSpPr>
          <p:cNvPr id="56" name="Slide Number"/>
          <p:cNvSpPr txBox="1"/>
          <p:nvPr>
            <p:ph type="sldNum" sz="quarter" idx="2"/>
          </p:nvPr>
        </p:nvSpPr>
        <p:spPr>
          <a:xfrm>
            <a:off x="11501619" y="6419088"/>
            <a:ext cx="141438" cy="13707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1826683" y="769937"/>
            <a:ext cx="9753601" cy="16684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lstStyle/>
          <a:p>
            <a:pPr/>
            <a:r>
              <a:t>Title Text</a:t>
            </a:r>
          </a:p>
        </p:txBody>
      </p:sp>
      <p:sp>
        <p:nvSpPr>
          <p:cNvPr id="3" name="Body Level One…"/>
          <p:cNvSpPr txBox="1"/>
          <p:nvPr>
            <p:ph type="body" idx="1"/>
          </p:nvPr>
        </p:nvSpPr>
        <p:spPr>
          <a:xfrm>
            <a:off x="6805083" y="2438400"/>
            <a:ext cx="4775201" cy="44196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596163" y="6356350"/>
            <a:ext cx="141437" cy="137071"/>
          </a:xfrm>
          <a:prstGeom prst="rect">
            <a:avLst/>
          </a:prstGeom>
          <a:ln w="12700">
            <a:miter lim="400000"/>
          </a:ln>
        </p:spPr>
        <p:txBody>
          <a:bodyPr wrap="none" lIns="0" tIns="0" rIns="0" bIns="0">
            <a:spAutoFit/>
          </a:bodyPr>
          <a:lstStyle>
            <a:lvl1pPr algn="r">
              <a:defRPr sz="1000">
                <a:solidFill>
                  <a:schemeClr val="accent5"/>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B0E26"/>
          </a:solidFill>
          <a:uFillTx/>
          <a:latin typeface="Arial"/>
          <a:ea typeface="Arial"/>
          <a:cs typeface="Arial"/>
          <a:sym typeface="Arial"/>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B0E26"/>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jpe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3.jpe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image" Target="../media/image6.jpeg"/><Relationship Id="rId7" Type="http://schemas.openxmlformats.org/officeDocument/2006/relationships/image" Target="../media/image7.jpeg"/><Relationship Id="rId8" Type="http://schemas.openxmlformats.org/officeDocument/2006/relationships/image" Target="../media/image8.jpeg"/></Relationships>

</file>

<file path=ppt/slides/_rels/slide5.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25.png"/><Relationship Id="rId6" Type="http://schemas.openxmlformats.org/officeDocument/2006/relationships/image" Target="../media/image29.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27.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4.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 name="Text 0"/>
          <p:cNvSpPr txBox="1"/>
          <p:nvPr>
            <p:ph type="title"/>
          </p:nvPr>
        </p:nvSpPr>
        <p:spPr>
          <a:xfrm>
            <a:off x="434530" y="1528239"/>
            <a:ext cx="6035044" cy="1188722"/>
          </a:xfrm>
          <a:prstGeom prst="rect">
            <a:avLst/>
          </a:prstGeom>
        </p:spPr>
        <p:txBody>
          <a:bodyPr lIns="0" tIns="0" rIns="0" bIns="0"/>
          <a:lstStyle/>
          <a:p>
            <a:pPr/>
            <a:r>
              <a:t>Anvest</a:t>
            </a:r>
          </a:p>
        </p:txBody>
      </p:sp>
      <p:sp>
        <p:nvSpPr>
          <p:cNvPr id="66" name="Text 1"/>
          <p:cNvSpPr txBox="1"/>
          <p:nvPr/>
        </p:nvSpPr>
        <p:spPr>
          <a:xfrm>
            <a:off x="434530" y="2808400"/>
            <a:ext cx="6035044" cy="39476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800">
                <a:solidFill>
                  <a:schemeClr val="accent2"/>
                </a:solidFill>
                <a:latin typeface="Arial"/>
                <a:ea typeface="Arial"/>
                <a:cs typeface="Arial"/>
                <a:sym typeface="Arial"/>
              </a:defRPr>
            </a:lvl1pPr>
          </a:lstStyle>
          <a:p>
            <a:pPr/>
            <a:r>
              <a:t>India's AI research co-pilot</a:t>
            </a:r>
          </a:p>
        </p:txBody>
      </p:sp>
      <p:sp>
        <p:nvSpPr>
          <p:cNvPr id="67" name="Text 2"/>
          <p:cNvSpPr txBox="1"/>
          <p:nvPr/>
        </p:nvSpPr>
        <p:spPr>
          <a:xfrm>
            <a:off x="434530" y="3384472"/>
            <a:ext cx="5760723" cy="4857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chemeClr val="accent6"/>
                </a:solidFill>
              </a:defRPr>
            </a:lvl1pPr>
          </a:lstStyle>
          <a:p>
            <a:pPr/>
            <a:r>
              <a:t>Filing-cited AI answers, tax-adjusted backtests, and portfolio analysis for SEBI-registered advisers and serious investors.</a:t>
            </a:r>
          </a:p>
        </p:txBody>
      </p:sp>
      <p:sp>
        <p:nvSpPr>
          <p:cNvPr id="68" name="Text 3"/>
          <p:cNvSpPr txBox="1"/>
          <p:nvPr/>
        </p:nvSpPr>
        <p:spPr>
          <a:xfrm>
            <a:off x="434530" y="4545760"/>
            <a:ext cx="1463043" cy="38289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600">
                <a:solidFill>
                  <a:schemeClr val="accent2"/>
                </a:solidFill>
                <a:latin typeface="Arial"/>
                <a:ea typeface="Arial"/>
                <a:cs typeface="Arial"/>
                <a:sym typeface="Arial"/>
              </a:defRPr>
            </a:lvl1pPr>
          </a:lstStyle>
          <a:p>
            <a:pPr/>
            <a:r>
              <a:t>6K+</a:t>
            </a:r>
          </a:p>
        </p:txBody>
      </p:sp>
      <p:sp>
        <p:nvSpPr>
          <p:cNvPr id="69" name="Text 4"/>
          <p:cNvSpPr txBox="1"/>
          <p:nvPr/>
        </p:nvSpPr>
        <p:spPr>
          <a:xfrm>
            <a:off x="434531" y="5030392"/>
            <a:ext cx="141732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listed companies</a:t>
            </a:r>
          </a:p>
        </p:txBody>
      </p:sp>
      <p:sp>
        <p:nvSpPr>
          <p:cNvPr id="70" name="Text 5"/>
          <p:cNvSpPr txBox="1"/>
          <p:nvPr/>
        </p:nvSpPr>
        <p:spPr>
          <a:xfrm>
            <a:off x="1970724" y="4545760"/>
            <a:ext cx="1463042" cy="38289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600">
                <a:solidFill>
                  <a:schemeClr val="accent2"/>
                </a:solidFill>
                <a:latin typeface="Arial"/>
                <a:ea typeface="Arial"/>
                <a:cs typeface="Arial"/>
                <a:sym typeface="Arial"/>
              </a:defRPr>
            </a:lvl1pPr>
          </a:lstStyle>
          <a:p>
            <a:pPr/>
            <a:r>
              <a:t>2.94M</a:t>
            </a:r>
          </a:p>
        </p:txBody>
      </p:sp>
      <p:sp>
        <p:nvSpPr>
          <p:cNvPr id="71" name="Text 6"/>
          <p:cNvSpPr txBox="1"/>
          <p:nvPr/>
        </p:nvSpPr>
        <p:spPr>
          <a:xfrm>
            <a:off x="1970724" y="5030392"/>
            <a:ext cx="1417322"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corporate announcements</a:t>
            </a:r>
          </a:p>
        </p:txBody>
      </p:sp>
      <p:sp>
        <p:nvSpPr>
          <p:cNvPr id="72" name="Text 7"/>
          <p:cNvSpPr txBox="1"/>
          <p:nvPr/>
        </p:nvSpPr>
        <p:spPr>
          <a:xfrm>
            <a:off x="3506914" y="4545760"/>
            <a:ext cx="1463043" cy="38289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600">
                <a:solidFill>
                  <a:schemeClr val="accent2"/>
                </a:solidFill>
                <a:latin typeface="Arial"/>
                <a:ea typeface="Arial"/>
                <a:cs typeface="Arial"/>
                <a:sym typeface="Arial"/>
              </a:defRPr>
            </a:lvl1pPr>
          </a:lstStyle>
          <a:p>
            <a:pPr/>
            <a:r>
              <a:t>1.35M</a:t>
            </a:r>
          </a:p>
        </p:txBody>
      </p:sp>
      <p:sp>
        <p:nvSpPr>
          <p:cNvPr id="73" name="Text 8"/>
          <p:cNvSpPr txBox="1"/>
          <p:nvPr/>
        </p:nvSpPr>
        <p:spPr>
          <a:xfrm>
            <a:off x="3506914" y="5030392"/>
            <a:ext cx="141732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indexed filing passages</a:t>
            </a:r>
          </a:p>
        </p:txBody>
      </p:sp>
      <p:sp>
        <p:nvSpPr>
          <p:cNvPr id="74" name="Text 9"/>
          <p:cNvSpPr txBox="1"/>
          <p:nvPr/>
        </p:nvSpPr>
        <p:spPr>
          <a:xfrm>
            <a:off x="5043106" y="4545760"/>
            <a:ext cx="1463042" cy="38289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600">
                <a:solidFill>
                  <a:schemeClr val="accent2"/>
                </a:solidFill>
                <a:latin typeface="Arial"/>
                <a:ea typeface="Arial"/>
                <a:cs typeface="Arial"/>
                <a:sym typeface="Arial"/>
              </a:defRPr>
            </a:lvl1pPr>
          </a:lstStyle>
          <a:p>
            <a:pPr/>
            <a:r>
              <a:t>~49K</a:t>
            </a:r>
          </a:p>
        </p:txBody>
      </p:sp>
      <p:sp>
        <p:nvSpPr>
          <p:cNvPr id="75" name="Text 10"/>
          <p:cNvSpPr txBox="1"/>
          <p:nvPr/>
        </p:nvSpPr>
        <p:spPr>
          <a:xfrm>
            <a:off x="5043106" y="5030392"/>
            <a:ext cx="1417322"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announcements/month, Q2 FY27</a:t>
            </a:r>
          </a:p>
        </p:txBody>
      </p:sp>
      <p:sp>
        <p:nvSpPr>
          <p:cNvPr id="76" name="Text 11"/>
          <p:cNvSpPr txBox="1"/>
          <p:nvPr/>
        </p:nvSpPr>
        <p:spPr>
          <a:xfrm>
            <a:off x="443309" y="6058090"/>
            <a:ext cx="73152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chemeClr val="accent6"/>
                </a:solidFill>
              </a:defRPr>
            </a:lvl1pPr>
          </a:lstStyle>
          <a:p>
            <a:pPr/>
            <a:r>
              <a:t>Harsh Bhardwaj, Founder  ·  harsh@anvest.in  ·  anvest.in  ·  Seed round, October 2026</a:t>
            </a:r>
          </a:p>
        </p:txBody>
      </p:sp>
      <p:sp>
        <p:nvSpPr>
          <p:cNvPr id="77" name="Live Anvest answer citing the NSE filing frame"/>
          <p:cNvSpPr/>
          <p:nvPr/>
        </p:nvSpPr>
        <p:spPr>
          <a:xfrm>
            <a:off x="6933333" y="1818657"/>
            <a:ext cx="4892042" cy="2917657"/>
          </a:xfrm>
          <a:prstGeom prst="roundRect">
            <a:avLst>
              <a:gd name="adj" fmla="val 3761"/>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78" name="Live Anvest answer citing the NSE filing window dot 1"/>
          <p:cNvSpPr/>
          <p:nvPr/>
        </p:nvSpPr>
        <p:spPr>
          <a:xfrm>
            <a:off x="7028612" y="1883231"/>
            <a:ext cx="66535" cy="66535"/>
          </a:xfrm>
          <a:prstGeom prst="ellipse">
            <a:avLst/>
          </a:prstGeom>
          <a:solidFill>
            <a:srgbClr val="FF5F57"/>
          </a:solidFill>
          <a:ln w="12700">
            <a:miter lim="400000"/>
          </a:ln>
        </p:spPr>
        <p:txBody>
          <a:bodyPr lIns="45718" tIns="45718" rIns="45718" bIns="45718"/>
          <a:lstStyle/>
          <a:p>
            <a:pPr/>
          </a:p>
        </p:txBody>
      </p:sp>
      <p:sp>
        <p:nvSpPr>
          <p:cNvPr id="79" name="Live Anvest answer citing the NSE filing window dot 2"/>
          <p:cNvSpPr/>
          <p:nvPr/>
        </p:nvSpPr>
        <p:spPr>
          <a:xfrm>
            <a:off x="7141716" y="1883231"/>
            <a:ext cx="66535" cy="66535"/>
          </a:xfrm>
          <a:prstGeom prst="ellipse">
            <a:avLst/>
          </a:prstGeom>
          <a:solidFill>
            <a:srgbClr val="FEBC2E"/>
          </a:solidFill>
          <a:ln w="12700">
            <a:miter lim="400000"/>
          </a:ln>
        </p:spPr>
        <p:txBody>
          <a:bodyPr lIns="45718" tIns="45718" rIns="45718" bIns="45718"/>
          <a:lstStyle/>
          <a:p>
            <a:pPr/>
          </a:p>
        </p:txBody>
      </p:sp>
      <p:sp>
        <p:nvSpPr>
          <p:cNvPr id="80" name="Live Anvest answer citing the NSE filing window dot 3"/>
          <p:cNvSpPr/>
          <p:nvPr/>
        </p:nvSpPr>
        <p:spPr>
          <a:xfrm>
            <a:off x="7254820" y="1883231"/>
            <a:ext cx="66535" cy="66535"/>
          </a:xfrm>
          <a:prstGeom prst="ellipse">
            <a:avLst/>
          </a:prstGeom>
          <a:solidFill>
            <a:srgbClr val="28C840"/>
          </a:solidFill>
          <a:ln w="12700">
            <a:miter lim="400000"/>
          </a:ln>
        </p:spPr>
        <p:txBody>
          <a:bodyPr lIns="45718" tIns="45718" rIns="45718" bIns="45718"/>
          <a:lstStyle/>
          <a:p>
            <a:pPr/>
          </a:p>
        </p:txBody>
      </p:sp>
      <p:pic>
        <p:nvPicPr>
          <p:cNvPr id="81" name="Live Anvest answer citing the NSE filing image" descr="Live Anvest answer citing the NSE filing image"/>
          <p:cNvPicPr>
            <a:picLocks noChangeAspect="1"/>
          </p:cNvPicPr>
          <p:nvPr/>
        </p:nvPicPr>
        <p:blipFill>
          <a:blip r:embed="rId3">
            <a:extLst/>
          </a:blip>
          <a:stretch>
            <a:fillRect/>
          </a:stretch>
        </p:blipFill>
        <p:spPr>
          <a:xfrm>
            <a:off x="6992036" y="2014339"/>
            <a:ext cx="4774633" cy="2663271"/>
          </a:xfrm>
          <a:prstGeom prst="rect">
            <a:avLst/>
          </a:prstGeom>
          <a:ln w="12700">
            <a:miter lim="400000"/>
          </a:ln>
        </p:spPr>
      </p:pic>
      <p:sp>
        <p:nvSpPr>
          <p:cNvPr id="82" name="Text 16"/>
          <p:cNvSpPr txBox="1"/>
          <p:nvPr/>
        </p:nvSpPr>
        <p:spPr>
          <a:xfrm>
            <a:off x="7061017" y="4823312"/>
            <a:ext cx="4892043"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100">
                <a:solidFill>
                  <a:schemeClr val="accent6"/>
                </a:solidFill>
              </a:defRPr>
            </a:lvl1pPr>
          </a:lstStyle>
          <a:p>
            <a:pPr/>
            <a:r>
              <a:t>Live answer, 19 Oct: net margin = Profit After Tax / total income (₹74,525 Cr). Operating margin fell 0.67% YoY.</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 name="Text 0"/>
          <p:cNvSpPr txBox="1"/>
          <p:nvPr>
            <p:ph type="body" sz="quarter" idx="1"/>
          </p:nvPr>
        </p:nvSpPr>
        <p:spPr>
          <a:xfrm>
            <a:off x="548640" y="384047"/>
            <a:ext cx="8229601" cy="274322"/>
          </a:xfrm>
          <a:prstGeom prst="rect">
            <a:avLst/>
          </a:prstGeom>
        </p:spPr>
        <p:txBody>
          <a:bodyPr lIns="0" tIns="0" rIns="0" bIns="0"/>
          <a:lstStyle/>
          <a:p>
            <a:pPr/>
            <a:r>
              <a:t>THE PROBLEM</a:t>
            </a:r>
          </a:p>
        </p:txBody>
      </p:sp>
      <p:sp>
        <p:nvSpPr>
          <p:cNvPr id="87" name="Text 0"/>
          <p:cNvSpPr txBox="1"/>
          <p:nvPr>
            <p:ph type="title"/>
          </p:nvPr>
        </p:nvSpPr>
        <p:spPr>
          <a:xfrm>
            <a:off x="548638" y="676655"/>
            <a:ext cx="11094419" cy="868682"/>
          </a:xfrm>
          <a:prstGeom prst="rect">
            <a:avLst/>
          </a:prstGeom>
        </p:spPr>
        <p:txBody>
          <a:bodyPr lIns="0" tIns="0" rIns="0" bIns="0"/>
          <a:lstStyle/>
          <a:p>
            <a:pPr/>
            <a:r>
              <a:t>Advisers and investors decide without verified research</a:t>
            </a:r>
          </a:p>
        </p:txBody>
      </p:sp>
      <p:sp>
        <p:nvSpPr>
          <p:cNvPr id="88" name="problem card 1"/>
          <p:cNvSpPr/>
          <p:nvPr/>
        </p:nvSpPr>
        <p:spPr>
          <a:xfrm>
            <a:off x="548640" y="1783078"/>
            <a:ext cx="3520441" cy="3246122"/>
          </a:xfrm>
          <a:prstGeom prst="roundRect">
            <a:avLst>
              <a:gd name="adj" fmla="val 338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89" name="LuNewspaper circle"/>
          <p:cNvSpPr/>
          <p:nvPr/>
        </p:nvSpPr>
        <p:spPr>
          <a:xfrm>
            <a:off x="868680" y="2103120"/>
            <a:ext cx="566931" cy="566931"/>
          </a:xfrm>
          <a:prstGeom prst="ellipse">
            <a:avLst/>
          </a:prstGeom>
          <a:solidFill>
            <a:srgbClr val="F4F7FC"/>
          </a:solidFill>
          <a:ln w="12700">
            <a:miter lim="400000"/>
          </a:ln>
        </p:spPr>
        <p:txBody>
          <a:bodyPr lIns="45718" tIns="45718" rIns="45718" bIns="45718"/>
          <a:lstStyle/>
          <a:p>
            <a:pPr/>
          </a:p>
        </p:txBody>
      </p:sp>
      <p:pic>
        <p:nvPicPr>
          <p:cNvPr id="90" name="LuNewspaper icon" descr="LuNewspaper icon"/>
          <p:cNvPicPr>
            <a:picLocks noChangeAspect="1"/>
          </p:cNvPicPr>
          <p:nvPr/>
        </p:nvPicPr>
        <p:blipFill>
          <a:blip r:embed="rId3">
            <a:extLst/>
          </a:blip>
          <a:stretch>
            <a:fillRect/>
          </a:stretch>
        </p:blipFill>
        <p:spPr>
          <a:xfrm>
            <a:off x="1010411" y="2244850"/>
            <a:ext cx="283465" cy="283466"/>
          </a:xfrm>
          <a:prstGeom prst="rect">
            <a:avLst/>
          </a:prstGeom>
          <a:ln w="12700">
            <a:miter lim="400000"/>
          </a:ln>
        </p:spPr>
      </p:pic>
      <p:sp>
        <p:nvSpPr>
          <p:cNvPr id="91" name="Text 4"/>
          <p:cNvSpPr txBox="1"/>
          <p:nvPr/>
        </p:nvSpPr>
        <p:spPr>
          <a:xfrm>
            <a:off x="868678" y="2816350"/>
            <a:ext cx="2926083" cy="41933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3000">
                <a:solidFill>
                  <a:schemeClr val="accent1"/>
                </a:solidFill>
                <a:latin typeface="Arial"/>
                <a:ea typeface="Arial"/>
                <a:cs typeface="Arial"/>
                <a:sym typeface="Arial"/>
              </a:defRPr>
            </a:lvl1pPr>
          </a:lstStyle>
          <a:p>
            <a:pPr/>
            <a:r>
              <a:t>~49,000</a:t>
            </a:r>
          </a:p>
        </p:txBody>
      </p:sp>
      <p:sp>
        <p:nvSpPr>
          <p:cNvPr id="92" name="Text 5"/>
          <p:cNvSpPr txBox="1"/>
          <p:nvPr/>
        </p:nvSpPr>
        <p:spPr>
          <a:xfrm>
            <a:off x="868678" y="3383279"/>
            <a:ext cx="292608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announcements/month, Q2 FY27</a:t>
            </a:r>
          </a:p>
        </p:txBody>
      </p:sp>
      <p:sp>
        <p:nvSpPr>
          <p:cNvPr id="93" name="Text 6"/>
          <p:cNvSpPr txBox="1"/>
          <p:nvPr/>
        </p:nvSpPr>
        <p:spPr>
          <a:xfrm>
            <a:off x="868678" y="3749040"/>
            <a:ext cx="2926083" cy="776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434B6B"/>
                </a:solidFill>
              </a:defRPr>
            </a:lvl1pPr>
          </a:lstStyle>
          <a:p>
            <a:pPr/>
            <a:r>
              <a:t>Earnings, share pledges, and board notices hit NSE and BSE daily. Analysts, investment advisers, and portfolio managers still read scanned PDFs by hand.</a:t>
            </a:r>
          </a:p>
        </p:txBody>
      </p:sp>
      <p:sp>
        <p:nvSpPr>
          <p:cNvPr id="94" name="problem card 2"/>
          <p:cNvSpPr/>
          <p:nvPr/>
        </p:nvSpPr>
        <p:spPr>
          <a:xfrm>
            <a:off x="4315967" y="1783078"/>
            <a:ext cx="3520443" cy="3246122"/>
          </a:xfrm>
          <a:prstGeom prst="roundRect">
            <a:avLst>
              <a:gd name="adj" fmla="val 338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95" name="LuShuffle circle"/>
          <p:cNvSpPr/>
          <p:nvPr/>
        </p:nvSpPr>
        <p:spPr>
          <a:xfrm>
            <a:off x="4636008" y="2103120"/>
            <a:ext cx="566931" cy="566931"/>
          </a:xfrm>
          <a:prstGeom prst="ellipse">
            <a:avLst/>
          </a:prstGeom>
          <a:solidFill>
            <a:srgbClr val="F4F7FC"/>
          </a:solidFill>
          <a:ln w="12700">
            <a:miter lim="400000"/>
          </a:ln>
        </p:spPr>
        <p:txBody>
          <a:bodyPr lIns="45718" tIns="45718" rIns="45718" bIns="45718"/>
          <a:lstStyle/>
          <a:p>
            <a:pPr/>
          </a:p>
        </p:txBody>
      </p:sp>
      <p:pic>
        <p:nvPicPr>
          <p:cNvPr id="96" name="LuShuffle icon" descr="LuShuffle icon"/>
          <p:cNvPicPr>
            <a:picLocks noChangeAspect="1"/>
          </p:cNvPicPr>
          <p:nvPr/>
        </p:nvPicPr>
        <p:blipFill>
          <a:blip r:embed="rId4">
            <a:extLst/>
          </a:blip>
          <a:stretch>
            <a:fillRect/>
          </a:stretch>
        </p:blipFill>
        <p:spPr>
          <a:xfrm>
            <a:off x="4777740" y="2244850"/>
            <a:ext cx="283466" cy="283466"/>
          </a:xfrm>
          <a:prstGeom prst="rect">
            <a:avLst/>
          </a:prstGeom>
          <a:ln w="12700">
            <a:miter lim="400000"/>
          </a:ln>
        </p:spPr>
      </p:pic>
      <p:sp>
        <p:nvSpPr>
          <p:cNvPr id="97" name="Text 9"/>
          <p:cNvSpPr txBox="1"/>
          <p:nvPr/>
        </p:nvSpPr>
        <p:spPr>
          <a:xfrm>
            <a:off x="4636008" y="2816350"/>
            <a:ext cx="2926082" cy="41933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3000">
                <a:solidFill>
                  <a:schemeClr val="accent1"/>
                </a:solidFill>
                <a:latin typeface="Arial"/>
                <a:ea typeface="Arial"/>
                <a:cs typeface="Arial"/>
                <a:sym typeface="Arial"/>
              </a:defRPr>
            </a:lvl1pPr>
          </a:lstStyle>
          <a:p>
            <a:pPr/>
            <a:r>
              <a:t>Scattered</a:t>
            </a:r>
          </a:p>
        </p:txBody>
      </p:sp>
      <p:sp>
        <p:nvSpPr>
          <p:cNvPr id="98" name="Text 10"/>
          <p:cNvSpPr txBox="1"/>
          <p:nvPr/>
        </p:nvSpPr>
        <p:spPr>
          <a:xfrm>
            <a:off x="4636008" y="3383279"/>
            <a:ext cx="292608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research, backtesting &amp; advisory tools</a:t>
            </a:r>
          </a:p>
        </p:txBody>
      </p:sp>
      <p:sp>
        <p:nvSpPr>
          <p:cNvPr id="99" name="Text 11"/>
          <p:cNvSpPr txBox="1"/>
          <p:nvPr/>
        </p:nvSpPr>
        <p:spPr>
          <a:xfrm>
            <a:off x="4636008" y="3749040"/>
            <a:ext cx="2926082" cy="776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434B6B"/>
                </a:solidFill>
              </a:defRPr>
            </a:lvl1pPr>
          </a:lstStyle>
          <a:p>
            <a:pPr/>
            <a:r>
              <a:t>Professionals and investors jump between exchange PDFs, ratio screeners, backtesters and spreadsheets, losing hours and context at every hop.</a:t>
            </a:r>
          </a:p>
        </p:txBody>
      </p:sp>
      <p:sp>
        <p:nvSpPr>
          <p:cNvPr id="100" name="problem card 3"/>
          <p:cNvSpPr/>
          <p:nvPr/>
        </p:nvSpPr>
        <p:spPr>
          <a:xfrm>
            <a:off x="8083294" y="1783078"/>
            <a:ext cx="3520442" cy="3246122"/>
          </a:xfrm>
          <a:prstGeom prst="roundRect">
            <a:avLst>
              <a:gd name="adj" fmla="val 338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101" name="LuMessageSquareText circle"/>
          <p:cNvSpPr/>
          <p:nvPr/>
        </p:nvSpPr>
        <p:spPr>
          <a:xfrm>
            <a:off x="8403335" y="2103120"/>
            <a:ext cx="566931" cy="566931"/>
          </a:xfrm>
          <a:prstGeom prst="ellipse">
            <a:avLst/>
          </a:prstGeom>
          <a:solidFill>
            <a:srgbClr val="F4F7FC"/>
          </a:solidFill>
          <a:ln w="12700">
            <a:miter lim="400000"/>
          </a:ln>
        </p:spPr>
        <p:txBody>
          <a:bodyPr lIns="45718" tIns="45718" rIns="45718" bIns="45718"/>
          <a:lstStyle/>
          <a:p>
            <a:pPr/>
          </a:p>
        </p:txBody>
      </p:sp>
      <p:pic>
        <p:nvPicPr>
          <p:cNvPr id="102" name="LuMessageSquareText icon" descr="LuMessageSquareText icon"/>
          <p:cNvPicPr>
            <a:picLocks noChangeAspect="1"/>
          </p:cNvPicPr>
          <p:nvPr/>
        </p:nvPicPr>
        <p:blipFill>
          <a:blip r:embed="rId5">
            <a:extLst/>
          </a:blip>
          <a:stretch>
            <a:fillRect/>
          </a:stretch>
        </p:blipFill>
        <p:spPr>
          <a:xfrm>
            <a:off x="8545068" y="2244850"/>
            <a:ext cx="283466" cy="283466"/>
          </a:xfrm>
          <a:prstGeom prst="rect">
            <a:avLst/>
          </a:prstGeom>
          <a:ln w="12700">
            <a:miter lim="400000"/>
          </a:ln>
        </p:spPr>
      </p:pic>
      <p:sp>
        <p:nvSpPr>
          <p:cNvPr id="103" name="Text 14"/>
          <p:cNvSpPr txBox="1"/>
          <p:nvPr/>
        </p:nvSpPr>
        <p:spPr>
          <a:xfrm>
            <a:off x="8403335" y="2816350"/>
            <a:ext cx="2926082" cy="41933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3000">
                <a:solidFill>
                  <a:schemeClr val="accent1"/>
                </a:solidFill>
                <a:latin typeface="Arial"/>
                <a:ea typeface="Arial"/>
                <a:cs typeface="Arial"/>
                <a:sym typeface="Arial"/>
              </a:defRPr>
            </a:lvl1pPr>
          </a:lstStyle>
          <a:p>
            <a:pPr/>
            <a:r>
              <a:t>Unverified</a:t>
            </a:r>
          </a:p>
        </p:txBody>
      </p:sp>
      <p:sp>
        <p:nvSpPr>
          <p:cNvPr id="104" name="Text 15"/>
          <p:cNvSpPr txBox="1"/>
          <p:nvPr/>
        </p:nvSpPr>
        <p:spPr>
          <a:xfrm>
            <a:off x="8403335" y="3383279"/>
            <a:ext cx="292608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answers from general-purpose AI</a:t>
            </a:r>
          </a:p>
        </p:txBody>
      </p:sp>
      <p:sp>
        <p:nvSpPr>
          <p:cNvPr id="105" name="Text 16"/>
          <p:cNvSpPr txBox="1"/>
          <p:nvPr/>
        </p:nvSpPr>
        <p:spPr>
          <a:xfrm>
            <a:off x="8403335" y="3749040"/>
            <a:ext cx="2926082" cy="776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434B6B"/>
                </a:solidFill>
              </a:defRPr>
            </a:lvl1pPr>
          </a:lstStyle>
          <a:p>
            <a:pPr/>
            <a:r>
              <a:t>General chatbots sound confident but hallucinate Indian financial figures. Without a verified filings database underneath, their answers cannot be trusted.</a:t>
            </a:r>
          </a:p>
        </p:txBody>
      </p:sp>
      <p:sp>
        <p:nvSpPr>
          <p:cNvPr id="106" name="Text 17"/>
          <p:cNvSpPr txBox="1"/>
          <p:nvPr/>
        </p:nvSpPr>
        <p:spPr>
          <a:xfrm>
            <a:off x="548638" y="5257798"/>
            <a:ext cx="11094419" cy="5009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700">
                <a:latin typeface="Arial"/>
                <a:ea typeface="Arial"/>
                <a:cs typeface="Arial"/>
                <a:sym typeface="Arial"/>
              </a:defRPr>
            </a:lvl1pPr>
          </a:lstStyle>
          <a:p>
            <a:pPr/>
            <a:r>
              <a:t>3,900 SEBI-registered firms and 13.4 crore investors don't lack information. They lack a trustworthy way to turn it into a decision.</a:t>
            </a:r>
          </a:p>
        </p:txBody>
      </p:sp>
      <p:sp>
        <p:nvSpPr>
          <p:cNvPr id="107" name="Text 18"/>
          <p:cNvSpPr txBox="1"/>
          <p:nvPr/>
        </p:nvSpPr>
        <p:spPr>
          <a:xfrm>
            <a:off x="548639" y="6108191"/>
            <a:ext cx="10362897"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chemeClr val="accent5"/>
                </a:solidFill>
              </a:defRPr>
            </a:lvl1pPr>
          </a:lstStyle>
          <a:p>
            <a:pPr/>
            <a:r>
              <a:t>Warehouse, announcement date: Jul 45,997 · Aug 61,875 · Sep 38,558 (2026) · Q2 FY27 average 48,810/month · extracted 20 Oct 2026</a:t>
            </a:r>
          </a:p>
        </p:txBody>
      </p:sp>
      <p:sp>
        <p:nvSpPr>
          <p:cNvPr id="108" name="Slide Number Placeholder 0"/>
          <p:cNvSpPr txBox="1"/>
          <p:nvPr>
            <p:ph type="sldNum" sz="quarter" idx="4294967295"/>
          </p:nvPr>
        </p:nvSpPr>
        <p:spPr>
          <a:xfrm>
            <a:off x="11516055" y="6419088"/>
            <a:ext cx="127001"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2" name="Text 0"/>
          <p:cNvSpPr txBox="1"/>
          <p:nvPr>
            <p:ph type="body" sz="quarter" idx="1"/>
          </p:nvPr>
        </p:nvSpPr>
        <p:spPr>
          <a:xfrm>
            <a:off x="548640" y="384047"/>
            <a:ext cx="8229601" cy="274322"/>
          </a:xfrm>
          <a:prstGeom prst="rect">
            <a:avLst/>
          </a:prstGeom>
        </p:spPr>
        <p:txBody>
          <a:bodyPr lIns="0" tIns="0" rIns="0" bIns="0"/>
          <a:lstStyle/>
          <a:p>
            <a:pPr/>
            <a:r>
              <a:t>THE SOLUTION</a:t>
            </a:r>
          </a:p>
        </p:txBody>
      </p:sp>
      <p:sp>
        <p:nvSpPr>
          <p:cNvPr id="113" name="Text 0"/>
          <p:cNvSpPr txBox="1"/>
          <p:nvPr>
            <p:ph type="title"/>
          </p:nvPr>
        </p:nvSpPr>
        <p:spPr>
          <a:xfrm>
            <a:off x="548638" y="676655"/>
            <a:ext cx="11094419" cy="868682"/>
          </a:xfrm>
          <a:prstGeom prst="rect">
            <a:avLst/>
          </a:prstGeom>
        </p:spPr>
        <p:txBody>
          <a:bodyPr lIns="0" tIns="0" rIns="0" bIns="0"/>
          <a:lstStyle/>
          <a:p>
            <a:pPr/>
            <a:r>
              <a:t>From a question to a tested strategy, in one flow</a:t>
            </a:r>
          </a:p>
        </p:txBody>
      </p:sp>
      <p:sp>
        <p:nvSpPr>
          <p:cNvPr id="114" name="step 1"/>
          <p:cNvSpPr/>
          <p:nvPr/>
        </p:nvSpPr>
        <p:spPr>
          <a:xfrm>
            <a:off x="548640" y="1783077"/>
            <a:ext cx="384053" cy="384053"/>
          </a:xfrm>
          <a:prstGeom prst="ellipse">
            <a:avLst/>
          </a:prstGeom>
          <a:solidFill>
            <a:schemeClr val="accent2"/>
          </a:solidFill>
          <a:ln w="12700">
            <a:miter lim="400000"/>
          </a:ln>
        </p:spPr>
        <p:txBody>
          <a:bodyPr lIns="45718" tIns="45718" rIns="45718" bIns="45718"/>
          <a:lstStyle/>
          <a:p>
            <a:pPr/>
          </a:p>
        </p:txBody>
      </p:sp>
      <p:sp>
        <p:nvSpPr>
          <p:cNvPr id="115" name="Text 3"/>
          <p:cNvSpPr txBox="1"/>
          <p:nvPr/>
        </p:nvSpPr>
        <p:spPr>
          <a:xfrm>
            <a:off x="548640" y="1881825"/>
            <a:ext cx="38405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lvl1pPr>
          </a:lstStyle>
          <a:p>
            <a:pPr/>
            <a:r>
              <a:t>1</a:t>
            </a:r>
          </a:p>
        </p:txBody>
      </p:sp>
      <p:sp>
        <p:nvSpPr>
          <p:cNvPr id="116" name="Text 4"/>
          <p:cNvSpPr txBox="1"/>
          <p:nvPr/>
        </p:nvSpPr>
        <p:spPr>
          <a:xfrm>
            <a:off x="1051560" y="1847088"/>
            <a:ext cx="2011680"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200">
                <a:solidFill>
                  <a:schemeClr val="accent1"/>
                </a:solidFill>
              </a:defRPr>
            </a:lvl1pPr>
          </a:lstStyle>
          <a:p>
            <a:pPr/>
            <a:r>
              <a:t>ASK</a:t>
            </a:r>
          </a:p>
        </p:txBody>
      </p:sp>
      <p:sp>
        <p:nvSpPr>
          <p:cNvPr id="117" name="ASK screenshot frame"/>
          <p:cNvSpPr/>
          <p:nvPr/>
        </p:nvSpPr>
        <p:spPr>
          <a:xfrm>
            <a:off x="548640" y="2331720"/>
            <a:ext cx="2606040" cy="1449327"/>
          </a:xfrm>
          <a:prstGeom prst="roundRect">
            <a:avLst>
              <a:gd name="adj" fmla="val 4495"/>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118" name="ASK screenshot window dot 1"/>
          <p:cNvSpPr/>
          <p:nvPr/>
        </p:nvSpPr>
        <p:spPr>
          <a:xfrm>
            <a:off x="621791" y="2380000"/>
            <a:ext cx="49749" cy="49749"/>
          </a:xfrm>
          <a:prstGeom prst="ellipse">
            <a:avLst/>
          </a:prstGeom>
          <a:solidFill>
            <a:srgbClr val="FF5F57"/>
          </a:solidFill>
          <a:ln w="12700">
            <a:miter lim="400000"/>
          </a:ln>
        </p:spPr>
        <p:txBody>
          <a:bodyPr lIns="45718" tIns="45718" rIns="45718" bIns="45718"/>
          <a:lstStyle/>
          <a:p>
            <a:pPr/>
          </a:p>
        </p:txBody>
      </p:sp>
      <p:sp>
        <p:nvSpPr>
          <p:cNvPr id="119" name="ASK screenshot window dot 2"/>
          <p:cNvSpPr/>
          <p:nvPr/>
        </p:nvSpPr>
        <p:spPr>
          <a:xfrm>
            <a:off x="706356" y="2380000"/>
            <a:ext cx="49749" cy="49749"/>
          </a:xfrm>
          <a:prstGeom prst="ellipse">
            <a:avLst/>
          </a:prstGeom>
          <a:solidFill>
            <a:srgbClr val="FEBC2E"/>
          </a:solidFill>
          <a:ln w="12700">
            <a:miter lim="400000"/>
          </a:ln>
        </p:spPr>
        <p:txBody>
          <a:bodyPr lIns="45718" tIns="45718" rIns="45718" bIns="45718"/>
          <a:lstStyle/>
          <a:p>
            <a:pPr/>
          </a:p>
        </p:txBody>
      </p:sp>
      <p:sp>
        <p:nvSpPr>
          <p:cNvPr id="120" name="ASK screenshot window dot 3"/>
          <p:cNvSpPr/>
          <p:nvPr/>
        </p:nvSpPr>
        <p:spPr>
          <a:xfrm>
            <a:off x="790919" y="2380000"/>
            <a:ext cx="49749" cy="49749"/>
          </a:xfrm>
          <a:prstGeom prst="ellipse">
            <a:avLst/>
          </a:prstGeom>
          <a:solidFill>
            <a:srgbClr val="28C840"/>
          </a:solidFill>
          <a:ln w="12700">
            <a:miter lim="400000"/>
          </a:ln>
        </p:spPr>
        <p:txBody>
          <a:bodyPr lIns="45718" tIns="45718" rIns="45718" bIns="45718"/>
          <a:lstStyle/>
          <a:p>
            <a:pPr/>
          </a:p>
        </p:txBody>
      </p:sp>
      <p:pic>
        <p:nvPicPr>
          <p:cNvPr id="121" name="ASK screenshot image" descr="ASK screenshot image"/>
          <p:cNvPicPr>
            <a:picLocks noChangeAspect="1"/>
          </p:cNvPicPr>
          <p:nvPr/>
        </p:nvPicPr>
        <p:blipFill>
          <a:blip r:embed="rId3">
            <a:extLst/>
          </a:blip>
          <a:stretch>
            <a:fillRect/>
          </a:stretch>
        </p:blipFill>
        <p:spPr>
          <a:xfrm>
            <a:off x="585216" y="2478022"/>
            <a:ext cx="2532890" cy="1266446"/>
          </a:xfrm>
          <a:prstGeom prst="rect">
            <a:avLst/>
          </a:prstGeom>
          <a:ln w="12700">
            <a:miter lim="400000"/>
          </a:ln>
        </p:spPr>
      </p:pic>
      <p:sp>
        <p:nvSpPr>
          <p:cNvPr id="122" name="Text 9"/>
          <p:cNvSpPr txBox="1"/>
          <p:nvPr/>
        </p:nvSpPr>
        <p:spPr>
          <a:xfrm>
            <a:off x="548640" y="3977640"/>
            <a:ext cx="2606040"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latin typeface="Arial"/>
                <a:ea typeface="Arial"/>
                <a:cs typeface="Arial"/>
                <a:sym typeface="Arial"/>
              </a:defRPr>
            </a:lvl1pPr>
          </a:lstStyle>
          <a:p>
            <a:pPr/>
            <a:r>
              <a:t>Ask in plain English</a:t>
            </a:r>
          </a:p>
        </p:txBody>
      </p:sp>
      <p:sp>
        <p:nvSpPr>
          <p:cNvPr id="123" name="Text 10"/>
          <p:cNvSpPr txBox="1"/>
          <p:nvPr/>
        </p:nvSpPr>
        <p:spPr>
          <a:xfrm>
            <a:off x="548640" y="4315967"/>
            <a:ext cx="2606040"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434B6B"/>
                </a:solidFill>
              </a:defRPr>
            </a:lvl1pPr>
          </a:lstStyle>
          <a:p>
            <a:pPr/>
            <a:r>
              <a:t>“Find profitable companies with high ROE and low debt.”</a:t>
            </a:r>
          </a:p>
        </p:txBody>
      </p:sp>
      <p:sp>
        <p:nvSpPr>
          <p:cNvPr id="124" name="flow arrow 1 circle"/>
          <p:cNvSpPr/>
          <p:nvPr/>
        </p:nvSpPr>
        <p:spPr>
          <a:xfrm>
            <a:off x="3159249" y="2944366"/>
            <a:ext cx="219459" cy="219459"/>
          </a:xfrm>
          <a:prstGeom prst="ellipse">
            <a:avLst/>
          </a:prstGeom>
          <a:solidFill>
            <a:schemeClr val="accent1"/>
          </a:solidFill>
          <a:ln w="12700">
            <a:miter lim="400000"/>
          </a:ln>
        </p:spPr>
        <p:txBody>
          <a:bodyPr lIns="45718" tIns="45718" rIns="45718" bIns="45718"/>
          <a:lstStyle/>
          <a:p>
            <a:pPr/>
          </a:p>
        </p:txBody>
      </p:sp>
      <p:pic>
        <p:nvPicPr>
          <p:cNvPr id="125" name="flow arrow 1 icon" descr="flow arrow 1 icon"/>
          <p:cNvPicPr>
            <a:picLocks noChangeAspect="1"/>
          </p:cNvPicPr>
          <p:nvPr/>
        </p:nvPicPr>
        <p:blipFill>
          <a:blip r:embed="rId4">
            <a:extLst/>
          </a:blip>
          <a:stretch>
            <a:fillRect/>
          </a:stretch>
        </p:blipFill>
        <p:spPr>
          <a:xfrm>
            <a:off x="3214116" y="2999232"/>
            <a:ext cx="109731" cy="109731"/>
          </a:xfrm>
          <a:prstGeom prst="rect">
            <a:avLst/>
          </a:prstGeom>
          <a:ln w="12700">
            <a:miter lim="400000"/>
          </a:ln>
        </p:spPr>
      </p:pic>
      <p:sp>
        <p:nvSpPr>
          <p:cNvPr id="126" name="step 2"/>
          <p:cNvSpPr/>
          <p:nvPr/>
        </p:nvSpPr>
        <p:spPr>
          <a:xfrm>
            <a:off x="3383279" y="1783077"/>
            <a:ext cx="384053" cy="384053"/>
          </a:xfrm>
          <a:prstGeom prst="ellipse">
            <a:avLst/>
          </a:prstGeom>
          <a:solidFill>
            <a:schemeClr val="accent2"/>
          </a:solidFill>
          <a:ln w="12700">
            <a:miter lim="400000"/>
          </a:ln>
        </p:spPr>
        <p:txBody>
          <a:bodyPr lIns="45718" tIns="45718" rIns="45718" bIns="45718"/>
          <a:lstStyle/>
          <a:p>
            <a:pPr/>
          </a:p>
        </p:txBody>
      </p:sp>
      <p:sp>
        <p:nvSpPr>
          <p:cNvPr id="127" name="Text 13"/>
          <p:cNvSpPr txBox="1"/>
          <p:nvPr/>
        </p:nvSpPr>
        <p:spPr>
          <a:xfrm>
            <a:off x="3383279" y="1881825"/>
            <a:ext cx="38405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lvl1pPr>
          </a:lstStyle>
          <a:p>
            <a:pPr/>
            <a:r>
              <a:t>2</a:t>
            </a:r>
          </a:p>
        </p:txBody>
      </p:sp>
      <p:sp>
        <p:nvSpPr>
          <p:cNvPr id="128" name="Text 14"/>
          <p:cNvSpPr txBox="1"/>
          <p:nvPr/>
        </p:nvSpPr>
        <p:spPr>
          <a:xfrm>
            <a:off x="3886200" y="1847088"/>
            <a:ext cx="2011679"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200">
                <a:solidFill>
                  <a:schemeClr val="accent1"/>
                </a:solidFill>
              </a:defRPr>
            </a:lvl1pPr>
          </a:lstStyle>
          <a:p>
            <a:pPr/>
            <a:r>
              <a:t>SCREEN</a:t>
            </a:r>
          </a:p>
        </p:txBody>
      </p:sp>
      <p:sp>
        <p:nvSpPr>
          <p:cNvPr id="129" name="SCREEN screenshot frame"/>
          <p:cNvSpPr/>
          <p:nvPr/>
        </p:nvSpPr>
        <p:spPr>
          <a:xfrm>
            <a:off x="3383279" y="2331720"/>
            <a:ext cx="2606043" cy="1449327"/>
          </a:xfrm>
          <a:prstGeom prst="roundRect">
            <a:avLst>
              <a:gd name="adj" fmla="val 4495"/>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130" name="SCREEN screenshot window dot 1"/>
          <p:cNvSpPr/>
          <p:nvPr/>
        </p:nvSpPr>
        <p:spPr>
          <a:xfrm>
            <a:off x="3456432" y="2380000"/>
            <a:ext cx="49749" cy="49749"/>
          </a:xfrm>
          <a:prstGeom prst="ellipse">
            <a:avLst/>
          </a:prstGeom>
          <a:solidFill>
            <a:srgbClr val="FF5F57"/>
          </a:solidFill>
          <a:ln w="12700">
            <a:miter lim="400000"/>
          </a:ln>
        </p:spPr>
        <p:txBody>
          <a:bodyPr lIns="45718" tIns="45718" rIns="45718" bIns="45718"/>
          <a:lstStyle/>
          <a:p>
            <a:pPr/>
          </a:p>
        </p:txBody>
      </p:sp>
      <p:sp>
        <p:nvSpPr>
          <p:cNvPr id="131" name="SCREEN screenshot window dot 2"/>
          <p:cNvSpPr/>
          <p:nvPr/>
        </p:nvSpPr>
        <p:spPr>
          <a:xfrm>
            <a:off x="3540995" y="2380000"/>
            <a:ext cx="49749" cy="49749"/>
          </a:xfrm>
          <a:prstGeom prst="ellipse">
            <a:avLst/>
          </a:prstGeom>
          <a:solidFill>
            <a:srgbClr val="FEBC2E"/>
          </a:solidFill>
          <a:ln w="12700">
            <a:miter lim="400000"/>
          </a:ln>
        </p:spPr>
        <p:txBody>
          <a:bodyPr lIns="45718" tIns="45718" rIns="45718" bIns="45718"/>
          <a:lstStyle/>
          <a:p>
            <a:pPr/>
          </a:p>
        </p:txBody>
      </p:sp>
      <p:sp>
        <p:nvSpPr>
          <p:cNvPr id="132" name="SCREEN screenshot window dot 3"/>
          <p:cNvSpPr/>
          <p:nvPr/>
        </p:nvSpPr>
        <p:spPr>
          <a:xfrm>
            <a:off x="3625558" y="2380000"/>
            <a:ext cx="49749" cy="49749"/>
          </a:xfrm>
          <a:prstGeom prst="ellipse">
            <a:avLst/>
          </a:prstGeom>
          <a:solidFill>
            <a:srgbClr val="28C840"/>
          </a:solidFill>
          <a:ln w="12700">
            <a:miter lim="400000"/>
          </a:ln>
        </p:spPr>
        <p:txBody>
          <a:bodyPr lIns="45718" tIns="45718" rIns="45718" bIns="45718"/>
          <a:lstStyle/>
          <a:p>
            <a:pPr/>
          </a:p>
        </p:txBody>
      </p:sp>
      <p:sp>
        <p:nvSpPr>
          <p:cNvPr id="133" name="Text 19"/>
          <p:cNvSpPr txBox="1"/>
          <p:nvPr/>
        </p:nvSpPr>
        <p:spPr>
          <a:xfrm>
            <a:off x="3383279" y="3977640"/>
            <a:ext cx="2606043"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latin typeface="Arial"/>
                <a:ea typeface="Arial"/>
                <a:cs typeface="Arial"/>
                <a:sym typeface="Arial"/>
              </a:defRPr>
            </a:lvl1pPr>
          </a:lstStyle>
          <a:p>
            <a:pPr/>
            <a:r>
              <a:t>AI builds the screen</a:t>
            </a:r>
          </a:p>
        </p:txBody>
      </p:sp>
      <p:sp>
        <p:nvSpPr>
          <p:cNvPr id="134" name="Text 20"/>
          <p:cNvSpPr txBox="1"/>
          <p:nvPr/>
        </p:nvSpPr>
        <p:spPr>
          <a:xfrm>
            <a:off x="3383279" y="4315967"/>
            <a:ext cx="2606043" cy="537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434B6B"/>
                </a:solidFill>
              </a:defRPr>
            </a:lvl1pPr>
          </a:lstStyle>
          <a:p>
            <a:pPr/>
            <a:r>
              <a:t>Plain English becomes transparent, editable filters across 6,000+ stocks, with a one-click backtest.</a:t>
            </a:r>
          </a:p>
        </p:txBody>
      </p:sp>
      <p:sp>
        <p:nvSpPr>
          <p:cNvPr id="135" name="flow arrow 2 circle"/>
          <p:cNvSpPr/>
          <p:nvPr/>
        </p:nvSpPr>
        <p:spPr>
          <a:xfrm>
            <a:off x="5993891" y="2944366"/>
            <a:ext cx="219459" cy="219459"/>
          </a:xfrm>
          <a:prstGeom prst="ellipse">
            <a:avLst/>
          </a:prstGeom>
          <a:solidFill>
            <a:schemeClr val="accent1"/>
          </a:solidFill>
          <a:ln w="12700">
            <a:miter lim="400000"/>
          </a:ln>
        </p:spPr>
        <p:txBody>
          <a:bodyPr lIns="45718" tIns="45718" rIns="45718" bIns="45718"/>
          <a:lstStyle/>
          <a:p>
            <a:pPr/>
          </a:p>
        </p:txBody>
      </p:sp>
      <p:pic>
        <p:nvPicPr>
          <p:cNvPr id="136" name="flow arrow 2 icon" descr="flow arrow 2 icon"/>
          <p:cNvPicPr>
            <a:picLocks noChangeAspect="1"/>
          </p:cNvPicPr>
          <p:nvPr/>
        </p:nvPicPr>
        <p:blipFill>
          <a:blip r:embed="rId4">
            <a:extLst/>
          </a:blip>
          <a:stretch>
            <a:fillRect/>
          </a:stretch>
        </p:blipFill>
        <p:spPr>
          <a:xfrm>
            <a:off x="6048754" y="2999232"/>
            <a:ext cx="109731" cy="109731"/>
          </a:xfrm>
          <a:prstGeom prst="rect">
            <a:avLst/>
          </a:prstGeom>
          <a:ln w="12700">
            <a:miter lim="400000"/>
          </a:ln>
        </p:spPr>
      </p:pic>
      <p:sp>
        <p:nvSpPr>
          <p:cNvPr id="137" name="step 3"/>
          <p:cNvSpPr/>
          <p:nvPr/>
        </p:nvSpPr>
        <p:spPr>
          <a:xfrm>
            <a:off x="6217920" y="1783077"/>
            <a:ext cx="384053" cy="384053"/>
          </a:xfrm>
          <a:prstGeom prst="ellipse">
            <a:avLst/>
          </a:prstGeom>
          <a:solidFill>
            <a:schemeClr val="accent2"/>
          </a:solidFill>
          <a:ln w="12700">
            <a:miter lim="400000"/>
          </a:ln>
        </p:spPr>
        <p:txBody>
          <a:bodyPr lIns="45718" tIns="45718" rIns="45718" bIns="45718"/>
          <a:lstStyle/>
          <a:p>
            <a:pPr/>
          </a:p>
        </p:txBody>
      </p:sp>
      <p:sp>
        <p:nvSpPr>
          <p:cNvPr id="138" name="Text 23"/>
          <p:cNvSpPr txBox="1"/>
          <p:nvPr/>
        </p:nvSpPr>
        <p:spPr>
          <a:xfrm>
            <a:off x="6217920" y="1881825"/>
            <a:ext cx="38405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lvl1pPr>
          </a:lstStyle>
          <a:p>
            <a:pPr/>
            <a:r>
              <a:t>3</a:t>
            </a:r>
          </a:p>
        </p:txBody>
      </p:sp>
      <p:sp>
        <p:nvSpPr>
          <p:cNvPr id="139" name="Text 24"/>
          <p:cNvSpPr txBox="1"/>
          <p:nvPr/>
        </p:nvSpPr>
        <p:spPr>
          <a:xfrm>
            <a:off x="6720840" y="1847088"/>
            <a:ext cx="2011680"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200">
                <a:solidFill>
                  <a:schemeClr val="accent1"/>
                </a:solidFill>
              </a:defRPr>
            </a:lvl1pPr>
          </a:lstStyle>
          <a:p>
            <a:pPr/>
            <a:r>
              <a:t>BACKTEST</a:t>
            </a:r>
          </a:p>
        </p:txBody>
      </p:sp>
      <p:sp>
        <p:nvSpPr>
          <p:cNvPr id="140" name="BACKTEST screenshot frame"/>
          <p:cNvSpPr/>
          <p:nvPr/>
        </p:nvSpPr>
        <p:spPr>
          <a:xfrm>
            <a:off x="6217920" y="2331720"/>
            <a:ext cx="2606043" cy="1449327"/>
          </a:xfrm>
          <a:prstGeom prst="roundRect">
            <a:avLst>
              <a:gd name="adj" fmla="val 4495"/>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141" name="BACKTEST screenshot window dot 1"/>
          <p:cNvSpPr/>
          <p:nvPr/>
        </p:nvSpPr>
        <p:spPr>
          <a:xfrm>
            <a:off x="6291071" y="2380000"/>
            <a:ext cx="49749" cy="49749"/>
          </a:xfrm>
          <a:prstGeom prst="ellipse">
            <a:avLst/>
          </a:prstGeom>
          <a:solidFill>
            <a:srgbClr val="FF5F57"/>
          </a:solidFill>
          <a:ln w="12700">
            <a:miter lim="400000"/>
          </a:ln>
        </p:spPr>
        <p:txBody>
          <a:bodyPr lIns="45718" tIns="45718" rIns="45718" bIns="45718"/>
          <a:lstStyle/>
          <a:p>
            <a:pPr/>
          </a:p>
        </p:txBody>
      </p:sp>
      <p:sp>
        <p:nvSpPr>
          <p:cNvPr id="142" name="BACKTEST screenshot window dot 2"/>
          <p:cNvSpPr/>
          <p:nvPr/>
        </p:nvSpPr>
        <p:spPr>
          <a:xfrm>
            <a:off x="6375636" y="2380000"/>
            <a:ext cx="49749" cy="49749"/>
          </a:xfrm>
          <a:prstGeom prst="ellipse">
            <a:avLst/>
          </a:prstGeom>
          <a:solidFill>
            <a:srgbClr val="FEBC2E"/>
          </a:solidFill>
          <a:ln w="12700">
            <a:miter lim="400000"/>
          </a:ln>
        </p:spPr>
        <p:txBody>
          <a:bodyPr lIns="45718" tIns="45718" rIns="45718" bIns="45718"/>
          <a:lstStyle/>
          <a:p>
            <a:pPr/>
          </a:p>
        </p:txBody>
      </p:sp>
      <p:sp>
        <p:nvSpPr>
          <p:cNvPr id="143" name="BACKTEST screenshot window dot 3"/>
          <p:cNvSpPr/>
          <p:nvPr/>
        </p:nvSpPr>
        <p:spPr>
          <a:xfrm>
            <a:off x="6460199" y="2380000"/>
            <a:ext cx="49749" cy="49749"/>
          </a:xfrm>
          <a:prstGeom prst="ellipse">
            <a:avLst/>
          </a:prstGeom>
          <a:solidFill>
            <a:srgbClr val="28C840"/>
          </a:solidFill>
          <a:ln w="12700">
            <a:miter lim="400000"/>
          </a:ln>
        </p:spPr>
        <p:txBody>
          <a:bodyPr lIns="45718" tIns="45718" rIns="45718" bIns="45718"/>
          <a:lstStyle/>
          <a:p>
            <a:pPr/>
          </a:p>
        </p:txBody>
      </p:sp>
      <p:sp>
        <p:nvSpPr>
          <p:cNvPr id="144" name="Text 29"/>
          <p:cNvSpPr txBox="1"/>
          <p:nvPr/>
        </p:nvSpPr>
        <p:spPr>
          <a:xfrm>
            <a:off x="6217920" y="3977640"/>
            <a:ext cx="2606043"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latin typeface="Arial"/>
                <a:ea typeface="Arial"/>
                <a:cs typeface="Arial"/>
                <a:sym typeface="Arial"/>
              </a:defRPr>
            </a:lvl1pPr>
          </a:lstStyle>
          <a:p>
            <a:pPr/>
            <a:r>
              <a:t>Backtest it on history</a:t>
            </a:r>
          </a:p>
        </p:txBody>
      </p:sp>
      <p:sp>
        <p:nvSpPr>
          <p:cNvPr id="145" name="Text 30"/>
          <p:cNvSpPr txBox="1"/>
          <p:nvPr/>
        </p:nvSpPr>
        <p:spPr>
          <a:xfrm>
            <a:off x="6217920" y="4315967"/>
            <a:ext cx="2606043" cy="537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434B6B"/>
                </a:solidFill>
              </a:defRPr>
            </a:lvl1pPr>
          </a:lstStyle>
          <a:p>
            <a:pPr/>
            <a:r>
              <a:t>Brokerage, security taxes (STT), stamp duty, and slippage built in; alpha, drawdown, and Sharpe shown.</a:t>
            </a:r>
          </a:p>
        </p:txBody>
      </p:sp>
      <p:sp>
        <p:nvSpPr>
          <p:cNvPr id="146" name="flow arrow 3 circle"/>
          <p:cNvSpPr/>
          <p:nvPr/>
        </p:nvSpPr>
        <p:spPr>
          <a:xfrm>
            <a:off x="8828530" y="2944366"/>
            <a:ext cx="219459" cy="219459"/>
          </a:xfrm>
          <a:prstGeom prst="ellipse">
            <a:avLst/>
          </a:prstGeom>
          <a:solidFill>
            <a:schemeClr val="accent1"/>
          </a:solidFill>
          <a:ln w="12700">
            <a:miter lim="400000"/>
          </a:ln>
        </p:spPr>
        <p:txBody>
          <a:bodyPr lIns="45718" tIns="45718" rIns="45718" bIns="45718"/>
          <a:lstStyle/>
          <a:p>
            <a:pPr/>
          </a:p>
        </p:txBody>
      </p:sp>
      <p:pic>
        <p:nvPicPr>
          <p:cNvPr id="147" name="flow arrow 3 icon" descr="flow arrow 3 icon"/>
          <p:cNvPicPr>
            <a:picLocks noChangeAspect="1"/>
          </p:cNvPicPr>
          <p:nvPr/>
        </p:nvPicPr>
        <p:blipFill>
          <a:blip r:embed="rId4">
            <a:extLst/>
          </a:blip>
          <a:stretch>
            <a:fillRect/>
          </a:stretch>
        </p:blipFill>
        <p:spPr>
          <a:xfrm>
            <a:off x="8883394" y="2999232"/>
            <a:ext cx="109731" cy="109731"/>
          </a:xfrm>
          <a:prstGeom prst="rect">
            <a:avLst/>
          </a:prstGeom>
          <a:ln w="12700">
            <a:miter lim="400000"/>
          </a:ln>
        </p:spPr>
      </p:pic>
      <p:sp>
        <p:nvSpPr>
          <p:cNvPr id="148" name="step 4"/>
          <p:cNvSpPr/>
          <p:nvPr/>
        </p:nvSpPr>
        <p:spPr>
          <a:xfrm>
            <a:off x="9052559" y="1783077"/>
            <a:ext cx="384053" cy="384053"/>
          </a:xfrm>
          <a:prstGeom prst="ellipse">
            <a:avLst/>
          </a:prstGeom>
          <a:solidFill>
            <a:schemeClr val="accent2"/>
          </a:solidFill>
          <a:ln w="12700">
            <a:miter lim="400000"/>
          </a:ln>
        </p:spPr>
        <p:txBody>
          <a:bodyPr lIns="45718" tIns="45718" rIns="45718" bIns="45718"/>
          <a:lstStyle/>
          <a:p>
            <a:pPr/>
          </a:p>
        </p:txBody>
      </p:sp>
      <p:sp>
        <p:nvSpPr>
          <p:cNvPr id="149" name="Text 33"/>
          <p:cNvSpPr txBox="1"/>
          <p:nvPr/>
        </p:nvSpPr>
        <p:spPr>
          <a:xfrm>
            <a:off x="9052559" y="1881825"/>
            <a:ext cx="38405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lvl1pPr>
          </a:lstStyle>
          <a:p>
            <a:pPr/>
            <a:r>
              <a:t>4</a:t>
            </a:r>
          </a:p>
        </p:txBody>
      </p:sp>
      <p:sp>
        <p:nvSpPr>
          <p:cNvPr id="150" name="Text 34"/>
          <p:cNvSpPr txBox="1"/>
          <p:nvPr/>
        </p:nvSpPr>
        <p:spPr>
          <a:xfrm>
            <a:off x="9555480" y="1847088"/>
            <a:ext cx="2011680"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200">
                <a:solidFill>
                  <a:schemeClr val="accent1"/>
                </a:solidFill>
              </a:defRPr>
            </a:lvl1pPr>
          </a:lstStyle>
          <a:p>
            <a:pPr/>
            <a:r>
              <a:t>PRACTISE</a:t>
            </a:r>
          </a:p>
        </p:txBody>
      </p:sp>
      <p:sp>
        <p:nvSpPr>
          <p:cNvPr id="151" name="PRACTISE screenshot frame"/>
          <p:cNvSpPr/>
          <p:nvPr/>
        </p:nvSpPr>
        <p:spPr>
          <a:xfrm>
            <a:off x="9052559" y="2331720"/>
            <a:ext cx="2606041" cy="1449327"/>
          </a:xfrm>
          <a:prstGeom prst="roundRect">
            <a:avLst>
              <a:gd name="adj" fmla="val 4495"/>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152" name="PRACTISE screenshot window dot 1"/>
          <p:cNvSpPr/>
          <p:nvPr/>
        </p:nvSpPr>
        <p:spPr>
          <a:xfrm>
            <a:off x="9125711" y="2380000"/>
            <a:ext cx="49749" cy="49749"/>
          </a:xfrm>
          <a:prstGeom prst="ellipse">
            <a:avLst/>
          </a:prstGeom>
          <a:solidFill>
            <a:srgbClr val="FF5F57"/>
          </a:solidFill>
          <a:ln w="12700">
            <a:miter lim="400000"/>
          </a:ln>
        </p:spPr>
        <p:txBody>
          <a:bodyPr lIns="45718" tIns="45718" rIns="45718" bIns="45718"/>
          <a:lstStyle/>
          <a:p>
            <a:pPr/>
          </a:p>
        </p:txBody>
      </p:sp>
      <p:sp>
        <p:nvSpPr>
          <p:cNvPr id="153" name="PRACTISE screenshot window dot 2"/>
          <p:cNvSpPr/>
          <p:nvPr/>
        </p:nvSpPr>
        <p:spPr>
          <a:xfrm>
            <a:off x="9210275" y="2380000"/>
            <a:ext cx="49749" cy="49749"/>
          </a:xfrm>
          <a:prstGeom prst="ellipse">
            <a:avLst/>
          </a:prstGeom>
          <a:solidFill>
            <a:srgbClr val="FEBC2E"/>
          </a:solidFill>
          <a:ln w="12700">
            <a:miter lim="400000"/>
          </a:ln>
        </p:spPr>
        <p:txBody>
          <a:bodyPr lIns="45718" tIns="45718" rIns="45718" bIns="45718"/>
          <a:lstStyle/>
          <a:p>
            <a:pPr/>
          </a:p>
        </p:txBody>
      </p:sp>
      <p:sp>
        <p:nvSpPr>
          <p:cNvPr id="154" name="PRACTISE screenshot window dot 3"/>
          <p:cNvSpPr/>
          <p:nvPr/>
        </p:nvSpPr>
        <p:spPr>
          <a:xfrm>
            <a:off x="9294838" y="2380000"/>
            <a:ext cx="49749" cy="49749"/>
          </a:xfrm>
          <a:prstGeom prst="ellipse">
            <a:avLst/>
          </a:prstGeom>
          <a:solidFill>
            <a:srgbClr val="28C840"/>
          </a:solidFill>
          <a:ln w="12700">
            <a:miter lim="400000"/>
          </a:ln>
        </p:spPr>
        <p:txBody>
          <a:bodyPr lIns="45718" tIns="45718" rIns="45718" bIns="45718"/>
          <a:lstStyle/>
          <a:p>
            <a:pPr/>
          </a:p>
        </p:txBody>
      </p:sp>
      <p:sp>
        <p:nvSpPr>
          <p:cNvPr id="155" name="Text 39"/>
          <p:cNvSpPr txBox="1"/>
          <p:nvPr/>
        </p:nvSpPr>
        <p:spPr>
          <a:xfrm>
            <a:off x="9052559" y="3977640"/>
            <a:ext cx="2606043"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latin typeface="Arial"/>
                <a:ea typeface="Arial"/>
                <a:cs typeface="Arial"/>
                <a:sym typeface="Arial"/>
              </a:defRPr>
            </a:lvl1pPr>
          </a:lstStyle>
          <a:p>
            <a:pPr/>
            <a:r>
              <a:t>Practise, then act</a:t>
            </a:r>
          </a:p>
        </p:txBody>
      </p:sp>
      <p:sp>
        <p:nvSpPr>
          <p:cNvPr id="156" name="Text 40"/>
          <p:cNvSpPr txBox="1"/>
          <p:nvPr/>
        </p:nvSpPr>
        <p:spPr>
          <a:xfrm>
            <a:off x="9052559" y="4315967"/>
            <a:ext cx="2606043"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434B6B"/>
                </a:solidFill>
              </a:defRPr>
            </a:lvl1pPr>
          </a:lstStyle>
          <a:p>
            <a:pPr/>
            <a:r>
              <a:t>Paper-trade the strategy with virtual cash and review every decision in a journal.</a:t>
            </a:r>
          </a:p>
        </p:txBody>
      </p:sp>
      <p:sp>
        <p:nvSpPr>
          <p:cNvPr id="157" name="Text 41"/>
          <p:cNvSpPr txBox="1"/>
          <p:nvPr/>
        </p:nvSpPr>
        <p:spPr>
          <a:xfrm>
            <a:off x="548792" y="5049765"/>
            <a:ext cx="11094416"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chemeClr val="accent5"/>
                </a:solidFill>
              </a:defRPr>
            </a:lvl1pPr>
          </a:lstStyle>
          <a:p>
            <a:pPr/>
            <a:r>
              <a:t>Verified live on 19 Oct 2026: this prompt generated a 516-stock screen (ROE &gt; 15%, D/E &lt; 1), a 1Y costed backtest and a 10-stock paper basket.</a:t>
            </a:r>
          </a:p>
        </p:txBody>
      </p:sp>
      <p:sp>
        <p:nvSpPr>
          <p:cNvPr id="158" name="principle band"/>
          <p:cNvSpPr/>
          <p:nvPr/>
        </p:nvSpPr>
        <p:spPr>
          <a:xfrm>
            <a:off x="548640" y="5349240"/>
            <a:ext cx="11094416" cy="658371"/>
          </a:xfrm>
          <a:prstGeom prst="roundRect">
            <a:avLst>
              <a:gd name="adj" fmla="val 16667"/>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159" name="LuShieldCheck circle"/>
          <p:cNvSpPr/>
          <p:nvPr/>
        </p:nvSpPr>
        <p:spPr>
          <a:xfrm>
            <a:off x="749808" y="5468110"/>
            <a:ext cx="420629" cy="420629"/>
          </a:xfrm>
          <a:prstGeom prst="ellipse">
            <a:avLst/>
          </a:prstGeom>
          <a:solidFill>
            <a:srgbClr val="F4F7FC"/>
          </a:solidFill>
          <a:ln w="12700">
            <a:miter lim="400000"/>
          </a:ln>
        </p:spPr>
        <p:txBody>
          <a:bodyPr lIns="45718" tIns="45718" rIns="45718" bIns="45718"/>
          <a:lstStyle/>
          <a:p>
            <a:pPr/>
          </a:p>
        </p:txBody>
      </p:sp>
      <p:pic>
        <p:nvPicPr>
          <p:cNvPr id="160" name="LuShieldCheck icon" descr="LuShieldCheck icon"/>
          <p:cNvPicPr>
            <a:picLocks noChangeAspect="1"/>
          </p:cNvPicPr>
          <p:nvPr/>
        </p:nvPicPr>
        <p:blipFill>
          <a:blip r:embed="rId5">
            <a:extLst/>
          </a:blip>
          <a:stretch>
            <a:fillRect/>
          </a:stretch>
        </p:blipFill>
        <p:spPr>
          <a:xfrm>
            <a:off x="854963" y="5573267"/>
            <a:ext cx="210315" cy="210315"/>
          </a:xfrm>
          <a:prstGeom prst="rect">
            <a:avLst/>
          </a:prstGeom>
          <a:ln w="12700">
            <a:miter lim="400000"/>
          </a:ln>
        </p:spPr>
      </p:pic>
      <p:sp>
        <p:nvSpPr>
          <p:cNvPr id="161" name="Text 44"/>
          <p:cNvSpPr txBox="1"/>
          <p:nvPr/>
        </p:nvSpPr>
        <p:spPr>
          <a:xfrm>
            <a:off x="1325880" y="5599991"/>
            <a:ext cx="10088575"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lvl1pPr>
          </a:lstStyle>
          <a:p>
            <a:pPr/>
            <a:r>
              <a:t>AI translates the question; deterministic code computes the numbers: every figure is exact and links to its source filing.</a:t>
            </a:r>
          </a:p>
        </p:txBody>
      </p:sp>
      <p:sp>
        <p:nvSpPr>
          <p:cNvPr id="162" name="Slide Number Placeholder 0"/>
          <p:cNvSpPr txBox="1"/>
          <p:nvPr>
            <p:ph type="sldNum" sz="quarter" idx="4294967295"/>
          </p:nvPr>
        </p:nvSpPr>
        <p:spPr>
          <a:xfrm>
            <a:off x="11516055" y="6419088"/>
            <a:ext cx="127001"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pic>
        <p:nvPicPr>
          <p:cNvPr id="163" name="pasted-movie.png" descr="pasted-movie.png"/>
          <p:cNvPicPr>
            <a:picLocks noChangeAspect="1"/>
          </p:cNvPicPr>
          <p:nvPr/>
        </p:nvPicPr>
        <p:blipFill>
          <a:blip r:embed="rId6">
            <a:extLst/>
          </a:blip>
          <a:srcRect l="0" t="0" r="0" b="19174"/>
          <a:stretch>
            <a:fillRect/>
          </a:stretch>
        </p:blipFill>
        <p:spPr>
          <a:xfrm>
            <a:off x="3379103" y="2473603"/>
            <a:ext cx="2615040" cy="1240437"/>
          </a:xfrm>
          <a:prstGeom prst="rect">
            <a:avLst/>
          </a:prstGeom>
          <a:ln w="12700">
            <a:miter lim="400000"/>
          </a:ln>
        </p:spPr>
      </p:pic>
      <p:pic>
        <p:nvPicPr>
          <p:cNvPr id="164" name="pasted-movie.png" descr="pasted-movie.png"/>
          <p:cNvPicPr>
            <a:picLocks noChangeAspect="1"/>
          </p:cNvPicPr>
          <p:nvPr/>
        </p:nvPicPr>
        <p:blipFill>
          <a:blip r:embed="rId7">
            <a:extLst/>
          </a:blip>
          <a:srcRect l="0" t="7351" r="0" b="977"/>
          <a:stretch>
            <a:fillRect/>
          </a:stretch>
        </p:blipFill>
        <p:spPr>
          <a:xfrm>
            <a:off x="6425503" y="2438749"/>
            <a:ext cx="2190871" cy="1345056"/>
          </a:xfrm>
          <a:prstGeom prst="rect">
            <a:avLst/>
          </a:prstGeom>
          <a:ln w="12700">
            <a:miter lim="400000"/>
          </a:ln>
        </p:spPr>
      </p:pic>
      <p:pic>
        <p:nvPicPr>
          <p:cNvPr id="165" name="pasted-movie.png" descr="pasted-movie.png"/>
          <p:cNvPicPr>
            <a:picLocks noChangeAspect="1"/>
          </p:cNvPicPr>
          <p:nvPr/>
        </p:nvPicPr>
        <p:blipFill>
          <a:blip r:embed="rId8">
            <a:extLst/>
          </a:blip>
          <a:stretch>
            <a:fillRect/>
          </a:stretch>
        </p:blipFill>
        <p:spPr>
          <a:xfrm>
            <a:off x="9210275" y="2443601"/>
            <a:ext cx="2169131" cy="134501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9" name="Text 0"/>
          <p:cNvSpPr txBox="1"/>
          <p:nvPr>
            <p:ph type="body" sz="quarter" idx="1"/>
          </p:nvPr>
        </p:nvSpPr>
        <p:spPr>
          <a:xfrm>
            <a:off x="548640" y="384047"/>
            <a:ext cx="8229601" cy="274322"/>
          </a:xfrm>
          <a:prstGeom prst="rect">
            <a:avLst/>
          </a:prstGeom>
        </p:spPr>
        <p:txBody>
          <a:bodyPr lIns="0" tIns="0" rIns="0" bIns="0"/>
          <a:lstStyle/>
          <a:p>
            <a:pPr/>
            <a:r>
              <a:t>LIVE TODAY</a:t>
            </a:r>
          </a:p>
        </p:txBody>
      </p:sp>
      <p:sp>
        <p:nvSpPr>
          <p:cNvPr id="170" name="Text 0"/>
          <p:cNvSpPr txBox="1"/>
          <p:nvPr>
            <p:ph type="title"/>
          </p:nvPr>
        </p:nvSpPr>
        <p:spPr>
          <a:xfrm>
            <a:off x="548638" y="676655"/>
            <a:ext cx="11094419" cy="868682"/>
          </a:xfrm>
          <a:prstGeom prst="rect">
            <a:avLst/>
          </a:prstGeom>
        </p:spPr>
        <p:txBody>
          <a:bodyPr lIns="0" tIns="0" rIns="0" bIns="0"/>
          <a:lstStyle>
            <a:lvl1pPr>
              <a:defRPr sz="2900"/>
            </a:lvl1pPr>
          </a:lstStyle>
          <a:p>
            <a:pPr/>
            <a:r>
              <a:t>One verified filings database powering six live workflows</a:t>
            </a:r>
          </a:p>
        </p:txBody>
      </p:sp>
      <p:sp>
        <p:nvSpPr>
          <p:cNvPr id="171" name="Text 2"/>
          <p:cNvSpPr txBox="1"/>
          <p:nvPr/>
        </p:nvSpPr>
        <p:spPr>
          <a:xfrm>
            <a:off x="548638" y="1298447"/>
            <a:ext cx="11094419"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434B6B"/>
                </a:solidFill>
              </a:defRPr>
            </a:lvl1pPr>
          </a:lstStyle>
          <a:p>
            <a:pPr/>
            <a:r>
              <a:t>Every module reads from the same verified database—serving as free organic discovery that upgrades users into Individual (Plus/Pro) and Advisory Team (Desk) plans.</a:t>
            </a:r>
          </a:p>
        </p:txBody>
      </p:sp>
      <p:sp>
        <p:nvSpPr>
          <p:cNvPr id="172" name="Stock intelligence frame"/>
          <p:cNvSpPr/>
          <p:nvPr/>
        </p:nvSpPr>
        <p:spPr>
          <a:xfrm>
            <a:off x="548640" y="1691638"/>
            <a:ext cx="3108962" cy="1700786"/>
          </a:xfrm>
          <a:prstGeom prst="roundRect">
            <a:avLst>
              <a:gd name="adj" fmla="val 4570"/>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173" name="Stock intelligence window dot 1"/>
          <p:cNvSpPr/>
          <p:nvPr/>
        </p:nvSpPr>
        <p:spPr>
          <a:xfrm>
            <a:off x="622524" y="1739918"/>
            <a:ext cx="49747" cy="49747"/>
          </a:xfrm>
          <a:prstGeom prst="ellipse">
            <a:avLst/>
          </a:prstGeom>
          <a:solidFill>
            <a:srgbClr val="FF5F57"/>
          </a:solidFill>
          <a:ln w="12700">
            <a:miter lim="400000"/>
          </a:ln>
        </p:spPr>
        <p:txBody>
          <a:bodyPr lIns="45718" tIns="45718" rIns="45718" bIns="45718"/>
          <a:lstStyle/>
          <a:p>
            <a:pPr/>
          </a:p>
        </p:txBody>
      </p:sp>
      <p:sp>
        <p:nvSpPr>
          <p:cNvPr id="174" name="Stock intelligence window dot 2"/>
          <p:cNvSpPr/>
          <p:nvPr/>
        </p:nvSpPr>
        <p:spPr>
          <a:xfrm>
            <a:off x="707086" y="1739918"/>
            <a:ext cx="49747" cy="49747"/>
          </a:xfrm>
          <a:prstGeom prst="ellipse">
            <a:avLst/>
          </a:prstGeom>
          <a:solidFill>
            <a:srgbClr val="FEBC2E"/>
          </a:solidFill>
          <a:ln w="12700">
            <a:miter lim="400000"/>
          </a:ln>
        </p:spPr>
        <p:txBody>
          <a:bodyPr lIns="45718" tIns="45718" rIns="45718" bIns="45718"/>
          <a:lstStyle/>
          <a:p>
            <a:pPr/>
          </a:p>
        </p:txBody>
      </p:sp>
      <p:sp>
        <p:nvSpPr>
          <p:cNvPr id="175" name="Stock intelligence window dot 3"/>
          <p:cNvSpPr/>
          <p:nvPr/>
        </p:nvSpPr>
        <p:spPr>
          <a:xfrm>
            <a:off x="791649" y="1739918"/>
            <a:ext cx="49747" cy="49747"/>
          </a:xfrm>
          <a:prstGeom prst="ellipse">
            <a:avLst/>
          </a:prstGeom>
          <a:solidFill>
            <a:srgbClr val="28C840"/>
          </a:solidFill>
          <a:ln w="12700">
            <a:miter lim="400000"/>
          </a:ln>
        </p:spPr>
        <p:txBody>
          <a:bodyPr lIns="45718" tIns="45718" rIns="45718" bIns="45718"/>
          <a:lstStyle/>
          <a:p>
            <a:pPr/>
          </a:p>
        </p:txBody>
      </p:sp>
      <p:pic>
        <p:nvPicPr>
          <p:cNvPr id="176" name="Stock intelligence image" descr="Stock intelligence image"/>
          <p:cNvPicPr>
            <a:picLocks noChangeAspect="1"/>
          </p:cNvPicPr>
          <p:nvPr/>
        </p:nvPicPr>
        <p:blipFill>
          <a:blip r:embed="rId3">
            <a:extLst/>
          </a:blip>
          <a:stretch>
            <a:fillRect/>
          </a:stretch>
        </p:blipFill>
        <p:spPr>
          <a:xfrm>
            <a:off x="585948" y="1837944"/>
            <a:ext cx="3034346" cy="1517174"/>
          </a:xfrm>
          <a:prstGeom prst="rect">
            <a:avLst/>
          </a:prstGeom>
          <a:ln w="12700">
            <a:miter lim="400000"/>
          </a:ln>
        </p:spPr>
      </p:pic>
      <p:sp>
        <p:nvSpPr>
          <p:cNvPr id="177" name="Text 7"/>
          <p:cNvSpPr txBox="1"/>
          <p:nvPr/>
        </p:nvSpPr>
        <p:spPr>
          <a:xfrm>
            <a:off x="548638" y="3465576"/>
            <a:ext cx="3291844"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lvl1pPr>
          </a:lstStyle>
          <a:p>
            <a:pPr/>
            <a:r>
              <a:t>Stock intelligence</a:t>
            </a:r>
          </a:p>
        </p:txBody>
      </p:sp>
      <p:sp>
        <p:nvSpPr>
          <p:cNvPr id="178" name="Text 8"/>
          <p:cNvSpPr txBox="1"/>
          <p:nvPr/>
        </p:nvSpPr>
        <p:spPr>
          <a:xfrm>
            <a:off x="548638" y="3703320"/>
            <a:ext cx="35661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Anvest Score, AI profile, financials and filings</a:t>
            </a:r>
          </a:p>
        </p:txBody>
      </p:sp>
      <p:sp>
        <p:nvSpPr>
          <p:cNvPr id="179" name="IPO hub frame"/>
          <p:cNvSpPr/>
          <p:nvPr/>
        </p:nvSpPr>
        <p:spPr>
          <a:xfrm>
            <a:off x="4539996" y="1691638"/>
            <a:ext cx="3108962" cy="1700786"/>
          </a:xfrm>
          <a:prstGeom prst="roundRect">
            <a:avLst>
              <a:gd name="adj" fmla="val 4570"/>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180" name="IPO hub window dot 1"/>
          <p:cNvSpPr/>
          <p:nvPr/>
        </p:nvSpPr>
        <p:spPr>
          <a:xfrm>
            <a:off x="4613880" y="1739918"/>
            <a:ext cx="49747" cy="49747"/>
          </a:xfrm>
          <a:prstGeom prst="ellipse">
            <a:avLst/>
          </a:prstGeom>
          <a:solidFill>
            <a:srgbClr val="FF5F57"/>
          </a:solidFill>
          <a:ln w="12700">
            <a:miter lim="400000"/>
          </a:ln>
        </p:spPr>
        <p:txBody>
          <a:bodyPr lIns="45718" tIns="45718" rIns="45718" bIns="45718"/>
          <a:lstStyle/>
          <a:p>
            <a:pPr/>
          </a:p>
        </p:txBody>
      </p:sp>
      <p:sp>
        <p:nvSpPr>
          <p:cNvPr id="181" name="IPO hub window dot 2"/>
          <p:cNvSpPr/>
          <p:nvPr/>
        </p:nvSpPr>
        <p:spPr>
          <a:xfrm>
            <a:off x="4698443" y="1739918"/>
            <a:ext cx="49747" cy="49747"/>
          </a:xfrm>
          <a:prstGeom prst="ellipse">
            <a:avLst/>
          </a:prstGeom>
          <a:solidFill>
            <a:srgbClr val="FEBC2E"/>
          </a:solidFill>
          <a:ln w="12700">
            <a:miter lim="400000"/>
          </a:ln>
        </p:spPr>
        <p:txBody>
          <a:bodyPr lIns="45718" tIns="45718" rIns="45718" bIns="45718"/>
          <a:lstStyle/>
          <a:p>
            <a:pPr/>
          </a:p>
        </p:txBody>
      </p:sp>
      <p:sp>
        <p:nvSpPr>
          <p:cNvPr id="182" name="IPO hub window dot 3"/>
          <p:cNvSpPr/>
          <p:nvPr/>
        </p:nvSpPr>
        <p:spPr>
          <a:xfrm>
            <a:off x="4783006" y="1739918"/>
            <a:ext cx="49747" cy="49747"/>
          </a:xfrm>
          <a:prstGeom prst="ellipse">
            <a:avLst/>
          </a:prstGeom>
          <a:solidFill>
            <a:srgbClr val="28C840"/>
          </a:solidFill>
          <a:ln w="12700">
            <a:miter lim="400000"/>
          </a:ln>
        </p:spPr>
        <p:txBody>
          <a:bodyPr lIns="45718" tIns="45718" rIns="45718" bIns="45718"/>
          <a:lstStyle/>
          <a:p>
            <a:pPr/>
          </a:p>
        </p:txBody>
      </p:sp>
      <p:pic>
        <p:nvPicPr>
          <p:cNvPr id="183" name="IPO hub image" descr="IPO hub image"/>
          <p:cNvPicPr>
            <a:picLocks noChangeAspect="1"/>
          </p:cNvPicPr>
          <p:nvPr/>
        </p:nvPicPr>
        <p:blipFill>
          <a:blip r:embed="rId4">
            <a:extLst/>
          </a:blip>
          <a:stretch>
            <a:fillRect/>
          </a:stretch>
        </p:blipFill>
        <p:spPr>
          <a:xfrm>
            <a:off x="4577303" y="1837944"/>
            <a:ext cx="3034347" cy="1517174"/>
          </a:xfrm>
          <a:prstGeom prst="rect">
            <a:avLst/>
          </a:prstGeom>
          <a:ln w="12700">
            <a:miter lim="400000"/>
          </a:ln>
        </p:spPr>
      </p:pic>
      <p:sp>
        <p:nvSpPr>
          <p:cNvPr id="184" name="Text 13"/>
          <p:cNvSpPr txBox="1"/>
          <p:nvPr/>
        </p:nvSpPr>
        <p:spPr>
          <a:xfrm>
            <a:off x="4539996" y="3465576"/>
            <a:ext cx="32918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lvl1pPr>
          </a:lstStyle>
          <a:p>
            <a:pPr/>
            <a:r>
              <a:t>IPO hub</a:t>
            </a:r>
          </a:p>
        </p:txBody>
      </p:sp>
      <p:sp>
        <p:nvSpPr>
          <p:cNvPr id="185" name="Text 14"/>
          <p:cNvSpPr txBox="1"/>
          <p:nvPr/>
        </p:nvSpPr>
        <p:spPr>
          <a:xfrm>
            <a:off x="4539996" y="3703320"/>
            <a:ext cx="356616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Jio Platforms: price band, size &amp; dates from its IPO prospectus</a:t>
            </a:r>
          </a:p>
        </p:txBody>
      </p:sp>
      <p:sp>
        <p:nvSpPr>
          <p:cNvPr id="186" name="Mutual fund X-ray frame"/>
          <p:cNvSpPr/>
          <p:nvPr/>
        </p:nvSpPr>
        <p:spPr>
          <a:xfrm>
            <a:off x="8531352" y="1691638"/>
            <a:ext cx="3108962" cy="1700786"/>
          </a:xfrm>
          <a:prstGeom prst="roundRect">
            <a:avLst>
              <a:gd name="adj" fmla="val 4570"/>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187" name="Mutual fund X-ray window dot 1"/>
          <p:cNvSpPr/>
          <p:nvPr/>
        </p:nvSpPr>
        <p:spPr>
          <a:xfrm>
            <a:off x="8605235" y="1739918"/>
            <a:ext cx="49747" cy="49747"/>
          </a:xfrm>
          <a:prstGeom prst="ellipse">
            <a:avLst/>
          </a:prstGeom>
          <a:solidFill>
            <a:srgbClr val="FF5F57"/>
          </a:solidFill>
          <a:ln w="12700">
            <a:miter lim="400000"/>
          </a:ln>
        </p:spPr>
        <p:txBody>
          <a:bodyPr lIns="45718" tIns="45718" rIns="45718" bIns="45718"/>
          <a:lstStyle/>
          <a:p>
            <a:pPr/>
          </a:p>
        </p:txBody>
      </p:sp>
      <p:sp>
        <p:nvSpPr>
          <p:cNvPr id="188" name="Mutual fund X-ray window dot 2"/>
          <p:cNvSpPr/>
          <p:nvPr/>
        </p:nvSpPr>
        <p:spPr>
          <a:xfrm>
            <a:off x="8689799" y="1739918"/>
            <a:ext cx="49747" cy="49747"/>
          </a:xfrm>
          <a:prstGeom prst="ellipse">
            <a:avLst/>
          </a:prstGeom>
          <a:solidFill>
            <a:srgbClr val="FEBC2E"/>
          </a:solidFill>
          <a:ln w="12700">
            <a:miter lim="400000"/>
          </a:ln>
        </p:spPr>
        <p:txBody>
          <a:bodyPr lIns="45718" tIns="45718" rIns="45718" bIns="45718"/>
          <a:lstStyle/>
          <a:p>
            <a:pPr/>
          </a:p>
        </p:txBody>
      </p:sp>
      <p:sp>
        <p:nvSpPr>
          <p:cNvPr id="189" name="Mutual fund X-ray window dot 3"/>
          <p:cNvSpPr/>
          <p:nvPr/>
        </p:nvSpPr>
        <p:spPr>
          <a:xfrm>
            <a:off x="8774362" y="1739918"/>
            <a:ext cx="49747" cy="49747"/>
          </a:xfrm>
          <a:prstGeom prst="ellipse">
            <a:avLst/>
          </a:prstGeom>
          <a:solidFill>
            <a:srgbClr val="28C840"/>
          </a:solidFill>
          <a:ln w="12700">
            <a:miter lim="400000"/>
          </a:ln>
        </p:spPr>
        <p:txBody>
          <a:bodyPr lIns="45718" tIns="45718" rIns="45718" bIns="45718"/>
          <a:lstStyle/>
          <a:p>
            <a:pPr/>
          </a:p>
        </p:txBody>
      </p:sp>
      <p:pic>
        <p:nvPicPr>
          <p:cNvPr id="190" name="Mutual fund X-ray image" descr="Mutual fund X-ray image"/>
          <p:cNvPicPr>
            <a:picLocks noChangeAspect="1"/>
          </p:cNvPicPr>
          <p:nvPr/>
        </p:nvPicPr>
        <p:blipFill>
          <a:blip r:embed="rId5">
            <a:extLst/>
          </a:blip>
          <a:stretch>
            <a:fillRect/>
          </a:stretch>
        </p:blipFill>
        <p:spPr>
          <a:xfrm>
            <a:off x="8568659" y="1837944"/>
            <a:ext cx="3034347" cy="1517174"/>
          </a:xfrm>
          <a:prstGeom prst="rect">
            <a:avLst/>
          </a:prstGeom>
          <a:ln w="12700">
            <a:miter lim="400000"/>
          </a:ln>
        </p:spPr>
      </p:pic>
      <p:sp>
        <p:nvSpPr>
          <p:cNvPr id="191" name="Text 19"/>
          <p:cNvSpPr txBox="1"/>
          <p:nvPr/>
        </p:nvSpPr>
        <p:spPr>
          <a:xfrm>
            <a:off x="8531352" y="3465576"/>
            <a:ext cx="32918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lvl1pPr>
          </a:lstStyle>
          <a:p>
            <a:pPr/>
            <a:r>
              <a:t>Mutual fund X-ray</a:t>
            </a:r>
          </a:p>
        </p:txBody>
      </p:sp>
      <p:sp>
        <p:nvSpPr>
          <p:cNvPr id="192" name="Text 20"/>
          <p:cNvSpPr txBox="1"/>
          <p:nvPr/>
        </p:nvSpPr>
        <p:spPr>
          <a:xfrm>
            <a:off x="8531352" y="3703320"/>
            <a:ext cx="356616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991 schemes compared on returns, cost, risk and overlap</a:t>
            </a:r>
          </a:p>
        </p:txBody>
      </p:sp>
      <p:sp>
        <p:nvSpPr>
          <p:cNvPr id="193" name="Bonds and fixed income frame"/>
          <p:cNvSpPr/>
          <p:nvPr/>
        </p:nvSpPr>
        <p:spPr>
          <a:xfrm>
            <a:off x="551021" y="4029150"/>
            <a:ext cx="3108962" cy="1700786"/>
          </a:xfrm>
          <a:prstGeom prst="roundRect">
            <a:avLst>
              <a:gd name="adj" fmla="val 4570"/>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194" name="Bonds and fixed income window dot 1"/>
          <p:cNvSpPr/>
          <p:nvPr/>
        </p:nvSpPr>
        <p:spPr>
          <a:xfrm>
            <a:off x="624904" y="4077430"/>
            <a:ext cx="49747" cy="49747"/>
          </a:xfrm>
          <a:prstGeom prst="ellipse">
            <a:avLst/>
          </a:prstGeom>
          <a:solidFill>
            <a:srgbClr val="FF5F57"/>
          </a:solidFill>
          <a:ln w="12700">
            <a:miter lim="400000"/>
          </a:ln>
        </p:spPr>
        <p:txBody>
          <a:bodyPr lIns="45718" tIns="45718" rIns="45718" bIns="45718"/>
          <a:lstStyle/>
          <a:p>
            <a:pPr/>
          </a:p>
        </p:txBody>
      </p:sp>
      <p:sp>
        <p:nvSpPr>
          <p:cNvPr id="195" name="Bonds and fixed income window dot 2"/>
          <p:cNvSpPr/>
          <p:nvPr/>
        </p:nvSpPr>
        <p:spPr>
          <a:xfrm>
            <a:off x="709467" y="4077430"/>
            <a:ext cx="49747" cy="49747"/>
          </a:xfrm>
          <a:prstGeom prst="ellipse">
            <a:avLst/>
          </a:prstGeom>
          <a:solidFill>
            <a:srgbClr val="FEBC2E"/>
          </a:solidFill>
          <a:ln w="12700">
            <a:miter lim="400000"/>
          </a:ln>
        </p:spPr>
        <p:txBody>
          <a:bodyPr lIns="45718" tIns="45718" rIns="45718" bIns="45718"/>
          <a:lstStyle/>
          <a:p>
            <a:pPr/>
          </a:p>
        </p:txBody>
      </p:sp>
      <p:sp>
        <p:nvSpPr>
          <p:cNvPr id="196" name="Bonds and fixed income window dot 3"/>
          <p:cNvSpPr/>
          <p:nvPr/>
        </p:nvSpPr>
        <p:spPr>
          <a:xfrm>
            <a:off x="794032" y="4077430"/>
            <a:ext cx="49747" cy="49747"/>
          </a:xfrm>
          <a:prstGeom prst="ellipse">
            <a:avLst/>
          </a:prstGeom>
          <a:solidFill>
            <a:srgbClr val="28C840"/>
          </a:solidFill>
          <a:ln w="12700">
            <a:miter lim="400000"/>
          </a:ln>
        </p:spPr>
        <p:txBody>
          <a:bodyPr lIns="45718" tIns="45718" rIns="45718" bIns="45718"/>
          <a:lstStyle/>
          <a:p>
            <a:pPr/>
          </a:p>
        </p:txBody>
      </p:sp>
      <p:pic>
        <p:nvPicPr>
          <p:cNvPr id="197" name="Bonds and fixed income image" descr="Bonds and fixed income image"/>
          <p:cNvPicPr>
            <a:picLocks noChangeAspect="1"/>
          </p:cNvPicPr>
          <p:nvPr/>
        </p:nvPicPr>
        <p:blipFill>
          <a:blip r:embed="rId6">
            <a:extLst/>
          </a:blip>
          <a:stretch>
            <a:fillRect/>
          </a:stretch>
        </p:blipFill>
        <p:spPr>
          <a:xfrm>
            <a:off x="588329" y="4175454"/>
            <a:ext cx="3034346" cy="1517174"/>
          </a:xfrm>
          <a:prstGeom prst="rect">
            <a:avLst/>
          </a:prstGeom>
          <a:ln w="12700">
            <a:miter lim="400000"/>
          </a:ln>
        </p:spPr>
      </p:pic>
      <p:sp>
        <p:nvSpPr>
          <p:cNvPr id="198" name="Text 25"/>
          <p:cNvSpPr txBox="1"/>
          <p:nvPr/>
        </p:nvSpPr>
        <p:spPr>
          <a:xfrm>
            <a:off x="551021" y="5803086"/>
            <a:ext cx="3291841"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lvl1pPr>
          </a:lstStyle>
          <a:p>
            <a:pPr/>
            <a:r>
              <a:t>Bonds and fixed income</a:t>
            </a:r>
          </a:p>
        </p:txBody>
      </p:sp>
      <p:sp>
        <p:nvSpPr>
          <p:cNvPr id="199" name="Text 26"/>
          <p:cNvSpPr txBox="1"/>
          <p:nvPr/>
        </p:nvSpPr>
        <p:spPr>
          <a:xfrm>
            <a:off x="551020" y="6040830"/>
            <a:ext cx="356616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Government bonds (G-Secs), T-bill yields &amp; 10-year benchmark</a:t>
            </a:r>
          </a:p>
        </p:txBody>
      </p:sp>
      <p:sp>
        <p:nvSpPr>
          <p:cNvPr id="200" name="Market stress simulator frame"/>
          <p:cNvSpPr/>
          <p:nvPr/>
        </p:nvSpPr>
        <p:spPr>
          <a:xfrm>
            <a:off x="4542377" y="4029150"/>
            <a:ext cx="3108962" cy="1700786"/>
          </a:xfrm>
          <a:prstGeom prst="roundRect">
            <a:avLst>
              <a:gd name="adj" fmla="val 4570"/>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201" name="Market stress simulator window dot 1"/>
          <p:cNvSpPr/>
          <p:nvPr/>
        </p:nvSpPr>
        <p:spPr>
          <a:xfrm>
            <a:off x="4616260" y="4077430"/>
            <a:ext cx="49747" cy="49747"/>
          </a:xfrm>
          <a:prstGeom prst="ellipse">
            <a:avLst/>
          </a:prstGeom>
          <a:solidFill>
            <a:srgbClr val="FF5F57"/>
          </a:solidFill>
          <a:ln w="12700">
            <a:miter lim="400000"/>
          </a:ln>
        </p:spPr>
        <p:txBody>
          <a:bodyPr lIns="45718" tIns="45718" rIns="45718" bIns="45718"/>
          <a:lstStyle/>
          <a:p>
            <a:pPr/>
          </a:p>
        </p:txBody>
      </p:sp>
      <p:sp>
        <p:nvSpPr>
          <p:cNvPr id="202" name="Market stress simulator window dot 2"/>
          <p:cNvSpPr/>
          <p:nvPr/>
        </p:nvSpPr>
        <p:spPr>
          <a:xfrm>
            <a:off x="4700823" y="4077430"/>
            <a:ext cx="49747" cy="49747"/>
          </a:xfrm>
          <a:prstGeom prst="ellipse">
            <a:avLst/>
          </a:prstGeom>
          <a:solidFill>
            <a:srgbClr val="FEBC2E"/>
          </a:solidFill>
          <a:ln w="12700">
            <a:miter lim="400000"/>
          </a:ln>
        </p:spPr>
        <p:txBody>
          <a:bodyPr lIns="45718" tIns="45718" rIns="45718" bIns="45718"/>
          <a:lstStyle/>
          <a:p>
            <a:pPr/>
          </a:p>
        </p:txBody>
      </p:sp>
      <p:sp>
        <p:nvSpPr>
          <p:cNvPr id="203" name="Market stress simulator window dot 3"/>
          <p:cNvSpPr/>
          <p:nvPr/>
        </p:nvSpPr>
        <p:spPr>
          <a:xfrm>
            <a:off x="4785388" y="4077430"/>
            <a:ext cx="49747" cy="49747"/>
          </a:xfrm>
          <a:prstGeom prst="ellipse">
            <a:avLst/>
          </a:prstGeom>
          <a:solidFill>
            <a:srgbClr val="28C840"/>
          </a:solidFill>
          <a:ln w="12700">
            <a:miter lim="400000"/>
          </a:ln>
        </p:spPr>
        <p:txBody>
          <a:bodyPr lIns="45718" tIns="45718" rIns="45718" bIns="45718"/>
          <a:lstStyle/>
          <a:p>
            <a:pPr/>
          </a:p>
        </p:txBody>
      </p:sp>
      <p:pic>
        <p:nvPicPr>
          <p:cNvPr id="204" name="Market stress simulator image" descr="Market stress simulator image"/>
          <p:cNvPicPr>
            <a:picLocks noChangeAspect="1"/>
          </p:cNvPicPr>
          <p:nvPr/>
        </p:nvPicPr>
        <p:blipFill>
          <a:blip r:embed="rId7">
            <a:extLst/>
          </a:blip>
          <a:stretch>
            <a:fillRect/>
          </a:stretch>
        </p:blipFill>
        <p:spPr>
          <a:xfrm>
            <a:off x="4579685" y="4175454"/>
            <a:ext cx="3034347" cy="1517174"/>
          </a:xfrm>
          <a:prstGeom prst="rect">
            <a:avLst/>
          </a:prstGeom>
          <a:ln w="12700">
            <a:miter lim="400000"/>
          </a:ln>
        </p:spPr>
      </p:pic>
      <p:sp>
        <p:nvSpPr>
          <p:cNvPr id="205" name="Text 31"/>
          <p:cNvSpPr txBox="1"/>
          <p:nvPr/>
        </p:nvSpPr>
        <p:spPr>
          <a:xfrm>
            <a:off x="4542377" y="5803086"/>
            <a:ext cx="3291841"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lvl1pPr>
          </a:lstStyle>
          <a:p>
            <a:pPr/>
            <a:r>
              <a:t>Market stress simulator</a:t>
            </a:r>
          </a:p>
        </p:txBody>
      </p:sp>
      <p:sp>
        <p:nvSpPr>
          <p:cNvPr id="206" name="Text 32"/>
          <p:cNvSpPr txBox="1"/>
          <p:nvPr/>
        </p:nvSpPr>
        <p:spPr>
          <a:xfrm>
            <a:off x="4542376" y="6040830"/>
            <a:ext cx="356616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How a portfolio behaves in a sell-off or an inflation shock</a:t>
            </a:r>
          </a:p>
        </p:txBody>
      </p:sp>
      <p:sp>
        <p:nvSpPr>
          <p:cNvPr id="207" name="Curated screens frame"/>
          <p:cNvSpPr/>
          <p:nvPr/>
        </p:nvSpPr>
        <p:spPr>
          <a:xfrm>
            <a:off x="8533733" y="4029150"/>
            <a:ext cx="3108962" cy="1700786"/>
          </a:xfrm>
          <a:prstGeom prst="roundRect">
            <a:avLst>
              <a:gd name="adj" fmla="val 4570"/>
            </a:avLst>
          </a:prstGeom>
          <a:solidFill>
            <a:srgbClr val="161A33"/>
          </a:solidFill>
          <a:ln>
            <a:solidFill>
              <a:srgbClr val="2A3060"/>
            </a:solidFill>
          </a:ln>
          <a:effectLst>
            <a:outerShdw sx="100000" sy="100000" kx="0" ky="0" algn="b" rotWithShape="0" blurRad="177800" dist="63500" dir="5400000">
              <a:srgbClr val="0B0E26">
                <a:alpha val="28000"/>
              </a:srgbClr>
            </a:outerShdw>
          </a:effectLst>
        </p:spPr>
        <p:txBody>
          <a:bodyPr lIns="45718" tIns="45718" rIns="45718" bIns="45718"/>
          <a:lstStyle/>
          <a:p>
            <a:pPr/>
          </a:p>
        </p:txBody>
      </p:sp>
      <p:sp>
        <p:nvSpPr>
          <p:cNvPr id="208" name="Curated screens window dot 1"/>
          <p:cNvSpPr/>
          <p:nvPr/>
        </p:nvSpPr>
        <p:spPr>
          <a:xfrm>
            <a:off x="8607617" y="4077430"/>
            <a:ext cx="49747" cy="49747"/>
          </a:xfrm>
          <a:prstGeom prst="ellipse">
            <a:avLst/>
          </a:prstGeom>
          <a:solidFill>
            <a:srgbClr val="FF5F57"/>
          </a:solidFill>
          <a:ln w="12700">
            <a:miter lim="400000"/>
          </a:ln>
        </p:spPr>
        <p:txBody>
          <a:bodyPr lIns="45718" tIns="45718" rIns="45718" bIns="45718"/>
          <a:lstStyle/>
          <a:p>
            <a:pPr/>
          </a:p>
        </p:txBody>
      </p:sp>
      <p:sp>
        <p:nvSpPr>
          <p:cNvPr id="209" name="Curated screens window dot 2"/>
          <p:cNvSpPr/>
          <p:nvPr/>
        </p:nvSpPr>
        <p:spPr>
          <a:xfrm>
            <a:off x="8692180" y="4077430"/>
            <a:ext cx="49747" cy="49747"/>
          </a:xfrm>
          <a:prstGeom prst="ellipse">
            <a:avLst/>
          </a:prstGeom>
          <a:solidFill>
            <a:srgbClr val="FEBC2E"/>
          </a:solidFill>
          <a:ln w="12700">
            <a:miter lim="400000"/>
          </a:ln>
        </p:spPr>
        <p:txBody>
          <a:bodyPr lIns="45718" tIns="45718" rIns="45718" bIns="45718"/>
          <a:lstStyle/>
          <a:p>
            <a:pPr/>
          </a:p>
        </p:txBody>
      </p:sp>
      <p:sp>
        <p:nvSpPr>
          <p:cNvPr id="210" name="Curated screens window dot 3"/>
          <p:cNvSpPr/>
          <p:nvPr/>
        </p:nvSpPr>
        <p:spPr>
          <a:xfrm>
            <a:off x="8776744" y="4077430"/>
            <a:ext cx="49747" cy="49747"/>
          </a:xfrm>
          <a:prstGeom prst="ellipse">
            <a:avLst/>
          </a:prstGeom>
          <a:solidFill>
            <a:srgbClr val="28C840"/>
          </a:solidFill>
          <a:ln w="12700">
            <a:miter lim="400000"/>
          </a:ln>
        </p:spPr>
        <p:txBody>
          <a:bodyPr lIns="45718" tIns="45718" rIns="45718" bIns="45718"/>
          <a:lstStyle/>
          <a:p>
            <a:pPr/>
          </a:p>
        </p:txBody>
      </p:sp>
      <p:pic>
        <p:nvPicPr>
          <p:cNvPr id="211" name="Curated screens image" descr="Curated screens image"/>
          <p:cNvPicPr>
            <a:picLocks noChangeAspect="1"/>
          </p:cNvPicPr>
          <p:nvPr/>
        </p:nvPicPr>
        <p:blipFill>
          <a:blip r:embed="rId8">
            <a:extLst/>
          </a:blip>
          <a:stretch>
            <a:fillRect/>
          </a:stretch>
        </p:blipFill>
        <p:spPr>
          <a:xfrm>
            <a:off x="8571041" y="4175454"/>
            <a:ext cx="3034347" cy="1517174"/>
          </a:xfrm>
          <a:prstGeom prst="rect">
            <a:avLst/>
          </a:prstGeom>
          <a:ln w="12700">
            <a:miter lim="400000"/>
          </a:ln>
        </p:spPr>
      </p:pic>
      <p:sp>
        <p:nvSpPr>
          <p:cNvPr id="212" name="Text 37"/>
          <p:cNvSpPr txBox="1"/>
          <p:nvPr/>
        </p:nvSpPr>
        <p:spPr>
          <a:xfrm>
            <a:off x="8533733" y="5803086"/>
            <a:ext cx="329184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lvl1pPr>
          </a:lstStyle>
          <a:p>
            <a:pPr/>
            <a:r>
              <a:t>Curated screens</a:t>
            </a:r>
          </a:p>
        </p:txBody>
      </p:sp>
      <p:sp>
        <p:nvSpPr>
          <p:cNvPr id="213" name="Text 38"/>
          <p:cNvSpPr txBox="1"/>
          <p:nvPr/>
        </p:nvSpPr>
        <p:spPr>
          <a:xfrm>
            <a:off x="8533733" y="6040830"/>
            <a:ext cx="356616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Insider buying, institutional accumulation &amp; quality filters</a:t>
            </a:r>
          </a:p>
        </p:txBody>
      </p:sp>
      <p:sp>
        <p:nvSpPr>
          <p:cNvPr id="214" name="Slide Number Placeholder 0"/>
          <p:cNvSpPr txBox="1"/>
          <p:nvPr>
            <p:ph type="sldNum" sz="quarter" idx="4294967295"/>
          </p:nvPr>
        </p:nvSpPr>
        <p:spPr>
          <a:xfrm>
            <a:off x="11516055" y="6419088"/>
            <a:ext cx="127001"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 name="Text 0"/>
          <p:cNvSpPr txBox="1"/>
          <p:nvPr>
            <p:ph type="body" sz="quarter" idx="1"/>
          </p:nvPr>
        </p:nvSpPr>
        <p:spPr>
          <a:xfrm>
            <a:off x="548640" y="384047"/>
            <a:ext cx="8229601" cy="274322"/>
          </a:xfrm>
          <a:prstGeom prst="rect">
            <a:avLst/>
          </a:prstGeom>
        </p:spPr>
        <p:txBody>
          <a:bodyPr lIns="0" tIns="0" rIns="0" bIns="0"/>
          <a:lstStyle/>
          <a:p>
            <a:pPr/>
            <a:r>
              <a:t>TRACTION</a:t>
            </a:r>
          </a:p>
        </p:txBody>
      </p:sp>
      <p:sp>
        <p:nvSpPr>
          <p:cNvPr id="219" name="Text 0"/>
          <p:cNvSpPr txBox="1"/>
          <p:nvPr>
            <p:ph type="title"/>
          </p:nvPr>
        </p:nvSpPr>
        <p:spPr>
          <a:xfrm>
            <a:off x="548638" y="676655"/>
            <a:ext cx="11094419" cy="868682"/>
          </a:xfrm>
          <a:prstGeom prst="rect">
            <a:avLst/>
          </a:prstGeom>
        </p:spPr>
        <p:txBody>
          <a:bodyPr lIns="0" tIns="0" rIns="0" bIns="0"/>
          <a:lstStyle/>
          <a:p>
            <a:pPr/>
            <a:r>
              <a:t>Built and live, with auditable source checks</a:t>
            </a:r>
          </a:p>
        </p:txBody>
      </p:sp>
      <p:sp>
        <p:nvSpPr>
          <p:cNvPr id="220" name="chip SHIPPED AND LIVE"/>
          <p:cNvSpPr/>
          <p:nvPr/>
        </p:nvSpPr>
        <p:spPr>
          <a:xfrm>
            <a:off x="533301" y="1905368"/>
            <a:ext cx="1444754" cy="256034"/>
          </a:xfrm>
          <a:prstGeom prst="roundRect">
            <a:avLst>
              <a:gd name="adj" fmla="val 50000"/>
            </a:avLst>
          </a:prstGeom>
          <a:solidFill>
            <a:schemeClr val="accent4"/>
          </a:solidFill>
          <a:ln w="12700">
            <a:miter lim="400000"/>
          </a:ln>
        </p:spPr>
        <p:txBody>
          <a:bodyPr lIns="45718" tIns="45718" rIns="45718" bIns="45718"/>
          <a:lstStyle/>
          <a:p>
            <a:pPr/>
          </a:p>
        </p:txBody>
      </p:sp>
      <p:sp>
        <p:nvSpPr>
          <p:cNvPr id="221" name="chip text SHIPPED AND LIVE"/>
          <p:cNvSpPr txBox="1"/>
          <p:nvPr/>
        </p:nvSpPr>
        <p:spPr>
          <a:xfrm>
            <a:off x="533301" y="1964850"/>
            <a:ext cx="1444754"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FFFFFF"/>
                </a:solidFill>
              </a:defRPr>
            </a:lvl1pPr>
          </a:lstStyle>
          <a:p>
            <a:pPr/>
            <a:r>
              <a:t>SHIPPED AND LIVE</a:t>
            </a:r>
          </a:p>
        </p:txBody>
      </p:sp>
      <p:pic>
        <p:nvPicPr>
          <p:cNvPr id="222" name="check 1" descr="check 1"/>
          <p:cNvPicPr>
            <a:picLocks noChangeAspect="1"/>
          </p:cNvPicPr>
          <p:nvPr/>
        </p:nvPicPr>
        <p:blipFill>
          <a:blip r:embed="rId3">
            <a:extLst/>
          </a:blip>
          <a:stretch>
            <a:fillRect/>
          </a:stretch>
        </p:blipFill>
        <p:spPr>
          <a:xfrm>
            <a:off x="542444" y="2300870"/>
            <a:ext cx="237746" cy="237746"/>
          </a:xfrm>
          <a:prstGeom prst="rect">
            <a:avLst/>
          </a:prstGeom>
          <a:ln w="12700">
            <a:miter lim="400000"/>
          </a:ln>
        </p:spPr>
      </p:pic>
      <p:sp>
        <p:nvSpPr>
          <p:cNvPr id="223" name="Text 5"/>
          <p:cNvSpPr txBox="1"/>
          <p:nvPr/>
        </p:nvSpPr>
        <p:spPr>
          <a:xfrm>
            <a:off x="862484" y="2362568"/>
            <a:ext cx="278892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Source-cited AI research copilot</a:t>
            </a:r>
          </a:p>
        </p:txBody>
      </p:sp>
      <p:pic>
        <p:nvPicPr>
          <p:cNvPr id="224" name="check 2" descr="check 2"/>
          <p:cNvPicPr>
            <a:picLocks noChangeAspect="1"/>
          </p:cNvPicPr>
          <p:nvPr/>
        </p:nvPicPr>
        <p:blipFill>
          <a:blip r:embed="rId3">
            <a:extLst/>
          </a:blip>
          <a:stretch>
            <a:fillRect/>
          </a:stretch>
        </p:blipFill>
        <p:spPr>
          <a:xfrm>
            <a:off x="4111287" y="2354289"/>
            <a:ext cx="237746" cy="237746"/>
          </a:xfrm>
          <a:prstGeom prst="rect">
            <a:avLst/>
          </a:prstGeom>
          <a:ln w="12700">
            <a:miter lim="400000"/>
          </a:ln>
        </p:spPr>
      </p:pic>
      <p:sp>
        <p:nvSpPr>
          <p:cNvPr id="225" name="Text 6"/>
          <p:cNvSpPr txBox="1"/>
          <p:nvPr/>
        </p:nvSpPr>
        <p:spPr>
          <a:xfrm>
            <a:off x="4440470" y="2413150"/>
            <a:ext cx="278892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Natural-language stock screener</a:t>
            </a:r>
          </a:p>
        </p:txBody>
      </p:sp>
      <p:pic>
        <p:nvPicPr>
          <p:cNvPr id="226" name="check 3" descr="check 3"/>
          <p:cNvPicPr>
            <a:picLocks noChangeAspect="1"/>
          </p:cNvPicPr>
          <p:nvPr/>
        </p:nvPicPr>
        <p:blipFill>
          <a:blip r:embed="rId3">
            <a:extLst/>
          </a:blip>
          <a:stretch>
            <a:fillRect/>
          </a:stretch>
        </p:blipFill>
        <p:spPr>
          <a:xfrm>
            <a:off x="542444" y="2904374"/>
            <a:ext cx="237746" cy="237746"/>
          </a:xfrm>
          <a:prstGeom prst="rect">
            <a:avLst/>
          </a:prstGeom>
          <a:ln w="12700">
            <a:miter lim="400000"/>
          </a:ln>
        </p:spPr>
      </p:pic>
      <p:sp>
        <p:nvSpPr>
          <p:cNvPr id="227" name="Text 7"/>
          <p:cNvSpPr txBox="1"/>
          <p:nvPr/>
        </p:nvSpPr>
        <p:spPr>
          <a:xfrm>
            <a:off x="862484" y="2966073"/>
            <a:ext cx="278892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6K+ stock pages; 6,119 AI profiles</a:t>
            </a:r>
          </a:p>
        </p:txBody>
      </p:sp>
      <p:pic>
        <p:nvPicPr>
          <p:cNvPr id="228" name="check 4" descr="check 4"/>
          <p:cNvPicPr>
            <a:picLocks noChangeAspect="1"/>
          </p:cNvPicPr>
          <p:nvPr/>
        </p:nvPicPr>
        <p:blipFill>
          <a:blip r:embed="rId3">
            <a:extLst/>
          </a:blip>
          <a:stretch>
            <a:fillRect/>
          </a:stretch>
        </p:blipFill>
        <p:spPr>
          <a:xfrm>
            <a:off x="4111287" y="2957792"/>
            <a:ext cx="237746" cy="237746"/>
          </a:xfrm>
          <a:prstGeom prst="rect">
            <a:avLst/>
          </a:prstGeom>
          <a:ln w="12700">
            <a:miter lim="400000"/>
          </a:ln>
        </p:spPr>
      </p:pic>
      <p:sp>
        <p:nvSpPr>
          <p:cNvPr id="229" name="Text 8"/>
          <p:cNvSpPr txBox="1"/>
          <p:nvPr/>
        </p:nvSpPr>
        <p:spPr>
          <a:xfrm>
            <a:off x="4440470" y="3016655"/>
            <a:ext cx="278892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Backtesting with Indian taxes &amp; fees</a:t>
            </a:r>
          </a:p>
        </p:txBody>
      </p:sp>
      <p:pic>
        <p:nvPicPr>
          <p:cNvPr id="230" name="check 5" descr="check 5"/>
          <p:cNvPicPr>
            <a:picLocks noChangeAspect="1"/>
          </p:cNvPicPr>
          <p:nvPr/>
        </p:nvPicPr>
        <p:blipFill>
          <a:blip r:embed="rId3">
            <a:extLst/>
          </a:blip>
          <a:stretch>
            <a:fillRect/>
          </a:stretch>
        </p:blipFill>
        <p:spPr>
          <a:xfrm>
            <a:off x="542444" y="3507878"/>
            <a:ext cx="237746" cy="237746"/>
          </a:xfrm>
          <a:prstGeom prst="rect">
            <a:avLst/>
          </a:prstGeom>
          <a:ln w="12700">
            <a:miter lim="400000"/>
          </a:ln>
        </p:spPr>
      </p:pic>
      <p:sp>
        <p:nvSpPr>
          <p:cNvPr id="231" name="Text 9"/>
          <p:cNvSpPr txBox="1"/>
          <p:nvPr/>
        </p:nvSpPr>
        <p:spPr>
          <a:xfrm>
            <a:off x="862484" y="3569577"/>
            <a:ext cx="278892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Paper trading and trade journal</a:t>
            </a:r>
          </a:p>
        </p:txBody>
      </p:sp>
      <p:pic>
        <p:nvPicPr>
          <p:cNvPr id="232" name="check 6" descr="check 6"/>
          <p:cNvPicPr>
            <a:picLocks noChangeAspect="1"/>
          </p:cNvPicPr>
          <p:nvPr/>
        </p:nvPicPr>
        <p:blipFill>
          <a:blip r:embed="rId3">
            <a:extLst/>
          </a:blip>
          <a:stretch>
            <a:fillRect/>
          </a:stretch>
        </p:blipFill>
        <p:spPr>
          <a:xfrm>
            <a:off x="4111287" y="3561296"/>
            <a:ext cx="237746" cy="237746"/>
          </a:xfrm>
          <a:prstGeom prst="rect">
            <a:avLst/>
          </a:prstGeom>
          <a:ln w="12700">
            <a:miter lim="400000"/>
          </a:ln>
        </p:spPr>
      </p:pic>
      <p:sp>
        <p:nvSpPr>
          <p:cNvPr id="233" name="Text 10"/>
          <p:cNvSpPr txBox="1"/>
          <p:nvPr/>
        </p:nvSpPr>
        <p:spPr>
          <a:xfrm>
            <a:off x="4440470" y="3620158"/>
            <a:ext cx="278892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IPO hub with prospectus analysis</a:t>
            </a:r>
          </a:p>
        </p:txBody>
      </p:sp>
      <p:pic>
        <p:nvPicPr>
          <p:cNvPr id="234" name="check 7" descr="check 7"/>
          <p:cNvPicPr>
            <a:picLocks noChangeAspect="1"/>
          </p:cNvPicPr>
          <p:nvPr/>
        </p:nvPicPr>
        <p:blipFill>
          <a:blip r:embed="rId3">
            <a:extLst/>
          </a:blip>
          <a:stretch>
            <a:fillRect/>
          </a:stretch>
        </p:blipFill>
        <p:spPr>
          <a:xfrm>
            <a:off x="542444" y="4111380"/>
            <a:ext cx="237746" cy="237746"/>
          </a:xfrm>
          <a:prstGeom prst="rect">
            <a:avLst/>
          </a:prstGeom>
          <a:ln w="12700">
            <a:miter lim="400000"/>
          </a:ln>
        </p:spPr>
      </p:pic>
      <p:sp>
        <p:nvSpPr>
          <p:cNvPr id="235" name="Text 11"/>
          <p:cNvSpPr txBox="1"/>
          <p:nvPr/>
        </p:nvSpPr>
        <p:spPr>
          <a:xfrm>
            <a:off x="862484" y="4173080"/>
            <a:ext cx="278892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Mutual fund X-ray: cost and overlap</a:t>
            </a:r>
          </a:p>
        </p:txBody>
      </p:sp>
      <p:pic>
        <p:nvPicPr>
          <p:cNvPr id="236" name="check 8" descr="check 8"/>
          <p:cNvPicPr>
            <a:picLocks noChangeAspect="1"/>
          </p:cNvPicPr>
          <p:nvPr/>
        </p:nvPicPr>
        <p:blipFill>
          <a:blip r:embed="rId3">
            <a:extLst/>
          </a:blip>
          <a:stretch>
            <a:fillRect/>
          </a:stretch>
        </p:blipFill>
        <p:spPr>
          <a:xfrm>
            <a:off x="4111287" y="4164800"/>
            <a:ext cx="237746" cy="237746"/>
          </a:xfrm>
          <a:prstGeom prst="rect">
            <a:avLst/>
          </a:prstGeom>
          <a:ln w="12700">
            <a:miter lim="400000"/>
          </a:ln>
        </p:spPr>
      </p:pic>
      <p:sp>
        <p:nvSpPr>
          <p:cNvPr id="237" name="Text 12"/>
          <p:cNvSpPr txBox="1"/>
          <p:nvPr/>
        </p:nvSpPr>
        <p:spPr>
          <a:xfrm>
            <a:off x="4440470" y="4223663"/>
            <a:ext cx="278892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Bonds, G-Secs and yield tools</a:t>
            </a:r>
          </a:p>
        </p:txBody>
      </p:sp>
      <p:pic>
        <p:nvPicPr>
          <p:cNvPr id="238" name="check 9" descr="check 9"/>
          <p:cNvPicPr>
            <a:picLocks noChangeAspect="1"/>
          </p:cNvPicPr>
          <p:nvPr/>
        </p:nvPicPr>
        <p:blipFill>
          <a:blip r:embed="rId3">
            <a:extLst/>
          </a:blip>
          <a:stretch>
            <a:fillRect/>
          </a:stretch>
        </p:blipFill>
        <p:spPr>
          <a:xfrm>
            <a:off x="542444" y="4714885"/>
            <a:ext cx="237746" cy="237746"/>
          </a:xfrm>
          <a:prstGeom prst="rect">
            <a:avLst/>
          </a:prstGeom>
          <a:ln w="12700">
            <a:miter lim="400000"/>
          </a:ln>
        </p:spPr>
      </p:pic>
      <p:sp>
        <p:nvSpPr>
          <p:cNvPr id="239" name="Text 13"/>
          <p:cNvSpPr txBox="1"/>
          <p:nvPr/>
        </p:nvSpPr>
        <p:spPr>
          <a:xfrm>
            <a:off x="862484" y="4776585"/>
            <a:ext cx="278892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vl1pPr>
          </a:lstStyle>
          <a:p>
            <a:pPr/>
            <a:r>
              <a:t>Wealth, retirement and stress simulators</a:t>
            </a:r>
          </a:p>
        </p:txBody>
      </p:sp>
      <p:sp>
        <p:nvSpPr>
          <p:cNvPr id="240" name="traction stat 1"/>
          <p:cNvSpPr/>
          <p:nvPr/>
        </p:nvSpPr>
        <p:spPr>
          <a:xfrm>
            <a:off x="7452359" y="1783078"/>
            <a:ext cx="4187953" cy="868682"/>
          </a:xfrm>
          <a:prstGeom prst="roundRect">
            <a:avLst>
              <a:gd name="adj" fmla="val 12632"/>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241" name="Text 15"/>
          <p:cNvSpPr txBox="1"/>
          <p:nvPr/>
        </p:nvSpPr>
        <p:spPr>
          <a:xfrm>
            <a:off x="7680959" y="2056889"/>
            <a:ext cx="1691641" cy="32106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200">
                <a:solidFill>
                  <a:schemeClr val="accent1"/>
                </a:solidFill>
                <a:latin typeface="Arial"/>
                <a:ea typeface="Arial"/>
                <a:cs typeface="Arial"/>
                <a:sym typeface="Arial"/>
              </a:defRPr>
            </a:lvl1pPr>
          </a:lstStyle>
          <a:p>
            <a:pPr/>
            <a:r>
              <a:t>50 / 50</a:t>
            </a:r>
          </a:p>
        </p:txBody>
      </p:sp>
      <p:sp>
        <p:nvSpPr>
          <p:cNvPr id="242" name="Text 16"/>
          <p:cNvSpPr txBox="1"/>
          <p:nvPr/>
        </p:nvSpPr>
        <p:spPr>
          <a:xfrm>
            <a:off x="9372600" y="1989758"/>
            <a:ext cx="2148840"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recent company filings: 100% of extracted revenue &amp; profit matched NSE filings (20 Oct 2026)</a:t>
            </a:r>
          </a:p>
        </p:txBody>
      </p:sp>
      <p:sp>
        <p:nvSpPr>
          <p:cNvPr id="243" name="traction stat 2"/>
          <p:cNvSpPr/>
          <p:nvPr/>
        </p:nvSpPr>
        <p:spPr>
          <a:xfrm>
            <a:off x="7452359" y="2770632"/>
            <a:ext cx="4187953" cy="868682"/>
          </a:xfrm>
          <a:prstGeom prst="roundRect">
            <a:avLst>
              <a:gd name="adj" fmla="val 12632"/>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244" name="Text 18"/>
          <p:cNvSpPr txBox="1"/>
          <p:nvPr/>
        </p:nvSpPr>
        <p:spPr>
          <a:xfrm>
            <a:off x="7680959" y="3044442"/>
            <a:ext cx="1691641" cy="3210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200">
                <a:solidFill>
                  <a:schemeClr val="accent1"/>
                </a:solidFill>
                <a:latin typeface="Arial"/>
                <a:ea typeface="Arial"/>
                <a:cs typeface="Arial"/>
                <a:sym typeface="Arial"/>
              </a:defRPr>
            </a:lvl1pPr>
          </a:lstStyle>
          <a:p>
            <a:pPr/>
            <a:r>
              <a:t>418</a:t>
            </a:r>
          </a:p>
        </p:txBody>
      </p:sp>
      <p:sp>
        <p:nvSpPr>
          <p:cNvPr id="245" name="Text 19"/>
          <p:cNvSpPr txBox="1"/>
          <p:nvPr/>
        </p:nvSpPr>
        <p:spPr>
          <a:xfrm>
            <a:off x="9372600" y="3059859"/>
            <a:ext cx="214884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AI research queries logged across 16 pilot and internal test accounts</a:t>
            </a:r>
          </a:p>
        </p:txBody>
      </p:sp>
      <p:sp>
        <p:nvSpPr>
          <p:cNvPr id="246" name="traction stat 3"/>
          <p:cNvSpPr/>
          <p:nvPr/>
        </p:nvSpPr>
        <p:spPr>
          <a:xfrm>
            <a:off x="7452359" y="3758184"/>
            <a:ext cx="4187953" cy="868682"/>
          </a:xfrm>
          <a:prstGeom prst="roundRect">
            <a:avLst>
              <a:gd name="adj" fmla="val 12632"/>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247" name="Text 21"/>
          <p:cNvSpPr txBox="1"/>
          <p:nvPr/>
        </p:nvSpPr>
        <p:spPr>
          <a:xfrm>
            <a:off x="7680959" y="4031993"/>
            <a:ext cx="1691641" cy="32106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200">
                <a:solidFill>
                  <a:schemeClr val="accent1"/>
                </a:solidFill>
                <a:latin typeface="Arial"/>
                <a:ea typeface="Arial"/>
                <a:cs typeface="Arial"/>
                <a:sym typeface="Arial"/>
              </a:defRPr>
            </a:lvl1pPr>
          </a:lstStyle>
          <a:p>
            <a:pPr/>
            <a:r>
              <a:t>238</a:t>
            </a:r>
          </a:p>
        </p:txBody>
      </p:sp>
      <p:sp>
        <p:nvSpPr>
          <p:cNvPr id="248" name="Text 22"/>
          <p:cNvSpPr txBox="1"/>
          <p:nvPr/>
        </p:nvSpPr>
        <p:spPr>
          <a:xfrm>
            <a:off x="9372600" y="4047411"/>
            <a:ext cx="214884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historical strategy backtests run and saved across test accounts</a:t>
            </a:r>
          </a:p>
        </p:txBody>
      </p:sp>
      <p:sp>
        <p:nvSpPr>
          <p:cNvPr id="249" name="traction stat 4"/>
          <p:cNvSpPr/>
          <p:nvPr/>
        </p:nvSpPr>
        <p:spPr>
          <a:xfrm>
            <a:off x="7452359" y="4745735"/>
            <a:ext cx="4187953" cy="868682"/>
          </a:xfrm>
          <a:prstGeom prst="roundRect">
            <a:avLst>
              <a:gd name="adj" fmla="val 12632"/>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250" name="Text 24"/>
          <p:cNvSpPr txBox="1"/>
          <p:nvPr/>
        </p:nvSpPr>
        <p:spPr>
          <a:xfrm>
            <a:off x="7680959" y="5019545"/>
            <a:ext cx="1691641" cy="32106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200">
                <a:solidFill>
                  <a:schemeClr val="accent1"/>
                </a:solidFill>
                <a:latin typeface="Arial"/>
                <a:ea typeface="Arial"/>
                <a:cs typeface="Arial"/>
                <a:sym typeface="Arial"/>
              </a:defRPr>
            </a:lvl1pPr>
          </a:lstStyle>
          <a:p>
            <a:pPr/>
            <a:r>
              <a:t>12 months</a:t>
            </a:r>
          </a:p>
        </p:txBody>
      </p:sp>
      <p:sp>
        <p:nvSpPr>
          <p:cNvPr id="251" name="Text 25"/>
          <p:cNvSpPr txBox="1"/>
          <p:nvPr/>
        </p:nvSpPr>
        <p:spPr>
          <a:xfrm>
            <a:off x="9372600" y="5034963"/>
            <a:ext cx="214884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from first code commit to live 9-module platform, zero outside capital</a:t>
            </a:r>
          </a:p>
        </p:txBody>
      </p:sp>
      <p:sp>
        <p:nvSpPr>
          <p:cNvPr id="252" name="journey band"/>
          <p:cNvSpPr/>
          <p:nvPr/>
        </p:nvSpPr>
        <p:spPr>
          <a:xfrm>
            <a:off x="548791" y="5723280"/>
            <a:ext cx="11094417" cy="502922"/>
          </a:xfrm>
          <a:prstGeom prst="roundRect">
            <a:avLst>
              <a:gd name="adj" fmla="val 21818"/>
            </a:avLst>
          </a:prstGeom>
          <a:solidFill>
            <a:srgbClr val="F4F7FC"/>
          </a:solidFill>
          <a:ln w="12700">
            <a:miter lim="400000"/>
          </a:ln>
        </p:spPr>
        <p:txBody>
          <a:bodyPr lIns="45718" tIns="45718" rIns="45718" bIns="45718"/>
          <a:lstStyle/>
          <a:p>
            <a:pPr/>
          </a:p>
        </p:txBody>
      </p:sp>
      <p:sp>
        <p:nvSpPr>
          <p:cNvPr id="253" name="Slide Number Placeholder 0"/>
          <p:cNvSpPr txBox="1"/>
          <p:nvPr>
            <p:ph type="sldNum" sz="quarter" idx="4294967295"/>
          </p:nvPr>
        </p:nvSpPr>
        <p:spPr>
          <a:xfrm>
            <a:off x="11516055" y="6419088"/>
            <a:ext cx="127001"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254" name="Text 3"/>
          <p:cNvSpPr txBox="1"/>
          <p:nvPr/>
        </p:nvSpPr>
        <p:spPr>
          <a:xfrm>
            <a:off x="777240" y="5903898"/>
            <a:ext cx="10634472"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chemeClr val="accent1"/>
                </a:solidFill>
              </a:defRPr>
            </a:pPr>
            <a:r>
              <a:t>Built-in trust &amp; SEBI compliance:  </a:t>
            </a:r>
            <a:r>
              <a:rPr b="0">
                <a:solidFill>
                  <a:srgbClr val="0B0E26"/>
                </a:solidFill>
              </a:rPr>
              <a:t>every answer passes a numerical source check before display, flags missing data instead of guessing, and gives zero buy/sell calls.</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8" name="Text 0"/>
          <p:cNvSpPr txBox="1"/>
          <p:nvPr>
            <p:ph type="body" sz="quarter" idx="1"/>
          </p:nvPr>
        </p:nvSpPr>
        <p:spPr>
          <a:xfrm>
            <a:off x="548640" y="384047"/>
            <a:ext cx="8229601" cy="274322"/>
          </a:xfrm>
          <a:prstGeom prst="rect">
            <a:avLst/>
          </a:prstGeom>
        </p:spPr>
        <p:txBody>
          <a:bodyPr lIns="0" tIns="0" rIns="0" bIns="0"/>
          <a:lstStyle/>
          <a:p>
            <a:pPr/>
            <a:r>
              <a:t>WHY NOW</a:t>
            </a:r>
          </a:p>
        </p:txBody>
      </p:sp>
      <p:sp>
        <p:nvSpPr>
          <p:cNvPr id="259" name="Text 0"/>
          <p:cNvSpPr txBox="1"/>
          <p:nvPr>
            <p:ph type="title"/>
          </p:nvPr>
        </p:nvSpPr>
        <p:spPr>
          <a:xfrm>
            <a:off x="548638" y="676655"/>
            <a:ext cx="11094419" cy="868682"/>
          </a:xfrm>
          <a:prstGeom prst="rect">
            <a:avLst/>
          </a:prstGeom>
        </p:spPr>
        <p:txBody>
          <a:bodyPr lIns="0" tIns="0" rIns="0" bIns="0"/>
          <a:lstStyle/>
          <a:p>
            <a:pPr/>
            <a:r>
              <a:t>Four shifts make this the moment</a:t>
            </a:r>
          </a:p>
        </p:txBody>
      </p:sp>
      <p:sp>
        <p:nvSpPr>
          <p:cNvPr id="260" name="why-now card 1"/>
          <p:cNvSpPr/>
          <p:nvPr/>
        </p:nvSpPr>
        <p:spPr>
          <a:xfrm>
            <a:off x="548640" y="1691638"/>
            <a:ext cx="5440680" cy="1481332"/>
          </a:xfrm>
          <a:prstGeom prst="roundRect">
            <a:avLst>
              <a:gd name="adj" fmla="val 7408"/>
            </a:avLst>
          </a:prstGeom>
          <a:solidFill>
            <a:srgbClr val="FFFFFF">
              <a:alpha val="8000"/>
            </a:srgbClr>
          </a:solidFill>
          <a:ln>
            <a:solidFill>
              <a:schemeClr val="accent6">
                <a:alpha val="25000"/>
              </a:schemeClr>
            </a:solidFill>
          </a:ln>
        </p:spPr>
        <p:txBody>
          <a:bodyPr lIns="45718" tIns="45718" rIns="45718" bIns="45718"/>
          <a:lstStyle/>
          <a:p>
            <a:pPr/>
          </a:p>
        </p:txBody>
      </p:sp>
      <p:sp>
        <p:nvSpPr>
          <p:cNvPr id="261" name="LuBrainCircuit circle"/>
          <p:cNvSpPr/>
          <p:nvPr/>
        </p:nvSpPr>
        <p:spPr>
          <a:xfrm>
            <a:off x="822960" y="1984248"/>
            <a:ext cx="585219" cy="585219"/>
          </a:xfrm>
          <a:prstGeom prst="ellipse">
            <a:avLst/>
          </a:prstGeom>
          <a:solidFill>
            <a:schemeClr val="accent2"/>
          </a:solidFill>
          <a:ln w="12700">
            <a:miter lim="400000"/>
          </a:ln>
        </p:spPr>
        <p:txBody>
          <a:bodyPr lIns="45718" tIns="45718" rIns="45718" bIns="45718"/>
          <a:lstStyle/>
          <a:p>
            <a:pPr/>
          </a:p>
        </p:txBody>
      </p:sp>
      <p:pic>
        <p:nvPicPr>
          <p:cNvPr id="262" name="LuBrainCircuit icon" descr="LuBrainCircuit icon"/>
          <p:cNvPicPr>
            <a:picLocks noChangeAspect="1"/>
          </p:cNvPicPr>
          <p:nvPr/>
        </p:nvPicPr>
        <p:blipFill>
          <a:blip r:embed="rId3">
            <a:extLst/>
          </a:blip>
          <a:stretch>
            <a:fillRect/>
          </a:stretch>
        </p:blipFill>
        <p:spPr>
          <a:xfrm>
            <a:off x="969263" y="2130550"/>
            <a:ext cx="292611" cy="292610"/>
          </a:xfrm>
          <a:prstGeom prst="rect">
            <a:avLst/>
          </a:prstGeom>
          <a:ln w="12700">
            <a:miter lim="400000"/>
          </a:ln>
        </p:spPr>
      </p:pic>
      <p:sp>
        <p:nvSpPr>
          <p:cNvPr id="263" name="Text 4"/>
          <p:cNvSpPr txBox="1"/>
          <p:nvPr/>
        </p:nvSpPr>
        <p:spPr>
          <a:xfrm>
            <a:off x="1600198" y="1965960"/>
            <a:ext cx="4206244"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FFFFFF"/>
                </a:solidFill>
                <a:latin typeface="Arial"/>
                <a:ea typeface="Arial"/>
                <a:cs typeface="Arial"/>
                <a:sym typeface="Arial"/>
              </a:defRPr>
            </a:lvl1pPr>
          </a:lstStyle>
          <a:p>
            <a:pPr/>
            <a:r>
              <a:t>AI can finally read corporate filings</a:t>
            </a:r>
          </a:p>
        </p:txBody>
      </p:sp>
      <p:sp>
        <p:nvSpPr>
          <p:cNvPr id="264" name="Text 5"/>
          <p:cNvSpPr txBox="1"/>
          <p:nvPr/>
        </p:nvSpPr>
        <p:spPr>
          <a:xfrm>
            <a:off x="1600198" y="2377439"/>
            <a:ext cx="4206244"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Language models can now parse complex disclosures—but financial trust requires a verified, passage-indexed filings database underneath, which Anvest has built.</a:t>
            </a:r>
          </a:p>
        </p:txBody>
      </p:sp>
      <p:sp>
        <p:nvSpPr>
          <p:cNvPr id="265" name="why-now card 2"/>
          <p:cNvSpPr/>
          <p:nvPr/>
        </p:nvSpPr>
        <p:spPr>
          <a:xfrm>
            <a:off x="6217920" y="1691638"/>
            <a:ext cx="5440680" cy="1481332"/>
          </a:xfrm>
          <a:prstGeom prst="roundRect">
            <a:avLst>
              <a:gd name="adj" fmla="val 7408"/>
            </a:avLst>
          </a:prstGeom>
          <a:solidFill>
            <a:srgbClr val="FFFFFF">
              <a:alpha val="8000"/>
            </a:srgbClr>
          </a:solidFill>
          <a:ln>
            <a:solidFill>
              <a:schemeClr val="accent6">
                <a:alpha val="25000"/>
              </a:schemeClr>
            </a:solidFill>
          </a:ln>
        </p:spPr>
        <p:txBody>
          <a:bodyPr lIns="45718" tIns="45718" rIns="45718" bIns="45718"/>
          <a:lstStyle/>
          <a:p>
            <a:pPr/>
          </a:p>
        </p:txBody>
      </p:sp>
      <p:sp>
        <p:nvSpPr>
          <p:cNvPr id="266" name="LuScale circle"/>
          <p:cNvSpPr/>
          <p:nvPr/>
        </p:nvSpPr>
        <p:spPr>
          <a:xfrm>
            <a:off x="6492240" y="1984248"/>
            <a:ext cx="585219" cy="585219"/>
          </a:xfrm>
          <a:prstGeom prst="ellipse">
            <a:avLst/>
          </a:prstGeom>
          <a:solidFill>
            <a:schemeClr val="accent2"/>
          </a:solidFill>
          <a:ln w="12700">
            <a:miter lim="400000"/>
          </a:ln>
        </p:spPr>
        <p:txBody>
          <a:bodyPr lIns="45718" tIns="45718" rIns="45718" bIns="45718"/>
          <a:lstStyle/>
          <a:p>
            <a:pPr/>
          </a:p>
        </p:txBody>
      </p:sp>
      <p:pic>
        <p:nvPicPr>
          <p:cNvPr id="267" name="LuScale icon" descr="LuScale icon"/>
          <p:cNvPicPr>
            <a:picLocks noChangeAspect="1"/>
          </p:cNvPicPr>
          <p:nvPr/>
        </p:nvPicPr>
        <p:blipFill>
          <a:blip r:embed="rId4">
            <a:extLst/>
          </a:blip>
          <a:stretch>
            <a:fillRect/>
          </a:stretch>
        </p:blipFill>
        <p:spPr>
          <a:xfrm>
            <a:off x="6638542" y="2130550"/>
            <a:ext cx="292610" cy="292610"/>
          </a:xfrm>
          <a:prstGeom prst="rect">
            <a:avLst/>
          </a:prstGeom>
          <a:ln w="12700">
            <a:miter lim="400000"/>
          </a:ln>
        </p:spPr>
      </p:pic>
      <p:sp>
        <p:nvSpPr>
          <p:cNvPr id="268" name="Text 8"/>
          <p:cNvSpPr txBox="1"/>
          <p:nvPr/>
        </p:nvSpPr>
        <p:spPr>
          <a:xfrm>
            <a:off x="7269480" y="1965960"/>
            <a:ext cx="4206242"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FFFFFF"/>
                </a:solidFill>
                <a:latin typeface="Arial"/>
                <a:ea typeface="Arial"/>
                <a:cs typeface="Arial"/>
                <a:sym typeface="Arial"/>
              </a:defRPr>
            </a:lvl1pPr>
          </a:lstStyle>
          <a:p>
            <a:pPr/>
            <a:r>
              <a:t>SEBI's new rules favor transparent logic</a:t>
            </a:r>
          </a:p>
        </p:txBody>
      </p:sp>
      <p:sp>
        <p:nvSpPr>
          <p:cNvPr id="269" name="Text 9"/>
          <p:cNvSpPr txBox="1"/>
          <p:nvPr/>
        </p:nvSpPr>
        <p:spPr>
          <a:xfrm>
            <a:off x="7269480" y="2377438"/>
            <a:ext cx="4206242" cy="4644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SEBI's April 2026 rules require exchange approval and Research Analyst licensing for opaque "black-box" signals. Because Anvest uses transparent, verifiable rules, it operates live today while licensing is underway.</a:t>
            </a:r>
          </a:p>
        </p:txBody>
      </p:sp>
      <p:sp>
        <p:nvSpPr>
          <p:cNvPr id="270" name="why-now card 3"/>
          <p:cNvSpPr/>
          <p:nvPr/>
        </p:nvSpPr>
        <p:spPr>
          <a:xfrm>
            <a:off x="548640" y="3520440"/>
            <a:ext cx="5440680" cy="1481330"/>
          </a:xfrm>
          <a:prstGeom prst="roundRect">
            <a:avLst>
              <a:gd name="adj" fmla="val 7408"/>
            </a:avLst>
          </a:prstGeom>
          <a:solidFill>
            <a:srgbClr val="FFFFFF">
              <a:alpha val="8000"/>
            </a:srgbClr>
          </a:solidFill>
          <a:ln>
            <a:solidFill>
              <a:schemeClr val="accent6">
                <a:alpha val="25000"/>
              </a:schemeClr>
            </a:solidFill>
          </a:ln>
        </p:spPr>
        <p:txBody>
          <a:bodyPr lIns="45718" tIns="45718" rIns="45718" bIns="45718"/>
          <a:lstStyle/>
          <a:p>
            <a:pPr/>
          </a:p>
        </p:txBody>
      </p:sp>
      <p:sp>
        <p:nvSpPr>
          <p:cNvPr id="271" name="LuBot circle"/>
          <p:cNvSpPr/>
          <p:nvPr/>
        </p:nvSpPr>
        <p:spPr>
          <a:xfrm>
            <a:off x="822960" y="3813047"/>
            <a:ext cx="585219" cy="585219"/>
          </a:xfrm>
          <a:prstGeom prst="ellipse">
            <a:avLst/>
          </a:prstGeom>
          <a:solidFill>
            <a:schemeClr val="accent2"/>
          </a:solidFill>
          <a:ln w="12700">
            <a:miter lim="400000"/>
          </a:ln>
        </p:spPr>
        <p:txBody>
          <a:bodyPr lIns="45718" tIns="45718" rIns="45718" bIns="45718"/>
          <a:lstStyle/>
          <a:p>
            <a:pPr/>
          </a:p>
        </p:txBody>
      </p:sp>
      <p:pic>
        <p:nvPicPr>
          <p:cNvPr id="272" name="LuBot icon" descr="LuBot icon"/>
          <p:cNvPicPr>
            <a:picLocks noChangeAspect="1"/>
          </p:cNvPicPr>
          <p:nvPr/>
        </p:nvPicPr>
        <p:blipFill>
          <a:blip r:embed="rId5">
            <a:extLst/>
          </a:blip>
          <a:stretch>
            <a:fillRect/>
          </a:stretch>
        </p:blipFill>
        <p:spPr>
          <a:xfrm>
            <a:off x="969263" y="3959352"/>
            <a:ext cx="292611" cy="292610"/>
          </a:xfrm>
          <a:prstGeom prst="rect">
            <a:avLst/>
          </a:prstGeom>
          <a:ln w="12700">
            <a:miter lim="400000"/>
          </a:ln>
        </p:spPr>
      </p:pic>
      <p:sp>
        <p:nvSpPr>
          <p:cNvPr id="273" name="Text 12"/>
          <p:cNvSpPr txBox="1"/>
          <p:nvPr/>
        </p:nvSpPr>
        <p:spPr>
          <a:xfrm>
            <a:off x="1600198" y="3794759"/>
            <a:ext cx="4206244"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FFFFFF"/>
                </a:solidFill>
                <a:latin typeface="Arial"/>
                <a:ea typeface="Arial"/>
                <a:cs typeface="Arial"/>
                <a:sym typeface="Arial"/>
              </a:defRPr>
            </a:lvl1pPr>
          </a:lstStyle>
          <a:p>
            <a:pPr/>
            <a:r>
              <a:t>Brokers are connecting accounts to AI</a:t>
            </a:r>
          </a:p>
        </p:txBody>
      </p:sp>
      <p:sp>
        <p:nvSpPr>
          <p:cNvPr id="274" name="Text 13"/>
          <p:cNvSpPr txBox="1"/>
          <p:nvPr/>
        </p:nvSpPr>
        <p:spPr>
          <a:xfrm>
            <a:off x="1600198" y="4206240"/>
            <a:ext cx="4206244"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Zerodha and peer brokers now let users link AI assistants directly to their brokerage accounts—creating urgent demand for a verified research engine that won't hallucinate numbers.</a:t>
            </a:r>
          </a:p>
        </p:txBody>
      </p:sp>
      <p:sp>
        <p:nvSpPr>
          <p:cNvPr id="275" name="why-now card 4"/>
          <p:cNvSpPr/>
          <p:nvPr/>
        </p:nvSpPr>
        <p:spPr>
          <a:xfrm>
            <a:off x="6217920" y="3520440"/>
            <a:ext cx="5440680" cy="1481330"/>
          </a:xfrm>
          <a:prstGeom prst="roundRect">
            <a:avLst>
              <a:gd name="adj" fmla="val 7408"/>
            </a:avLst>
          </a:prstGeom>
          <a:solidFill>
            <a:srgbClr val="FFFFFF">
              <a:alpha val="8000"/>
            </a:srgbClr>
          </a:solidFill>
          <a:ln>
            <a:solidFill>
              <a:schemeClr val="accent6">
                <a:alpha val="25000"/>
              </a:schemeClr>
            </a:solidFill>
          </a:ln>
        </p:spPr>
        <p:txBody>
          <a:bodyPr lIns="45718" tIns="45718" rIns="45718" bIns="45718"/>
          <a:lstStyle/>
          <a:p>
            <a:pPr/>
          </a:p>
        </p:txBody>
      </p:sp>
      <p:sp>
        <p:nvSpPr>
          <p:cNvPr id="276" name="LuUsers circle"/>
          <p:cNvSpPr/>
          <p:nvPr/>
        </p:nvSpPr>
        <p:spPr>
          <a:xfrm>
            <a:off x="6492240" y="3813047"/>
            <a:ext cx="585219" cy="585219"/>
          </a:xfrm>
          <a:prstGeom prst="ellipse">
            <a:avLst/>
          </a:prstGeom>
          <a:solidFill>
            <a:schemeClr val="accent2"/>
          </a:solidFill>
          <a:ln w="12700">
            <a:miter lim="400000"/>
          </a:ln>
        </p:spPr>
        <p:txBody>
          <a:bodyPr lIns="45718" tIns="45718" rIns="45718" bIns="45718"/>
          <a:lstStyle/>
          <a:p>
            <a:pPr/>
          </a:p>
        </p:txBody>
      </p:sp>
      <p:pic>
        <p:nvPicPr>
          <p:cNvPr id="277" name="LuUsers icon" descr="LuUsers icon"/>
          <p:cNvPicPr>
            <a:picLocks noChangeAspect="1"/>
          </p:cNvPicPr>
          <p:nvPr/>
        </p:nvPicPr>
        <p:blipFill>
          <a:blip r:embed="rId6">
            <a:extLst/>
          </a:blip>
          <a:stretch>
            <a:fillRect/>
          </a:stretch>
        </p:blipFill>
        <p:spPr>
          <a:xfrm>
            <a:off x="6638542" y="3959352"/>
            <a:ext cx="292610" cy="292610"/>
          </a:xfrm>
          <a:prstGeom prst="rect">
            <a:avLst/>
          </a:prstGeom>
          <a:ln w="12700">
            <a:miter lim="400000"/>
          </a:ln>
        </p:spPr>
      </p:pic>
      <p:sp>
        <p:nvSpPr>
          <p:cNvPr id="278" name="Text 16"/>
          <p:cNvSpPr txBox="1"/>
          <p:nvPr/>
        </p:nvSpPr>
        <p:spPr>
          <a:xfrm>
            <a:off x="7269480" y="3794759"/>
            <a:ext cx="4206242"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FFFFFF"/>
                </a:solidFill>
                <a:latin typeface="Arial"/>
                <a:ea typeface="Arial"/>
                <a:cs typeface="Arial"/>
                <a:sym typeface="Arial"/>
              </a:defRPr>
            </a:lvl1pPr>
          </a:lstStyle>
          <a:p>
            <a:pPr/>
            <a:r>
              <a:t>Rising retail &amp; adviser scrutiny</a:t>
            </a:r>
          </a:p>
        </p:txBody>
      </p:sp>
      <p:sp>
        <p:nvSpPr>
          <p:cNvPr id="279" name="Text 17"/>
          <p:cNvSpPr txBox="1"/>
          <p:nvPr/>
        </p:nvSpPr>
        <p:spPr>
          <a:xfrm>
            <a:off x="7269480" y="4206240"/>
            <a:ext cx="4206242"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13.4 crore retail investors are on NSE, while 3,900 SEBI-registered firms face stricter rules requiring documented, source-cited research.</a:t>
            </a:r>
          </a:p>
        </p:txBody>
      </p:sp>
      <p:sp>
        <p:nvSpPr>
          <p:cNvPr id="280" name="alphasense band"/>
          <p:cNvSpPr/>
          <p:nvPr/>
        </p:nvSpPr>
        <p:spPr>
          <a:xfrm>
            <a:off x="548640" y="5349240"/>
            <a:ext cx="11094416" cy="566930"/>
          </a:xfrm>
          <a:prstGeom prst="roundRect">
            <a:avLst>
              <a:gd name="adj" fmla="val 19355"/>
            </a:avLst>
          </a:prstGeom>
          <a:solidFill>
            <a:srgbClr val="FFFFFF">
              <a:alpha val="15000"/>
            </a:srgbClr>
          </a:solidFill>
          <a:ln>
            <a:solidFill>
              <a:schemeClr val="accent2"/>
            </a:solidFill>
          </a:ln>
        </p:spPr>
        <p:txBody>
          <a:bodyPr lIns="45718" tIns="45718" rIns="45718" bIns="45718"/>
          <a:lstStyle/>
          <a:p>
            <a:pPr/>
          </a:p>
        </p:txBody>
      </p:sp>
      <p:sp>
        <p:nvSpPr>
          <p:cNvPr id="281" name="Text 19"/>
          <p:cNvSpPr txBox="1"/>
          <p:nvPr/>
        </p:nvSpPr>
        <p:spPr>
          <a:xfrm>
            <a:off x="822960" y="5483020"/>
            <a:ext cx="10545775"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chemeClr val="accent2"/>
                </a:solidFill>
              </a:defRPr>
            </a:pPr>
            <a:r>
              <a:t>Proven willingness to pay for verified AI research:  </a:t>
            </a:r>
            <a:r>
              <a:rPr b="0">
                <a:solidFill>
                  <a:srgbClr val="FFFFFF"/>
                </a:solidFill>
              </a:rPr>
              <a:t>AlphaSense reached $600M+ ARR ($7.5B valuation, Jun 2026) selling filing-cited AI to global institutions. Anvest Desk brings this to Indian advisory teams at ₹2,999/seat/month (~$380/yr).</a:t>
            </a:r>
          </a:p>
        </p:txBody>
      </p:sp>
      <p:sp>
        <p:nvSpPr>
          <p:cNvPr id="282" name="Text 20"/>
          <p:cNvSpPr txBox="1"/>
          <p:nvPr/>
        </p:nvSpPr>
        <p:spPr>
          <a:xfrm>
            <a:off x="548639" y="6108191"/>
            <a:ext cx="10362897"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chemeClr val="accent6"/>
                </a:solidFill>
              </a:defRPr>
            </a:lvl1pPr>
          </a:lstStyle>
          <a:p>
            <a:pPr/>
            <a:r>
              <a:t>Sources: SEBI algo circulars (Feb &amp; Sep 2025) · Zerodha Kite AI connector · NSE Market Pulse (Jul 2026) · FinTech Global (Jun 2026)</a:t>
            </a:r>
          </a:p>
        </p:txBody>
      </p:sp>
      <p:sp>
        <p:nvSpPr>
          <p:cNvPr id="283" name="Slide Number Placeholder 0"/>
          <p:cNvSpPr txBox="1"/>
          <p:nvPr>
            <p:ph type="sldNum" sz="quarter" idx="4294967295"/>
          </p:nvPr>
        </p:nvSpPr>
        <p:spPr>
          <a:xfrm>
            <a:off x="11516055" y="6419088"/>
            <a:ext cx="127001"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7" name="Text 0"/>
          <p:cNvSpPr txBox="1"/>
          <p:nvPr>
            <p:ph type="body" sz="quarter" idx="1"/>
          </p:nvPr>
        </p:nvSpPr>
        <p:spPr>
          <a:xfrm>
            <a:off x="548640" y="384047"/>
            <a:ext cx="8229601" cy="274322"/>
          </a:xfrm>
          <a:prstGeom prst="rect">
            <a:avLst/>
          </a:prstGeom>
        </p:spPr>
        <p:txBody>
          <a:bodyPr lIns="0" tIns="0" rIns="0" bIns="0"/>
          <a:lstStyle/>
          <a:p>
            <a:pPr/>
            <a:r>
              <a:t>MARKET</a:t>
            </a:r>
          </a:p>
        </p:txBody>
      </p:sp>
      <p:sp>
        <p:nvSpPr>
          <p:cNvPr id="288" name="Text 0"/>
          <p:cNvSpPr txBox="1"/>
          <p:nvPr>
            <p:ph type="title"/>
          </p:nvPr>
        </p:nvSpPr>
        <p:spPr>
          <a:xfrm>
            <a:off x="548638" y="676655"/>
            <a:ext cx="11094419" cy="868682"/>
          </a:xfrm>
          <a:prstGeom prst="rect">
            <a:avLst/>
          </a:prstGeom>
        </p:spPr>
        <p:txBody>
          <a:bodyPr lIns="0" tIns="0" rIns="0" bIns="0"/>
          <a:lstStyle>
            <a:lvl1pPr>
              <a:defRPr sz="2900"/>
            </a:lvl1pPr>
          </a:lstStyle>
          <a:p>
            <a:pPr/>
            <a:r>
              <a:t>A $1.3B market, starting with high-intent advisory teams</a:t>
            </a:r>
          </a:p>
        </p:txBody>
      </p:sp>
      <p:sp>
        <p:nvSpPr>
          <p:cNvPr id="289" name="TAM circle"/>
          <p:cNvSpPr/>
          <p:nvPr/>
        </p:nvSpPr>
        <p:spPr>
          <a:xfrm>
            <a:off x="868680" y="1691640"/>
            <a:ext cx="4297680" cy="4297680"/>
          </a:xfrm>
          <a:prstGeom prst="ellipse">
            <a:avLst/>
          </a:prstGeom>
          <a:solidFill>
            <a:srgbClr val="E4E0F5"/>
          </a:solidFill>
          <a:ln w="19050">
            <a:solidFill>
              <a:srgbClr val="FFFFFF"/>
            </a:solidFill>
          </a:ln>
        </p:spPr>
        <p:txBody>
          <a:bodyPr lIns="45718" tIns="45718" rIns="45718" bIns="45718"/>
          <a:lstStyle/>
          <a:p>
            <a:pPr/>
          </a:p>
        </p:txBody>
      </p:sp>
      <p:sp>
        <p:nvSpPr>
          <p:cNvPr id="290" name="SAM circle"/>
          <p:cNvSpPr/>
          <p:nvPr/>
        </p:nvSpPr>
        <p:spPr>
          <a:xfrm>
            <a:off x="1554478" y="3063238"/>
            <a:ext cx="2926083" cy="2926084"/>
          </a:xfrm>
          <a:prstGeom prst="ellipse">
            <a:avLst/>
          </a:prstGeom>
          <a:solidFill>
            <a:srgbClr val="B7ABE6"/>
          </a:solidFill>
          <a:ln w="19050">
            <a:solidFill>
              <a:srgbClr val="FFFFFF"/>
            </a:solidFill>
          </a:ln>
        </p:spPr>
        <p:txBody>
          <a:bodyPr lIns="45718" tIns="45718" rIns="45718" bIns="45718"/>
          <a:lstStyle/>
          <a:p>
            <a:pPr/>
          </a:p>
        </p:txBody>
      </p:sp>
      <p:sp>
        <p:nvSpPr>
          <p:cNvPr id="291" name="SOM circle"/>
          <p:cNvSpPr/>
          <p:nvPr/>
        </p:nvSpPr>
        <p:spPr>
          <a:xfrm>
            <a:off x="2285999" y="4526279"/>
            <a:ext cx="1463043" cy="1463043"/>
          </a:xfrm>
          <a:prstGeom prst="ellipse">
            <a:avLst/>
          </a:prstGeom>
          <a:solidFill>
            <a:schemeClr val="accent2"/>
          </a:solidFill>
          <a:ln w="19050">
            <a:solidFill>
              <a:srgbClr val="FFFFFF"/>
            </a:solidFill>
          </a:ln>
        </p:spPr>
        <p:txBody>
          <a:bodyPr lIns="45718" tIns="45718" rIns="45718" bIns="45718"/>
          <a:lstStyle/>
          <a:p>
            <a:pPr/>
          </a:p>
        </p:txBody>
      </p:sp>
      <p:sp>
        <p:nvSpPr>
          <p:cNvPr id="292" name="Text 5"/>
          <p:cNvSpPr txBox="1"/>
          <p:nvPr/>
        </p:nvSpPr>
        <p:spPr>
          <a:xfrm>
            <a:off x="2468878" y="1965960"/>
            <a:ext cx="109728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300">
                <a:solidFill>
                  <a:schemeClr val="accent1"/>
                </a:solidFill>
              </a:defRPr>
            </a:lvl1pPr>
          </a:lstStyle>
          <a:p>
            <a:pPr/>
            <a:r>
              <a:t>TAM</a:t>
            </a:r>
          </a:p>
        </p:txBody>
      </p:sp>
      <p:sp>
        <p:nvSpPr>
          <p:cNvPr id="293" name="Text 6"/>
          <p:cNvSpPr txBox="1"/>
          <p:nvPr/>
        </p:nvSpPr>
        <p:spPr>
          <a:xfrm>
            <a:off x="2468878" y="3337559"/>
            <a:ext cx="109728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300"/>
            </a:lvl1pPr>
          </a:lstStyle>
          <a:p>
            <a:pPr/>
            <a:r>
              <a:t>SAM</a:t>
            </a:r>
          </a:p>
        </p:txBody>
      </p:sp>
      <p:sp>
        <p:nvSpPr>
          <p:cNvPr id="294" name="Text 7"/>
          <p:cNvSpPr txBox="1"/>
          <p:nvPr/>
        </p:nvSpPr>
        <p:spPr>
          <a:xfrm>
            <a:off x="2468878" y="4983479"/>
            <a:ext cx="109728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300"/>
            </a:lvl1pPr>
          </a:lstStyle>
          <a:p>
            <a:pPr/>
            <a:r>
              <a:t>SOM</a:t>
            </a:r>
          </a:p>
        </p:txBody>
      </p:sp>
      <p:sp>
        <p:nvSpPr>
          <p:cNvPr id="295" name="legend dot 1"/>
          <p:cNvSpPr/>
          <p:nvPr/>
        </p:nvSpPr>
        <p:spPr>
          <a:xfrm>
            <a:off x="5806440" y="1847088"/>
            <a:ext cx="201171" cy="201171"/>
          </a:xfrm>
          <a:prstGeom prst="ellipse">
            <a:avLst/>
          </a:prstGeom>
          <a:solidFill>
            <a:srgbClr val="E4E0F5"/>
          </a:solidFill>
          <a:ln>
            <a:solidFill>
              <a:schemeClr val="accent1"/>
            </a:solidFill>
          </a:ln>
        </p:spPr>
        <p:txBody>
          <a:bodyPr lIns="45718" tIns="45718" rIns="45718" bIns="45718"/>
          <a:lstStyle/>
          <a:p>
            <a:pPr/>
          </a:p>
        </p:txBody>
      </p:sp>
      <p:sp>
        <p:nvSpPr>
          <p:cNvPr id="296" name="Text 9"/>
          <p:cNvSpPr txBox="1"/>
          <p:nvPr/>
        </p:nvSpPr>
        <p:spPr>
          <a:xfrm>
            <a:off x="6172200" y="1755648"/>
            <a:ext cx="5486400"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000">
                <a:latin typeface="Arial"/>
                <a:ea typeface="Arial"/>
                <a:cs typeface="Arial"/>
                <a:sym typeface="Arial"/>
              </a:defRPr>
            </a:lvl1pPr>
          </a:lstStyle>
          <a:p>
            <a:pPr/>
            <a:r>
              <a:t>₹12,269 Cr  ·  $1.3B / yr</a:t>
            </a:r>
          </a:p>
        </p:txBody>
      </p:sp>
      <p:sp>
        <p:nvSpPr>
          <p:cNvPr id="297" name="Text 10"/>
          <p:cNvSpPr txBox="1"/>
          <p:nvPr/>
        </p:nvSpPr>
        <p:spPr>
          <a:xfrm>
            <a:off x="6172200" y="2139694"/>
            <a:ext cx="548640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Individual investors ₹10,985 Cr (4.6 Cr active NSE accounts at ₹2,388/yr) + financial professionals ₹1,284 Cr (3.55 lakh SEBI-registered firms &amp; mutual fund distributors at ₹35,988/seat/yr)</a:t>
            </a:r>
          </a:p>
        </p:txBody>
      </p:sp>
      <p:sp>
        <p:nvSpPr>
          <p:cNvPr id="298" name="legend dot 2"/>
          <p:cNvSpPr/>
          <p:nvPr/>
        </p:nvSpPr>
        <p:spPr>
          <a:xfrm>
            <a:off x="5806440" y="2871216"/>
            <a:ext cx="201171" cy="201171"/>
          </a:xfrm>
          <a:prstGeom prst="ellipse">
            <a:avLst/>
          </a:prstGeom>
          <a:solidFill>
            <a:srgbClr val="B7ABE6"/>
          </a:solidFill>
          <a:ln>
            <a:solidFill>
              <a:schemeClr val="accent1"/>
            </a:solidFill>
          </a:ln>
        </p:spPr>
        <p:txBody>
          <a:bodyPr lIns="45718" tIns="45718" rIns="45718" bIns="45718"/>
          <a:lstStyle/>
          <a:p>
            <a:pPr/>
          </a:p>
        </p:txBody>
      </p:sp>
      <p:sp>
        <p:nvSpPr>
          <p:cNvPr id="299" name="Text 12"/>
          <p:cNvSpPr txBox="1"/>
          <p:nvPr/>
        </p:nvSpPr>
        <p:spPr>
          <a:xfrm>
            <a:off x="6172200" y="2779776"/>
            <a:ext cx="5486400"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000">
                <a:latin typeface="Arial"/>
                <a:ea typeface="Arial"/>
                <a:cs typeface="Arial"/>
                <a:sym typeface="Arial"/>
              </a:defRPr>
            </a:lvl1pPr>
          </a:lstStyle>
          <a:p>
            <a:pPr/>
            <a:r>
              <a:t>₹2,371 Cr  ·  $250M / yr</a:t>
            </a:r>
          </a:p>
        </p:txBody>
      </p:sp>
      <p:sp>
        <p:nvSpPr>
          <p:cNvPr id="300" name="Text 13"/>
          <p:cNvSpPr txBox="1"/>
          <p:nvPr/>
        </p:nvSpPr>
        <p:spPr>
          <a:xfrm>
            <a:off x="6172200" y="3163822"/>
            <a:ext cx="548640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Active retail traders ₹2,292 Cr (~96 lakh active traders) + core advisory teams ₹78 Cr (3,900 SEBI-registered firms &amp; 3,350 top fund distributors, averaging 3 seats per firm)</a:t>
            </a:r>
          </a:p>
        </p:txBody>
      </p:sp>
      <p:sp>
        <p:nvSpPr>
          <p:cNvPr id="301" name="legend dot 3"/>
          <p:cNvSpPr/>
          <p:nvPr/>
        </p:nvSpPr>
        <p:spPr>
          <a:xfrm>
            <a:off x="5806440" y="3895344"/>
            <a:ext cx="201171" cy="201171"/>
          </a:xfrm>
          <a:prstGeom prst="ellipse">
            <a:avLst/>
          </a:prstGeom>
          <a:solidFill>
            <a:schemeClr val="accent2"/>
          </a:solidFill>
          <a:ln>
            <a:solidFill>
              <a:schemeClr val="accent1"/>
            </a:solidFill>
          </a:ln>
        </p:spPr>
        <p:txBody>
          <a:bodyPr lIns="45718" tIns="45718" rIns="45718" bIns="45718"/>
          <a:lstStyle/>
          <a:p>
            <a:pPr/>
          </a:p>
        </p:txBody>
      </p:sp>
      <p:sp>
        <p:nvSpPr>
          <p:cNvPr id="302" name="Text 15"/>
          <p:cNvSpPr txBox="1"/>
          <p:nvPr/>
        </p:nvSpPr>
        <p:spPr>
          <a:xfrm>
            <a:off x="6172200" y="3803903"/>
            <a:ext cx="5486400"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000">
                <a:latin typeface="Arial"/>
                <a:ea typeface="Arial"/>
                <a:cs typeface="Arial"/>
                <a:sym typeface="Arial"/>
              </a:defRPr>
            </a:lvl1pPr>
          </a:lstStyle>
          <a:p>
            <a:pPr/>
            <a:r>
              <a:t>₹23 Cr  ·  $2.4M ARR</a:t>
            </a:r>
          </a:p>
        </p:txBody>
      </p:sp>
      <p:sp>
        <p:nvSpPr>
          <p:cNvPr id="303" name="Text 16"/>
          <p:cNvSpPr txBox="1"/>
          <p:nvPr/>
        </p:nvSpPr>
        <p:spPr>
          <a:xfrm>
            <a:off x="6172200" y="4187952"/>
            <a:ext cx="5486400"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Year-5 target across all four revenue streams (~1% of SAM), as advisory team plans expand to wealth practices, family offices, and chartered accountants.</a:t>
            </a:r>
          </a:p>
        </p:txBody>
      </p:sp>
      <p:sp>
        <p:nvSpPr>
          <p:cNvPr id="304" name="entry vs scale card"/>
          <p:cNvSpPr/>
          <p:nvPr/>
        </p:nvSpPr>
        <p:spPr>
          <a:xfrm>
            <a:off x="5841550" y="4718421"/>
            <a:ext cx="5897882" cy="1143002"/>
          </a:xfrm>
          <a:prstGeom prst="roundRect">
            <a:avLst>
              <a:gd name="adj" fmla="val 9600"/>
            </a:avLst>
          </a:prstGeom>
          <a:solidFill>
            <a:schemeClr val="accent3"/>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305" name="Text 18"/>
          <p:cNvSpPr txBox="1"/>
          <p:nvPr/>
        </p:nvSpPr>
        <p:spPr>
          <a:xfrm>
            <a:off x="6070150" y="5057688"/>
            <a:ext cx="5440682" cy="4644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chemeClr val="accent2"/>
                </a:solidFill>
              </a:defRPr>
            </a:pPr>
            <a:r>
              <a:t>Why start with advisory firms:  </a:t>
            </a:r>
            <a:r>
              <a:rPr b="0">
                <a:solidFill>
                  <a:srgbClr val="FFFFFF"/>
                </a:solidFill>
              </a:rPr>
              <a:t>a concentrated, high-intent market (₹78 Cr SAM) reachable via direct outbound by 2 B2B sales reps—generating revenue from Month 3 and proving institutional credibility before scaling to retail and broker APIs.</a:t>
            </a:r>
          </a:p>
        </p:txBody>
      </p:sp>
      <p:sp>
        <p:nvSpPr>
          <p:cNvPr id="306" name="Text 19"/>
          <p:cNvSpPr txBox="1"/>
          <p:nvPr/>
        </p:nvSpPr>
        <p:spPr>
          <a:xfrm>
            <a:off x="548639" y="6140255"/>
            <a:ext cx="10362897" cy="39387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i="1" sz="900">
                <a:solidFill>
                  <a:schemeClr val="accent5"/>
                </a:solidFill>
              </a:defRPr>
            </a:pPr>
            <a:r>
              <a:t>Annual pricing: Individual (Plus) ₹2,388/yr; Advisory Team (Desk) ₹35,988/seat/yr · Sources: NSE Market Pulse (Aug 2026) · SEBI FY25 study &amp; directory (Oct 2026) · Cafemutual MF distributor data</a:t>
            </a:r>
            <a:br/>
            <a:r>
              <a:t>TAM: Total Addressable Market,  SAM: Serviceable Available Market,  SOM: Serviceable Obtainable Market</a:t>
            </a:r>
            <a:br/>
          </a:p>
        </p:txBody>
      </p:sp>
      <p:sp>
        <p:nvSpPr>
          <p:cNvPr id="307" name="Slide Number Placeholder 0"/>
          <p:cNvSpPr txBox="1"/>
          <p:nvPr>
            <p:ph type="sldNum" sz="quarter" idx="4294967295"/>
          </p:nvPr>
        </p:nvSpPr>
        <p:spPr>
          <a:xfrm>
            <a:off x="11516055" y="6419088"/>
            <a:ext cx="127001"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1" name="Text 0"/>
          <p:cNvSpPr txBox="1"/>
          <p:nvPr>
            <p:ph type="body" sz="quarter" idx="1"/>
          </p:nvPr>
        </p:nvSpPr>
        <p:spPr>
          <a:xfrm>
            <a:off x="548640" y="384047"/>
            <a:ext cx="8229601" cy="274322"/>
          </a:xfrm>
          <a:prstGeom prst="rect">
            <a:avLst/>
          </a:prstGeom>
        </p:spPr>
        <p:txBody>
          <a:bodyPr lIns="0" tIns="0" rIns="0" bIns="0"/>
          <a:lstStyle/>
          <a:p>
            <a:pPr/>
            <a:r>
              <a:t>COMPETITION</a:t>
            </a:r>
          </a:p>
        </p:txBody>
      </p:sp>
      <p:sp>
        <p:nvSpPr>
          <p:cNvPr id="312" name="Text 0"/>
          <p:cNvSpPr txBox="1"/>
          <p:nvPr>
            <p:ph type="title"/>
          </p:nvPr>
        </p:nvSpPr>
        <p:spPr>
          <a:xfrm>
            <a:off x="548638" y="676655"/>
            <a:ext cx="11094419" cy="868682"/>
          </a:xfrm>
          <a:prstGeom prst="rect">
            <a:avLst/>
          </a:prstGeom>
        </p:spPr>
        <p:txBody>
          <a:bodyPr lIns="0" tIns="0" rIns="0" bIns="0"/>
          <a:lstStyle/>
          <a:p>
            <a:pPr>
              <a:defRPr sz="2700"/>
            </a:pPr>
            <a:r>
              <a:t>Others solve one step; </a:t>
            </a:r>
            <a:r>
              <a:rPr>
                <a:solidFill>
                  <a:schemeClr val="accent1">
                    <a:lumOff val="-8117"/>
                  </a:schemeClr>
                </a:solidFill>
              </a:rPr>
              <a:t>Anvest</a:t>
            </a:r>
            <a:r>
              <a:t> connects the whole workflow</a:t>
            </a:r>
          </a:p>
        </p:txBody>
      </p:sp>
      <p:graphicFrame>
        <p:nvGraphicFramePr>
          <p:cNvPr id="313" name="Table 0"/>
          <p:cNvGraphicFramePr/>
          <p:nvPr/>
        </p:nvGraphicFramePr>
        <p:xfrm>
          <a:off x="550163" y="1563624"/>
          <a:ext cx="11091673" cy="3730753"/>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1737360"/>
                <a:gridCol w="1600200"/>
                <a:gridCol w="1572768"/>
                <a:gridCol w="1572768"/>
                <a:gridCol w="1280160"/>
                <a:gridCol w="1682496"/>
                <a:gridCol w="1645920"/>
              </a:tblGrid>
              <a:tr h="384048">
                <a:tc>
                  <a:txBody>
                    <a:bodyPr/>
                    <a:lstStyle/>
                    <a:p>
                      <a:pPr indent="457200"/>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000">
                          <a:solidFill>
                            <a:srgbClr val="0B0E26"/>
                          </a:solidFill>
                        </a:rPr>
                        <a:t>Filing-Cited AI Answers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000">
                          <a:solidFill>
                            <a:srgbClr val="0B0E26"/>
                          </a:solidFill>
                        </a:rPr>
                        <a:t>Plain-English Stock Screen</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000">
                          <a:solidFill>
                            <a:srgbClr val="0B0E26"/>
                          </a:solidFill>
                        </a:rPr>
                        <a:t>Backtest After Taxes &amp; Fees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000">
                          <a:solidFill>
                            <a:srgbClr val="0B0E26"/>
                          </a:solidFill>
                        </a:rPr>
                        <a:t>Virtual Paper Trading</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000">
                          <a:solidFill>
                            <a:srgbClr val="0B0E26"/>
                          </a:solidFill>
                        </a:rPr>
                        <a:t>Multi-Asset Portfolio Tools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000">
                          <a:solidFill>
                            <a:srgbClr val="0B0E26"/>
                          </a:solidFill>
                        </a:rPr>
                        <a:t>Automated Broker Execution</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02336">
                <a:tc>
                  <a:txBody>
                    <a:bodyPr/>
                    <a:lstStyle/>
                    <a:p>
                      <a:pPr algn="l">
                        <a:defRPr sz="1800">
                          <a:solidFill>
                            <a:srgbClr val="000000"/>
                          </a:solidFill>
                        </a:defRPr>
                      </a:pPr>
                      <a:r>
                        <a:rPr b="1" sz="1300">
                          <a:solidFill>
                            <a:srgbClr val="0B0E26"/>
                          </a:solidFill>
                        </a:rPr>
                        <a:t>Anvest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3DC"/>
                    </a:solidFill>
                  </a:tcPr>
                </a:tc>
                <a:tc>
                  <a:txBody>
                    <a:bodyPr/>
                    <a:lstStyle/>
                    <a:p>
                      <a:pPr algn="ctr">
                        <a:defRPr sz="1800">
                          <a:solidFill>
                            <a:srgbClr val="000000"/>
                          </a:solidFill>
                        </a:defRPr>
                      </a:pPr>
                      <a:r>
                        <a:rPr b="1" sz="900">
                          <a:solidFill>
                            <a:schemeClr val="accent1"/>
                          </a:solidFill>
                        </a:rPr>
                        <a:t>Yes (passage-cited)</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3DC"/>
                    </a:solidFill>
                  </a:tcPr>
                </a:tc>
                <a:tc>
                  <a:txBody>
                    <a:bodyPr/>
                    <a:lstStyle/>
                    <a:p>
                      <a:pPr algn="ctr">
                        <a:defRPr sz="1800">
                          <a:solidFill>
                            <a:srgbClr val="000000"/>
                          </a:solidFill>
                        </a:defRPr>
                      </a:pPr>
                      <a:r>
                        <a:rPr b="1" sz="900">
                          <a:solidFill>
                            <a:schemeClr val="accent1"/>
                          </a:solidFill>
                        </a:rPr>
                        <a:t>Yes (plain English)</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3DC"/>
                    </a:solidFill>
                  </a:tcPr>
                </a:tc>
                <a:tc>
                  <a:txBody>
                    <a:bodyPr/>
                    <a:lstStyle/>
                    <a:p>
                      <a:pPr algn="ctr">
                        <a:defRPr sz="1800">
                          <a:solidFill>
                            <a:srgbClr val="000000"/>
                          </a:solidFill>
                        </a:defRPr>
                      </a:pPr>
                      <a:r>
                        <a:rPr b="1" sz="900">
                          <a:solidFill>
                            <a:schemeClr val="accent1"/>
                          </a:solidFill>
                        </a:rPr>
                        <a:t>Yes (Indian taxes &amp; fees)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3DC"/>
                    </a:solidFill>
                  </a:tcPr>
                </a:tc>
                <a:tc>
                  <a:txBody>
                    <a:bodyPr/>
                    <a:lstStyle/>
                    <a:p>
                      <a:pPr algn="ctr">
                        <a:defRPr sz="1800">
                          <a:solidFill>
                            <a:srgbClr val="000000"/>
                          </a:solidFill>
                        </a:defRPr>
                      </a:pPr>
                      <a:r>
                        <a:rPr b="1" sz="900">
                          <a:solidFill>
                            <a:schemeClr val="accent1"/>
                          </a:solidFill>
                        </a:rPr>
                        <a:t>Yes (with journal)</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3DC"/>
                    </a:solidFill>
                  </a:tcPr>
                </a:tc>
                <a:tc>
                  <a:txBody>
                    <a:bodyPr/>
                    <a:lstStyle/>
                    <a:p>
                      <a:pPr algn="ctr">
                        <a:defRPr sz="1800">
                          <a:solidFill>
                            <a:srgbClr val="000000"/>
                          </a:solidFill>
                        </a:defRPr>
                      </a:pPr>
                      <a:r>
                        <a:rPr b="1" sz="900">
                          <a:solidFill>
                            <a:schemeClr val="accent1"/>
                          </a:solidFill>
                        </a:rPr>
                        <a:t>Yes (stocks, MFs, bonds)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3DC"/>
                    </a:solidFill>
                  </a:tcPr>
                </a:tc>
                <a:tc>
                  <a:txBody>
                    <a:bodyPr/>
                    <a:lstStyle/>
                    <a:p>
                      <a:pPr algn="ctr">
                        <a:defRPr sz="1800">
                          <a:solidFill>
                            <a:srgbClr val="000000"/>
                          </a:solidFill>
                        </a:defRPr>
                      </a:pPr>
                      <a:r>
                        <a:rPr sz="900">
                          <a:solidFill>
                            <a:srgbClr val="434B6B"/>
                          </a:solidFill>
                        </a:rPr>
                        <a:t>Planned (post-SEBI license)</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3DC"/>
                    </a:solidFill>
                  </a:tcPr>
                </a:tc>
              </a:tr>
              <a:tr h="420624">
                <a:tc>
                  <a:txBody>
                    <a:bodyPr/>
                    <a:lstStyle/>
                    <a:p>
                      <a:pPr algn="l">
                        <a:defRPr sz="1800">
                          <a:solidFill>
                            <a:srgbClr val="000000"/>
                          </a:solidFill>
                        </a:defRPr>
                      </a:pPr>
                      <a:r>
                        <a:rPr b="1" sz="1100">
                          <a:solidFill>
                            <a:srgbClr val="0B0E26"/>
                          </a:solidFill>
                        </a:rPr>
                        <a:t>Screener.in</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metered AI summaries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formula syntax only</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20624">
                <a:tc>
                  <a:txBody>
                    <a:bodyPr/>
                    <a:lstStyle/>
                    <a:p>
                      <a:pPr algn="l">
                        <a:defRPr sz="1800">
                          <a:solidFill>
                            <a:srgbClr val="000000"/>
                          </a:solidFill>
                        </a:defRPr>
                      </a:pPr>
                      <a:r>
                        <a:rPr b="1" sz="1100">
                          <a:solidFill>
                            <a:srgbClr val="0B0E26"/>
                          </a:solidFill>
                        </a:rPr>
                        <a:t>Tijori</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filing timeline only</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900">
                          <a:solidFill>
                            <a:schemeClr val="accent1"/>
                          </a:solidFill>
                        </a:rPr>
                        <a:t>Yes: plain-English search</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equity &amp; MF tracker</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20624">
                <a:tc>
                  <a:txBody>
                    <a:bodyPr/>
                    <a:lstStyle/>
                    <a:p>
                      <a:pPr algn="l">
                        <a:defRPr sz="1800">
                          <a:solidFill>
                            <a:srgbClr val="000000"/>
                          </a:solidFill>
                        </a:defRPr>
                      </a:pPr>
                      <a:r>
                        <a:rPr b="1" sz="1100">
                          <a:solidFill>
                            <a:srgbClr val="0B0E26"/>
                          </a:solidFill>
                        </a:rPr>
                        <a:t>Trendlyne</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earnings-call summaries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900">
                          <a:solidFill>
                            <a:schemeClr val="accent1"/>
                          </a:solidFill>
                        </a:rPr>
                        <a:t>Yes: AI stock screener</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lacks full tax/fee model</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portfolio health report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pre-set stock baskets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20624">
                <a:tc>
                  <a:txBody>
                    <a:bodyPr/>
                    <a:lstStyle/>
                    <a:p>
                      <a:pPr algn="l">
                        <a:defRPr sz="1800">
                          <a:solidFill>
                            <a:srgbClr val="000000"/>
                          </a:solidFill>
                        </a:defRPr>
                      </a:pPr>
                      <a:r>
                        <a:rPr b="1" sz="1100">
                          <a:solidFill>
                            <a:srgbClr val="0B0E26"/>
                          </a:solidFill>
                        </a:rPr>
                        <a:t>Tickertape</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manual filter sliders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mutual fund screener</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20624">
                <a:tc>
                  <a:txBody>
                    <a:bodyPr/>
                    <a:lstStyle/>
                    <a:p>
                      <a:pPr algn="l">
                        <a:defRPr sz="1800">
                          <a:solidFill>
                            <a:srgbClr val="000000"/>
                          </a:solidFill>
                        </a:defRPr>
                      </a:pPr>
                      <a:r>
                        <a:rPr b="1" sz="1100">
                          <a:solidFill>
                            <a:srgbClr val="0B0E26"/>
                          </a:solidFill>
                        </a:rPr>
                        <a:t>StockGro (Stoxo)</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unverified AI chat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basic strategy builder</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20624">
                <a:tc>
                  <a:txBody>
                    <a:bodyPr/>
                    <a:lstStyle/>
                    <a:p>
                      <a:pPr algn="l">
                        <a:defRPr sz="1800">
                          <a:solidFill>
                            <a:srgbClr val="000000"/>
                          </a:solidFill>
                        </a:defRPr>
                      </a:pPr>
                      <a:r>
                        <a:rPr b="1" sz="1100">
                          <a:solidFill>
                            <a:srgbClr val="0B0E26"/>
                          </a:solidFill>
                        </a:rPr>
                        <a:t>Streak</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price/volume scanners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900">
                          <a:solidFill>
                            <a:schemeClr val="accent1"/>
                          </a:solidFill>
                        </a:rPr>
                        <a:t>Yes: technical indicators only</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900">
                          <a:solidFill>
                            <a:schemeClr val="accent1"/>
                          </a:solidFill>
                        </a:rPr>
                        <a:t>Yes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900">
                          <a:solidFill>
                            <a:schemeClr val="accent1"/>
                          </a:solidFill>
                        </a:rPr>
                        <a:t>Yes: technical orders via Zerodha</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20624">
                <a:tc>
                  <a:txBody>
                    <a:bodyPr/>
                    <a:lstStyle/>
                    <a:p>
                      <a:pPr algn="l">
                        <a:defRPr sz="1800">
                          <a:solidFill>
                            <a:srgbClr val="000000"/>
                          </a:solidFill>
                        </a:defRPr>
                      </a:pPr>
                      <a:r>
                        <a:rPr b="1" sz="1100">
                          <a:solidFill>
                            <a:srgbClr val="0B0E26"/>
                          </a:solidFill>
                        </a:rPr>
                        <a:t>General AI Chatbots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434B6B"/>
                          </a:solidFill>
                        </a:rPr>
                        <a:t>Partial: no verified Indian filings</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900">
                          <a:solidFill>
                            <a:srgbClr val="A9B0C8"/>
                          </a:solidFill>
                        </a:rPr>
                        <a:t>—</a:t>
                      </a:r>
                    </a:p>
                  </a:txBody>
                  <a:tcPr marL="25400" marR="25400" marT="25400" marB="254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bl>
          </a:graphicData>
        </a:graphic>
      </p:graphicFrame>
      <p:sp>
        <p:nvSpPr>
          <p:cNvPr id="314" name="competition takeaway"/>
          <p:cNvSpPr/>
          <p:nvPr/>
        </p:nvSpPr>
        <p:spPr>
          <a:xfrm>
            <a:off x="548640" y="5486400"/>
            <a:ext cx="11094416" cy="502920"/>
          </a:xfrm>
          <a:prstGeom prst="roundRect">
            <a:avLst>
              <a:gd name="adj" fmla="val 21818"/>
            </a:avLst>
          </a:prstGeom>
          <a:solidFill>
            <a:srgbClr val="F4F7FC"/>
          </a:solidFill>
          <a:ln w="12700">
            <a:miter lim="400000"/>
          </a:ln>
        </p:spPr>
        <p:txBody>
          <a:bodyPr lIns="45718" tIns="45718" rIns="45718" bIns="45718"/>
          <a:lstStyle/>
          <a:p>
            <a:pPr/>
          </a:p>
        </p:txBody>
      </p:sp>
      <p:sp>
        <p:nvSpPr>
          <p:cNvPr id="315" name="Text 3"/>
          <p:cNvSpPr txBox="1"/>
          <p:nvPr/>
        </p:nvSpPr>
        <p:spPr>
          <a:xfrm>
            <a:off x="568411" y="5551519"/>
            <a:ext cx="11055177"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chemeClr val="accent1"/>
                </a:solidFill>
              </a:defRPr>
            </a:pPr>
            <a:r>
              <a:t>Anvest </a:t>
            </a:r>
            <a:r>
              <a:rPr b="0">
                <a:solidFill>
                  <a:srgbClr val="0B0E26"/>
                </a:solidFill>
              </a:rPr>
              <a:t>connects the full workflow in one account: from a filing-verified AI answer to an editable stock screen, a tax-and-fee-adjusted backtest, a virtual paper portfolio, and multi-asset wealth planning.</a:t>
            </a:r>
          </a:p>
        </p:txBody>
      </p:sp>
      <p:sp>
        <p:nvSpPr>
          <p:cNvPr id="316" name="Text 4"/>
          <p:cNvSpPr txBox="1"/>
          <p:nvPr/>
        </p:nvSpPr>
        <p:spPr>
          <a:xfrm>
            <a:off x="548639" y="6108191"/>
            <a:ext cx="10362897"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chemeClr val="accent5"/>
                </a:solidFill>
              </a:defRPr>
            </a:lvl1pPr>
          </a:lstStyle>
          <a:p>
            <a:pPr/>
            <a:r>
              <a:t>Yes = core feature · Partial = limited or adjacent · — = not found on the vendor's public product pages, checked 19 Oct 2026</a:t>
            </a:r>
          </a:p>
        </p:txBody>
      </p:sp>
      <p:sp>
        <p:nvSpPr>
          <p:cNvPr id="317" name="Slide Number Placeholder 0"/>
          <p:cNvSpPr txBox="1"/>
          <p:nvPr>
            <p:ph type="sldNum" sz="quarter" idx="4294967295"/>
          </p:nvPr>
        </p:nvSpPr>
        <p:spPr>
          <a:xfrm>
            <a:off x="11516055" y="6419088"/>
            <a:ext cx="127001"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1" name="Text 0"/>
          <p:cNvSpPr txBox="1"/>
          <p:nvPr>
            <p:ph type="body" sz="quarter" idx="1"/>
          </p:nvPr>
        </p:nvSpPr>
        <p:spPr>
          <a:xfrm>
            <a:off x="548640" y="384047"/>
            <a:ext cx="8229601" cy="274322"/>
          </a:xfrm>
          <a:prstGeom prst="rect">
            <a:avLst/>
          </a:prstGeom>
        </p:spPr>
        <p:txBody>
          <a:bodyPr lIns="0" tIns="0" rIns="0" bIns="0"/>
          <a:lstStyle/>
          <a:p>
            <a:pPr/>
            <a:r>
              <a:t>THE MOAT</a:t>
            </a:r>
          </a:p>
        </p:txBody>
      </p:sp>
      <p:sp>
        <p:nvSpPr>
          <p:cNvPr id="322" name="Text 0"/>
          <p:cNvSpPr txBox="1"/>
          <p:nvPr>
            <p:ph type="title"/>
          </p:nvPr>
        </p:nvSpPr>
        <p:spPr>
          <a:xfrm>
            <a:off x="548638" y="676655"/>
            <a:ext cx="11094419" cy="868682"/>
          </a:xfrm>
          <a:prstGeom prst="rect">
            <a:avLst/>
          </a:prstGeom>
        </p:spPr>
        <p:txBody>
          <a:bodyPr lIns="0" tIns="0" rIns="0" bIns="0"/>
          <a:lstStyle>
            <a:lvl1pPr>
              <a:defRPr sz="2800"/>
            </a:lvl1pPr>
          </a:lstStyle>
          <a:p>
            <a:pPr/>
            <a:r>
              <a:t>Our moat is the self-healing filings pipeline beneath the AI</a:t>
            </a:r>
          </a:p>
        </p:txBody>
      </p:sp>
      <p:sp>
        <p:nvSpPr>
          <p:cNvPr id="323" name="pipeline step 1"/>
          <p:cNvSpPr/>
          <p:nvPr/>
        </p:nvSpPr>
        <p:spPr>
          <a:xfrm>
            <a:off x="548640" y="1737360"/>
            <a:ext cx="2057401" cy="1463040"/>
          </a:xfrm>
          <a:prstGeom prst="roundRect">
            <a:avLst>
              <a:gd name="adj" fmla="val 7500"/>
            </a:avLst>
          </a:prstGeom>
          <a:solidFill>
            <a:srgbClr val="FFFFFF">
              <a:alpha val="8000"/>
            </a:srgbClr>
          </a:solidFill>
          <a:ln>
            <a:solidFill>
              <a:schemeClr val="accent6">
                <a:alpha val="25000"/>
              </a:schemeClr>
            </a:solidFill>
          </a:ln>
        </p:spPr>
        <p:txBody>
          <a:bodyPr lIns="45718" tIns="45718" rIns="45718" bIns="45718"/>
          <a:lstStyle/>
          <a:p>
            <a:pPr/>
          </a:p>
        </p:txBody>
      </p:sp>
      <p:sp>
        <p:nvSpPr>
          <p:cNvPr id="324" name="LuDatabase circle"/>
          <p:cNvSpPr/>
          <p:nvPr/>
        </p:nvSpPr>
        <p:spPr>
          <a:xfrm>
            <a:off x="749808" y="1883664"/>
            <a:ext cx="457203" cy="457203"/>
          </a:xfrm>
          <a:prstGeom prst="ellipse">
            <a:avLst/>
          </a:prstGeom>
          <a:solidFill>
            <a:schemeClr val="accent2"/>
          </a:solidFill>
          <a:ln w="12700">
            <a:miter lim="400000"/>
          </a:ln>
        </p:spPr>
        <p:txBody>
          <a:bodyPr lIns="45718" tIns="45718" rIns="45718" bIns="45718"/>
          <a:lstStyle/>
          <a:p>
            <a:pPr/>
          </a:p>
        </p:txBody>
      </p:sp>
      <p:pic>
        <p:nvPicPr>
          <p:cNvPr id="325" name="LuDatabase icon" descr="LuDatabase icon"/>
          <p:cNvPicPr>
            <a:picLocks noChangeAspect="1"/>
          </p:cNvPicPr>
          <p:nvPr/>
        </p:nvPicPr>
        <p:blipFill>
          <a:blip r:embed="rId3">
            <a:extLst/>
          </a:blip>
          <a:stretch>
            <a:fillRect/>
          </a:stretch>
        </p:blipFill>
        <p:spPr>
          <a:xfrm>
            <a:off x="864108" y="1997964"/>
            <a:ext cx="228602" cy="228602"/>
          </a:xfrm>
          <a:prstGeom prst="rect">
            <a:avLst/>
          </a:prstGeom>
          <a:ln w="12700">
            <a:miter lim="400000"/>
          </a:ln>
        </p:spPr>
      </p:pic>
      <p:sp>
        <p:nvSpPr>
          <p:cNvPr id="326" name="Text 4"/>
          <p:cNvSpPr txBox="1"/>
          <p:nvPr/>
        </p:nvSpPr>
        <p:spPr>
          <a:xfrm>
            <a:off x="749807" y="2414016"/>
            <a:ext cx="173736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FFFFFF"/>
                </a:solidFill>
              </a:defRPr>
            </a:lvl1pPr>
          </a:lstStyle>
          <a:p>
            <a:pPr/>
            <a:r>
              <a:t>1. Ingest</a:t>
            </a:r>
          </a:p>
        </p:txBody>
      </p:sp>
      <p:sp>
        <p:nvSpPr>
          <p:cNvPr id="327" name="Text 5"/>
          <p:cNvSpPr txBox="1"/>
          <p:nvPr/>
        </p:nvSpPr>
        <p:spPr>
          <a:xfrm>
            <a:off x="749807" y="2706622"/>
            <a:ext cx="1737362"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Prices, PDF filings, exchange data (XBRL), fund NAVs &amp; IPO prospectuses</a:t>
            </a:r>
          </a:p>
        </p:txBody>
      </p:sp>
      <p:sp>
        <p:nvSpPr>
          <p:cNvPr id="328" name="pipeline arrow 1 circle"/>
          <p:cNvSpPr/>
          <p:nvPr/>
        </p:nvSpPr>
        <p:spPr>
          <a:xfrm>
            <a:off x="2468878" y="2331720"/>
            <a:ext cx="274323" cy="274323"/>
          </a:xfrm>
          <a:prstGeom prst="ellipse">
            <a:avLst/>
          </a:prstGeom>
          <a:solidFill>
            <a:schemeClr val="accent2"/>
          </a:solidFill>
          <a:ln w="12700">
            <a:miter lim="400000"/>
          </a:ln>
        </p:spPr>
        <p:txBody>
          <a:bodyPr lIns="45718" tIns="45718" rIns="45718" bIns="45718"/>
          <a:lstStyle/>
          <a:p>
            <a:pPr/>
          </a:p>
        </p:txBody>
      </p:sp>
      <p:pic>
        <p:nvPicPr>
          <p:cNvPr id="329" name="pipeline arrow 1 icon" descr="pipeline arrow 1 icon"/>
          <p:cNvPicPr>
            <a:picLocks noChangeAspect="1"/>
          </p:cNvPicPr>
          <p:nvPr/>
        </p:nvPicPr>
        <p:blipFill>
          <a:blip r:embed="rId4">
            <a:extLst/>
          </a:blip>
          <a:stretch>
            <a:fillRect/>
          </a:stretch>
        </p:blipFill>
        <p:spPr>
          <a:xfrm>
            <a:off x="2537460" y="2400300"/>
            <a:ext cx="137162" cy="137161"/>
          </a:xfrm>
          <a:prstGeom prst="rect">
            <a:avLst/>
          </a:prstGeom>
          <a:ln w="12700">
            <a:miter lim="400000"/>
          </a:ln>
        </p:spPr>
      </p:pic>
      <p:sp>
        <p:nvSpPr>
          <p:cNvPr id="330" name="pipeline step 2"/>
          <p:cNvSpPr/>
          <p:nvPr/>
        </p:nvSpPr>
        <p:spPr>
          <a:xfrm>
            <a:off x="2788920" y="1737360"/>
            <a:ext cx="2057402" cy="1463040"/>
          </a:xfrm>
          <a:prstGeom prst="roundRect">
            <a:avLst>
              <a:gd name="adj" fmla="val 7500"/>
            </a:avLst>
          </a:prstGeom>
          <a:solidFill>
            <a:srgbClr val="FFFFFF">
              <a:alpha val="8000"/>
            </a:srgbClr>
          </a:solidFill>
          <a:ln>
            <a:solidFill>
              <a:schemeClr val="accent6">
                <a:alpha val="25000"/>
              </a:schemeClr>
            </a:solidFill>
          </a:ln>
        </p:spPr>
        <p:txBody>
          <a:bodyPr lIns="45718" tIns="45718" rIns="45718" bIns="45718"/>
          <a:lstStyle/>
          <a:p>
            <a:pPr/>
          </a:p>
        </p:txBody>
      </p:sp>
      <p:sp>
        <p:nvSpPr>
          <p:cNvPr id="331" name="LuScanText circle"/>
          <p:cNvSpPr/>
          <p:nvPr/>
        </p:nvSpPr>
        <p:spPr>
          <a:xfrm>
            <a:off x="2990088" y="1883664"/>
            <a:ext cx="457203" cy="457203"/>
          </a:xfrm>
          <a:prstGeom prst="ellipse">
            <a:avLst/>
          </a:prstGeom>
          <a:solidFill>
            <a:schemeClr val="accent2"/>
          </a:solidFill>
          <a:ln w="12700">
            <a:miter lim="400000"/>
          </a:ln>
        </p:spPr>
        <p:txBody>
          <a:bodyPr lIns="45718" tIns="45718" rIns="45718" bIns="45718"/>
          <a:lstStyle/>
          <a:p>
            <a:pPr/>
          </a:p>
        </p:txBody>
      </p:sp>
      <p:pic>
        <p:nvPicPr>
          <p:cNvPr id="332" name="LuScanText icon" descr="LuScanText icon"/>
          <p:cNvPicPr>
            <a:picLocks noChangeAspect="1"/>
          </p:cNvPicPr>
          <p:nvPr/>
        </p:nvPicPr>
        <p:blipFill>
          <a:blip r:embed="rId5">
            <a:extLst/>
          </a:blip>
          <a:stretch>
            <a:fillRect/>
          </a:stretch>
        </p:blipFill>
        <p:spPr>
          <a:xfrm>
            <a:off x="3104388" y="1997964"/>
            <a:ext cx="228602" cy="228602"/>
          </a:xfrm>
          <a:prstGeom prst="rect">
            <a:avLst/>
          </a:prstGeom>
          <a:ln w="12700">
            <a:miter lim="400000"/>
          </a:ln>
        </p:spPr>
      </p:pic>
      <p:sp>
        <p:nvSpPr>
          <p:cNvPr id="333" name="Text 9"/>
          <p:cNvSpPr txBox="1"/>
          <p:nvPr/>
        </p:nvSpPr>
        <p:spPr>
          <a:xfrm>
            <a:off x="2990088" y="2414016"/>
            <a:ext cx="173736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FFFFFF"/>
                </a:solidFill>
              </a:defRPr>
            </a:lvl1pPr>
          </a:lstStyle>
          <a:p>
            <a:pPr/>
            <a:r>
              <a:t>2. Repair &amp; OCR</a:t>
            </a:r>
          </a:p>
        </p:txBody>
      </p:sp>
      <p:sp>
        <p:nvSpPr>
          <p:cNvPr id="334" name="Text 10"/>
          <p:cNvSpPr txBox="1"/>
          <p:nvPr/>
        </p:nvSpPr>
        <p:spPr>
          <a:xfrm>
            <a:off x="2990088" y="2706622"/>
            <a:ext cx="1737362"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Fixes corrupted or mislabeled exchange feeds; reads scanned PDF tables</a:t>
            </a:r>
          </a:p>
        </p:txBody>
      </p:sp>
      <p:sp>
        <p:nvSpPr>
          <p:cNvPr id="335" name="pipeline arrow 2 circle"/>
          <p:cNvSpPr/>
          <p:nvPr/>
        </p:nvSpPr>
        <p:spPr>
          <a:xfrm>
            <a:off x="4709159" y="2331720"/>
            <a:ext cx="274323" cy="274323"/>
          </a:xfrm>
          <a:prstGeom prst="ellipse">
            <a:avLst/>
          </a:prstGeom>
          <a:solidFill>
            <a:schemeClr val="accent2"/>
          </a:solidFill>
          <a:ln w="12700">
            <a:miter lim="400000"/>
          </a:ln>
        </p:spPr>
        <p:txBody>
          <a:bodyPr lIns="45718" tIns="45718" rIns="45718" bIns="45718"/>
          <a:lstStyle/>
          <a:p>
            <a:pPr/>
          </a:p>
        </p:txBody>
      </p:sp>
      <p:pic>
        <p:nvPicPr>
          <p:cNvPr id="336" name="pipeline arrow 2 icon" descr="pipeline arrow 2 icon"/>
          <p:cNvPicPr>
            <a:picLocks noChangeAspect="1"/>
          </p:cNvPicPr>
          <p:nvPr/>
        </p:nvPicPr>
        <p:blipFill>
          <a:blip r:embed="rId4">
            <a:extLst/>
          </a:blip>
          <a:stretch>
            <a:fillRect/>
          </a:stretch>
        </p:blipFill>
        <p:spPr>
          <a:xfrm>
            <a:off x="4777740" y="2400300"/>
            <a:ext cx="137162" cy="137161"/>
          </a:xfrm>
          <a:prstGeom prst="rect">
            <a:avLst/>
          </a:prstGeom>
          <a:ln w="12700">
            <a:miter lim="400000"/>
          </a:ln>
        </p:spPr>
      </p:pic>
      <p:sp>
        <p:nvSpPr>
          <p:cNvPr id="337" name="pipeline step 3"/>
          <p:cNvSpPr/>
          <p:nvPr/>
        </p:nvSpPr>
        <p:spPr>
          <a:xfrm>
            <a:off x="5029200" y="1737360"/>
            <a:ext cx="2057400" cy="1463040"/>
          </a:xfrm>
          <a:prstGeom prst="roundRect">
            <a:avLst>
              <a:gd name="adj" fmla="val 7500"/>
            </a:avLst>
          </a:prstGeom>
          <a:solidFill>
            <a:srgbClr val="FFFFFF">
              <a:alpha val="8000"/>
            </a:srgbClr>
          </a:solidFill>
          <a:ln>
            <a:solidFill>
              <a:schemeClr val="accent6">
                <a:alpha val="25000"/>
              </a:schemeClr>
            </a:solidFill>
          </a:ln>
        </p:spPr>
        <p:txBody>
          <a:bodyPr lIns="45718" tIns="45718" rIns="45718" bIns="45718"/>
          <a:lstStyle/>
          <a:p>
            <a:pPr/>
          </a:p>
        </p:txBody>
      </p:sp>
      <p:sp>
        <p:nvSpPr>
          <p:cNvPr id="338" name="LuBadgeCheck circle"/>
          <p:cNvSpPr/>
          <p:nvPr/>
        </p:nvSpPr>
        <p:spPr>
          <a:xfrm>
            <a:off x="5230367" y="1883664"/>
            <a:ext cx="457203" cy="457203"/>
          </a:xfrm>
          <a:prstGeom prst="ellipse">
            <a:avLst/>
          </a:prstGeom>
          <a:solidFill>
            <a:schemeClr val="accent2"/>
          </a:solidFill>
          <a:ln w="12700">
            <a:miter lim="400000"/>
          </a:ln>
        </p:spPr>
        <p:txBody>
          <a:bodyPr lIns="45718" tIns="45718" rIns="45718" bIns="45718"/>
          <a:lstStyle/>
          <a:p>
            <a:pPr/>
          </a:p>
        </p:txBody>
      </p:sp>
      <p:pic>
        <p:nvPicPr>
          <p:cNvPr id="339" name="LuBadgeCheck icon" descr="LuBadgeCheck icon"/>
          <p:cNvPicPr>
            <a:picLocks noChangeAspect="1"/>
          </p:cNvPicPr>
          <p:nvPr/>
        </p:nvPicPr>
        <p:blipFill>
          <a:blip r:embed="rId6">
            <a:extLst/>
          </a:blip>
          <a:stretch>
            <a:fillRect/>
          </a:stretch>
        </p:blipFill>
        <p:spPr>
          <a:xfrm>
            <a:off x="5344667" y="1997964"/>
            <a:ext cx="228602" cy="228602"/>
          </a:xfrm>
          <a:prstGeom prst="rect">
            <a:avLst/>
          </a:prstGeom>
          <a:ln w="12700">
            <a:miter lim="400000"/>
          </a:ln>
        </p:spPr>
      </p:pic>
      <p:sp>
        <p:nvSpPr>
          <p:cNvPr id="340" name="Text 14"/>
          <p:cNvSpPr txBox="1"/>
          <p:nvPr/>
        </p:nvSpPr>
        <p:spPr>
          <a:xfrm>
            <a:off x="5230367" y="2414016"/>
            <a:ext cx="173736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FFFFFF"/>
                </a:solidFill>
              </a:defRPr>
            </a:lvl1pPr>
          </a:lstStyle>
          <a:p>
            <a:pPr/>
            <a:r>
              <a:t>3. Cross-Verify</a:t>
            </a:r>
          </a:p>
        </p:txBody>
      </p:sp>
      <p:sp>
        <p:nvSpPr>
          <p:cNvPr id="341" name="Text 15"/>
          <p:cNvSpPr txBox="1"/>
          <p:nvPr/>
        </p:nvSpPr>
        <p:spPr>
          <a:xfrm>
            <a:off x="5230367" y="2706622"/>
            <a:ext cx="1737362"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Accounting-identity checks, cross-source validation &amp; sector rules</a:t>
            </a:r>
          </a:p>
        </p:txBody>
      </p:sp>
      <p:sp>
        <p:nvSpPr>
          <p:cNvPr id="342" name="pipeline arrow 3 circle"/>
          <p:cNvSpPr/>
          <p:nvPr/>
        </p:nvSpPr>
        <p:spPr>
          <a:xfrm>
            <a:off x="6949440" y="2331720"/>
            <a:ext cx="274323" cy="274323"/>
          </a:xfrm>
          <a:prstGeom prst="ellipse">
            <a:avLst/>
          </a:prstGeom>
          <a:solidFill>
            <a:schemeClr val="accent2"/>
          </a:solidFill>
          <a:ln w="12700">
            <a:miter lim="400000"/>
          </a:ln>
        </p:spPr>
        <p:txBody>
          <a:bodyPr lIns="45718" tIns="45718" rIns="45718" bIns="45718"/>
          <a:lstStyle/>
          <a:p>
            <a:pPr/>
          </a:p>
        </p:txBody>
      </p:sp>
      <p:pic>
        <p:nvPicPr>
          <p:cNvPr id="343" name="pipeline arrow 3 icon" descr="pipeline arrow 3 icon"/>
          <p:cNvPicPr>
            <a:picLocks noChangeAspect="1"/>
          </p:cNvPicPr>
          <p:nvPr/>
        </p:nvPicPr>
        <p:blipFill>
          <a:blip r:embed="rId4">
            <a:extLst/>
          </a:blip>
          <a:stretch>
            <a:fillRect/>
          </a:stretch>
        </p:blipFill>
        <p:spPr>
          <a:xfrm>
            <a:off x="7018018" y="2400300"/>
            <a:ext cx="137162" cy="137161"/>
          </a:xfrm>
          <a:prstGeom prst="rect">
            <a:avLst/>
          </a:prstGeom>
          <a:ln w="12700">
            <a:miter lim="400000"/>
          </a:ln>
        </p:spPr>
      </p:pic>
      <p:sp>
        <p:nvSpPr>
          <p:cNvPr id="344" name="pipeline step 4"/>
          <p:cNvSpPr/>
          <p:nvPr/>
        </p:nvSpPr>
        <p:spPr>
          <a:xfrm>
            <a:off x="7269480" y="1737360"/>
            <a:ext cx="2057402" cy="1463040"/>
          </a:xfrm>
          <a:prstGeom prst="roundRect">
            <a:avLst>
              <a:gd name="adj" fmla="val 7500"/>
            </a:avLst>
          </a:prstGeom>
          <a:solidFill>
            <a:srgbClr val="FFFFFF">
              <a:alpha val="8000"/>
            </a:srgbClr>
          </a:solidFill>
          <a:ln>
            <a:solidFill>
              <a:schemeClr val="accent6">
                <a:alpha val="25000"/>
              </a:schemeClr>
            </a:solidFill>
          </a:ln>
        </p:spPr>
        <p:txBody>
          <a:bodyPr lIns="45718" tIns="45718" rIns="45718" bIns="45718"/>
          <a:lstStyle/>
          <a:p>
            <a:pPr/>
          </a:p>
        </p:txBody>
      </p:sp>
      <p:sp>
        <p:nvSpPr>
          <p:cNvPr id="345" name="LuShieldCheck circle"/>
          <p:cNvSpPr/>
          <p:nvPr/>
        </p:nvSpPr>
        <p:spPr>
          <a:xfrm>
            <a:off x="7470647" y="1883664"/>
            <a:ext cx="457203" cy="457203"/>
          </a:xfrm>
          <a:prstGeom prst="ellipse">
            <a:avLst/>
          </a:prstGeom>
          <a:solidFill>
            <a:schemeClr val="accent2"/>
          </a:solidFill>
          <a:ln w="12700">
            <a:miter lim="400000"/>
          </a:ln>
        </p:spPr>
        <p:txBody>
          <a:bodyPr lIns="45718" tIns="45718" rIns="45718" bIns="45718"/>
          <a:lstStyle/>
          <a:p>
            <a:pPr/>
          </a:p>
        </p:txBody>
      </p:sp>
      <p:pic>
        <p:nvPicPr>
          <p:cNvPr id="346" name="LuShieldCheck icon" descr="LuShieldCheck icon"/>
          <p:cNvPicPr>
            <a:picLocks noChangeAspect="1"/>
          </p:cNvPicPr>
          <p:nvPr/>
        </p:nvPicPr>
        <p:blipFill>
          <a:blip r:embed="rId7">
            <a:extLst/>
          </a:blip>
          <a:stretch>
            <a:fillRect/>
          </a:stretch>
        </p:blipFill>
        <p:spPr>
          <a:xfrm>
            <a:off x="7584947" y="1997964"/>
            <a:ext cx="228602" cy="228602"/>
          </a:xfrm>
          <a:prstGeom prst="rect">
            <a:avLst/>
          </a:prstGeom>
          <a:ln w="12700">
            <a:miter lim="400000"/>
          </a:ln>
        </p:spPr>
      </p:pic>
      <p:sp>
        <p:nvSpPr>
          <p:cNvPr id="347" name="Text 19"/>
          <p:cNvSpPr txBox="1"/>
          <p:nvPr/>
        </p:nvSpPr>
        <p:spPr>
          <a:xfrm>
            <a:off x="7470647" y="2414016"/>
            <a:ext cx="173736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FFFFFF"/>
                </a:solidFill>
              </a:defRPr>
            </a:lvl1pPr>
          </a:lstStyle>
          <a:p>
            <a:pPr/>
            <a:r>
              <a:t>4. Cite Source</a:t>
            </a:r>
          </a:p>
        </p:txBody>
      </p:sp>
      <p:sp>
        <p:nvSpPr>
          <p:cNvPr id="348" name="Text 20"/>
          <p:cNvSpPr txBox="1"/>
          <p:nvPr/>
        </p:nvSpPr>
        <p:spPr>
          <a:xfrm>
            <a:off x="7470647" y="2706622"/>
            <a:ext cx="1737362"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Links every number to the exact filing passage—or flags missing data</a:t>
            </a:r>
          </a:p>
        </p:txBody>
      </p:sp>
      <p:sp>
        <p:nvSpPr>
          <p:cNvPr id="349" name="pipeline arrow 4 circle"/>
          <p:cNvSpPr/>
          <p:nvPr/>
        </p:nvSpPr>
        <p:spPr>
          <a:xfrm>
            <a:off x="9189718" y="2331720"/>
            <a:ext cx="274323" cy="274323"/>
          </a:xfrm>
          <a:prstGeom prst="ellipse">
            <a:avLst/>
          </a:prstGeom>
          <a:solidFill>
            <a:schemeClr val="accent2"/>
          </a:solidFill>
          <a:ln w="12700">
            <a:miter lim="400000"/>
          </a:ln>
        </p:spPr>
        <p:txBody>
          <a:bodyPr lIns="45718" tIns="45718" rIns="45718" bIns="45718"/>
          <a:lstStyle/>
          <a:p>
            <a:pPr/>
          </a:p>
        </p:txBody>
      </p:sp>
      <p:pic>
        <p:nvPicPr>
          <p:cNvPr id="350" name="pipeline arrow 4 icon" descr="pipeline arrow 4 icon"/>
          <p:cNvPicPr>
            <a:picLocks noChangeAspect="1"/>
          </p:cNvPicPr>
          <p:nvPr/>
        </p:nvPicPr>
        <p:blipFill>
          <a:blip r:embed="rId4">
            <a:extLst/>
          </a:blip>
          <a:stretch>
            <a:fillRect/>
          </a:stretch>
        </p:blipFill>
        <p:spPr>
          <a:xfrm>
            <a:off x="9258300" y="2400300"/>
            <a:ext cx="137161" cy="137161"/>
          </a:xfrm>
          <a:prstGeom prst="rect">
            <a:avLst/>
          </a:prstGeom>
          <a:ln w="12700">
            <a:miter lim="400000"/>
          </a:ln>
        </p:spPr>
      </p:pic>
      <p:sp>
        <p:nvSpPr>
          <p:cNvPr id="351" name="pipeline step 5"/>
          <p:cNvSpPr/>
          <p:nvPr/>
        </p:nvSpPr>
        <p:spPr>
          <a:xfrm>
            <a:off x="9509759" y="1737360"/>
            <a:ext cx="2057402" cy="1463040"/>
          </a:xfrm>
          <a:prstGeom prst="roundRect">
            <a:avLst>
              <a:gd name="adj" fmla="val 7500"/>
            </a:avLst>
          </a:prstGeom>
          <a:solidFill>
            <a:srgbClr val="FFFFFF">
              <a:alpha val="8000"/>
            </a:srgbClr>
          </a:solidFill>
          <a:ln>
            <a:solidFill>
              <a:schemeClr val="accent6">
                <a:alpha val="25000"/>
              </a:schemeClr>
            </a:solidFill>
          </a:ln>
        </p:spPr>
        <p:txBody>
          <a:bodyPr lIns="45718" tIns="45718" rIns="45718" bIns="45718"/>
          <a:lstStyle/>
          <a:p>
            <a:pPr/>
          </a:p>
        </p:txBody>
      </p:sp>
      <p:sp>
        <p:nvSpPr>
          <p:cNvPr id="352" name="LuSparkles circle"/>
          <p:cNvSpPr/>
          <p:nvPr/>
        </p:nvSpPr>
        <p:spPr>
          <a:xfrm>
            <a:off x="9710928" y="1883664"/>
            <a:ext cx="457203" cy="457203"/>
          </a:xfrm>
          <a:prstGeom prst="ellipse">
            <a:avLst/>
          </a:prstGeom>
          <a:solidFill>
            <a:schemeClr val="accent2"/>
          </a:solidFill>
          <a:ln w="12700">
            <a:miter lim="400000"/>
          </a:ln>
        </p:spPr>
        <p:txBody>
          <a:bodyPr lIns="45718" tIns="45718" rIns="45718" bIns="45718"/>
          <a:lstStyle/>
          <a:p>
            <a:pPr/>
          </a:p>
        </p:txBody>
      </p:sp>
      <p:pic>
        <p:nvPicPr>
          <p:cNvPr id="353" name="LuSparkles icon" descr="LuSparkles icon"/>
          <p:cNvPicPr>
            <a:picLocks noChangeAspect="1"/>
          </p:cNvPicPr>
          <p:nvPr/>
        </p:nvPicPr>
        <p:blipFill>
          <a:blip r:embed="rId8">
            <a:extLst/>
          </a:blip>
          <a:stretch>
            <a:fillRect/>
          </a:stretch>
        </p:blipFill>
        <p:spPr>
          <a:xfrm>
            <a:off x="9825228" y="1997964"/>
            <a:ext cx="228602" cy="228602"/>
          </a:xfrm>
          <a:prstGeom prst="rect">
            <a:avLst/>
          </a:prstGeom>
          <a:ln w="12700">
            <a:miter lim="400000"/>
          </a:ln>
        </p:spPr>
      </p:pic>
      <p:sp>
        <p:nvSpPr>
          <p:cNvPr id="354" name="Text 24"/>
          <p:cNvSpPr txBox="1"/>
          <p:nvPr/>
        </p:nvSpPr>
        <p:spPr>
          <a:xfrm>
            <a:off x="9710928" y="2414016"/>
            <a:ext cx="173736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FFFFFF"/>
                </a:solidFill>
              </a:defRPr>
            </a:lvl1pPr>
          </a:lstStyle>
          <a:p>
            <a:pPr/>
            <a:r>
              <a:t>5. Power All Tools</a:t>
            </a:r>
          </a:p>
        </p:txBody>
      </p:sp>
      <p:sp>
        <p:nvSpPr>
          <p:cNvPr id="355" name="Text 25"/>
          <p:cNvSpPr txBox="1"/>
          <p:nvPr/>
        </p:nvSpPr>
        <p:spPr>
          <a:xfrm>
            <a:off x="9710928" y="2706622"/>
            <a:ext cx="1737362"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One verified database drives AI answers, screens, backtests &amp; plans</a:t>
            </a:r>
          </a:p>
        </p:txBody>
      </p:sp>
      <p:sp>
        <p:nvSpPr>
          <p:cNvPr id="356" name="Text 26"/>
          <p:cNvSpPr txBox="1"/>
          <p:nvPr/>
        </p:nvSpPr>
        <p:spPr>
          <a:xfrm>
            <a:off x="741744" y="3326183"/>
            <a:ext cx="2103123" cy="39476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800">
                <a:solidFill>
                  <a:schemeClr val="accent2"/>
                </a:solidFill>
                <a:latin typeface="Arial"/>
                <a:ea typeface="Arial"/>
                <a:cs typeface="Arial"/>
                <a:sym typeface="Arial"/>
              </a:defRPr>
            </a:lvl1pPr>
          </a:lstStyle>
          <a:p>
            <a:pPr/>
            <a:r>
              <a:t>15,899</a:t>
            </a:r>
          </a:p>
        </p:txBody>
      </p:sp>
      <p:sp>
        <p:nvSpPr>
          <p:cNvPr id="357" name="Text 27"/>
          <p:cNvSpPr txBox="1"/>
          <p:nvPr/>
        </p:nvSpPr>
        <p:spPr>
          <a:xfrm>
            <a:off x="741745" y="3829103"/>
            <a:ext cx="2011679" cy="3021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cash-flow rows recovered from corrupted exchange feeds (XBRL)</a:t>
            </a:r>
          </a:p>
        </p:txBody>
      </p:sp>
      <p:sp>
        <p:nvSpPr>
          <p:cNvPr id="358" name="Text 28"/>
          <p:cNvSpPr txBox="1"/>
          <p:nvPr/>
        </p:nvSpPr>
        <p:spPr>
          <a:xfrm>
            <a:off x="2982024" y="3326183"/>
            <a:ext cx="2103122" cy="39476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800">
                <a:solidFill>
                  <a:schemeClr val="accent2"/>
                </a:solidFill>
                <a:latin typeface="Arial"/>
                <a:ea typeface="Arial"/>
                <a:cs typeface="Arial"/>
                <a:sym typeface="Arial"/>
              </a:defRPr>
            </a:lvl1pPr>
          </a:lstStyle>
          <a:p>
            <a:pPr/>
            <a:r>
              <a:t>3,608</a:t>
            </a:r>
          </a:p>
        </p:txBody>
      </p:sp>
      <p:sp>
        <p:nvSpPr>
          <p:cNvPr id="359" name="Text 29"/>
          <p:cNvSpPr txBox="1"/>
          <p:nvPr/>
        </p:nvSpPr>
        <p:spPr>
          <a:xfrm>
            <a:off x="2982024" y="3829103"/>
            <a:ext cx="2011680" cy="3021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conflicting source figures flagged across 1,022 companies</a:t>
            </a:r>
          </a:p>
        </p:txBody>
      </p:sp>
      <p:sp>
        <p:nvSpPr>
          <p:cNvPr id="360" name="Text 30"/>
          <p:cNvSpPr txBox="1"/>
          <p:nvPr/>
        </p:nvSpPr>
        <p:spPr>
          <a:xfrm>
            <a:off x="5222304" y="3326183"/>
            <a:ext cx="2103122" cy="39476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800">
                <a:solidFill>
                  <a:schemeClr val="accent2"/>
                </a:solidFill>
                <a:latin typeface="Arial"/>
                <a:ea typeface="Arial"/>
                <a:cs typeface="Arial"/>
                <a:sym typeface="Arial"/>
              </a:defRPr>
            </a:lvl1pPr>
          </a:lstStyle>
          <a:p>
            <a:pPr/>
            <a:r>
              <a:t>10 of 10</a:t>
            </a:r>
          </a:p>
        </p:txBody>
      </p:sp>
      <p:sp>
        <p:nvSpPr>
          <p:cNvPr id="361" name="Text 31"/>
          <p:cNvSpPr txBox="1"/>
          <p:nvPr/>
        </p:nvSpPr>
        <p:spPr>
          <a:xfrm>
            <a:off x="5222304" y="3829103"/>
            <a:ext cx="2011680" cy="3021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major bank earnings in Q1 FY27 filed as scanned PDFs needing OCR</a:t>
            </a:r>
          </a:p>
        </p:txBody>
      </p:sp>
      <p:sp>
        <p:nvSpPr>
          <p:cNvPr id="362" name="Text 32"/>
          <p:cNvSpPr txBox="1"/>
          <p:nvPr/>
        </p:nvSpPr>
        <p:spPr>
          <a:xfrm>
            <a:off x="7462586" y="3326183"/>
            <a:ext cx="2103122" cy="39476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800">
                <a:solidFill>
                  <a:schemeClr val="accent2"/>
                </a:solidFill>
                <a:latin typeface="Arial"/>
                <a:ea typeface="Arial"/>
                <a:cs typeface="Arial"/>
                <a:sym typeface="Arial"/>
              </a:defRPr>
            </a:lvl1pPr>
          </a:lstStyle>
          <a:p>
            <a:pPr/>
            <a:r>
              <a:t>2.94M</a:t>
            </a:r>
          </a:p>
        </p:txBody>
      </p:sp>
      <p:sp>
        <p:nvSpPr>
          <p:cNvPr id="363" name="Text 33"/>
          <p:cNvSpPr txBox="1"/>
          <p:nvPr/>
        </p:nvSpPr>
        <p:spPr>
          <a:xfrm>
            <a:off x="7462586" y="3829103"/>
            <a:ext cx="2011680" cy="3021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historical NSE &amp; BSE corporate filings indexed in our database</a:t>
            </a:r>
          </a:p>
        </p:txBody>
      </p:sp>
      <p:sp>
        <p:nvSpPr>
          <p:cNvPr id="364" name="Text 34"/>
          <p:cNvSpPr txBox="1"/>
          <p:nvPr/>
        </p:nvSpPr>
        <p:spPr>
          <a:xfrm>
            <a:off x="9702865" y="3326183"/>
            <a:ext cx="2103122" cy="39476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800">
                <a:solidFill>
                  <a:schemeClr val="accent2"/>
                </a:solidFill>
                <a:latin typeface="Arial"/>
                <a:ea typeface="Arial"/>
                <a:cs typeface="Arial"/>
                <a:sym typeface="Arial"/>
              </a:defRPr>
            </a:lvl1pPr>
          </a:lstStyle>
          <a:p>
            <a:pPr/>
            <a:r>
              <a:t>1.35M</a:t>
            </a:r>
          </a:p>
        </p:txBody>
      </p:sp>
      <p:sp>
        <p:nvSpPr>
          <p:cNvPr id="365" name="Text 35"/>
          <p:cNvSpPr txBox="1"/>
          <p:nvPr/>
        </p:nvSpPr>
        <p:spPr>
          <a:xfrm>
            <a:off x="9702865" y="3829103"/>
            <a:ext cx="2011680" cy="3021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searchable filing passages refreshed daily with audit trails</a:t>
            </a:r>
          </a:p>
        </p:txBody>
      </p:sp>
      <p:sp>
        <p:nvSpPr>
          <p:cNvPr id="366" name="replication card"/>
          <p:cNvSpPr/>
          <p:nvPr/>
        </p:nvSpPr>
        <p:spPr>
          <a:xfrm>
            <a:off x="548791" y="4587311"/>
            <a:ext cx="11094417" cy="1188722"/>
          </a:xfrm>
          <a:prstGeom prst="roundRect">
            <a:avLst>
              <a:gd name="adj" fmla="val 9231"/>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367" name="LuQuote circle"/>
          <p:cNvSpPr/>
          <p:nvPr/>
        </p:nvSpPr>
        <p:spPr>
          <a:xfrm>
            <a:off x="823111" y="4889062"/>
            <a:ext cx="566931" cy="566931"/>
          </a:xfrm>
          <a:prstGeom prst="ellipse">
            <a:avLst/>
          </a:prstGeom>
          <a:solidFill>
            <a:schemeClr val="accent1"/>
          </a:solidFill>
          <a:ln w="12700">
            <a:miter lim="400000"/>
          </a:ln>
        </p:spPr>
        <p:txBody>
          <a:bodyPr lIns="45718" tIns="45718" rIns="45718" bIns="45718"/>
          <a:lstStyle/>
          <a:p>
            <a:pPr/>
          </a:p>
        </p:txBody>
      </p:sp>
      <p:pic>
        <p:nvPicPr>
          <p:cNvPr id="368" name="LuQuote icon" descr="LuQuote icon"/>
          <p:cNvPicPr>
            <a:picLocks noChangeAspect="1"/>
          </p:cNvPicPr>
          <p:nvPr/>
        </p:nvPicPr>
        <p:blipFill>
          <a:blip r:embed="rId9">
            <a:extLst/>
          </a:blip>
          <a:stretch>
            <a:fillRect/>
          </a:stretch>
        </p:blipFill>
        <p:spPr>
          <a:xfrm>
            <a:off x="964844" y="5030794"/>
            <a:ext cx="283466" cy="283466"/>
          </a:xfrm>
          <a:prstGeom prst="rect">
            <a:avLst/>
          </a:prstGeom>
          <a:ln w="12700">
            <a:miter lim="400000"/>
          </a:ln>
        </p:spPr>
      </p:pic>
      <p:sp>
        <p:nvSpPr>
          <p:cNvPr id="369" name="Text 38"/>
          <p:cNvSpPr txBox="1"/>
          <p:nvPr/>
        </p:nvSpPr>
        <p:spPr>
          <a:xfrm>
            <a:off x="1646072" y="5031988"/>
            <a:ext cx="9722816"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pPr>
            <a:r>
              <a:t>Why competitors can't easily bolt this on: </a:t>
            </a:r>
            <a:r>
              <a:rPr b="0">
                <a:solidFill>
                  <a:srgbClr val="434B6B"/>
                </a:solidFill>
              </a:rPr>
              <a:t>screeners built on summary feeds cannot cite exact filing passages. On Indian exchanges, machine-readable filings (XBRL) mislabel reporting periods, bury annual numbers inside Q4 footnotes, and upload bank results as scanned PDFs—taking 12 months of custom repair rules to solve.</a:t>
            </a:r>
          </a:p>
        </p:txBody>
      </p:sp>
      <p:sp>
        <p:nvSpPr>
          <p:cNvPr id="370" name="Text 39"/>
          <p:cNvSpPr txBox="1"/>
          <p:nvPr/>
        </p:nvSpPr>
        <p:spPr>
          <a:xfrm>
            <a:off x="548639" y="6108191"/>
            <a:ext cx="10362897"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chemeClr val="accent6"/>
                </a:solidFill>
              </a:defRPr>
            </a:lvl1pPr>
          </a:lstStyle>
          <a:p>
            <a:pPr/>
            <a:r>
              <a:t>Internal data-quality audits, Jul–Sep 2026</a:t>
            </a:r>
          </a:p>
        </p:txBody>
      </p:sp>
      <p:sp>
        <p:nvSpPr>
          <p:cNvPr id="371" name="Slide Number Placeholder 0"/>
          <p:cNvSpPr txBox="1"/>
          <p:nvPr>
            <p:ph type="sldNum" sz="quarter" idx="4294967295"/>
          </p:nvPr>
        </p:nvSpPr>
        <p:spPr>
          <a:xfrm>
            <a:off x="11516055" y="6419088"/>
            <a:ext cx="127001"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5" name="Text 0"/>
          <p:cNvSpPr txBox="1"/>
          <p:nvPr>
            <p:ph type="body" sz="quarter" idx="1"/>
          </p:nvPr>
        </p:nvSpPr>
        <p:spPr>
          <a:xfrm>
            <a:off x="548640" y="384047"/>
            <a:ext cx="8229601" cy="274322"/>
          </a:xfrm>
          <a:prstGeom prst="rect">
            <a:avLst/>
          </a:prstGeom>
        </p:spPr>
        <p:txBody>
          <a:bodyPr lIns="0" tIns="0" rIns="0" bIns="0"/>
          <a:lstStyle/>
          <a:p>
            <a:pPr/>
            <a:r>
              <a:t>BUSINESS MODEL</a:t>
            </a:r>
          </a:p>
        </p:txBody>
      </p:sp>
      <p:sp>
        <p:nvSpPr>
          <p:cNvPr id="376" name="Text 0"/>
          <p:cNvSpPr txBox="1"/>
          <p:nvPr>
            <p:ph type="title"/>
          </p:nvPr>
        </p:nvSpPr>
        <p:spPr>
          <a:xfrm>
            <a:off x="548638" y="676655"/>
            <a:ext cx="11094419" cy="868682"/>
          </a:xfrm>
          <a:prstGeom prst="rect">
            <a:avLst/>
          </a:prstGeom>
        </p:spPr>
        <p:txBody>
          <a:bodyPr lIns="0" tIns="0" rIns="0" bIns="0"/>
          <a:lstStyle>
            <a:lvl1pPr>
              <a:defRPr sz="2800"/>
            </a:lvl1pPr>
          </a:lstStyle>
          <a:p>
            <a:pPr/>
            <a:r>
              <a:t>B2B subscriptions fund the Seed stage; retail scales Series A</a:t>
            </a:r>
          </a:p>
        </p:txBody>
      </p:sp>
      <p:sp>
        <p:nvSpPr>
          <p:cNvPr id="377" name="Text 2"/>
          <p:cNvSpPr txBox="1"/>
          <p:nvPr/>
        </p:nvSpPr>
        <p:spPr>
          <a:xfrm>
            <a:off x="548639" y="1481327"/>
            <a:ext cx="548640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100">
                <a:solidFill>
                  <a:schemeClr val="accent1"/>
                </a:solidFill>
              </a:defRPr>
            </a:lvl1pPr>
          </a:lstStyle>
          <a:p>
            <a:pPr/>
            <a:r>
              <a:t>SEED STAGE FOCUS (95% OF MONTH-15 REVENUE)</a:t>
            </a:r>
          </a:p>
        </p:txBody>
      </p:sp>
      <p:sp>
        <p:nvSpPr>
          <p:cNvPr id="378" name="Text 3"/>
          <p:cNvSpPr txBox="1"/>
          <p:nvPr/>
        </p:nvSpPr>
        <p:spPr>
          <a:xfrm>
            <a:off x="6400800" y="1481327"/>
            <a:ext cx="457200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100">
                <a:solidFill>
                  <a:schemeClr val="accent5"/>
                </a:solidFill>
              </a:defRPr>
            </a:lvl1pPr>
          </a:lstStyle>
          <a:p>
            <a:pPr/>
            <a:r>
              <a:t>SELF-SERVE &amp; POST-SERIES A EXPANSION</a:t>
            </a:r>
          </a:p>
        </p:txBody>
      </p:sp>
      <p:sp>
        <p:nvSpPr>
          <p:cNvPr id="379" name="primary engine 1"/>
          <p:cNvSpPr/>
          <p:nvPr/>
        </p:nvSpPr>
        <p:spPr>
          <a:xfrm>
            <a:off x="548640" y="1810511"/>
            <a:ext cx="2743201" cy="3611882"/>
          </a:xfrm>
          <a:prstGeom prst="roundRect">
            <a:avLst>
              <a:gd name="adj" fmla="val 400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380" name="LuBriefcase circle"/>
          <p:cNvSpPr/>
          <p:nvPr/>
        </p:nvSpPr>
        <p:spPr>
          <a:xfrm>
            <a:off x="804671" y="2029966"/>
            <a:ext cx="566932" cy="566931"/>
          </a:xfrm>
          <a:prstGeom prst="ellipse">
            <a:avLst/>
          </a:prstGeom>
          <a:solidFill>
            <a:schemeClr val="accent1"/>
          </a:solidFill>
          <a:ln w="12700">
            <a:miter lim="400000"/>
          </a:ln>
        </p:spPr>
        <p:txBody>
          <a:bodyPr lIns="45718" tIns="45718" rIns="45718" bIns="45718"/>
          <a:lstStyle/>
          <a:p>
            <a:pPr/>
          </a:p>
        </p:txBody>
      </p:sp>
      <p:pic>
        <p:nvPicPr>
          <p:cNvPr id="381" name="LuBriefcase icon" descr="LuBriefcase icon"/>
          <p:cNvPicPr>
            <a:picLocks noChangeAspect="1"/>
          </p:cNvPicPr>
          <p:nvPr/>
        </p:nvPicPr>
        <p:blipFill>
          <a:blip r:embed="rId3">
            <a:extLst/>
          </a:blip>
          <a:stretch>
            <a:fillRect/>
          </a:stretch>
        </p:blipFill>
        <p:spPr>
          <a:xfrm>
            <a:off x="946402" y="2171700"/>
            <a:ext cx="283466" cy="283464"/>
          </a:xfrm>
          <a:prstGeom prst="rect">
            <a:avLst/>
          </a:prstGeom>
          <a:ln w="12700">
            <a:miter lim="400000"/>
          </a:ln>
        </p:spPr>
      </p:pic>
      <p:sp>
        <p:nvSpPr>
          <p:cNvPr id="382" name="Text 6"/>
          <p:cNvSpPr txBox="1"/>
          <p:nvPr/>
        </p:nvSpPr>
        <p:spPr>
          <a:xfrm>
            <a:off x="804672" y="2743199"/>
            <a:ext cx="2286001"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latin typeface="Arial"/>
                <a:ea typeface="Arial"/>
                <a:cs typeface="Arial"/>
                <a:sym typeface="Arial"/>
              </a:defRPr>
            </a:lvl1pPr>
          </a:lstStyle>
          <a:p>
            <a:pPr/>
            <a:r>
              <a:t>1. Anvest Desk</a:t>
            </a:r>
          </a:p>
        </p:txBody>
      </p:sp>
      <p:sp>
        <p:nvSpPr>
          <p:cNvPr id="383" name="Text 7"/>
          <p:cNvSpPr txBox="1"/>
          <p:nvPr/>
        </p:nvSpPr>
        <p:spPr>
          <a:xfrm>
            <a:off x="804670" y="3291840"/>
            <a:ext cx="233172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chemeClr val="accent1"/>
                </a:solidFill>
              </a:defRPr>
            </a:lvl1pPr>
          </a:lstStyle>
          <a:p>
            <a:pPr/>
            <a:r>
              <a:t>₹2,999 / seat / mo · Advisory Teams</a:t>
            </a:r>
          </a:p>
        </p:txBody>
      </p:sp>
      <p:sp>
        <p:nvSpPr>
          <p:cNvPr id="384" name="Text 8"/>
          <p:cNvSpPr txBox="1"/>
          <p:nvPr/>
        </p:nvSpPr>
        <p:spPr>
          <a:xfrm>
            <a:off x="804672" y="3767328"/>
            <a:ext cx="2286001" cy="7974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For SEBI-registered analysts, advisers, portfolio managers &amp; distributors: client stock watchlists, daily filing digests, cited AI research, and shared workspaces. Paying from Month 3.</a:t>
            </a:r>
          </a:p>
        </p:txBody>
      </p:sp>
      <p:sp>
        <p:nvSpPr>
          <p:cNvPr id="385" name="chip FIRST REVENUE"/>
          <p:cNvSpPr/>
          <p:nvPr/>
        </p:nvSpPr>
        <p:spPr>
          <a:xfrm>
            <a:off x="804672" y="5029200"/>
            <a:ext cx="1417320" cy="256032"/>
          </a:xfrm>
          <a:prstGeom prst="roundRect">
            <a:avLst>
              <a:gd name="adj" fmla="val 50000"/>
            </a:avLst>
          </a:prstGeom>
          <a:solidFill>
            <a:schemeClr val="accent2"/>
          </a:solidFill>
          <a:ln w="12700">
            <a:miter lim="400000"/>
          </a:ln>
        </p:spPr>
        <p:txBody>
          <a:bodyPr lIns="45718" tIns="45718" rIns="45718" bIns="45718"/>
          <a:lstStyle/>
          <a:p>
            <a:pPr/>
          </a:p>
        </p:txBody>
      </p:sp>
      <p:sp>
        <p:nvSpPr>
          <p:cNvPr id="386" name="chip text FIRST REVENUE"/>
          <p:cNvSpPr txBox="1"/>
          <p:nvPr/>
        </p:nvSpPr>
        <p:spPr>
          <a:xfrm>
            <a:off x="804671" y="5088680"/>
            <a:ext cx="1417320"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lvl1pPr>
          </a:lstStyle>
          <a:p>
            <a:pPr/>
            <a:r>
              <a:t>75% OF M15 ARR</a:t>
            </a:r>
          </a:p>
        </p:txBody>
      </p:sp>
      <p:sp>
        <p:nvSpPr>
          <p:cNvPr id="387" name="primary engine 2"/>
          <p:cNvSpPr/>
          <p:nvPr/>
        </p:nvSpPr>
        <p:spPr>
          <a:xfrm>
            <a:off x="3429000" y="1810511"/>
            <a:ext cx="2743200" cy="3611882"/>
          </a:xfrm>
          <a:prstGeom prst="roundRect">
            <a:avLst>
              <a:gd name="adj" fmla="val 400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388" name="LuPlug circle"/>
          <p:cNvSpPr/>
          <p:nvPr/>
        </p:nvSpPr>
        <p:spPr>
          <a:xfrm>
            <a:off x="3685032" y="2029966"/>
            <a:ext cx="566931" cy="566931"/>
          </a:xfrm>
          <a:prstGeom prst="ellipse">
            <a:avLst/>
          </a:prstGeom>
          <a:solidFill>
            <a:schemeClr val="accent1"/>
          </a:solidFill>
          <a:ln w="12700">
            <a:miter lim="400000"/>
          </a:ln>
        </p:spPr>
        <p:txBody>
          <a:bodyPr lIns="45718" tIns="45718" rIns="45718" bIns="45718"/>
          <a:lstStyle/>
          <a:p>
            <a:pPr/>
          </a:p>
        </p:txBody>
      </p:sp>
      <p:pic>
        <p:nvPicPr>
          <p:cNvPr id="389" name="LuPlug icon" descr="LuPlug icon"/>
          <p:cNvPicPr>
            <a:picLocks noChangeAspect="1"/>
          </p:cNvPicPr>
          <p:nvPr/>
        </p:nvPicPr>
        <p:blipFill>
          <a:blip r:embed="rId4">
            <a:extLst/>
          </a:blip>
          <a:stretch>
            <a:fillRect/>
          </a:stretch>
        </p:blipFill>
        <p:spPr>
          <a:xfrm>
            <a:off x="3826764" y="2171700"/>
            <a:ext cx="283466" cy="283464"/>
          </a:xfrm>
          <a:prstGeom prst="rect">
            <a:avLst/>
          </a:prstGeom>
          <a:ln w="12700">
            <a:miter lim="400000"/>
          </a:ln>
        </p:spPr>
      </p:pic>
      <p:sp>
        <p:nvSpPr>
          <p:cNvPr id="390" name="Text 13"/>
          <p:cNvSpPr txBox="1"/>
          <p:nvPr/>
        </p:nvSpPr>
        <p:spPr>
          <a:xfrm>
            <a:off x="3685032" y="2743199"/>
            <a:ext cx="2286002"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latin typeface="Arial"/>
                <a:ea typeface="Arial"/>
                <a:cs typeface="Arial"/>
                <a:sym typeface="Arial"/>
              </a:defRPr>
            </a:lvl1pPr>
          </a:lstStyle>
          <a:p>
            <a:pPr/>
            <a:r>
              <a:t>2. Broker &amp; Wealth API</a:t>
            </a:r>
          </a:p>
        </p:txBody>
      </p:sp>
      <p:sp>
        <p:nvSpPr>
          <p:cNvPr id="391" name="Text 14"/>
          <p:cNvSpPr txBox="1"/>
          <p:nvPr/>
        </p:nvSpPr>
        <p:spPr>
          <a:xfrm>
            <a:off x="3685032" y="3291840"/>
            <a:ext cx="233172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chemeClr val="accent1"/>
                </a:solidFill>
              </a:defRPr>
            </a:lvl1pPr>
          </a:lstStyle>
          <a:p>
            <a:pPr/>
            <a:r>
              <a:t>Tiered: ₹15 → ₹10 → ₹6 / active user</a:t>
            </a:r>
          </a:p>
        </p:txBody>
      </p:sp>
      <p:sp>
        <p:nvSpPr>
          <p:cNvPr id="392" name="Text 15"/>
          <p:cNvSpPr txBox="1"/>
          <p:nvPr/>
        </p:nvSpPr>
        <p:spPr>
          <a:xfrm>
            <a:off x="3685032" y="3767328"/>
            <a:ext cx="2286002" cy="7974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Brokers, wealth apps, and AI assistants embed Anvest's verified filing answers and screeners via API. Paid pilots launch in weeks; first paying partner goes live in Month 10.</a:t>
            </a:r>
          </a:p>
        </p:txBody>
      </p:sp>
      <p:sp>
        <p:nvSpPr>
          <p:cNvPr id="393" name="chip PILOT-READY"/>
          <p:cNvSpPr/>
          <p:nvPr/>
        </p:nvSpPr>
        <p:spPr>
          <a:xfrm>
            <a:off x="3685032" y="5029200"/>
            <a:ext cx="1417321" cy="256032"/>
          </a:xfrm>
          <a:prstGeom prst="roundRect">
            <a:avLst>
              <a:gd name="adj" fmla="val 50000"/>
            </a:avLst>
          </a:prstGeom>
          <a:solidFill>
            <a:srgbClr val="E4E0F5"/>
          </a:solidFill>
          <a:ln w="12700">
            <a:miter lim="400000"/>
          </a:ln>
        </p:spPr>
        <p:txBody>
          <a:bodyPr lIns="45718" tIns="45718" rIns="45718" bIns="45718"/>
          <a:lstStyle/>
          <a:p>
            <a:pPr/>
          </a:p>
        </p:txBody>
      </p:sp>
      <p:sp>
        <p:nvSpPr>
          <p:cNvPr id="394" name="chip text PILOT-READY"/>
          <p:cNvSpPr txBox="1"/>
          <p:nvPr/>
        </p:nvSpPr>
        <p:spPr>
          <a:xfrm>
            <a:off x="3685032" y="5088680"/>
            <a:ext cx="141732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lvl1pPr>
          </a:lstStyle>
          <a:p>
            <a:pPr/>
            <a:r>
              <a:t>20% OF M15 ARR</a:t>
            </a:r>
          </a:p>
        </p:txBody>
      </p:sp>
      <p:sp>
        <p:nvSpPr>
          <p:cNvPr id="395" name="later engine 1"/>
          <p:cNvSpPr/>
          <p:nvPr/>
        </p:nvSpPr>
        <p:spPr>
          <a:xfrm>
            <a:off x="6400800" y="1810511"/>
            <a:ext cx="5239512" cy="1737362"/>
          </a:xfrm>
          <a:prstGeom prst="roundRect">
            <a:avLst>
              <a:gd name="adj" fmla="val 6316"/>
            </a:avLst>
          </a:prstGeom>
          <a:solidFill>
            <a:srgbClr val="F4F7FC"/>
          </a:solidFill>
          <a:ln w="12700">
            <a:miter lim="400000"/>
          </a:ln>
        </p:spPr>
        <p:txBody>
          <a:bodyPr lIns="45718" tIns="45718" rIns="45718" bIns="45718"/>
          <a:lstStyle/>
          <a:p>
            <a:pPr/>
          </a:p>
        </p:txBody>
      </p:sp>
      <p:sp>
        <p:nvSpPr>
          <p:cNvPr id="396" name="LuSparkles circle"/>
          <p:cNvSpPr/>
          <p:nvPr/>
        </p:nvSpPr>
        <p:spPr>
          <a:xfrm>
            <a:off x="6629399" y="2039110"/>
            <a:ext cx="475491" cy="475492"/>
          </a:xfrm>
          <a:prstGeom prst="ellipse">
            <a:avLst/>
          </a:prstGeom>
          <a:solidFill>
            <a:schemeClr val="accent5"/>
          </a:solidFill>
          <a:ln w="12700">
            <a:miter lim="400000"/>
          </a:ln>
        </p:spPr>
        <p:txBody>
          <a:bodyPr lIns="45718" tIns="45718" rIns="45718" bIns="45718"/>
          <a:lstStyle/>
          <a:p>
            <a:pPr/>
          </a:p>
        </p:txBody>
      </p:sp>
      <p:pic>
        <p:nvPicPr>
          <p:cNvPr id="397" name="LuSparkles icon" descr="LuSparkles icon"/>
          <p:cNvPicPr>
            <a:picLocks noChangeAspect="1"/>
          </p:cNvPicPr>
          <p:nvPr/>
        </p:nvPicPr>
        <p:blipFill>
          <a:blip r:embed="rId5">
            <a:extLst/>
          </a:blip>
          <a:stretch>
            <a:fillRect/>
          </a:stretch>
        </p:blipFill>
        <p:spPr>
          <a:xfrm>
            <a:off x="6748271" y="2157983"/>
            <a:ext cx="237746" cy="237746"/>
          </a:xfrm>
          <a:prstGeom prst="rect">
            <a:avLst/>
          </a:prstGeom>
          <a:ln w="12700">
            <a:miter lim="400000"/>
          </a:ln>
        </p:spPr>
      </p:pic>
      <p:sp>
        <p:nvSpPr>
          <p:cNvPr id="398" name="Text 20"/>
          <p:cNvSpPr txBox="1"/>
          <p:nvPr/>
        </p:nvSpPr>
        <p:spPr>
          <a:xfrm>
            <a:off x="7269480" y="1975104"/>
            <a:ext cx="28346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3. Anvest Plus &amp; Pro (Individuals)</a:t>
            </a:r>
          </a:p>
        </p:txBody>
      </p:sp>
      <p:sp>
        <p:nvSpPr>
          <p:cNvPr id="399" name="chip LAUNCH PRICING"/>
          <p:cNvSpPr/>
          <p:nvPr/>
        </p:nvSpPr>
        <p:spPr>
          <a:xfrm>
            <a:off x="10058399" y="1956815"/>
            <a:ext cx="1371601" cy="256034"/>
          </a:xfrm>
          <a:prstGeom prst="roundRect">
            <a:avLst>
              <a:gd name="adj" fmla="val 50000"/>
            </a:avLst>
          </a:prstGeom>
          <a:solidFill>
            <a:srgbClr val="E4E0F5"/>
          </a:solidFill>
          <a:ln w="12700">
            <a:miter lim="400000"/>
          </a:ln>
        </p:spPr>
        <p:txBody>
          <a:bodyPr lIns="45718" tIns="45718" rIns="45718" bIns="45718"/>
          <a:lstStyle/>
          <a:p>
            <a:pPr/>
          </a:p>
        </p:txBody>
      </p:sp>
      <p:sp>
        <p:nvSpPr>
          <p:cNvPr id="400" name="chip text LAUNCH PRICING"/>
          <p:cNvSpPr txBox="1"/>
          <p:nvPr/>
        </p:nvSpPr>
        <p:spPr>
          <a:xfrm>
            <a:off x="10058399" y="2016296"/>
            <a:ext cx="137160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lvl1pPr>
          </a:lstStyle>
          <a:p>
            <a:pPr/>
            <a:r>
              <a:t>5% OF M15 ARR</a:t>
            </a:r>
          </a:p>
        </p:txBody>
      </p:sp>
      <p:sp>
        <p:nvSpPr>
          <p:cNvPr id="401" name="Text 23"/>
          <p:cNvSpPr txBox="1"/>
          <p:nvPr/>
        </p:nvSpPr>
        <p:spPr>
          <a:xfrm>
            <a:off x="7269480" y="2347454"/>
            <a:ext cx="4206242"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chemeClr val="accent1"/>
                </a:solidFill>
              </a:defRPr>
            </a:lvl1pPr>
          </a:lstStyle>
          <a:p>
            <a:pPr/>
            <a:r>
              <a:t>₹199–₹599 / month (Pro ₹4,999 / year) · Free tools drive discovery</a:t>
            </a:r>
          </a:p>
        </p:txBody>
      </p:sp>
      <p:sp>
        <p:nvSpPr>
          <p:cNvPr id="402" name="Text 24"/>
          <p:cNvSpPr txBox="1"/>
          <p:nvPr/>
        </p:nvSpPr>
        <p:spPr>
          <a:xfrm>
            <a:off x="7269480" y="2649205"/>
            <a:ext cx="4206242"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Free calculators, IPO pages, and stock screens drive organic search traffic; active investors upgrade for 150–600 monthly AI queries, costed backtesting, paper trading, and portfolio X-ray.</a:t>
            </a:r>
          </a:p>
        </p:txBody>
      </p:sp>
      <p:sp>
        <p:nvSpPr>
          <p:cNvPr id="403" name="later engine 2"/>
          <p:cNvSpPr/>
          <p:nvPr/>
        </p:nvSpPr>
        <p:spPr>
          <a:xfrm>
            <a:off x="6400800" y="3657600"/>
            <a:ext cx="5239512" cy="1737362"/>
          </a:xfrm>
          <a:prstGeom prst="roundRect">
            <a:avLst>
              <a:gd name="adj" fmla="val 6316"/>
            </a:avLst>
          </a:prstGeom>
          <a:solidFill>
            <a:srgbClr val="F4F7FC"/>
          </a:solidFill>
          <a:ln w="12700">
            <a:miter lim="400000"/>
          </a:ln>
        </p:spPr>
        <p:txBody>
          <a:bodyPr lIns="45718" tIns="45718" rIns="45718" bIns="45718"/>
          <a:lstStyle/>
          <a:p>
            <a:pPr/>
          </a:p>
        </p:txBody>
      </p:sp>
      <p:sp>
        <p:nvSpPr>
          <p:cNvPr id="404" name="LuRocket circle"/>
          <p:cNvSpPr/>
          <p:nvPr/>
        </p:nvSpPr>
        <p:spPr>
          <a:xfrm>
            <a:off x="6629399" y="3886198"/>
            <a:ext cx="475491" cy="475491"/>
          </a:xfrm>
          <a:prstGeom prst="ellipse">
            <a:avLst/>
          </a:prstGeom>
          <a:solidFill>
            <a:schemeClr val="accent2"/>
          </a:solidFill>
          <a:ln w="12700">
            <a:miter lim="400000"/>
          </a:ln>
        </p:spPr>
        <p:txBody>
          <a:bodyPr lIns="45718" tIns="45718" rIns="45718" bIns="45718"/>
          <a:lstStyle/>
          <a:p>
            <a:pPr/>
          </a:p>
        </p:txBody>
      </p:sp>
      <p:pic>
        <p:nvPicPr>
          <p:cNvPr id="405" name="LuRocket icon" descr="LuRocket icon"/>
          <p:cNvPicPr>
            <a:picLocks noChangeAspect="1"/>
          </p:cNvPicPr>
          <p:nvPr/>
        </p:nvPicPr>
        <p:blipFill>
          <a:blip r:embed="rId6">
            <a:extLst/>
          </a:blip>
          <a:stretch>
            <a:fillRect/>
          </a:stretch>
        </p:blipFill>
        <p:spPr>
          <a:xfrm>
            <a:off x="6748271" y="4005071"/>
            <a:ext cx="237746" cy="237746"/>
          </a:xfrm>
          <a:prstGeom prst="rect">
            <a:avLst/>
          </a:prstGeom>
          <a:ln w="12700">
            <a:miter lim="400000"/>
          </a:ln>
        </p:spPr>
      </p:pic>
      <p:sp>
        <p:nvSpPr>
          <p:cNvPr id="406" name="Text 27"/>
          <p:cNvSpPr txBox="1"/>
          <p:nvPr/>
        </p:nvSpPr>
        <p:spPr>
          <a:xfrm>
            <a:off x="7269480" y="3822191"/>
            <a:ext cx="28346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4. Licensed Model Portfolios</a:t>
            </a:r>
          </a:p>
        </p:txBody>
      </p:sp>
      <p:sp>
        <p:nvSpPr>
          <p:cNvPr id="407" name="chip AFTER APPROVALS"/>
          <p:cNvSpPr/>
          <p:nvPr/>
        </p:nvSpPr>
        <p:spPr>
          <a:xfrm>
            <a:off x="10058399" y="3788854"/>
            <a:ext cx="1371601" cy="256034"/>
          </a:xfrm>
          <a:prstGeom prst="roundRect">
            <a:avLst>
              <a:gd name="adj" fmla="val 50000"/>
            </a:avLst>
          </a:prstGeom>
          <a:solidFill>
            <a:srgbClr val="E4E0F5"/>
          </a:solidFill>
          <a:ln w="12700">
            <a:miter lim="400000"/>
          </a:ln>
        </p:spPr>
        <p:txBody>
          <a:bodyPr lIns="45718" tIns="45718" rIns="45718" bIns="45718"/>
          <a:lstStyle/>
          <a:p>
            <a:pPr/>
          </a:p>
        </p:txBody>
      </p:sp>
      <p:sp>
        <p:nvSpPr>
          <p:cNvPr id="408" name="chip text AFTER APPROVALS"/>
          <p:cNvSpPr txBox="1"/>
          <p:nvPr/>
        </p:nvSpPr>
        <p:spPr>
          <a:xfrm>
            <a:off x="10058399" y="3848334"/>
            <a:ext cx="13716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lvl1pPr>
          </a:lstStyle>
          <a:p>
            <a:pPr/>
            <a:r>
              <a:t>POST-SERIES A</a:t>
            </a:r>
          </a:p>
        </p:txBody>
      </p:sp>
      <p:sp>
        <p:nvSpPr>
          <p:cNvPr id="409" name="Text 30"/>
          <p:cNvSpPr txBox="1"/>
          <p:nvPr/>
        </p:nvSpPr>
        <p:spPr>
          <a:xfrm>
            <a:off x="7269480" y="4160520"/>
            <a:ext cx="420624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chemeClr val="accent1"/>
                </a:solidFill>
              </a:defRPr>
            </a:lvl1pPr>
          </a:lstStyle>
          <a:p>
            <a:pPr/>
            <a:r>
              <a:t>₹250 / mo net subscription + broker revenue share (from Month 22)</a:t>
            </a:r>
          </a:p>
        </p:txBody>
      </p:sp>
      <p:sp>
        <p:nvSpPr>
          <p:cNvPr id="410" name="Text 31"/>
          <p:cNvSpPr txBox="1"/>
          <p:nvPr/>
        </p:nvSpPr>
        <p:spPr>
          <a:xfrm>
            <a:off x="7269480" y="4462271"/>
            <a:ext cx="4206242" cy="4672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Ready-to-invest stock baskets and periodically rebalanced rules deployed via partner brokers—launched in Year 2 once SEBI Research Analyst and exchange approvals are complete.</a:t>
            </a:r>
          </a:p>
        </p:txBody>
      </p:sp>
      <p:sp>
        <p:nvSpPr>
          <p:cNvPr id="411" name="Text 32"/>
          <p:cNvSpPr txBox="1"/>
          <p:nvPr/>
        </p:nvSpPr>
        <p:spPr>
          <a:xfrm>
            <a:off x="548638" y="5623559"/>
            <a:ext cx="11094419"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lvl1pPr>
          </a:lstStyle>
          <a:p>
            <a:pPr/>
            <a:r>
              <a:t>Month-15 ARR run-rate of ₹87 L ($92K) on $500K raise: 75% Advisory Teams (Desk), 20% Broker APIs, 5% Individual Plans. Checkout goes live in Days 1–90.</a:t>
            </a:r>
          </a:p>
        </p:txBody>
      </p:sp>
      <p:sp>
        <p:nvSpPr>
          <p:cNvPr id="412" name="Slide Number Placeholder 0"/>
          <p:cNvSpPr txBox="1"/>
          <p:nvPr>
            <p:ph type="sldNum" sz="quarter" idx="4294967295"/>
          </p:nvPr>
        </p:nvSpPr>
        <p:spPr>
          <a:xfrm>
            <a:off x="11501618" y="6419088"/>
            <a:ext cx="141437"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6" name="Text 0"/>
          <p:cNvSpPr txBox="1"/>
          <p:nvPr>
            <p:ph type="body" sz="quarter" idx="1"/>
          </p:nvPr>
        </p:nvSpPr>
        <p:spPr>
          <a:xfrm>
            <a:off x="548640" y="384047"/>
            <a:ext cx="8229601" cy="274322"/>
          </a:xfrm>
          <a:prstGeom prst="rect">
            <a:avLst/>
          </a:prstGeom>
        </p:spPr>
        <p:txBody>
          <a:bodyPr lIns="0" tIns="0" rIns="0" bIns="0"/>
          <a:lstStyle/>
          <a:p>
            <a:pPr/>
            <a:r>
              <a:t>GO-TO-MARKET</a:t>
            </a:r>
          </a:p>
        </p:txBody>
      </p:sp>
      <p:sp>
        <p:nvSpPr>
          <p:cNvPr id="417" name="Text 0"/>
          <p:cNvSpPr txBox="1"/>
          <p:nvPr>
            <p:ph type="title"/>
          </p:nvPr>
        </p:nvSpPr>
        <p:spPr>
          <a:xfrm>
            <a:off x="548638" y="676655"/>
            <a:ext cx="11094419" cy="868682"/>
          </a:xfrm>
          <a:prstGeom prst="rect">
            <a:avLst/>
          </a:prstGeom>
        </p:spPr>
        <p:txBody>
          <a:bodyPr lIns="0" tIns="0" rIns="0" bIns="0"/>
          <a:lstStyle>
            <a:lvl1pPr>
              <a:defRPr sz="2600"/>
            </a:lvl1pPr>
          </a:lstStyle>
          <a:p>
            <a:pPr/>
            <a:r>
              <a:t>Win advisory firms via direct sales, then scale through broker APIs</a:t>
            </a:r>
          </a:p>
        </p:txBody>
      </p:sp>
      <p:sp>
        <p:nvSpPr>
          <p:cNvPr id="418" name="channel 1"/>
          <p:cNvSpPr/>
          <p:nvPr/>
        </p:nvSpPr>
        <p:spPr>
          <a:xfrm>
            <a:off x="531149" y="1584219"/>
            <a:ext cx="6675120" cy="896115"/>
          </a:xfrm>
          <a:prstGeom prst="roundRect">
            <a:avLst>
              <a:gd name="adj" fmla="val 12245"/>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419" name="LuBriefcase circle"/>
          <p:cNvSpPr/>
          <p:nvPr/>
        </p:nvSpPr>
        <p:spPr>
          <a:xfrm>
            <a:off x="741030" y="1819655"/>
            <a:ext cx="530355" cy="530355"/>
          </a:xfrm>
          <a:prstGeom prst="ellipse">
            <a:avLst/>
          </a:prstGeom>
          <a:solidFill>
            <a:schemeClr val="accent1"/>
          </a:solidFill>
          <a:ln w="12700">
            <a:miter lim="400000"/>
          </a:ln>
        </p:spPr>
        <p:txBody>
          <a:bodyPr lIns="45718" tIns="45718" rIns="45718" bIns="45718"/>
          <a:lstStyle/>
          <a:p>
            <a:pPr/>
          </a:p>
        </p:txBody>
      </p:sp>
      <p:pic>
        <p:nvPicPr>
          <p:cNvPr id="420" name="LuBriefcase icon" descr="LuBriefcase icon"/>
          <p:cNvPicPr>
            <a:picLocks noChangeAspect="1"/>
          </p:cNvPicPr>
          <p:nvPr/>
        </p:nvPicPr>
        <p:blipFill>
          <a:blip r:embed="rId3">
            <a:extLst/>
          </a:blip>
          <a:stretch>
            <a:fillRect/>
          </a:stretch>
        </p:blipFill>
        <p:spPr>
          <a:xfrm>
            <a:off x="873617" y="1952244"/>
            <a:ext cx="265178" cy="265178"/>
          </a:xfrm>
          <a:prstGeom prst="rect">
            <a:avLst/>
          </a:prstGeom>
          <a:ln w="12700">
            <a:miter lim="400000"/>
          </a:ln>
        </p:spPr>
      </p:pic>
      <p:sp>
        <p:nvSpPr>
          <p:cNvPr id="421" name="Text 4"/>
          <p:cNvSpPr txBox="1"/>
          <p:nvPr/>
        </p:nvSpPr>
        <p:spPr>
          <a:xfrm>
            <a:off x="1463038" y="1810510"/>
            <a:ext cx="5577844"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1. Direct Outbound to Advisory Boutiques (Anvest Desk)</a:t>
            </a:r>
          </a:p>
        </p:txBody>
      </p:sp>
      <p:sp>
        <p:nvSpPr>
          <p:cNvPr id="422" name="Text 5"/>
          <p:cNvSpPr txBox="1"/>
          <p:nvPr/>
        </p:nvSpPr>
        <p:spPr>
          <a:xfrm>
            <a:off x="1463038" y="2044875"/>
            <a:ext cx="5577844"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Founder-led sales to 3,900 SEBI-registered advisory and research firms (starting with fast-moving 1–5 seat teams) and 3,350 top mutual fund distributors.</a:t>
            </a:r>
          </a:p>
        </p:txBody>
      </p:sp>
      <p:sp>
        <p:nvSpPr>
          <p:cNvPr id="423" name="channel 2"/>
          <p:cNvSpPr/>
          <p:nvPr/>
        </p:nvSpPr>
        <p:spPr>
          <a:xfrm>
            <a:off x="531149" y="2608347"/>
            <a:ext cx="6675120" cy="896114"/>
          </a:xfrm>
          <a:prstGeom prst="roundRect">
            <a:avLst>
              <a:gd name="adj" fmla="val 12245"/>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424" name="LuSearch circle"/>
          <p:cNvSpPr/>
          <p:nvPr/>
        </p:nvSpPr>
        <p:spPr>
          <a:xfrm>
            <a:off x="741030" y="2843783"/>
            <a:ext cx="530355" cy="530355"/>
          </a:xfrm>
          <a:prstGeom prst="ellipse">
            <a:avLst/>
          </a:prstGeom>
          <a:solidFill>
            <a:schemeClr val="accent1"/>
          </a:solidFill>
          <a:ln w="12700">
            <a:miter lim="400000"/>
          </a:ln>
        </p:spPr>
        <p:txBody>
          <a:bodyPr lIns="45718" tIns="45718" rIns="45718" bIns="45718"/>
          <a:lstStyle/>
          <a:p>
            <a:pPr/>
          </a:p>
        </p:txBody>
      </p:sp>
      <p:pic>
        <p:nvPicPr>
          <p:cNvPr id="425" name="LuSearch icon" descr="LuSearch icon"/>
          <p:cNvPicPr>
            <a:picLocks noChangeAspect="1"/>
          </p:cNvPicPr>
          <p:nvPr/>
        </p:nvPicPr>
        <p:blipFill>
          <a:blip r:embed="rId4">
            <a:extLst/>
          </a:blip>
          <a:stretch>
            <a:fillRect/>
          </a:stretch>
        </p:blipFill>
        <p:spPr>
          <a:xfrm>
            <a:off x="873617" y="2976372"/>
            <a:ext cx="265178" cy="265178"/>
          </a:xfrm>
          <a:prstGeom prst="rect">
            <a:avLst/>
          </a:prstGeom>
          <a:ln w="12700">
            <a:miter lim="400000"/>
          </a:ln>
        </p:spPr>
      </p:pic>
      <p:sp>
        <p:nvSpPr>
          <p:cNvPr id="426" name="Text 8"/>
          <p:cNvSpPr txBox="1"/>
          <p:nvPr/>
        </p:nvSpPr>
        <p:spPr>
          <a:xfrm>
            <a:off x="1463038" y="2834638"/>
            <a:ext cx="5577844"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2. Organic Search via 7,000+ Public Stock &amp; Fund Pages</a:t>
            </a:r>
          </a:p>
        </p:txBody>
      </p:sp>
      <p:sp>
        <p:nvSpPr>
          <p:cNvPr id="427" name="Text 9"/>
          <p:cNvSpPr txBox="1"/>
          <p:nvPr/>
        </p:nvSpPr>
        <p:spPr>
          <a:xfrm>
            <a:off x="1463038" y="3069003"/>
            <a:ext cx="5577844"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6,000+ stock pages, 991 fund pages, IPO hubs, and calculators answer specific filing queries on Google—converting free visitors into Plus, Pro, and Desk subscribers.</a:t>
            </a:r>
          </a:p>
        </p:txBody>
      </p:sp>
      <p:sp>
        <p:nvSpPr>
          <p:cNvPr id="428" name="channel 3"/>
          <p:cNvSpPr/>
          <p:nvPr/>
        </p:nvSpPr>
        <p:spPr>
          <a:xfrm>
            <a:off x="531149" y="3632475"/>
            <a:ext cx="6675120" cy="896114"/>
          </a:xfrm>
          <a:prstGeom prst="roundRect">
            <a:avLst>
              <a:gd name="adj" fmla="val 12245"/>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429" name="LuPlug circle"/>
          <p:cNvSpPr/>
          <p:nvPr/>
        </p:nvSpPr>
        <p:spPr>
          <a:xfrm>
            <a:off x="741030" y="3867911"/>
            <a:ext cx="530355" cy="530355"/>
          </a:xfrm>
          <a:prstGeom prst="ellipse">
            <a:avLst/>
          </a:prstGeom>
          <a:solidFill>
            <a:schemeClr val="accent1"/>
          </a:solidFill>
          <a:ln w="12700">
            <a:miter lim="400000"/>
          </a:ln>
        </p:spPr>
        <p:txBody>
          <a:bodyPr lIns="45718" tIns="45718" rIns="45718" bIns="45718"/>
          <a:lstStyle/>
          <a:p>
            <a:pPr/>
          </a:p>
        </p:txBody>
      </p:sp>
      <p:pic>
        <p:nvPicPr>
          <p:cNvPr id="430" name="LuPlug icon" descr="LuPlug icon"/>
          <p:cNvPicPr>
            <a:picLocks noChangeAspect="1"/>
          </p:cNvPicPr>
          <p:nvPr/>
        </p:nvPicPr>
        <p:blipFill>
          <a:blip r:embed="rId5">
            <a:extLst/>
          </a:blip>
          <a:stretch>
            <a:fillRect/>
          </a:stretch>
        </p:blipFill>
        <p:spPr>
          <a:xfrm>
            <a:off x="873617" y="4000500"/>
            <a:ext cx="265178" cy="265178"/>
          </a:xfrm>
          <a:prstGeom prst="rect">
            <a:avLst/>
          </a:prstGeom>
          <a:ln w="12700">
            <a:miter lim="400000"/>
          </a:ln>
        </p:spPr>
      </p:pic>
      <p:sp>
        <p:nvSpPr>
          <p:cNvPr id="431" name="Text 12"/>
          <p:cNvSpPr txBox="1"/>
          <p:nvPr/>
        </p:nvSpPr>
        <p:spPr>
          <a:xfrm>
            <a:off x="1463038" y="3858767"/>
            <a:ext cx="5577844"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3. B2B2C Distribution via Broker &amp; Wealth-App APIs</a:t>
            </a:r>
          </a:p>
        </p:txBody>
      </p:sp>
      <p:sp>
        <p:nvSpPr>
          <p:cNvPr id="432" name="Text 13"/>
          <p:cNvSpPr txBox="1"/>
          <p:nvPr/>
        </p:nvSpPr>
        <p:spPr>
          <a:xfrm>
            <a:off x="1463038" y="4096511"/>
            <a:ext cx="5577844"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Plug-and-play APIs and AI connectors embed verified research inside retail brokerage apps—reaching thousands of investors with zero paid ad spend.</a:t>
            </a:r>
          </a:p>
        </p:txBody>
      </p:sp>
      <p:sp>
        <p:nvSpPr>
          <p:cNvPr id="433" name="channel 4"/>
          <p:cNvSpPr/>
          <p:nvPr/>
        </p:nvSpPr>
        <p:spPr>
          <a:xfrm>
            <a:off x="531149" y="4656604"/>
            <a:ext cx="6675120" cy="896114"/>
          </a:xfrm>
          <a:prstGeom prst="roundRect">
            <a:avLst>
              <a:gd name="adj" fmla="val 12245"/>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434" name="LuShare2 circle"/>
          <p:cNvSpPr/>
          <p:nvPr/>
        </p:nvSpPr>
        <p:spPr>
          <a:xfrm>
            <a:off x="741030" y="4892040"/>
            <a:ext cx="530355" cy="530355"/>
          </a:xfrm>
          <a:prstGeom prst="ellipse">
            <a:avLst/>
          </a:prstGeom>
          <a:solidFill>
            <a:schemeClr val="accent1"/>
          </a:solidFill>
          <a:ln w="12700">
            <a:miter lim="400000"/>
          </a:ln>
        </p:spPr>
        <p:txBody>
          <a:bodyPr lIns="45718" tIns="45718" rIns="45718" bIns="45718"/>
          <a:lstStyle/>
          <a:p>
            <a:pPr/>
          </a:p>
        </p:txBody>
      </p:sp>
      <p:pic>
        <p:nvPicPr>
          <p:cNvPr id="435" name="LuShare2 icon" descr="LuShare2 icon"/>
          <p:cNvPicPr>
            <a:picLocks noChangeAspect="1"/>
          </p:cNvPicPr>
          <p:nvPr/>
        </p:nvPicPr>
        <p:blipFill>
          <a:blip r:embed="rId6">
            <a:extLst/>
          </a:blip>
          <a:stretch>
            <a:fillRect/>
          </a:stretch>
        </p:blipFill>
        <p:spPr>
          <a:xfrm>
            <a:off x="873617" y="5024628"/>
            <a:ext cx="265178" cy="265178"/>
          </a:xfrm>
          <a:prstGeom prst="rect">
            <a:avLst/>
          </a:prstGeom>
          <a:ln w="12700">
            <a:miter lim="400000"/>
          </a:ln>
        </p:spPr>
      </p:pic>
      <p:sp>
        <p:nvSpPr>
          <p:cNvPr id="436" name="Text 16"/>
          <p:cNvSpPr txBox="1"/>
          <p:nvPr/>
        </p:nvSpPr>
        <p:spPr>
          <a:xfrm>
            <a:off x="1463038" y="4882896"/>
            <a:ext cx="5577844"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lvl1pPr>
          </a:lstStyle>
          <a:p>
            <a:pPr/>
            <a:r>
              <a:t>4. Shareable Research Links &amp; Compliant Creator Referrals</a:t>
            </a:r>
          </a:p>
        </p:txBody>
      </p:sp>
      <p:sp>
        <p:nvSpPr>
          <p:cNvPr id="437" name="Text 17"/>
          <p:cNvSpPr txBox="1"/>
          <p:nvPr/>
        </p:nvSpPr>
        <p:spPr>
          <a:xfrm>
            <a:off x="1463038" y="5147964"/>
            <a:ext cx="5577844" cy="3021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Every cited answer, screen, and backtest generates a shareable public link; financial educators join on referral terms under SEBI-compliant informational rules.</a:t>
            </a:r>
          </a:p>
        </p:txBody>
      </p:sp>
      <p:sp>
        <p:nvSpPr>
          <p:cNvPr id="438" name="90-day funnel"/>
          <p:cNvSpPr/>
          <p:nvPr/>
        </p:nvSpPr>
        <p:spPr>
          <a:xfrm>
            <a:off x="7552943" y="1568150"/>
            <a:ext cx="4096513" cy="4000636"/>
          </a:xfrm>
          <a:prstGeom prst="roundRect">
            <a:avLst>
              <a:gd name="adj" fmla="val 2831"/>
            </a:avLst>
          </a:prstGeom>
          <a:solidFill>
            <a:schemeClr val="accent3"/>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439" name="Text 19"/>
          <p:cNvSpPr txBox="1"/>
          <p:nvPr/>
        </p:nvSpPr>
        <p:spPr>
          <a:xfrm>
            <a:off x="7772400" y="1755648"/>
            <a:ext cx="365760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100">
                <a:solidFill>
                  <a:schemeClr val="accent2"/>
                </a:solidFill>
              </a:defRPr>
            </a:lvl1pPr>
          </a:lstStyle>
          <a:p>
            <a:pPr/>
            <a:r>
              <a:t>90-DAY FUNNEL &amp; 18-MONTH MILESTONES</a:t>
            </a:r>
          </a:p>
        </p:txBody>
      </p:sp>
      <p:sp>
        <p:nvSpPr>
          <p:cNvPr id="440" name="funnel step 1"/>
          <p:cNvSpPr/>
          <p:nvPr/>
        </p:nvSpPr>
        <p:spPr>
          <a:xfrm>
            <a:off x="7772400" y="2057400"/>
            <a:ext cx="3566160" cy="640081"/>
          </a:xfrm>
          <a:prstGeom prst="roundRect">
            <a:avLst>
              <a:gd name="adj" fmla="val 14286"/>
            </a:avLst>
          </a:prstGeom>
          <a:solidFill>
            <a:schemeClr val="accent1"/>
          </a:solidFill>
          <a:ln w="12700">
            <a:miter lim="400000"/>
          </a:ln>
        </p:spPr>
        <p:txBody>
          <a:bodyPr lIns="45718" tIns="45718" rIns="45718" bIns="45718"/>
          <a:lstStyle/>
          <a:p>
            <a:pPr/>
          </a:p>
        </p:txBody>
      </p:sp>
      <p:sp>
        <p:nvSpPr>
          <p:cNvPr id="441" name="Text 21"/>
          <p:cNvSpPr txBox="1"/>
          <p:nvPr/>
        </p:nvSpPr>
        <p:spPr>
          <a:xfrm>
            <a:off x="7772399" y="2139695"/>
            <a:ext cx="3566162" cy="28379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spAutoFit/>
          </a:bodyPr>
          <a:lstStyle>
            <a:lvl1pPr algn="ctr">
              <a:defRPr b="1" sz="2000">
                <a:solidFill>
                  <a:srgbClr val="FFFFFF"/>
                </a:solidFill>
                <a:latin typeface="Arial"/>
                <a:ea typeface="Arial"/>
                <a:cs typeface="Arial"/>
                <a:sym typeface="Arial"/>
              </a:defRPr>
            </a:lvl1pPr>
          </a:lstStyle>
          <a:p>
            <a:pPr/>
            <a:r>
              <a:t>200</a:t>
            </a:r>
          </a:p>
        </p:txBody>
      </p:sp>
      <p:sp>
        <p:nvSpPr>
          <p:cNvPr id="442" name="Text 22"/>
          <p:cNvSpPr txBox="1"/>
          <p:nvPr/>
        </p:nvSpPr>
        <p:spPr>
          <a:xfrm>
            <a:off x="7406640" y="2423160"/>
            <a:ext cx="429768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chemeClr val="accent6"/>
                </a:solidFill>
              </a:defRPr>
            </a:lvl1pPr>
          </a:lstStyle>
          <a:p>
            <a:pPr/>
            <a:r>
              <a:t>SEBI-registered advisory firms approached</a:t>
            </a:r>
          </a:p>
        </p:txBody>
      </p:sp>
      <p:sp>
        <p:nvSpPr>
          <p:cNvPr id="443" name="funnel step 2"/>
          <p:cNvSpPr/>
          <p:nvPr/>
        </p:nvSpPr>
        <p:spPr>
          <a:xfrm>
            <a:off x="8229599" y="2900048"/>
            <a:ext cx="2651762" cy="640082"/>
          </a:xfrm>
          <a:prstGeom prst="roundRect">
            <a:avLst>
              <a:gd name="adj" fmla="val 14286"/>
            </a:avLst>
          </a:prstGeom>
          <a:solidFill>
            <a:srgbClr val="6A57C2"/>
          </a:solidFill>
          <a:ln w="12700">
            <a:miter lim="400000"/>
          </a:ln>
        </p:spPr>
        <p:txBody>
          <a:bodyPr lIns="45718" tIns="45718" rIns="45718" bIns="45718"/>
          <a:lstStyle/>
          <a:p>
            <a:pPr/>
          </a:p>
        </p:txBody>
      </p:sp>
      <p:sp>
        <p:nvSpPr>
          <p:cNvPr id="444" name="Text 24"/>
          <p:cNvSpPr txBox="1"/>
          <p:nvPr/>
        </p:nvSpPr>
        <p:spPr>
          <a:xfrm>
            <a:off x="8229598" y="2982344"/>
            <a:ext cx="2651763" cy="28379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spAutoFit/>
          </a:bodyPr>
          <a:lstStyle>
            <a:lvl1pPr algn="ctr">
              <a:defRPr b="1" sz="2000">
                <a:solidFill>
                  <a:srgbClr val="FFFFFF"/>
                </a:solidFill>
                <a:latin typeface="Arial"/>
                <a:ea typeface="Arial"/>
                <a:cs typeface="Arial"/>
                <a:sym typeface="Arial"/>
              </a:defRPr>
            </a:lvl1pPr>
          </a:lstStyle>
          <a:p>
            <a:pPr/>
            <a:r>
              <a:t>40</a:t>
            </a:r>
          </a:p>
        </p:txBody>
      </p:sp>
      <p:sp>
        <p:nvSpPr>
          <p:cNvPr id="445" name="Text 25"/>
          <p:cNvSpPr txBox="1"/>
          <p:nvPr/>
        </p:nvSpPr>
        <p:spPr>
          <a:xfrm>
            <a:off x="7863839" y="3265808"/>
            <a:ext cx="338328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chemeClr val="accent6"/>
                </a:solidFill>
              </a:defRPr>
            </a:lvl1pPr>
          </a:lstStyle>
          <a:p>
            <a:pPr/>
            <a:r>
              <a:t>live product demos conducted</a:t>
            </a:r>
          </a:p>
        </p:txBody>
      </p:sp>
      <p:sp>
        <p:nvSpPr>
          <p:cNvPr id="446" name="funnel step 3"/>
          <p:cNvSpPr/>
          <p:nvPr/>
        </p:nvSpPr>
        <p:spPr>
          <a:xfrm>
            <a:off x="8503919" y="3760491"/>
            <a:ext cx="2103121" cy="640082"/>
          </a:xfrm>
          <a:prstGeom prst="roundRect">
            <a:avLst>
              <a:gd name="adj" fmla="val 14286"/>
            </a:avLst>
          </a:prstGeom>
          <a:solidFill>
            <a:schemeClr val="accent2"/>
          </a:solidFill>
          <a:ln w="12700">
            <a:miter lim="400000"/>
          </a:ln>
        </p:spPr>
        <p:txBody>
          <a:bodyPr lIns="45718" tIns="45718" rIns="45718" bIns="45718"/>
          <a:lstStyle/>
          <a:p>
            <a:pPr/>
          </a:p>
        </p:txBody>
      </p:sp>
      <p:sp>
        <p:nvSpPr>
          <p:cNvPr id="447" name="Text 27"/>
          <p:cNvSpPr txBox="1"/>
          <p:nvPr/>
        </p:nvSpPr>
        <p:spPr>
          <a:xfrm>
            <a:off x="8503919" y="3842787"/>
            <a:ext cx="2103121" cy="28379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spAutoFit/>
          </a:bodyPr>
          <a:lstStyle>
            <a:lvl1pPr algn="ctr">
              <a:defRPr b="1" sz="2000">
                <a:latin typeface="Arial"/>
                <a:ea typeface="Arial"/>
                <a:cs typeface="Arial"/>
                <a:sym typeface="Arial"/>
              </a:defRPr>
            </a:lvl1pPr>
          </a:lstStyle>
          <a:p>
            <a:pPr/>
            <a:r>
              <a:t>10</a:t>
            </a:r>
          </a:p>
        </p:txBody>
      </p:sp>
      <p:sp>
        <p:nvSpPr>
          <p:cNvPr id="448" name="Text 28"/>
          <p:cNvSpPr txBox="1"/>
          <p:nvPr/>
        </p:nvSpPr>
        <p:spPr>
          <a:xfrm>
            <a:off x="8321040" y="4126251"/>
            <a:ext cx="246888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lvl1pPr>
          </a:lstStyle>
          <a:p>
            <a:pPr/>
            <a:r>
              <a:t>paid Desk team pilots closed</a:t>
            </a:r>
          </a:p>
        </p:txBody>
      </p:sp>
      <p:sp>
        <p:nvSpPr>
          <p:cNvPr id="449" name="Text 29"/>
          <p:cNvSpPr txBox="1"/>
          <p:nvPr/>
        </p:nvSpPr>
        <p:spPr>
          <a:xfrm>
            <a:off x="7937341" y="4672585"/>
            <a:ext cx="3749040" cy="4672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000">
                <a:solidFill>
                  <a:schemeClr val="accent6"/>
                </a:solidFill>
              </a:defRPr>
            </a:pPr>
            <a:r>
              <a:t>• M1–6: Checkout &amp; 7K+ pages live; SEBI RA filed (~16 Desk teams)</a:t>
            </a:r>
          </a:p>
          <a:p>
            <a:pPr>
              <a:defRPr sz="1000">
                <a:solidFill>
                  <a:schemeClr val="accent6"/>
                </a:solidFill>
              </a:defRPr>
            </a:pPr>
            <a:r>
              <a:t>• M7–12: 2nd sales rep (M9); 1st broker API (M10); ~54 Desk teams</a:t>
            </a:r>
          </a:p>
          <a:p>
            <a:pPr>
              <a:defRPr sz="1000">
                <a:solidFill>
                  <a:schemeClr val="accent6"/>
                </a:solidFill>
              </a:defRPr>
            </a:pPr>
            <a:r>
              <a:t>• M13–18: ~99 Desk teams &amp; 2nd API → ₹1.12 Cr ARR for Series A</a:t>
            </a:r>
          </a:p>
        </p:txBody>
      </p:sp>
      <p:sp>
        <p:nvSpPr>
          <p:cNvPr id="450" name="Slide Number Placeholder 0"/>
          <p:cNvSpPr txBox="1"/>
          <p:nvPr>
            <p:ph type="sldNum" sz="quarter" idx="4294967295"/>
          </p:nvPr>
        </p:nvSpPr>
        <p:spPr>
          <a:xfrm>
            <a:off x="11501618" y="6419088"/>
            <a:ext cx="141437"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4" name="Text 0"/>
          <p:cNvSpPr txBox="1"/>
          <p:nvPr>
            <p:ph type="body" sz="quarter" idx="1"/>
          </p:nvPr>
        </p:nvSpPr>
        <p:spPr>
          <a:xfrm>
            <a:off x="548640" y="384047"/>
            <a:ext cx="8229601" cy="274322"/>
          </a:xfrm>
          <a:prstGeom prst="rect">
            <a:avLst/>
          </a:prstGeom>
        </p:spPr>
        <p:txBody>
          <a:bodyPr lIns="0" tIns="0" rIns="0" bIns="0"/>
          <a:lstStyle/>
          <a:p>
            <a:pPr/>
            <a:r>
              <a:t>WHERE THIS GOES</a:t>
            </a:r>
          </a:p>
        </p:txBody>
      </p:sp>
      <p:sp>
        <p:nvSpPr>
          <p:cNvPr id="455" name="Text 0"/>
          <p:cNvSpPr txBox="1"/>
          <p:nvPr>
            <p:ph type="title"/>
          </p:nvPr>
        </p:nvSpPr>
        <p:spPr>
          <a:xfrm>
            <a:off x="548638" y="676655"/>
            <a:ext cx="11094419" cy="868682"/>
          </a:xfrm>
          <a:prstGeom prst="rect">
            <a:avLst/>
          </a:prstGeom>
        </p:spPr>
        <p:txBody>
          <a:bodyPr lIns="0" tIns="0" rIns="0" bIns="0"/>
          <a:lstStyle>
            <a:lvl1pPr>
              <a:defRPr sz="2700"/>
            </a:lvl1pPr>
          </a:lstStyle>
          <a:p>
            <a:pPr/>
            <a:r>
              <a:t>Retail investing is going algorithmic, and Anvest is the on-ramp</a:t>
            </a:r>
          </a:p>
        </p:txBody>
      </p:sp>
      <p:sp>
        <p:nvSpPr>
          <p:cNvPr id="456" name="Text 2"/>
          <p:cNvSpPr txBox="1"/>
          <p:nvPr/>
        </p:nvSpPr>
        <p:spPr>
          <a:xfrm>
            <a:off x="640078" y="1632224"/>
            <a:ext cx="3931924" cy="592150"/>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spAutoFit/>
          </a:bodyPr>
          <a:lstStyle>
            <a:lvl1pPr>
              <a:defRPr b="1" sz="4200">
                <a:solidFill>
                  <a:schemeClr val="accent2"/>
                </a:solidFill>
                <a:latin typeface="Arial"/>
                <a:ea typeface="Arial"/>
                <a:cs typeface="Arial"/>
                <a:sym typeface="Arial"/>
              </a:defRPr>
            </a:lvl1pPr>
          </a:lstStyle>
          <a:p>
            <a:pPr/>
            <a:r>
              <a:t>54%</a:t>
            </a:r>
          </a:p>
        </p:txBody>
      </p:sp>
      <p:sp>
        <p:nvSpPr>
          <p:cNvPr id="457" name="Text 3"/>
          <p:cNvSpPr txBox="1"/>
          <p:nvPr/>
        </p:nvSpPr>
        <p:spPr>
          <a:xfrm>
            <a:off x="640078" y="2242661"/>
            <a:ext cx="3931924"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chemeClr val="accent6"/>
                </a:solidFill>
              </a:defRPr>
            </a:lvl1pPr>
          </a:lstStyle>
          <a:p>
            <a:pPr/>
            <a:r>
              <a:t>of NSE cash-market trading volume is already algorithmic</a:t>
            </a:r>
          </a:p>
        </p:txBody>
      </p:sp>
      <p:sp>
        <p:nvSpPr>
          <p:cNvPr id="458" name="Text 4"/>
          <p:cNvSpPr txBox="1"/>
          <p:nvPr/>
        </p:nvSpPr>
        <p:spPr>
          <a:xfrm>
            <a:off x="640078" y="2775224"/>
            <a:ext cx="3931924" cy="592150"/>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spAutoFit/>
          </a:bodyPr>
          <a:lstStyle>
            <a:lvl1pPr>
              <a:defRPr b="1" sz="4200">
                <a:solidFill>
                  <a:schemeClr val="accent2"/>
                </a:solidFill>
                <a:latin typeface="Arial"/>
                <a:ea typeface="Arial"/>
                <a:cs typeface="Arial"/>
                <a:sym typeface="Arial"/>
              </a:defRPr>
            </a:lvl1pPr>
          </a:lstStyle>
          <a:p>
            <a:pPr/>
            <a:r>
              <a:t>67%</a:t>
            </a:r>
          </a:p>
        </p:txBody>
      </p:sp>
      <p:sp>
        <p:nvSpPr>
          <p:cNvPr id="459" name="Text 5"/>
          <p:cNvSpPr txBox="1"/>
          <p:nvPr/>
        </p:nvSpPr>
        <p:spPr>
          <a:xfrm>
            <a:off x="640078" y="3385661"/>
            <a:ext cx="3931924" cy="3699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chemeClr val="accent6"/>
                </a:solidFill>
              </a:defRPr>
            </a:lvl1pPr>
          </a:lstStyle>
          <a:p>
            <a:pPr/>
            <a:r>
              <a:t>of NSE equity-derivatives volume is algorithmic (73% in stock futures)</a:t>
            </a:r>
          </a:p>
        </p:txBody>
      </p:sp>
      <p:sp>
        <p:nvSpPr>
          <p:cNvPr id="460" name="Text 6"/>
          <p:cNvSpPr txBox="1"/>
          <p:nvPr/>
        </p:nvSpPr>
        <p:spPr>
          <a:xfrm>
            <a:off x="640078" y="4091037"/>
            <a:ext cx="3931924" cy="419337"/>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spAutoFit/>
          </a:bodyPr>
          <a:lstStyle>
            <a:lvl1pPr>
              <a:defRPr b="1" sz="3000">
                <a:solidFill>
                  <a:schemeClr val="accent2"/>
                </a:solidFill>
                <a:latin typeface="Arial"/>
                <a:ea typeface="Arial"/>
                <a:cs typeface="Arial"/>
                <a:sym typeface="Arial"/>
              </a:defRPr>
            </a:lvl1pPr>
          </a:lstStyle>
          <a:p>
            <a:pPr/>
            <a:r>
              <a:t>1 Apr 2026</a:t>
            </a:r>
          </a:p>
        </p:txBody>
      </p:sp>
      <p:sp>
        <p:nvSpPr>
          <p:cNvPr id="461" name="Text 7"/>
          <p:cNvSpPr txBox="1"/>
          <p:nvPr/>
        </p:nvSpPr>
        <p:spPr>
          <a:xfrm>
            <a:off x="640078" y="4528661"/>
            <a:ext cx="3931924" cy="3699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chemeClr val="accent6"/>
                </a:solidFill>
              </a:defRPr>
            </a:lvl1pPr>
          </a:lstStyle>
          <a:p>
            <a:pPr/>
            <a:r>
              <a:t>SEBI's retail algorithmic rules took effect across all Indian brokers</a:t>
            </a:r>
          </a:p>
        </p:txBody>
      </p:sp>
      <p:sp>
        <p:nvSpPr>
          <p:cNvPr id="462" name="algo step 1"/>
          <p:cNvSpPr/>
          <p:nvPr/>
        </p:nvSpPr>
        <p:spPr>
          <a:xfrm>
            <a:off x="4846320" y="1691638"/>
            <a:ext cx="6793994" cy="640082"/>
          </a:xfrm>
          <a:prstGeom prst="roundRect">
            <a:avLst>
              <a:gd name="adj" fmla="val 17143"/>
            </a:avLst>
          </a:prstGeom>
          <a:solidFill>
            <a:srgbClr val="FFFFFF">
              <a:alpha val="10000"/>
            </a:srgbClr>
          </a:solidFill>
          <a:ln>
            <a:solidFill>
              <a:schemeClr val="accent6">
                <a:alpha val="25000"/>
              </a:schemeClr>
            </a:solidFill>
          </a:ln>
        </p:spPr>
        <p:txBody>
          <a:bodyPr lIns="45718" tIns="45718" rIns="45718" bIns="45718"/>
          <a:lstStyle/>
          <a:p>
            <a:pPr/>
          </a:p>
        </p:txBody>
      </p:sp>
      <p:sp>
        <p:nvSpPr>
          <p:cNvPr id="463" name="LuMessageSquareText circle"/>
          <p:cNvSpPr/>
          <p:nvPr/>
        </p:nvSpPr>
        <p:spPr>
          <a:xfrm>
            <a:off x="4983479" y="1792222"/>
            <a:ext cx="438915" cy="438915"/>
          </a:xfrm>
          <a:prstGeom prst="ellipse">
            <a:avLst/>
          </a:prstGeom>
          <a:solidFill>
            <a:schemeClr val="accent1"/>
          </a:solidFill>
          <a:ln w="12700">
            <a:miter lim="400000"/>
          </a:ln>
        </p:spPr>
        <p:txBody>
          <a:bodyPr lIns="45718" tIns="45718" rIns="45718" bIns="45718"/>
          <a:lstStyle/>
          <a:p>
            <a:pPr/>
          </a:p>
        </p:txBody>
      </p:sp>
      <p:pic>
        <p:nvPicPr>
          <p:cNvPr id="464" name="LuMessageSquareText icon" descr="LuMessageSquareText icon"/>
          <p:cNvPicPr>
            <a:picLocks noChangeAspect="1"/>
          </p:cNvPicPr>
          <p:nvPr/>
        </p:nvPicPr>
        <p:blipFill>
          <a:blip r:embed="rId3">
            <a:extLst/>
          </a:blip>
          <a:stretch>
            <a:fillRect/>
          </a:stretch>
        </p:blipFill>
        <p:spPr>
          <a:xfrm>
            <a:off x="5093208" y="1901950"/>
            <a:ext cx="219458" cy="219458"/>
          </a:xfrm>
          <a:prstGeom prst="rect">
            <a:avLst/>
          </a:prstGeom>
          <a:ln w="12700">
            <a:miter lim="400000"/>
          </a:ln>
        </p:spPr>
      </p:pic>
      <p:sp>
        <p:nvSpPr>
          <p:cNvPr id="465" name="Text 11"/>
          <p:cNvSpPr txBox="1"/>
          <p:nvPr/>
        </p:nvSpPr>
        <p:spPr>
          <a:xfrm>
            <a:off x="5577840" y="1918400"/>
            <a:ext cx="118872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solidFill>
                  <a:srgbClr val="FFFFFF"/>
                </a:solidFill>
              </a:defRPr>
            </a:lvl1pPr>
          </a:lstStyle>
          <a:p>
            <a:pPr/>
            <a:r>
              <a:t>1. Idea</a:t>
            </a:r>
          </a:p>
        </p:txBody>
      </p:sp>
      <p:sp>
        <p:nvSpPr>
          <p:cNvPr id="466" name="Text 12"/>
          <p:cNvSpPr txBox="1"/>
          <p:nvPr/>
        </p:nvSpPr>
        <p:spPr>
          <a:xfrm>
            <a:off x="6766559" y="1933246"/>
            <a:ext cx="393192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6"/>
                </a:solidFill>
              </a:defRPr>
            </a:lvl1pPr>
          </a:lstStyle>
          <a:p>
            <a:pPr/>
            <a:r>
              <a:t>Ask an investing question or thesis in plain English</a:t>
            </a:r>
          </a:p>
        </p:txBody>
      </p:sp>
      <p:sp>
        <p:nvSpPr>
          <p:cNvPr id="467" name="chip LIVE"/>
          <p:cNvSpPr/>
          <p:nvPr/>
        </p:nvSpPr>
        <p:spPr>
          <a:xfrm>
            <a:off x="10789918" y="1883664"/>
            <a:ext cx="685802" cy="256034"/>
          </a:xfrm>
          <a:prstGeom prst="roundRect">
            <a:avLst>
              <a:gd name="adj" fmla="val 50000"/>
            </a:avLst>
          </a:prstGeom>
          <a:solidFill>
            <a:schemeClr val="accent4"/>
          </a:solidFill>
          <a:ln w="12700">
            <a:miter lim="400000"/>
          </a:ln>
        </p:spPr>
        <p:txBody>
          <a:bodyPr lIns="45718" tIns="45718" rIns="45718" bIns="45718"/>
          <a:lstStyle/>
          <a:p>
            <a:pPr/>
          </a:p>
        </p:txBody>
      </p:sp>
      <p:sp>
        <p:nvSpPr>
          <p:cNvPr id="468" name="chip text LIVE"/>
          <p:cNvSpPr txBox="1"/>
          <p:nvPr/>
        </p:nvSpPr>
        <p:spPr>
          <a:xfrm>
            <a:off x="10789918" y="1943143"/>
            <a:ext cx="68580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FFFFFF"/>
                </a:solidFill>
              </a:defRPr>
            </a:lvl1pPr>
          </a:lstStyle>
          <a:p>
            <a:pPr/>
            <a:r>
              <a:t>LIVE</a:t>
            </a:r>
          </a:p>
        </p:txBody>
      </p:sp>
      <p:sp>
        <p:nvSpPr>
          <p:cNvPr id="469" name="algo step 2"/>
          <p:cNvSpPr/>
          <p:nvPr/>
        </p:nvSpPr>
        <p:spPr>
          <a:xfrm>
            <a:off x="4846320" y="2450592"/>
            <a:ext cx="6793994" cy="640082"/>
          </a:xfrm>
          <a:prstGeom prst="roundRect">
            <a:avLst>
              <a:gd name="adj" fmla="val 17143"/>
            </a:avLst>
          </a:prstGeom>
          <a:solidFill>
            <a:srgbClr val="FFFFFF">
              <a:alpha val="10000"/>
            </a:srgbClr>
          </a:solidFill>
          <a:ln>
            <a:solidFill>
              <a:schemeClr val="accent6">
                <a:alpha val="25000"/>
              </a:schemeClr>
            </a:solidFill>
          </a:ln>
        </p:spPr>
        <p:txBody>
          <a:bodyPr lIns="45718" tIns="45718" rIns="45718" bIns="45718"/>
          <a:lstStyle/>
          <a:p>
            <a:pPr/>
          </a:p>
        </p:txBody>
      </p:sp>
      <p:sp>
        <p:nvSpPr>
          <p:cNvPr id="470" name="LuCode circle"/>
          <p:cNvSpPr/>
          <p:nvPr/>
        </p:nvSpPr>
        <p:spPr>
          <a:xfrm>
            <a:off x="4983479" y="2551176"/>
            <a:ext cx="438915" cy="438915"/>
          </a:xfrm>
          <a:prstGeom prst="ellipse">
            <a:avLst/>
          </a:prstGeom>
          <a:solidFill>
            <a:schemeClr val="accent1"/>
          </a:solidFill>
          <a:ln w="12700">
            <a:miter lim="400000"/>
          </a:ln>
        </p:spPr>
        <p:txBody>
          <a:bodyPr lIns="45718" tIns="45718" rIns="45718" bIns="45718"/>
          <a:lstStyle/>
          <a:p>
            <a:pPr/>
          </a:p>
        </p:txBody>
      </p:sp>
      <p:pic>
        <p:nvPicPr>
          <p:cNvPr id="471" name="LuCode icon" descr="LuCode icon"/>
          <p:cNvPicPr>
            <a:picLocks noChangeAspect="1"/>
          </p:cNvPicPr>
          <p:nvPr/>
        </p:nvPicPr>
        <p:blipFill>
          <a:blip r:embed="rId4">
            <a:extLst/>
          </a:blip>
          <a:stretch>
            <a:fillRect/>
          </a:stretch>
        </p:blipFill>
        <p:spPr>
          <a:xfrm>
            <a:off x="5093208" y="2660904"/>
            <a:ext cx="219458" cy="219458"/>
          </a:xfrm>
          <a:prstGeom prst="rect">
            <a:avLst/>
          </a:prstGeom>
          <a:ln w="12700">
            <a:miter lim="400000"/>
          </a:ln>
        </p:spPr>
      </p:pic>
      <p:sp>
        <p:nvSpPr>
          <p:cNvPr id="472" name="Text 17"/>
          <p:cNvSpPr txBox="1"/>
          <p:nvPr/>
        </p:nvSpPr>
        <p:spPr>
          <a:xfrm>
            <a:off x="5577840" y="2677354"/>
            <a:ext cx="118872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solidFill>
                  <a:srgbClr val="FFFFFF"/>
                </a:solidFill>
              </a:defRPr>
            </a:lvl1pPr>
          </a:lstStyle>
          <a:p>
            <a:pPr/>
            <a:r>
              <a:t>2. Rules</a:t>
            </a:r>
          </a:p>
        </p:txBody>
      </p:sp>
      <p:sp>
        <p:nvSpPr>
          <p:cNvPr id="473" name="Text 18"/>
          <p:cNvSpPr txBox="1"/>
          <p:nvPr/>
        </p:nvSpPr>
        <p:spPr>
          <a:xfrm>
            <a:off x="6766559" y="2596949"/>
            <a:ext cx="3931921"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6"/>
                </a:solidFill>
              </a:defRPr>
            </a:lvl1pPr>
          </a:lstStyle>
          <a:p>
            <a:pPr/>
            <a:r>
              <a:t>Build transparent rules on fundamentals &amp; technicals (P/E, ROE, RSI, SMA)</a:t>
            </a:r>
          </a:p>
        </p:txBody>
      </p:sp>
      <p:sp>
        <p:nvSpPr>
          <p:cNvPr id="474" name="chip LIVE"/>
          <p:cNvSpPr/>
          <p:nvPr/>
        </p:nvSpPr>
        <p:spPr>
          <a:xfrm>
            <a:off x="10789918" y="2642616"/>
            <a:ext cx="685802" cy="256034"/>
          </a:xfrm>
          <a:prstGeom prst="roundRect">
            <a:avLst>
              <a:gd name="adj" fmla="val 50000"/>
            </a:avLst>
          </a:prstGeom>
          <a:solidFill>
            <a:schemeClr val="accent4"/>
          </a:solidFill>
          <a:ln w="12700">
            <a:miter lim="400000"/>
          </a:ln>
        </p:spPr>
        <p:txBody>
          <a:bodyPr lIns="45718" tIns="45718" rIns="45718" bIns="45718"/>
          <a:lstStyle/>
          <a:p>
            <a:pPr/>
          </a:p>
        </p:txBody>
      </p:sp>
      <p:sp>
        <p:nvSpPr>
          <p:cNvPr id="475" name="chip text LIVE"/>
          <p:cNvSpPr txBox="1"/>
          <p:nvPr/>
        </p:nvSpPr>
        <p:spPr>
          <a:xfrm>
            <a:off x="10789918" y="2702095"/>
            <a:ext cx="68580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FFFFFF"/>
                </a:solidFill>
              </a:defRPr>
            </a:lvl1pPr>
          </a:lstStyle>
          <a:p>
            <a:pPr/>
            <a:r>
              <a:t>LIVE</a:t>
            </a:r>
          </a:p>
        </p:txBody>
      </p:sp>
      <p:sp>
        <p:nvSpPr>
          <p:cNvPr id="476" name="algo step 3"/>
          <p:cNvSpPr/>
          <p:nvPr/>
        </p:nvSpPr>
        <p:spPr>
          <a:xfrm>
            <a:off x="4846320" y="3209544"/>
            <a:ext cx="6793994" cy="640082"/>
          </a:xfrm>
          <a:prstGeom prst="roundRect">
            <a:avLst>
              <a:gd name="adj" fmla="val 17143"/>
            </a:avLst>
          </a:prstGeom>
          <a:solidFill>
            <a:srgbClr val="FFFFFF">
              <a:alpha val="10000"/>
            </a:srgbClr>
          </a:solidFill>
          <a:ln>
            <a:solidFill>
              <a:schemeClr val="accent6">
                <a:alpha val="25000"/>
              </a:schemeClr>
            </a:solidFill>
          </a:ln>
        </p:spPr>
        <p:txBody>
          <a:bodyPr lIns="45718" tIns="45718" rIns="45718" bIns="45718"/>
          <a:lstStyle/>
          <a:p>
            <a:pPr/>
          </a:p>
        </p:txBody>
      </p:sp>
      <p:sp>
        <p:nvSpPr>
          <p:cNvPr id="477" name="LuHistory circle"/>
          <p:cNvSpPr/>
          <p:nvPr/>
        </p:nvSpPr>
        <p:spPr>
          <a:xfrm>
            <a:off x="4983479" y="3310128"/>
            <a:ext cx="438915" cy="438915"/>
          </a:xfrm>
          <a:prstGeom prst="ellipse">
            <a:avLst/>
          </a:prstGeom>
          <a:solidFill>
            <a:schemeClr val="accent1"/>
          </a:solidFill>
          <a:ln w="12700">
            <a:miter lim="400000"/>
          </a:ln>
        </p:spPr>
        <p:txBody>
          <a:bodyPr lIns="45718" tIns="45718" rIns="45718" bIns="45718"/>
          <a:lstStyle/>
          <a:p>
            <a:pPr/>
          </a:p>
        </p:txBody>
      </p:sp>
      <p:pic>
        <p:nvPicPr>
          <p:cNvPr id="478" name="LuHistory icon" descr="LuHistory icon"/>
          <p:cNvPicPr>
            <a:picLocks noChangeAspect="1"/>
          </p:cNvPicPr>
          <p:nvPr/>
        </p:nvPicPr>
        <p:blipFill>
          <a:blip r:embed="rId5">
            <a:extLst/>
          </a:blip>
          <a:stretch>
            <a:fillRect/>
          </a:stretch>
        </p:blipFill>
        <p:spPr>
          <a:xfrm>
            <a:off x="5093208" y="3419854"/>
            <a:ext cx="219458" cy="219458"/>
          </a:xfrm>
          <a:prstGeom prst="rect">
            <a:avLst/>
          </a:prstGeom>
          <a:ln w="12700">
            <a:miter lim="400000"/>
          </a:ln>
        </p:spPr>
      </p:pic>
      <p:sp>
        <p:nvSpPr>
          <p:cNvPr id="479" name="Text 23"/>
          <p:cNvSpPr txBox="1"/>
          <p:nvPr/>
        </p:nvSpPr>
        <p:spPr>
          <a:xfrm>
            <a:off x="5577840" y="3436304"/>
            <a:ext cx="1188722"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solidFill>
                  <a:srgbClr val="FFFFFF"/>
                </a:solidFill>
              </a:defRPr>
            </a:lvl1pPr>
          </a:lstStyle>
          <a:p>
            <a:pPr/>
            <a:r>
              <a:t>3. Evidence</a:t>
            </a:r>
          </a:p>
        </p:txBody>
      </p:sp>
      <p:sp>
        <p:nvSpPr>
          <p:cNvPr id="480" name="Text 24"/>
          <p:cNvSpPr txBox="1"/>
          <p:nvPr/>
        </p:nvSpPr>
        <p:spPr>
          <a:xfrm>
            <a:off x="6766559" y="3355901"/>
            <a:ext cx="3931921"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6"/>
                </a:solidFill>
              </a:defRPr>
            </a:lvl1pPr>
          </a:lstStyle>
          <a:p>
            <a:pPr/>
            <a:r>
              <a:t>Backtest on history with Indian taxes/fees and periodic rebalancing</a:t>
            </a:r>
          </a:p>
        </p:txBody>
      </p:sp>
      <p:sp>
        <p:nvSpPr>
          <p:cNvPr id="481" name="chip LIVE"/>
          <p:cNvSpPr/>
          <p:nvPr/>
        </p:nvSpPr>
        <p:spPr>
          <a:xfrm>
            <a:off x="10789918" y="3401567"/>
            <a:ext cx="685802" cy="256034"/>
          </a:xfrm>
          <a:prstGeom prst="roundRect">
            <a:avLst>
              <a:gd name="adj" fmla="val 50000"/>
            </a:avLst>
          </a:prstGeom>
          <a:solidFill>
            <a:schemeClr val="accent4"/>
          </a:solidFill>
          <a:ln w="12700">
            <a:miter lim="400000"/>
          </a:ln>
        </p:spPr>
        <p:txBody>
          <a:bodyPr lIns="45718" tIns="45718" rIns="45718" bIns="45718"/>
          <a:lstStyle/>
          <a:p>
            <a:pPr/>
          </a:p>
        </p:txBody>
      </p:sp>
      <p:sp>
        <p:nvSpPr>
          <p:cNvPr id="482" name="chip text LIVE"/>
          <p:cNvSpPr txBox="1"/>
          <p:nvPr/>
        </p:nvSpPr>
        <p:spPr>
          <a:xfrm>
            <a:off x="10789918" y="3461048"/>
            <a:ext cx="68580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FFFFFF"/>
                </a:solidFill>
              </a:defRPr>
            </a:lvl1pPr>
          </a:lstStyle>
          <a:p>
            <a:pPr/>
            <a:r>
              <a:t>LIVE</a:t>
            </a:r>
          </a:p>
        </p:txBody>
      </p:sp>
      <p:sp>
        <p:nvSpPr>
          <p:cNvPr id="483" name="algo step 4"/>
          <p:cNvSpPr/>
          <p:nvPr/>
        </p:nvSpPr>
        <p:spPr>
          <a:xfrm>
            <a:off x="4846320" y="3968496"/>
            <a:ext cx="6793994" cy="640082"/>
          </a:xfrm>
          <a:prstGeom prst="roundRect">
            <a:avLst>
              <a:gd name="adj" fmla="val 17143"/>
            </a:avLst>
          </a:prstGeom>
          <a:solidFill>
            <a:srgbClr val="FFFFFF">
              <a:alpha val="10000"/>
            </a:srgbClr>
          </a:solidFill>
          <a:ln>
            <a:solidFill>
              <a:schemeClr val="accent6">
                <a:alpha val="25000"/>
              </a:schemeClr>
            </a:solidFill>
          </a:ln>
        </p:spPr>
        <p:txBody>
          <a:bodyPr lIns="45718" tIns="45718" rIns="45718" bIns="45718"/>
          <a:lstStyle/>
          <a:p>
            <a:pPr/>
          </a:p>
        </p:txBody>
      </p:sp>
      <p:sp>
        <p:nvSpPr>
          <p:cNvPr id="484" name="LuTarget circle"/>
          <p:cNvSpPr/>
          <p:nvPr/>
        </p:nvSpPr>
        <p:spPr>
          <a:xfrm>
            <a:off x="4983479" y="4069079"/>
            <a:ext cx="438915" cy="438915"/>
          </a:xfrm>
          <a:prstGeom prst="ellipse">
            <a:avLst/>
          </a:prstGeom>
          <a:solidFill>
            <a:schemeClr val="accent1"/>
          </a:solidFill>
          <a:ln w="12700">
            <a:miter lim="400000"/>
          </a:ln>
        </p:spPr>
        <p:txBody>
          <a:bodyPr lIns="45718" tIns="45718" rIns="45718" bIns="45718"/>
          <a:lstStyle/>
          <a:p>
            <a:pPr/>
          </a:p>
        </p:txBody>
      </p:sp>
      <p:pic>
        <p:nvPicPr>
          <p:cNvPr id="485" name="LuTarget icon" descr="LuTarget icon"/>
          <p:cNvPicPr>
            <a:picLocks noChangeAspect="1"/>
          </p:cNvPicPr>
          <p:nvPr/>
        </p:nvPicPr>
        <p:blipFill>
          <a:blip r:embed="rId6">
            <a:extLst/>
          </a:blip>
          <a:stretch>
            <a:fillRect/>
          </a:stretch>
        </p:blipFill>
        <p:spPr>
          <a:xfrm>
            <a:off x="5093208" y="4178808"/>
            <a:ext cx="219458" cy="219458"/>
          </a:xfrm>
          <a:prstGeom prst="rect">
            <a:avLst/>
          </a:prstGeom>
          <a:ln w="12700">
            <a:miter lim="400000"/>
          </a:ln>
        </p:spPr>
      </p:pic>
      <p:sp>
        <p:nvSpPr>
          <p:cNvPr id="486" name="Text 29"/>
          <p:cNvSpPr txBox="1"/>
          <p:nvPr/>
        </p:nvSpPr>
        <p:spPr>
          <a:xfrm>
            <a:off x="5577840" y="4195257"/>
            <a:ext cx="118872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solidFill>
                  <a:srgbClr val="FFFFFF"/>
                </a:solidFill>
              </a:defRPr>
            </a:lvl1pPr>
          </a:lstStyle>
          <a:p>
            <a:pPr/>
            <a:r>
              <a:t>4. Practice</a:t>
            </a:r>
          </a:p>
        </p:txBody>
      </p:sp>
      <p:sp>
        <p:nvSpPr>
          <p:cNvPr id="487" name="Text 30"/>
          <p:cNvSpPr txBox="1"/>
          <p:nvPr/>
        </p:nvSpPr>
        <p:spPr>
          <a:xfrm>
            <a:off x="6766559" y="4210103"/>
            <a:ext cx="3931921"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6"/>
                </a:solidFill>
              </a:defRPr>
            </a:lvl1pPr>
          </a:lstStyle>
          <a:p>
            <a:pPr/>
            <a:r>
              <a:t>Forward-test with virtual cash and a decision journal</a:t>
            </a:r>
          </a:p>
        </p:txBody>
      </p:sp>
      <p:sp>
        <p:nvSpPr>
          <p:cNvPr id="488" name="chip LIVE"/>
          <p:cNvSpPr/>
          <p:nvPr/>
        </p:nvSpPr>
        <p:spPr>
          <a:xfrm>
            <a:off x="10789918" y="4160520"/>
            <a:ext cx="685802" cy="256034"/>
          </a:xfrm>
          <a:prstGeom prst="roundRect">
            <a:avLst>
              <a:gd name="adj" fmla="val 50000"/>
            </a:avLst>
          </a:prstGeom>
          <a:solidFill>
            <a:schemeClr val="accent4"/>
          </a:solidFill>
          <a:ln w="12700">
            <a:miter lim="400000"/>
          </a:ln>
        </p:spPr>
        <p:txBody>
          <a:bodyPr lIns="45718" tIns="45718" rIns="45718" bIns="45718"/>
          <a:lstStyle/>
          <a:p>
            <a:pPr/>
          </a:p>
        </p:txBody>
      </p:sp>
      <p:sp>
        <p:nvSpPr>
          <p:cNvPr id="489" name="chip text LIVE"/>
          <p:cNvSpPr txBox="1"/>
          <p:nvPr/>
        </p:nvSpPr>
        <p:spPr>
          <a:xfrm>
            <a:off x="10789918" y="4220000"/>
            <a:ext cx="68580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FFFFFF"/>
                </a:solidFill>
              </a:defRPr>
            </a:lvl1pPr>
          </a:lstStyle>
          <a:p>
            <a:pPr/>
            <a:r>
              <a:t>LIVE</a:t>
            </a:r>
          </a:p>
        </p:txBody>
      </p:sp>
      <p:sp>
        <p:nvSpPr>
          <p:cNvPr id="490" name="algo step 5"/>
          <p:cNvSpPr/>
          <p:nvPr/>
        </p:nvSpPr>
        <p:spPr>
          <a:xfrm>
            <a:off x="4846320" y="4727447"/>
            <a:ext cx="6793994" cy="640082"/>
          </a:xfrm>
          <a:prstGeom prst="roundRect">
            <a:avLst>
              <a:gd name="adj" fmla="val 17143"/>
            </a:avLst>
          </a:prstGeom>
          <a:solidFill>
            <a:srgbClr val="FFFFFF">
              <a:alpha val="20000"/>
            </a:srgbClr>
          </a:solidFill>
          <a:ln>
            <a:solidFill>
              <a:schemeClr val="accent2"/>
            </a:solidFill>
          </a:ln>
        </p:spPr>
        <p:txBody>
          <a:bodyPr lIns="45718" tIns="45718" rIns="45718" bIns="45718"/>
          <a:lstStyle/>
          <a:p>
            <a:pPr/>
          </a:p>
        </p:txBody>
      </p:sp>
      <p:sp>
        <p:nvSpPr>
          <p:cNvPr id="491" name="LuRocket circle"/>
          <p:cNvSpPr/>
          <p:nvPr/>
        </p:nvSpPr>
        <p:spPr>
          <a:xfrm>
            <a:off x="4983479" y="4828032"/>
            <a:ext cx="438915" cy="438915"/>
          </a:xfrm>
          <a:prstGeom prst="ellipse">
            <a:avLst/>
          </a:prstGeom>
          <a:solidFill>
            <a:schemeClr val="accent2"/>
          </a:solidFill>
          <a:ln w="12700">
            <a:miter lim="400000"/>
          </a:ln>
        </p:spPr>
        <p:txBody>
          <a:bodyPr lIns="45718" tIns="45718" rIns="45718" bIns="45718"/>
          <a:lstStyle/>
          <a:p>
            <a:pPr/>
          </a:p>
        </p:txBody>
      </p:sp>
      <p:pic>
        <p:nvPicPr>
          <p:cNvPr id="492" name="LuRocket icon" descr="LuRocket icon"/>
          <p:cNvPicPr>
            <a:picLocks noChangeAspect="1"/>
          </p:cNvPicPr>
          <p:nvPr/>
        </p:nvPicPr>
        <p:blipFill>
          <a:blip r:embed="rId7">
            <a:extLst/>
          </a:blip>
          <a:stretch>
            <a:fillRect/>
          </a:stretch>
        </p:blipFill>
        <p:spPr>
          <a:xfrm>
            <a:off x="5093208" y="4937759"/>
            <a:ext cx="219458" cy="219458"/>
          </a:xfrm>
          <a:prstGeom prst="rect">
            <a:avLst/>
          </a:prstGeom>
          <a:ln w="12700">
            <a:miter lim="400000"/>
          </a:ln>
        </p:spPr>
      </p:pic>
      <p:sp>
        <p:nvSpPr>
          <p:cNvPr id="493" name="Text 35"/>
          <p:cNvSpPr txBox="1"/>
          <p:nvPr/>
        </p:nvSpPr>
        <p:spPr>
          <a:xfrm>
            <a:off x="5577840" y="4954208"/>
            <a:ext cx="118872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solidFill>
                  <a:srgbClr val="FFFFFF"/>
                </a:solidFill>
              </a:defRPr>
            </a:lvl1pPr>
          </a:lstStyle>
          <a:p>
            <a:pPr/>
            <a:r>
              <a:t>5. Deploy</a:t>
            </a:r>
          </a:p>
        </p:txBody>
      </p:sp>
      <p:sp>
        <p:nvSpPr>
          <p:cNvPr id="494" name="Text 36"/>
          <p:cNvSpPr txBox="1"/>
          <p:nvPr/>
        </p:nvSpPr>
        <p:spPr>
          <a:xfrm>
            <a:off x="6766559" y="4873804"/>
            <a:ext cx="3931921"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6"/>
                </a:solidFill>
              </a:defRPr>
            </a:lvl1pPr>
          </a:lstStyle>
          <a:p>
            <a:pPr/>
            <a:r>
              <a:t>Execute periodically rebalanced stock baskets via partner brokers (Post-SEBI License)</a:t>
            </a:r>
          </a:p>
        </p:txBody>
      </p:sp>
      <p:sp>
        <p:nvSpPr>
          <p:cNvPr id="495" name="chip NEXT"/>
          <p:cNvSpPr/>
          <p:nvPr/>
        </p:nvSpPr>
        <p:spPr>
          <a:xfrm>
            <a:off x="10789918" y="4919471"/>
            <a:ext cx="685802" cy="256034"/>
          </a:xfrm>
          <a:prstGeom prst="roundRect">
            <a:avLst>
              <a:gd name="adj" fmla="val 50000"/>
            </a:avLst>
          </a:prstGeom>
          <a:solidFill>
            <a:schemeClr val="accent2"/>
          </a:solidFill>
          <a:ln w="12700">
            <a:miter lim="400000"/>
          </a:ln>
        </p:spPr>
        <p:txBody>
          <a:bodyPr lIns="45718" tIns="45718" rIns="45718" bIns="45718"/>
          <a:lstStyle/>
          <a:p>
            <a:pPr/>
          </a:p>
        </p:txBody>
      </p:sp>
      <p:sp>
        <p:nvSpPr>
          <p:cNvPr id="496" name="chip text NEXT"/>
          <p:cNvSpPr txBox="1"/>
          <p:nvPr/>
        </p:nvSpPr>
        <p:spPr>
          <a:xfrm>
            <a:off x="10789918" y="4978951"/>
            <a:ext cx="68580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lvl1pPr>
          </a:lstStyle>
          <a:p>
            <a:pPr/>
            <a:r>
              <a:t>NEXT</a:t>
            </a:r>
          </a:p>
        </p:txBody>
      </p:sp>
      <p:sp>
        <p:nvSpPr>
          <p:cNvPr id="497" name="algo lane band"/>
          <p:cNvSpPr/>
          <p:nvPr/>
        </p:nvSpPr>
        <p:spPr>
          <a:xfrm>
            <a:off x="548640" y="5669279"/>
            <a:ext cx="11094416" cy="621794"/>
          </a:xfrm>
          <a:prstGeom prst="roundRect">
            <a:avLst>
              <a:gd name="adj" fmla="val 17647"/>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498" name="Text 40"/>
          <p:cNvSpPr txBox="1"/>
          <p:nvPr/>
        </p:nvSpPr>
        <p:spPr>
          <a:xfrm>
            <a:off x="822960" y="5830491"/>
            <a:ext cx="10545775"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pPr>
            <a:r>
              <a:t>Why pre-trade research is the open space: </a:t>
            </a:r>
            <a:r>
              <a:rPr b="0">
                <a:solidFill>
                  <a:srgbClr val="434B6B"/>
                </a:solidFill>
              </a:rPr>
              <a:t>trade execution is already automated, and most exchange algo volume is intraday trading. Anvest owns the transparent, fundamental &amp; filing-driven research layer for long-term portfolios that rebalance periodically—with a clear regulatory path to broker execution in Year 2.</a:t>
            </a:r>
          </a:p>
        </p:txBody>
      </p:sp>
      <p:sp>
        <p:nvSpPr>
          <p:cNvPr id="499" name="Text 41"/>
          <p:cNvSpPr txBox="1"/>
          <p:nvPr/>
        </p:nvSpPr>
        <p:spPr>
          <a:xfrm>
            <a:off x="548640" y="6419088"/>
            <a:ext cx="822960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chemeClr val="accent6"/>
                </a:solidFill>
              </a:defRPr>
            </a:lvl1pPr>
          </a:lstStyle>
          <a:p>
            <a:pPr/>
            <a:r>
              <a:t>NSE Market Pulse, Dec 2025 (turnover share, FY26 to Nov) · SEBI retail algo circulars, 4 Feb 2025 and 30 Sep 2025</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3" name="Text 0"/>
          <p:cNvSpPr txBox="1"/>
          <p:nvPr>
            <p:ph type="body" sz="quarter" idx="1"/>
          </p:nvPr>
        </p:nvSpPr>
        <p:spPr>
          <a:xfrm>
            <a:off x="548640" y="384047"/>
            <a:ext cx="8229601" cy="274322"/>
          </a:xfrm>
          <a:prstGeom prst="rect">
            <a:avLst/>
          </a:prstGeom>
        </p:spPr>
        <p:txBody>
          <a:bodyPr lIns="0" tIns="0" rIns="0" bIns="0"/>
          <a:lstStyle/>
          <a:p>
            <a:pPr/>
            <a:r>
              <a:t>FINANCIAL PLAN</a:t>
            </a:r>
          </a:p>
        </p:txBody>
      </p:sp>
      <p:sp>
        <p:nvSpPr>
          <p:cNvPr id="504" name="Text 0"/>
          <p:cNvSpPr txBox="1"/>
          <p:nvPr>
            <p:ph type="title"/>
          </p:nvPr>
        </p:nvSpPr>
        <p:spPr>
          <a:xfrm>
            <a:off x="548638" y="676655"/>
            <a:ext cx="11094419" cy="868682"/>
          </a:xfrm>
          <a:prstGeom prst="rect">
            <a:avLst/>
          </a:prstGeom>
        </p:spPr>
        <p:txBody>
          <a:bodyPr lIns="0" tIns="0" rIns="0" bIns="0"/>
          <a:lstStyle>
            <a:lvl1pPr>
              <a:defRPr sz="2800"/>
            </a:lvl1pPr>
          </a:lstStyle>
          <a:p>
            <a:pPr/>
            <a:r>
              <a:t>Profitable on $500K alone, with a Series A path to ₹23 Cr ARR</a:t>
            </a:r>
          </a:p>
        </p:txBody>
      </p:sp>
      <p:sp>
        <p:nvSpPr>
          <p:cNvPr id="505" name="operating model card"/>
          <p:cNvSpPr/>
          <p:nvPr/>
        </p:nvSpPr>
        <p:spPr>
          <a:xfrm>
            <a:off x="7635240" y="1691638"/>
            <a:ext cx="4005072" cy="4370835"/>
          </a:xfrm>
          <a:prstGeom prst="roundRect">
            <a:avLst>
              <a:gd name="adj" fmla="val 274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506" name="Text 3"/>
          <p:cNvSpPr txBox="1"/>
          <p:nvPr/>
        </p:nvSpPr>
        <p:spPr>
          <a:xfrm>
            <a:off x="7863840" y="1828799"/>
            <a:ext cx="365760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100">
                <a:solidFill>
                  <a:schemeClr val="accent1"/>
                </a:solidFill>
              </a:defRPr>
            </a:lvl1pPr>
          </a:lstStyle>
          <a:p>
            <a:pPr/>
            <a:r>
              <a:t>SEED ROUND · MONTH-15 OUTCOMES</a:t>
            </a:r>
          </a:p>
        </p:txBody>
      </p:sp>
      <p:sp>
        <p:nvSpPr>
          <p:cNvPr id="507" name="Text 5"/>
          <p:cNvSpPr txBox="1"/>
          <p:nvPr/>
        </p:nvSpPr>
        <p:spPr>
          <a:xfrm>
            <a:off x="9189718" y="2272327"/>
            <a:ext cx="82296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chemeClr val="accent5"/>
                </a:solidFill>
              </a:defRPr>
            </a:lvl1pPr>
          </a:lstStyle>
          <a:p>
            <a:pPr/>
            <a:r>
              <a:t>$400K</a:t>
            </a:r>
          </a:p>
        </p:txBody>
      </p:sp>
      <p:sp>
        <p:nvSpPr>
          <p:cNvPr id="508" name="Text 6"/>
          <p:cNvSpPr txBox="1"/>
          <p:nvPr/>
        </p:nvSpPr>
        <p:spPr>
          <a:xfrm>
            <a:off x="9994392" y="2272327"/>
            <a:ext cx="82296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chemeClr val="accent5"/>
                </a:solidFill>
              </a:defRPr>
            </a:lvl1pPr>
          </a:lstStyle>
          <a:p>
            <a:pPr/>
            <a:r>
              <a:t>$500K</a:t>
            </a:r>
          </a:p>
        </p:txBody>
      </p:sp>
      <p:sp>
        <p:nvSpPr>
          <p:cNvPr id="509" name="Text 7"/>
          <p:cNvSpPr txBox="1"/>
          <p:nvPr/>
        </p:nvSpPr>
        <p:spPr>
          <a:xfrm>
            <a:off x="10799064" y="2272327"/>
            <a:ext cx="82296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chemeClr val="accent5"/>
                </a:solidFill>
              </a:defRPr>
            </a:lvl1pPr>
          </a:lstStyle>
          <a:p>
            <a:pPr/>
            <a:r>
              <a:t>$700K</a:t>
            </a:r>
          </a:p>
        </p:txBody>
      </p:sp>
      <p:sp>
        <p:nvSpPr>
          <p:cNvPr id="510" name="Text 8"/>
          <p:cNvSpPr txBox="1"/>
          <p:nvPr/>
        </p:nvSpPr>
        <p:spPr>
          <a:xfrm>
            <a:off x="7863840" y="2639490"/>
            <a:ext cx="132588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ARR run-rate</a:t>
            </a:r>
          </a:p>
        </p:txBody>
      </p:sp>
      <p:sp>
        <p:nvSpPr>
          <p:cNvPr id="511" name="Text 9"/>
          <p:cNvSpPr txBox="1"/>
          <p:nvPr/>
        </p:nvSpPr>
        <p:spPr>
          <a:xfrm>
            <a:off x="9189718" y="263949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₹68 L</a:t>
            </a:r>
          </a:p>
        </p:txBody>
      </p:sp>
      <p:sp>
        <p:nvSpPr>
          <p:cNvPr id="512" name="Text 10"/>
          <p:cNvSpPr txBox="1"/>
          <p:nvPr/>
        </p:nvSpPr>
        <p:spPr>
          <a:xfrm>
            <a:off x="9994392" y="263949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chemeClr val="accent1"/>
                </a:solidFill>
              </a:defRPr>
            </a:lvl1pPr>
          </a:lstStyle>
          <a:p>
            <a:pPr/>
            <a:r>
              <a:t>₹87 L</a:t>
            </a:r>
          </a:p>
        </p:txBody>
      </p:sp>
      <p:sp>
        <p:nvSpPr>
          <p:cNvPr id="513" name="Text 11"/>
          <p:cNvSpPr txBox="1"/>
          <p:nvPr/>
        </p:nvSpPr>
        <p:spPr>
          <a:xfrm>
            <a:off x="10799064" y="263949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₹1.06 Cr</a:t>
            </a:r>
          </a:p>
        </p:txBody>
      </p:sp>
      <p:sp>
        <p:nvSpPr>
          <p:cNvPr id="514" name="Text 12"/>
          <p:cNvSpPr txBox="1"/>
          <p:nvPr/>
        </p:nvSpPr>
        <p:spPr>
          <a:xfrm>
            <a:off x="7863840" y="3005250"/>
            <a:ext cx="132588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Advisory firms</a:t>
            </a:r>
          </a:p>
        </p:txBody>
      </p:sp>
      <p:sp>
        <p:nvSpPr>
          <p:cNvPr id="515" name="Text 13"/>
          <p:cNvSpPr txBox="1"/>
          <p:nvPr/>
        </p:nvSpPr>
        <p:spPr>
          <a:xfrm>
            <a:off x="9189718" y="300525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55</a:t>
            </a:r>
          </a:p>
        </p:txBody>
      </p:sp>
      <p:sp>
        <p:nvSpPr>
          <p:cNvPr id="516" name="Text 14"/>
          <p:cNvSpPr txBox="1"/>
          <p:nvPr/>
        </p:nvSpPr>
        <p:spPr>
          <a:xfrm>
            <a:off x="9994392" y="300525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chemeClr val="accent1"/>
                </a:solidFill>
              </a:defRPr>
            </a:lvl1pPr>
          </a:lstStyle>
          <a:p>
            <a:pPr/>
            <a:r>
              <a:t>77</a:t>
            </a:r>
          </a:p>
        </p:txBody>
      </p:sp>
      <p:sp>
        <p:nvSpPr>
          <p:cNvPr id="517" name="Text 15"/>
          <p:cNvSpPr txBox="1"/>
          <p:nvPr/>
        </p:nvSpPr>
        <p:spPr>
          <a:xfrm>
            <a:off x="10799064" y="300525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88</a:t>
            </a:r>
          </a:p>
        </p:txBody>
      </p:sp>
      <p:sp>
        <p:nvSpPr>
          <p:cNvPr id="518" name="Text 16"/>
          <p:cNvSpPr txBox="1"/>
          <p:nvPr/>
        </p:nvSpPr>
        <p:spPr>
          <a:xfrm>
            <a:off x="7863840" y="3371010"/>
            <a:ext cx="132588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Broker APIs</a:t>
            </a:r>
          </a:p>
        </p:txBody>
      </p:sp>
      <p:sp>
        <p:nvSpPr>
          <p:cNvPr id="519" name="Text 17"/>
          <p:cNvSpPr txBox="1"/>
          <p:nvPr/>
        </p:nvSpPr>
        <p:spPr>
          <a:xfrm>
            <a:off x="9189718" y="337101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2</a:t>
            </a:r>
          </a:p>
        </p:txBody>
      </p:sp>
      <p:sp>
        <p:nvSpPr>
          <p:cNvPr id="520" name="Text 18"/>
          <p:cNvSpPr txBox="1"/>
          <p:nvPr/>
        </p:nvSpPr>
        <p:spPr>
          <a:xfrm>
            <a:off x="9994392" y="337101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chemeClr val="accent1"/>
                </a:solidFill>
              </a:defRPr>
            </a:lvl1pPr>
          </a:lstStyle>
          <a:p>
            <a:pPr/>
            <a:r>
              <a:t>2</a:t>
            </a:r>
          </a:p>
        </p:txBody>
      </p:sp>
      <p:sp>
        <p:nvSpPr>
          <p:cNvPr id="521" name="Text 19"/>
          <p:cNvSpPr txBox="1"/>
          <p:nvPr/>
        </p:nvSpPr>
        <p:spPr>
          <a:xfrm>
            <a:off x="10799064" y="3371010"/>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3</a:t>
            </a:r>
          </a:p>
        </p:txBody>
      </p:sp>
      <p:sp>
        <p:nvSpPr>
          <p:cNvPr id="522" name="Text 20"/>
          <p:cNvSpPr txBox="1"/>
          <p:nvPr/>
        </p:nvSpPr>
        <p:spPr>
          <a:xfrm>
            <a:off x="7863840" y="3736769"/>
            <a:ext cx="1325882"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Net burn / mo</a:t>
            </a:r>
          </a:p>
        </p:txBody>
      </p:sp>
      <p:sp>
        <p:nvSpPr>
          <p:cNvPr id="523" name="Text 21"/>
          <p:cNvSpPr txBox="1"/>
          <p:nvPr/>
        </p:nvSpPr>
        <p:spPr>
          <a:xfrm>
            <a:off x="9189718" y="3736769"/>
            <a:ext cx="822962"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₹13.9 L</a:t>
            </a:r>
          </a:p>
        </p:txBody>
      </p:sp>
      <p:sp>
        <p:nvSpPr>
          <p:cNvPr id="524" name="Text 22"/>
          <p:cNvSpPr txBox="1"/>
          <p:nvPr/>
        </p:nvSpPr>
        <p:spPr>
          <a:xfrm>
            <a:off x="9994392" y="3736769"/>
            <a:ext cx="822962"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chemeClr val="accent1"/>
                </a:solidFill>
              </a:defRPr>
            </a:lvl1pPr>
          </a:lstStyle>
          <a:p>
            <a:pPr/>
            <a:r>
              <a:t>₹15.4 L</a:t>
            </a:r>
          </a:p>
        </p:txBody>
      </p:sp>
      <p:sp>
        <p:nvSpPr>
          <p:cNvPr id="525" name="Text 23"/>
          <p:cNvSpPr txBox="1"/>
          <p:nvPr/>
        </p:nvSpPr>
        <p:spPr>
          <a:xfrm>
            <a:off x="10799064" y="3736769"/>
            <a:ext cx="822962"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₹15.6 L</a:t>
            </a:r>
          </a:p>
        </p:txBody>
      </p:sp>
      <p:sp>
        <p:nvSpPr>
          <p:cNvPr id="526" name="Text 24"/>
          <p:cNvSpPr txBox="1"/>
          <p:nvPr/>
        </p:nvSpPr>
        <p:spPr>
          <a:xfrm>
            <a:off x="7863840" y="4102529"/>
            <a:ext cx="132588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434B6B"/>
                </a:solidFill>
              </a:defRPr>
            </a:lvl1pPr>
          </a:lstStyle>
          <a:p>
            <a:pPr/>
            <a:r>
              <a:t>Cash breakeven</a:t>
            </a:r>
          </a:p>
        </p:txBody>
      </p:sp>
      <p:sp>
        <p:nvSpPr>
          <p:cNvPr id="527" name="Text 25"/>
          <p:cNvSpPr txBox="1"/>
          <p:nvPr/>
        </p:nvSpPr>
        <p:spPr>
          <a:xfrm>
            <a:off x="9189718" y="4102529"/>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Mo 48*</a:t>
            </a:r>
          </a:p>
        </p:txBody>
      </p:sp>
      <p:sp>
        <p:nvSpPr>
          <p:cNvPr id="528" name="Text 26"/>
          <p:cNvSpPr txBox="1"/>
          <p:nvPr/>
        </p:nvSpPr>
        <p:spPr>
          <a:xfrm>
            <a:off x="9994392" y="4102529"/>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chemeClr val="accent1"/>
                </a:solidFill>
              </a:defRPr>
            </a:lvl1pPr>
          </a:lstStyle>
          <a:p>
            <a:pPr/>
            <a:r>
              <a:t>Mo 42</a:t>
            </a:r>
          </a:p>
        </p:txBody>
      </p:sp>
      <p:sp>
        <p:nvSpPr>
          <p:cNvPr id="529" name="Text 27"/>
          <p:cNvSpPr txBox="1"/>
          <p:nvPr/>
        </p:nvSpPr>
        <p:spPr>
          <a:xfrm>
            <a:off x="10799064" y="4102529"/>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vl1pPr>
          </a:lstStyle>
          <a:p>
            <a:pPr/>
            <a:r>
              <a:t>Mo 40</a:t>
            </a:r>
          </a:p>
        </p:txBody>
      </p:sp>
      <p:sp>
        <p:nvSpPr>
          <p:cNvPr id="530" name="Text 28"/>
          <p:cNvSpPr txBox="1"/>
          <p:nvPr/>
        </p:nvSpPr>
        <p:spPr>
          <a:xfrm>
            <a:off x="7863840" y="4370832"/>
            <a:ext cx="3657602" cy="2541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900">
                <a:solidFill>
                  <a:schemeClr val="accent5"/>
                </a:solidFill>
              </a:defRPr>
            </a:lvl1pPr>
          </a:lstStyle>
          <a:p>
            <a:pPr/>
            <a:r>
              <a:t>*$400K provides 31 months runway; $500K and $700K reach breakeven with zero new funding.</a:t>
            </a:r>
          </a:p>
        </p:txBody>
      </p:sp>
      <p:sp>
        <p:nvSpPr>
          <p:cNvPr id="531" name="Text 29"/>
          <p:cNvSpPr txBox="1"/>
          <p:nvPr/>
        </p:nvSpPr>
        <p:spPr>
          <a:xfrm>
            <a:off x="7863840" y="4800598"/>
            <a:ext cx="3657602"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100">
                <a:solidFill>
                  <a:schemeClr val="accent1"/>
                </a:solidFill>
              </a:defRPr>
            </a:lvl1pPr>
          </a:lstStyle>
          <a:p>
            <a:pPr/>
            <a:r>
              <a:t>UNIT ECONOMICS &amp; SERIES A DRIVERS</a:t>
            </a:r>
          </a:p>
        </p:txBody>
      </p:sp>
      <p:sp>
        <p:nvSpPr>
          <p:cNvPr id="532" name="Text 30"/>
          <p:cNvSpPr txBox="1"/>
          <p:nvPr/>
        </p:nvSpPr>
        <p:spPr>
          <a:xfrm>
            <a:off x="7863840" y="5056632"/>
            <a:ext cx="3657602" cy="7240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342900" indent="-342900">
              <a:spcBef>
                <a:spcPts val="200"/>
              </a:spcBef>
              <a:buSzPct val="100000"/>
              <a:buChar char="•"/>
              <a:defRPr sz="900">
                <a:solidFill>
                  <a:srgbClr val="434B6B"/>
                </a:solidFill>
              </a:defRPr>
            </a:pPr>
            <a:r>
              <a:t>Unit economics: ₹2,245 net/seat/mo; ₹0.73L team CAC (~11-mo payback)</a:t>
            </a:r>
          </a:p>
          <a:p>
            <a:pPr marL="342900" indent="-342900">
              <a:spcBef>
                <a:spcPts val="200"/>
              </a:spcBef>
              <a:buSzPct val="100000"/>
              <a:buChar char="•"/>
              <a:defRPr sz="900">
                <a:solidFill>
                  <a:srgbClr val="434B6B"/>
                </a:solidFill>
              </a:defRPr>
            </a:pPr>
            <a:r>
              <a:t>Gross margin scales from 46% at Month 15 to 83% at Year-5 scale</a:t>
            </a:r>
          </a:p>
          <a:p>
            <a:pPr marL="342900" indent="-342900">
              <a:spcBef>
                <a:spcPts val="200"/>
              </a:spcBef>
              <a:buSzPct val="100000"/>
              <a:buChar char="•"/>
              <a:defRPr sz="900">
                <a:solidFill>
                  <a:srgbClr val="434B6B"/>
                </a:solidFill>
              </a:defRPr>
            </a:pPr>
            <a:r>
              <a:t>Series A (M18): 15 sales reps, 10 broker APIs &amp; licensed baskets → ₹23.1 Cr ARR</a:t>
            </a:r>
          </a:p>
        </p:txBody>
      </p:sp>
      <p:sp>
        <p:nvSpPr>
          <p:cNvPr id="533" name="Text 31"/>
          <p:cNvSpPr txBox="1"/>
          <p:nvPr/>
        </p:nvSpPr>
        <p:spPr>
          <a:xfrm>
            <a:off x="548639" y="6108191"/>
            <a:ext cx="10362897"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900">
                <a:solidFill>
                  <a:schemeClr val="accent5"/>
                </a:solidFill>
              </a:defRPr>
            </a:lvl1pPr>
          </a:lstStyle>
          <a:p>
            <a:pPr/>
            <a:r>
              <a:t>Month-15 Net MRR ($500K): ₹5.5L Advisory Desk + ₹1.4L Broker APIs + ₹0.4L Individual Plans = ₹7.3L/mo (₹87L ARR), net of 18% GST (₹95 = $1).</a:t>
            </a:r>
          </a:p>
        </p:txBody>
      </p:sp>
      <p:sp>
        <p:nvSpPr>
          <p:cNvPr id="534" name="Slide Number Placeholder 0"/>
          <p:cNvSpPr txBox="1"/>
          <p:nvPr>
            <p:ph type="sldNum" sz="quarter" idx="4294967295"/>
          </p:nvPr>
        </p:nvSpPr>
        <p:spPr>
          <a:xfrm>
            <a:off x="11501618" y="6419088"/>
            <a:ext cx="141437"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535" name="ARR by revenue engine chart"/>
          <p:cNvGraphicFramePr/>
          <p:nvPr/>
        </p:nvGraphicFramePr>
        <p:xfrm>
          <a:off x="616372" y="1793238"/>
          <a:ext cx="6819503" cy="4170619"/>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9" name="Text 0"/>
          <p:cNvSpPr txBox="1"/>
          <p:nvPr>
            <p:ph type="body" sz="quarter" idx="1"/>
          </p:nvPr>
        </p:nvSpPr>
        <p:spPr>
          <a:xfrm>
            <a:off x="548640" y="384047"/>
            <a:ext cx="8229601" cy="274322"/>
          </a:xfrm>
          <a:prstGeom prst="rect">
            <a:avLst/>
          </a:prstGeom>
        </p:spPr>
        <p:txBody>
          <a:bodyPr lIns="0" tIns="0" rIns="0" bIns="0"/>
          <a:lstStyle/>
          <a:p>
            <a:pPr/>
            <a:r>
              <a:t>TEAM</a:t>
            </a:r>
          </a:p>
        </p:txBody>
      </p:sp>
      <p:sp>
        <p:nvSpPr>
          <p:cNvPr id="540" name="Text 0"/>
          <p:cNvSpPr txBox="1"/>
          <p:nvPr>
            <p:ph type="title"/>
          </p:nvPr>
        </p:nvSpPr>
        <p:spPr>
          <a:xfrm>
            <a:off x="548638" y="676655"/>
            <a:ext cx="11094419" cy="868682"/>
          </a:xfrm>
          <a:prstGeom prst="rect">
            <a:avLst/>
          </a:prstGeom>
        </p:spPr>
        <p:txBody>
          <a:bodyPr lIns="0" tIns="0" rIns="0" bIns="0"/>
          <a:lstStyle/>
          <a:p>
            <a:pPr/>
            <a:r>
              <a:t>A founder who has already built the hard part</a:t>
            </a:r>
          </a:p>
        </p:txBody>
      </p:sp>
      <p:sp>
        <p:nvSpPr>
          <p:cNvPr id="541" name="founder card"/>
          <p:cNvSpPr/>
          <p:nvPr/>
        </p:nvSpPr>
        <p:spPr>
          <a:xfrm>
            <a:off x="511320" y="1784099"/>
            <a:ext cx="6035041" cy="3910828"/>
          </a:xfrm>
          <a:prstGeom prst="roundRect">
            <a:avLst>
              <a:gd name="adj" fmla="val 2805"/>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542" name="Text 3"/>
          <p:cNvSpPr txBox="1"/>
          <p:nvPr/>
        </p:nvSpPr>
        <p:spPr>
          <a:xfrm>
            <a:off x="868679" y="1965960"/>
            <a:ext cx="5486403" cy="38289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600">
                <a:latin typeface="Arial"/>
                <a:ea typeface="Arial"/>
                <a:cs typeface="Arial"/>
                <a:sym typeface="Arial"/>
              </a:defRPr>
            </a:lvl1pPr>
          </a:lstStyle>
          <a:p>
            <a:pPr/>
            <a:r>
              <a:t>Harsh Bhardwaj</a:t>
            </a:r>
          </a:p>
        </p:txBody>
      </p:sp>
      <p:sp>
        <p:nvSpPr>
          <p:cNvPr id="543" name="Text 4"/>
          <p:cNvSpPr txBox="1"/>
          <p:nvPr/>
        </p:nvSpPr>
        <p:spPr>
          <a:xfrm>
            <a:off x="868679" y="2468878"/>
            <a:ext cx="5486403"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solidFill>
                  <a:schemeClr val="accent1"/>
                </a:solidFill>
              </a:defRPr>
            </a:lvl1pPr>
          </a:lstStyle>
          <a:p>
            <a:pPr/>
            <a:r>
              <a:t>Founder  ·  full-time on Anvest from the close of this round</a:t>
            </a:r>
          </a:p>
        </p:txBody>
      </p:sp>
      <p:pic>
        <p:nvPicPr>
          <p:cNvPr id="544" name="bio check 1" descr="bio check 1"/>
          <p:cNvPicPr>
            <a:picLocks noChangeAspect="1"/>
          </p:cNvPicPr>
          <p:nvPr/>
        </p:nvPicPr>
        <p:blipFill>
          <a:blip r:embed="rId3">
            <a:extLst/>
          </a:blip>
          <a:stretch>
            <a:fillRect/>
          </a:stretch>
        </p:blipFill>
        <p:spPr>
          <a:xfrm>
            <a:off x="868680" y="2953511"/>
            <a:ext cx="237746" cy="237746"/>
          </a:xfrm>
          <a:prstGeom prst="rect">
            <a:avLst/>
          </a:prstGeom>
          <a:ln w="12700">
            <a:miter lim="400000"/>
          </a:ln>
        </p:spPr>
      </p:pic>
      <p:sp>
        <p:nvSpPr>
          <p:cNvPr id="545" name="Text 5"/>
          <p:cNvSpPr txBox="1"/>
          <p:nvPr/>
        </p:nvSpPr>
        <p:spPr>
          <a:xfrm>
            <a:off x="1234438" y="2989003"/>
            <a:ext cx="5120644"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434B6B"/>
                </a:solidFill>
              </a:defRPr>
            </a:lvl1pPr>
          </a:lstStyle>
          <a:p>
            <a:pPr/>
            <a:r>
              <a:t>B.Tech, Electronics and Communication, IIT Guwahati (2015–19)</a:t>
            </a:r>
          </a:p>
        </p:txBody>
      </p:sp>
      <p:pic>
        <p:nvPicPr>
          <p:cNvPr id="546" name="bio check 2" descr="bio check 2"/>
          <p:cNvPicPr>
            <a:picLocks noChangeAspect="1"/>
          </p:cNvPicPr>
          <p:nvPr/>
        </p:nvPicPr>
        <p:blipFill>
          <a:blip r:embed="rId3">
            <a:extLst/>
          </a:blip>
          <a:stretch>
            <a:fillRect/>
          </a:stretch>
        </p:blipFill>
        <p:spPr>
          <a:xfrm>
            <a:off x="868680" y="3551111"/>
            <a:ext cx="237746" cy="237746"/>
          </a:xfrm>
          <a:prstGeom prst="rect">
            <a:avLst/>
          </a:prstGeom>
          <a:ln w="12700">
            <a:miter lim="400000"/>
          </a:ln>
        </p:spPr>
      </p:pic>
      <p:sp>
        <p:nvSpPr>
          <p:cNvPr id="547" name="Text 6"/>
          <p:cNvSpPr txBox="1"/>
          <p:nvPr/>
        </p:nvSpPr>
        <p:spPr>
          <a:xfrm>
            <a:off x="1234438" y="3586602"/>
            <a:ext cx="5120644"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434B6B"/>
                </a:solidFill>
              </a:defRPr>
            </a:lvl1pPr>
          </a:lstStyle>
          <a:p>
            <a:pPr/>
            <a:r>
              <a:t>Senior Engineering Lead building production multi-agent AI systems</a:t>
            </a:r>
          </a:p>
        </p:txBody>
      </p:sp>
      <p:pic>
        <p:nvPicPr>
          <p:cNvPr id="548" name="bio check 3" descr="bio check 3"/>
          <p:cNvPicPr>
            <a:picLocks noChangeAspect="1"/>
          </p:cNvPicPr>
          <p:nvPr/>
        </p:nvPicPr>
        <p:blipFill>
          <a:blip r:embed="rId3">
            <a:extLst/>
          </a:blip>
          <a:stretch>
            <a:fillRect/>
          </a:stretch>
        </p:blipFill>
        <p:spPr>
          <a:xfrm>
            <a:off x="868680" y="4209365"/>
            <a:ext cx="237746" cy="237746"/>
          </a:xfrm>
          <a:prstGeom prst="rect">
            <a:avLst/>
          </a:prstGeom>
          <a:ln w="12700">
            <a:miter lim="400000"/>
          </a:ln>
        </p:spPr>
      </p:pic>
      <p:sp>
        <p:nvSpPr>
          <p:cNvPr id="549" name="Text 7"/>
          <p:cNvSpPr txBox="1"/>
          <p:nvPr/>
        </p:nvSpPr>
        <p:spPr>
          <a:xfrm>
            <a:off x="1234438" y="4181933"/>
            <a:ext cx="5120644" cy="3699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434B6B"/>
                </a:solidFill>
              </a:defRPr>
            </a:lvl1pPr>
          </a:lstStyle>
          <a:p>
            <a:pPr/>
            <a:r>
              <a:t>Seven years building high-throughput backend and distributed systems at New Relic, Shiprocket, Weave and Jaguar Land Rover</a:t>
            </a:r>
          </a:p>
        </p:txBody>
      </p:sp>
      <p:pic>
        <p:nvPicPr>
          <p:cNvPr id="550" name="bio check 4" descr="bio check 4"/>
          <p:cNvPicPr>
            <a:picLocks noChangeAspect="1"/>
          </p:cNvPicPr>
          <p:nvPr/>
        </p:nvPicPr>
        <p:blipFill>
          <a:blip r:embed="rId3">
            <a:extLst/>
          </a:blip>
          <a:stretch>
            <a:fillRect/>
          </a:stretch>
        </p:blipFill>
        <p:spPr>
          <a:xfrm>
            <a:off x="868680" y="4922596"/>
            <a:ext cx="237746" cy="237746"/>
          </a:xfrm>
          <a:prstGeom prst="rect">
            <a:avLst/>
          </a:prstGeom>
          <a:ln w="12700">
            <a:miter lim="400000"/>
          </a:ln>
        </p:spPr>
      </p:pic>
      <p:sp>
        <p:nvSpPr>
          <p:cNvPr id="551" name="Text 8"/>
          <p:cNvSpPr txBox="1"/>
          <p:nvPr/>
        </p:nvSpPr>
        <p:spPr>
          <a:xfrm>
            <a:off x="1234438" y="4895165"/>
            <a:ext cx="5120644"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434B6B"/>
                </a:solidFill>
              </a:defRPr>
            </a:lvl1pPr>
          </a:lstStyle>
          <a:p>
            <a:pPr/>
            <a:r>
              <a:t>Solo-built Anvest's corrupted-filing repair pipeline, verification engine, and 9-module platform in 12 months with zero outside capital</a:t>
            </a:r>
          </a:p>
        </p:txBody>
      </p:sp>
      <p:sp>
        <p:nvSpPr>
          <p:cNvPr id="552" name="hiring card"/>
          <p:cNvSpPr/>
          <p:nvPr/>
        </p:nvSpPr>
        <p:spPr>
          <a:xfrm>
            <a:off x="6812280" y="1783078"/>
            <a:ext cx="4828034" cy="3912867"/>
          </a:xfrm>
          <a:prstGeom prst="roundRect">
            <a:avLst>
              <a:gd name="adj" fmla="val 2804"/>
            </a:avLst>
          </a:prstGeom>
          <a:solidFill>
            <a:schemeClr val="accent3"/>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553" name="Text 10"/>
          <p:cNvSpPr txBox="1"/>
          <p:nvPr/>
        </p:nvSpPr>
        <p:spPr>
          <a:xfrm>
            <a:off x="7086599" y="1965960"/>
            <a:ext cx="438912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100">
                <a:solidFill>
                  <a:schemeClr val="accent2"/>
                </a:solidFill>
              </a:defRPr>
            </a:lvl1pPr>
          </a:lstStyle>
          <a:p>
            <a:pPr/>
            <a:r>
              <a:t>FIRST HIRES FUNDED BY THIS ROUND</a:t>
            </a:r>
          </a:p>
        </p:txBody>
      </p:sp>
      <p:sp>
        <p:nvSpPr>
          <p:cNvPr id="554" name="Text 11"/>
          <p:cNvSpPr txBox="1"/>
          <p:nvPr/>
        </p:nvSpPr>
        <p:spPr>
          <a:xfrm>
            <a:off x="7086599" y="2359150"/>
            <a:ext cx="365763" cy="3210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solidFill>
                  <a:schemeClr val="accent2"/>
                </a:solidFill>
                <a:latin typeface="Arial"/>
                <a:ea typeface="Arial"/>
                <a:cs typeface="Arial"/>
                <a:sym typeface="Arial"/>
              </a:defRPr>
            </a:lvl1pPr>
          </a:lstStyle>
          <a:p>
            <a:pPr/>
            <a:r>
              <a:t>1</a:t>
            </a:r>
          </a:p>
        </p:txBody>
      </p:sp>
      <p:sp>
        <p:nvSpPr>
          <p:cNvPr id="555" name="Text 12"/>
          <p:cNvSpPr txBox="1"/>
          <p:nvPr/>
        </p:nvSpPr>
        <p:spPr>
          <a:xfrm>
            <a:off x="7543799" y="2359150"/>
            <a:ext cx="393192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FFFFFF"/>
                </a:solidFill>
              </a:defRPr>
            </a:lvl1pPr>
          </a:lstStyle>
          <a:p>
            <a:pPr/>
            <a:r>
              <a:t>B2B Growth &amp; Partnerships Lead</a:t>
            </a:r>
          </a:p>
        </p:txBody>
      </p:sp>
      <p:sp>
        <p:nvSpPr>
          <p:cNvPr id="556" name="Text 13"/>
          <p:cNvSpPr txBox="1"/>
          <p:nvPr/>
        </p:nvSpPr>
        <p:spPr>
          <a:xfrm>
            <a:off x="7543799" y="2651760"/>
            <a:ext cx="393192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Leads Anvest Desk sales to advisory firms and broker API deals</a:t>
            </a:r>
          </a:p>
        </p:txBody>
      </p:sp>
      <p:sp>
        <p:nvSpPr>
          <p:cNvPr id="557" name="Text 14"/>
          <p:cNvSpPr txBox="1"/>
          <p:nvPr/>
        </p:nvSpPr>
        <p:spPr>
          <a:xfrm>
            <a:off x="7086599" y="3090672"/>
            <a:ext cx="365763" cy="3210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solidFill>
                  <a:schemeClr val="accent2"/>
                </a:solidFill>
                <a:latin typeface="Arial"/>
                <a:ea typeface="Arial"/>
                <a:cs typeface="Arial"/>
                <a:sym typeface="Arial"/>
              </a:defRPr>
            </a:lvl1pPr>
          </a:lstStyle>
          <a:p>
            <a:pPr/>
            <a:r>
              <a:t>2</a:t>
            </a:r>
          </a:p>
        </p:txBody>
      </p:sp>
      <p:sp>
        <p:nvSpPr>
          <p:cNvPr id="558" name="Text 15"/>
          <p:cNvSpPr txBox="1"/>
          <p:nvPr/>
        </p:nvSpPr>
        <p:spPr>
          <a:xfrm>
            <a:off x="7543799" y="3090672"/>
            <a:ext cx="3931923" cy="1893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FFFFFF"/>
                </a:solidFill>
              </a:defRPr>
            </a:lvl1pPr>
          </a:lstStyle>
          <a:p>
            <a:pPr/>
            <a:r>
              <a:t>Senior Data Engineer</a:t>
            </a:r>
          </a:p>
        </p:txBody>
      </p:sp>
      <p:sp>
        <p:nvSpPr>
          <p:cNvPr id="559" name="Text 16"/>
          <p:cNvSpPr txBox="1"/>
          <p:nvPr/>
        </p:nvSpPr>
        <p:spPr>
          <a:xfrm>
            <a:off x="7543799" y="3383279"/>
            <a:ext cx="393192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Owns nightly exchange ingestion, OCR quality, and real-time feeds</a:t>
            </a:r>
          </a:p>
        </p:txBody>
      </p:sp>
      <p:sp>
        <p:nvSpPr>
          <p:cNvPr id="560" name="Text 17"/>
          <p:cNvSpPr txBox="1"/>
          <p:nvPr/>
        </p:nvSpPr>
        <p:spPr>
          <a:xfrm>
            <a:off x="7086599" y="3822191"/>
            <a:ext cx="365763" cy="3210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solidFill>
                  <a:schemeClr val="accent2"/>
                </a:solidFill>
                <a:latin typeface="Arial"/>
                <a:ea typeface="Arial"/>
                <a:cs typeface="Arial"/>
                <a:sym typeface="Arial"/>
              </a:defRPr>
            </a:lvl1pPr>
          </a:lstStyle>
          <a:p>
            <a:pPr/>
            <a:r>
              <a:t>3</a:t>
            </a:r>
          </a:p>
        </p:txBody>
      </p:sp>
      <p:sp>
        <p:nvSpPr>
          <p:cNvPr id="561" name="Text 18"/>
          <p:cNvSpPr txBox="1"/>
          <p:nvPr/>
        </p:nvSpPr>
        <p:spPr>
          <a:xfrm>
            <a:off x="7543799" y="3822191"/>
            <a:ext cx="393192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FFFFFF"/>
                </a:solidFill>
              </a:defRPr>
            </a:lvl1pPr>
          </a:lstStyle>
          <a:p>
            <a:pPr/>
            <a:r>
              <a:t>Full-Stack &amp; Quantitative Engineer</a:t>
            </a:r>
          </a:p>
        </p:txBody>
      </p:sp>
      <p:sp>
        <p:nvSpPr>
          <p:cNvPr id="562" name="Text 19"/>
          <p:cNvSpPr txBox="1"/>
          <p:nvPr/>
        </p:nvSpPr>
        <p:spPr>
          <a:xfrm>
            <a:off x="7543799" y="4114798"/>
            <a:ext cx="3931923"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Builds team workspaces, filing alerts, and broker execution links</a:t>
            </a:r>
          </a:p>
        </p:txBody>
      </p:sp>
      <p:sp>
        <p:nvSpPr>
          <p:cNvPr id="563" name="Text 20"/>
          <p:cNvSpPr txBox="1"/>
          <p:nvPr/>
        </p:nvSpPr>
        <p:spPr>
          <a:xfrm>
            <a:off x="7086599" y="4553710"/>
            <a:ext cx="365763" cy="3210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solidFill>
                  <a:schemeClr val="accent2"/>
                </a:solidFill>
                <a:latin typeface="Arial"/>
                <a:ea typeface="Arial"/>
                <a:cs typeface="Arial"/>
                <a:sym typeface="Arial"/>
              </a:defRPr>
            </a:lvl1pPr>
          </a:lstStyle>
          <a:p>
            <a:pPr/>
            <a:r>
              <a:t>4</a:t>
            </a:r>
          </a:p>
        </p:txBody>
      </p:sp>
      <p:sp>
        <p:nvSpPr>
          <p:cNvPr id="564" name="Text 21"/>
          <p:cNvSpPr txBox="1"/>
          <p:nvPr/>
        </p:nvSpPr>
        <p:spPr>
          <a:xfrm>
            <a:off x="7543799" y="4553710"/>
            <a:ext cx="393192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FFFFFF"/>
                </a:solidFill>
              </a:defRPr>
            </a:lvl1pPr>
          </a:lstStyle>
          <a:p>
            <a:pPr/>
            <a:r>
              <a:t>Second B2B Sales Rep (Month 9 on $500K)</a:t>
            </a:r>
          </a:p>
        </p:txBody>
      </p:sp>
      <p:sp>
        <p:nvSpPr>
          <p:cNvPr id="565" name="Text 22"/>
          <p:cNvSpPr txBox="1"/>
          <p:nvPr/>
        </p:nvSpPr>
        <p:spPr>
          <a:xfrm>
            <a:off x="7543799" y="4846320"/>
            <a:ext cx="3931923"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Scales direct outbound to 4 new advisory teams per month</a:t>
            </a:r>
          </a:p>
        </p:txBody>
      </p:sp>
      <p:sp>
        <p:nvSpPr>
          <p:cNvPr id="566" name="Text 23"/>
          <p:cNvSpPr txBox="1"/>
          <p:nvPr/>
        </p:nvSpPr>
        <p:spPr>
          <a:xfrm>
            <a:off x="7086599" y="5214134"/>
            <a:ext cx="4389123"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100">
                <a:solidFill>
                  <a:schemeClr val="accent6"/>
                </a:solidFill>
              </a:defRPr>
            </a:lvl1pPr>
          </a:lstStyle>
          <a:p>
            <a:pPr/>
            <a:r>
              <a:t>Backed by automated nightly health checks, runbooks &amp; SEBI compliance advisers.</a:t>
            </a:r>
          </a:p>
        </p:txBody>
      </p:sp>
      <p:sp>
        <p:nvSpPr>
          <p:cNvPr id="567" name="Text 24"/>
          <p:cNvSpPr txBox="1"/>
          <p:nvPr/>
        </p:nvSpPr>
        <p:spPr>
          <a:xfrm>
            <a:off x="548639" y="6053328"/>
            <a:ext cx="10362897"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100">
                <a:solidFill>
                  <a:srgbClr val="434B6B"/>
                </a:solidFill>
              </a:defRPr>
            </a:lvl1pPr>
          </a:lstStyle>
          <a:p>
            <a:pPr/>
            <a:r>
              <a:t>Production edge already built: automated fixes for mislabeled NSE filing periods, Q4-buried annual figures, and scanned bank PDFs.</a:t>
            </a:r>
          </a:p>
        </p:txBody>
      </p:sp>
      <p:sp>
        <p:nvSpPr>
          <p:cNvPr id="568" name="Slide Number Placeholder 0"/>
          <p:cNvSpPr txBox="1"/>
          <p:nvPr>
            <p:ph type="sldNum" sz="quarter" idx="4294967295"/>
          </p:nvPr>
        </p:nvSpPr>
        <p:spPr>
          <a:xfrm>
            <a:off x="11501618" y="6419088"/>
            <a:ext cx="141437"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2" name="Text 0"/>
          <p:cNvSpPr txBox="1"/>
          <p:nvPr>
            <p:ph type="body" sz="quarter" idx="1"/>
          </p:nvPr>
        </p:nvSpPr>
        <p:spPr>
          <a:xfrm>
            <a:off x="548640" y="384047"/>
            <a:ext cx="8229601" cy="274322"/>
          </a:xfrm>
          <a:prstGeom prst="rect">
            <a:avLst/>
          </a:prstGeom>
        </p:spPr>
        <p:txBody>
          <a:bodyPr lIns="0" tIns="0" rIns="0" bIns="0"/>
          <a:lstStyle/>
          <a:p>
            <a:pPr/>
            <a:r>
              <a:t>THE ASK</a:t>
            </a:r>
          </a:p>
        </p:txBody>
      </p:sp>
      <p:sp>
        <p:nvSpPr>
          <p:cNvPr id="573" name="Text 0"/>
          <p:cNvSpPr txBox="1"/>
          <p:nvPr>
            <p:ph type="title"/>
          </p:nvPr>
        </p:nvSpPr>
        <p:spPr>
          <a:xfrm>
            <a:off x="548638" y="676655"/>
            <a:ext cx="11094419" cy="868682"/>
          </a:xfrm>
          <a:prstGeom prst="rect">
            <a:avLst/>
          </a:prstGeom>
        </p:spPr>
        <p:txBody>
          <a:bodyPr lIns="0" tIns="0" rIns="0" bIns="0"/>
          <a:lstStyle>
            <a:lvl1pPr>
              <a:defRPr sz="2700"/>
            </a:lvl1pPr>
          </a:lstStyle>
          <a:p>
            <a:pPr/>
            <a:r>
              <a:t>Raising $500K to scale advisory team sales and broker API reach</a:t>
            </a:r>
          </a:p>
        </p:txBody>
      </p:sp>
      <p:sp>
        <p:nvSpPr>
          <p:cNvPr id="574" name="Text 2"/>
          <p:cNvSpPr txBox="1"/>
          <p:nvPr/>
        </p:nvSpPr>
        <p:spPr>
          <a:xfrm>
            <a:off x="548640" y="1481327"/>
            <a:ext cx="1109167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chemeClr val="accent6"/>
                </a:solidFill>
              </a:defRPr>
            </a:lvl1pPr>
          </a:lstStyle>
          <a:p>
            <a:pPr/>
            <a:r>
              <a:t>$3.5M post-money valuation cap  ·  Convertible Debentures / Preference Shares (CCD/CCPS)  ·  First close $400K, hard cap $700K</a:t>
            </a:r>
          </a:p>
        </p:txBody>
      </p:sp>
      <p:sp>
        <p:nvSpPr>
          <p:cNvPr id="575" name="use of funds 1"/>
          <p:cNvSpPr/>
          <p:nvPr/>
        </p:nvSpPr>
        <p:spPr>
          <a:xfrm>
            <a:off x="538817" y="1975104"/>
            <a:ext cx="5257803" cy="786386"/>
          </a:xfrm>
          <a:prstGeom prst="roundRect">
            <a:avLst>
              <a:gd name="adj" fmla="val 13953"/>
            </a:avLst>
          </a:prstGeom>
          <a:solidFill>
            <a:srgbClr val="FFFFFF">
              <a:alpha val="8000"/>
            </a:srgbClr>
          </a:solidFill>
          <a:ln>
            <a:solidFill>
              <a:schemeClr val="accent6">
                <a:alpha val="25000"/>
              </a:schemeClr>
            </a:solidFill>
          </a:ln>
        </p:spPr>
        <p:txBody>
          <a:bodyPr lIns="45718" tIns="45718" rIns="45718" bIns="45718"/>
          <a:lstStyle/>
          <a:p>
            <a:pPr/>
          </a:p>
        </p:txBody>
      </p:sp>
      <p:sp>
        <p:nvSpPr>
          <p:cNvPr id="576" name="Text 4"/>
          <p:cNvSpPr txBox="1"/>
          <p:nvPr/>
        </p:nvSpPr>
        <p:spPr>
          <a:xfrm>
            <a:off x="749807" y="2117008"/>
            <a:ext cx="1188723" cy="2960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100">
                <a:solidFill>
                  <a:schemeClr val="accent2"/>
                </a:solidFill>
                <a:latin typeface="Arial"/>
                <a:ea typeface="Arial"/>
                <a:cs typeface="Arial"/>
                <a:sym typeface="Arial"/>
              </a:defRPr>
            </a:lvl1pPr>
          </a:lstStyle>
          <a:p>
            <a:pPr/>
            <a:r>
              <a:t>$185K</a:t>
            </a:r>
          </a:p>
        </p:txBody>
      </p:sp>
      <p:sp>
        <p:nvSpPr>
          <p:cNvPr id="577" name="Text 5"/>
          <p:cNvSpPr txBox="1"/>
          <p:nvPr/>
        </p:nvSpPr>
        <p:spPr>
          <a:xfrm>
            <a:off x="749807" y="2519346"/>
            <a:ext cx="118872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37%</a:t>
            </a:r>
          </a:p>
        </p:txBody>
      </p:sp>
      <p:sp>
        <p:nvSpPr>
          <p:cNvPr id="578" name="Text 6"/>
          <p:cNvSpPr txBox="1"/>
          <p:nvPr/>
        </p:nvSpPr>
        <p:spPr>
          <a:xfrm>
            <a:off x="1920238" y="2107864"/>
            <a:ext cx="3749044"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FFFFFF"/>
                </a:solidFill>
              </a:defRPr>
            </a:lvl1pPr>
          </a:lstStyle>
          <a:p>
            <a:pPr/>
            <a:r>
              <a:t>Engineering &amp; B2B Sales Team</a:t>
            </a:r>
          </a:p>
        </p:txBody>
      </p:sp>
      <p:sp>
        <p:nvSpPr>
          <p:cNvPr id="579" name="Text 7"/>
          <p:cNvSpPr txBox="1"/>
          <p:nvPr/>
        </p:nvSpPr>
        <p:spPr>
          <a:xfrm>
            <a:off x="1920238" y="2391329"/>
            <a:ext cx="3749044"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B2B growth lead, data engineer, full-stack/quant engineer, plus 2nd B2B sales rep in Month 9</a:t>
            </a:r>
          </a:p>
        </p:txBody>
      </p:sp>
      <p:sp>
        <p:nvSpPr>
          <p:cNvPr id="580" name="use of funds 2"/>
          <p:cNvSpPr/>
          <p:nvPr/>
        </p:nvSpPr>
        <p:spPr>
          <a:xfrm>
            <a:off x="538817" y="2871216"/>
            <a:ext cx="5257803" cy="786384"/>
          </a:xfrm>
          <a:prstGeom prst="roundRect">
            <a:avLst>
              <a:gd name="adj" fmla="val 13953"/>
            </a:avLst>
          </a:prstGeom>
          <a:solidFill>
            <a:srgbClr val="FFFFFF">
              <a:alpha val="8000"/>
            </a:srgbClr>
          </a:solidFill>
          <a:ln>
            <a:solidFill>
              <a:schemeClr val="accent6">
                <a:alpha val="25000"/>
              </a:schemeClr>
            </a:solidFill>
          </a:ln>
        </p:spPr>
        <p:txBody>
          <a:bodyPr lIns="45718" tIns="45718" rIns="45718" bIns="45718"/>
          <a:lstStyle/>
          <a:p>
            <a:pPr/>
          </a:p>
        </p:txBody>
      </p:sp>
      <p:sp>
        <p:nvSpPr>
          <p:cNvPr id="581" name="Text 9"/>
          <p:cNvSpPr txBox="1"/>
          <p:nvPr/>
        </p:nvSpPr>
        <p:spPr>
          <a:xfrm>
            <a:off x="749807" y="3013120"/>
            <a:ext cx="1188723" cy="2960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100">
                <a:solidFill>
                  <a:schemeClr val="accent2"/>
                </a:solidFill>
                <a:latin typeface="Arial"/>
                <a:ea typeface="Arial"/>
                <a:cs typeface="Arial"/>
                <a:sym typeface="Arial"/>
              </a:defRPr>
            </a:lvl1pPr>
          </a:lstStyle>
          <a:p>
            <a:pPr/>
            <a:r>
              <a:t>$65K</a:t>
            </a:r>
          </a:p>
        </p:txBody>
      </p:sp>
      <p:sp>
        <p:nvSpPr>
          <p:cNvPr id="582" name="Text 10"/>
          <p:cNvSpPr txBox="1"/>
          <p:nvPr/>
        </p:nvSpPr>
        <p:spPr>
          <a:xfrm>
            <a:off x="749807" y="3415457"/>
            <a:ext cx="118872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13%</a:t>
            </a:r>
          </a:p>
        </p:txBody>
      </p:sp>
      <p:sp>
        <p:nvSpPr>
          <p:cNvPr id="583" name="Text 11"/>
          <p:cNvSpPr txBox="1"/>
          <p:nvPr/>
        </p:nvSpPr>
        <p:spPr>
          <a:xfrm>
            <a:off x="1920238" y="3003976"/>
            <a:ext cx="3749044"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FFFFFF"/>
                </a:solidFill>
              </a:defRPr>
            </a:lvl1pPr>
          </a:lstStyle>
          <a:p>
            <a:pPr/>
            <a:r>
              <a:t>SEBI Licensing, Exchange Data &amp; Cloud</a:t>
            </a:r>
          </a:p>
        </p:txBody>
      </p:sp>
      <p:sp>
        <p:nvSpPr>
          <p:cNvPr id="584" name="Text 12"/>
          <p:cNvSpPr txBox="1"/>
          <p:nvPr/>
        </p:nvSpPr>
        <p:spPr>
          <a:xfrm>
            <a:off x="1920238" y="3287441"/>
            <a:ext cx="3749044"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SEBI Research Analyst license, licensed NSE/BSE feeds, and AI cloud serving</a:t>
            </a:r>
          </a:p>
        </p:txBody>
      </p:sp>
      <p:sp>
        <p:nvSpPr>
          <p:cNvPr id="585" name="use of funds 3"/>
          <p:cNvSpPr/>
          <p:nvPr/>
        </p:nvSpPr>
        <p:spPr>
          <a:xfrm>
            <a:off x="538817" y="3767328"/>
            <a:ext cx="5257803" cy="786386"/>
          </a:xfrm>
          <a:prstGeom prst="roundRect">
            <a:avLst>
              <a:gd name="adj" fmla="val 13953"/>
            </a:avLst>
          </a:prstGeom>
          <a:solidFill>
            <a:srgbClr val="FFFFFF">
              <a:alpha val="8000"/>
            </a:srgbClr>
          </a:solidFill>
          <a:ln>
            <a:solidFill>
              <a:schemeClr val="accent6">
                <a:alpha val="25000"/>
              </a:schemeClr>
            </a:solidFill>
          </a:ln>
        </p:spPr>
        <p:txBody>
          <a:bodyPr lIns="45718" tIns="45718" rIns="45718" bIns="45718"/>
          <a:lstStyle/>
          <a:p>
            <a:pPr/>
          </a:p>
        </p:txBody>
      </p:sp>
      <p:sp>
        <p:nvSpPr>
          <p:cNvPr id="586" name="Text 14"/>
          <p:cNvSpPr txBox="1"/>
          <p:nvPr/>
        </p:nvSpPr>
        <p:spPr>
          <a:xfrm>
            <a:off x="749807" y="3909233"/>
            <a:ext cx="1188723" cy="2960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100">
                <a:solidFill>
                  <a:schemeClr val="accent2"/>
                </a:solidFill>
                <a:latin typeface="Arial"/>
                <a:ea typeface="Arial"/>
                <a:cs typeface="Arial"/>
                <a:sym typeface="Arial"/>
              </a:defRPr>
            </a:lvl1pPr>
          </a:lstStyle>
          <a:p>
            <a:pPr/>
            <a:r>
              <a:t>$100K</a:t>
            </a:r>
          </a:p>
        </p:txBody>
      </p:sp>
      <p:sp>
        <p:nvSpPr>
          <p:cNvPr id="587" name="Text 15"/>
          <p:cNvSpPr txBox="1"/>
          <p:nvPr/>
        </p:nvSpPr>
        <p:spPr>
          <a:xfrm>
            <a:off x="749807" y="4311568"/>
            <a:ext cx="1188723"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20%</a:t>
            </a:r>
          </a:p>
        </p:txBody>
      </p:sp>
      <p:sp>
        <p:nvSpPr>
          <p:cNvPr id="588" name="Text 16"/>
          <p:cNvSpPr txBox="1"/>
          <p:nvPr/>
        </p:nvSpPr>
        <p:spPr>
          <a:xfrm>
            <a:off x="1920238" y="3900089"/>
            <a:ext cx="3749044"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FFFFFF"/>
                </a:solidFill>
              </a:defRPr>
            </a:lvl1pPr>
          </a:lstStyle>
          <a:p>
            <a:pPr/>
            <a:r>
              <a:t>Go-to-Market &amp; Operations</a:t>
            </a:r>
          </a:p>
        </p:txBody>
      </p:sp>
      <p:sp>
        <p:nvSpPr>
          <p:cNvPr id="589" name="Text 17"/>
          <p:cNvSpPr txBox="1"/>
          <p:nvPr/>
        </p:nvSpPr>
        <p:spPr>
          <a:xfrm>
            <a:off x="1920238" y="4183553"/>
            <a:ext cx="3749044"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Advisory pilot onboarding, search rollout, acquisition tests, and founder salary</a:t>
            </a:r>
          </a:p>
        </p:txBody>
      </p:sp>
      <p:sp>
        <p:nvSpPr>
          <p:cNvPr id="590" name="use of funds 4"/>
          <p:cNvSpPr/>
          <p:nvPr/>
        </p:nvSpPr>
        <p:spPr>
          <a:xfrm>
            <a:off x="538817" y="4663440"/>
            <a:ext cx="5257803" cy="786386"/>
          </a:xfrm>
          <a:prstGeom prst="roundRect">
            <a:avLst>
              <a:gd name="adj" fmla="val 13953"/>
            </a:avLst>
          </a:prstGeom>
          <a:solidFill>
            <a:srgbClr val="FFFFFF">
              <a:alpha val="8000"/>
            </a:srgbClr>
          </a:solidFill>
          <a:ln>
            <a:solidFill>
              <a:schemeClr val="accent6">
                <a:alpha val="25000"/>
              </a:schemeClr>
            </a:solidFill>
          </a:ln>
        </p:spPr>
        <p:txBody>
          <a:bodyPr lIns="45718" tIns="45718" rIns="45718" bIns="45718"/>
          <a:lstStyle/>
          <a:p>
            <a:pPr/>
          </a:p>
        </p:txBody>
      </p:sp>
      <p:sp>
        <p:nvSpPr>
          <p:cNvPr id="591" name="Text 19"/>
          <p:cNvSpPr txBox="1"/>
          <p:nvPr/>
        </p:nvSpPr>
        <p:spPr>
          <a:xfrm>
            <a:off x="749807" y="4805345"/>
            <a:ext cx="1188723" cy="2960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100">
                <a:solidFill>
                  <a:schemeClr val="accent2"/>
                </a:solidFill>
                <a:latin typeface="Arial"/>
                <a:ea typeface="Arial"/>
                <a:cs typeface="Arial"/>
                <a:sym typeface="Arial"/>
              </a:defRPr>
            </a:lvl1pPr>
          </a:lstStyle>
          <a:p>
            <a:pPr/>
            <a:r>
              <a:t>$150K</a:t>
            </a:r>
          </a:p>
        </p:txBody>
      </p:sp>
      <p:sp>
        <p:nvSpPr>
          <p:cNvPr id="592" name="Text 20"/>
          <p:cNvSpPr txBox="1"/>
          <p:nvPr/>
        </p:nvSpPr>
        <p:spPr>
          <a:xfrm>
            <a:off x="749807" y="5207682"/>
            <a:ext cx="118872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chemeClr val="accent6"/>
                </a:solidFill>
              </a:defRPr>
            </a:lvl1pPr>
          </a:lstStyle>
          <a:p>
            <a:pPr/>
            <a:r>
              <a:t>30%</a:t>
            </a:r>
          </a:p>
        </p:txBody>
      </p:sp>
      <p:sp>
        <p:nvSpPr>
          <p:cNvPr id="593" name="Text 21"/>
          <p:cNvSpPr txBox="1"/>
          <p:nvPr/>
        </p:nvSpPr>
        <p:spPr>
          <a:xfrm>
            <a:off x="1920238" y="4796201"/>
            <a:ext cx="3749044"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FFFFFF"/>
                </a:solidFill>
              </a:defRPr>
            </a:lvl1pPr>
          </a:lstStyle>
          <a:p>
            <a:pPr/>
            <a:r>
              <a:t>Cash Reserve &amp; Runway Buffer</a:t>
            </a:r>
          </a:p>
        </p:txBody>
      </p:sp>
      <p:sp>
        <p:nvSpPr>
          <p:cNvPr id="594" name="Text 22"/>
          <p:cNvSpPr txBox="1"/>
          <p:nvPr/>
        </p:nvSpPr>
        <p:spPr>
          <a:xfrm>
            <a:off x="1920238" y="5079665"/>
            <a:ext cx="3749044"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chemeClr val="accent6"/>
                </a:solidFill>
              </a:defRPr>
            </a:lvl1pPr>
          </a:lstStyle>
          <a:p>
            <a:pPr/>
            <a:r>
              <a:t>Maintains a ₹51 L+ cash cushion all the way to Month-42 cash-flow breakeven</a:t>
            </a:r>
          </a:p>
        </p:txBody>
      </p:sp>
      <p:sp>
        <p:nvSpPr>
          <p:cNvPr id="595" name="milestones card"/>
          <p:cNvSpPr/>
          <p:nvPr/>
        </p:nvSpPr>
        <p:spPr>
          <a:xfrm>
            <a:off x="6035040" y="1965960"/>
            <a:ext cx="5605272" cy="3493009"/>
          </a:xfrm>
          <a:prstGeom prst="roundRect">
            <a:avLst>
              <a:gd name="adj" fmla="val 3141"/>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596" name="Text 24"/>
          <p:cNvSpPr txBox="1"/>
          <p:nvPr/>
        </p:nvSpPr>
        <p:spPr>
          <a:xfrm>
            <a:off x="6291070" y="2121406"/>
            <a:ext cx="5029203"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150" sz="1100">
                <a:solidFill>
                  <a:schemeClr val="accent1"/>
                </a:solidFill>
              </a:defRPr>
            </a:lvl1pPr>
          </a:lstStyle>
          <a:p>
            <a:pPr/>
            <a:r>
              <a:t>MILESTONES DELIVERED BY MONTH 15 ON $500K</a:t>
            </a:r>
          </a:p>
        </p:txBody>
      </p:sp>
      <p:sp>
        <p:nvSpPr>
          <p:cNvPr id="597" name="Text 25"/>
          <p:cNvSpPr txBox="1"/>
          <p:nvPr/>
        </p:nvSpPr>
        <p:spPr>
          <a:xfrm>
            <a:off x="6291071" y="2487166"/>
            <a:ext cx="2560322"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latin typeface="Arial"/>
                <a:ea typeface="Arial"/>
                <a:cs typeface="Arial"/>
                <a:sym typeface="Arial"/>
              </a:defRPr>
            </a:lvl1pPr>
          </a:lstStyle>
          <a:p>
            <a:pPr/>
            <a:r>
              <a:t>₹87 L</a:t>
            </a:r>
          </a:p>
        </p:txBody>
      </p:sp>
      <p:sp>
        <p:nvSpPr>
          <p:cNvPr id="598" name="Text 26"/>
          <p:cNvSpPr txBox="1"/>
          <p:nvPr/>
        </p:nvSpPr>
        <p:spPr>
          <a:xfrm>
            <a:off x="6291071" y="2898648"/>
            <a:ext cx="256032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ARR run-rate (~$92K; ₹7.3L net MRR)</a:t>
            </a:r>
          </a:p>
        </p:txBody>
      </p:sp>
      <p:sp>
        <p:nvSpPr>
          <p:cNvPr id="599" name="Text 27"/>
          <p:cNvSpPr txBox="1"/>
          <p:nvPr/>
        </p:nvSpPr>
        <p:spPr>
          <a:xfrm>
            <a:off x="8988552" y="2487166"/>
            <a:ext cx="2560322" cy="3210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latin typeface="Arial"/>
                <a:ea typeface="Arial"/>
                <a:cs typeface="Arial"/>
                <a:sym typeface="Arial"/>
              </a:defRPr>
            </a:lvl1pPr>
          </a:lstStyle>
          <a:p>
            <a:pPr/>
            <a:r>
              <a:t>77 Firms</a:t>
            </a:r>
          </a:p>
        </p:txBody>
      </p:sp>
      <p:sp>
        <p:nvSpPr>
          <p:cNvPr id="600" name="Text 28"/>
          <p:cNvSpPr txBox="1"/>
          <p:nvPr/>
        </p:nvSpPr>
        <p:spPr>
          <a:xfrm>
            <a:off x="8988552" y="2898648"/>
            <a:ext cx="256032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paying advisory teams (~243 seats)</a:t>
            </a:r>
          </a:p>
        </p:txBody>
      </p:sp>
      <p:sp>
        <p:nvSpPr>
          <p:cNvPr id="601" name="Text 29"/>
          <p:cNvSpPr txBox="1"/>
          <p:nvPr/>
        </p:nvSpPr>
        <p:spPr>
          <a:xfrm>
            <a:off x="6291071" y="3401567"/>
            <a:ext cx="2560322" cy="3210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latin typeface="Arial"/>
                <a:ea typeface="Arial"/>
                <a:cs typeface="Arial"/>
                <a:sym typeface="Arial"/>
              </a:defRPr>
            </a:lvl1pPr>
          </a:lstStyle>
          <a:p>
            <a:pPr/>
            <a:r>
              <a:t>2 APIs</a:t>
            </a:r>
          </a:p>
        </p:txBody>
      </p:sp>
      <p:sp>
        <p:nvSpPr>
          <p:cNvPr id="602" name="Text 30"/>
          <p:cNvSpPr txBox="1"/>
          <p:nvPr/>
        </p:nvSpPr>
        <p:spPr>
          <a:xfrm>
            <a:off x="6291071" y="3813047"/>
            <a:ext cx="256032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paying broker / wealth-app partners</a:t>
            </a:r>
          </a:p>
        </p:txBody>
      </p:sp>
      <p:sp>
        <p:nvSpPr>
          <p:cNvPr id="603" name="Text 31"/>
          <p:cNvSpPr txBox="1"/>
          <p:nvPr/>
        </p:nvSpPr>
        <p:spPr>
          <a:xfrm>
            <a:off x="8988552" y="3401567"/>
            <a:ext cx="2560322" cy="3210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latin typeface="Arial"/>
                <a:ea typeface="Arial"/>
                <a:cs typeface="Arial"/>
                <a:sym typeface="Arial"/>
              </a:defRPr>
            </a:lvl1pPr>
          </a:lstStyle>
          <a:p>
            <a:pPr/>
            <a:r>
              <a:t>SEBI RA</a:t>
            </a:r>
          </a:p>
        </p:txBody>
      </p:sp>
      <p:sp>
        <p:nvSpPr>
          <p:cNvPr id="604" name="Text 32"/>
          <p:cNvSpPr txBox="1"/>
          <p:nvPr/>
        </p:nvSpPr>
        <p:spPr>
          <a:xfrm>
            <a:off x="8988552" y="3813047"/>
            <a:ext cx="256032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Research Analyst license secured</a:t>
            </a:r>
          </a:p>
        </p:txBody>
      </p:sp>
      <p:sp>
        <p:nvSpPr>
          <p:cNvPr id="605" name="Text 33"/>
          <p:cNvSpPr txBox="1"/>
          <p:nvPr/>
        </p:nvSpPr>
        <p:spPr>
          <a:xfrm>
            <a:off x="6291071" y="4315967"/>
            <a:ext cx="2560322" cy="3210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latin typeface="Arial"/>
                <a:ea typeface="Arial"/>
                <a:cs typeface="Arial"/>
                <a:sym typeface="Arial"/>
              </a:defRPr>
            </a:lvl1pPr>
          </a:lstStyle>
          <a:p>
            <a:pPr/>
            <a:r>
              <a:t>Verified</a:t>
            </a:r>
          </a:p>
        </p:txBody>
      </p:sp>
      <p:sp>
        <p:nvSpPr>
          <p:cNvPr id="606" name="Text 34"/>
          <p:cNvSpPr txBox="1"/>
          <p:nvPr/>
        </p:nvSpPr>
        <p:spPr>
          <a:xfrm>
            <a:off x="6291071" y="4727447"/>
            <a:ext cx="256032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published AI accuracy benchmark</a:t>
            </a:r>
          </a:p>
        </p:txBody>
      </p:sp>
      <p:sp>
        <p:nvSpPr>
          <p:cNvPr id="607" name="Text 35"/>
          <p:cNvSpPr txBox="1"/>
          <p:nvPr/>
        </p:nvSpPr>
        <p:spPr>
          <a:xfrm>
            <a:off x="8988552" y="4315967"/>
            <a:ext cx="2560322" cy="3210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latin typeface="Arial"/>
                <a:ea typeface="Arial"/>
                <a:cs typeface="Arial"/>
                <a:sym typeface="Arial"/>
              </a:defRPr>
            </a:lvl1pPr>
          </a:lstStyle>
          <a:p>
            <a:pPr/>
            <a:r>
              <a:t>Month 42</a:t>
            </a:r>
          </a:p>
        </p:txBody>
      </p:sp>
      <p:sp>
        <p:nvSpPr>
          <p:cNvPr id="608" name="Text 36"/>
          <p:cNvSpPr txBox="1"/>
          <p:nvPr/>
        </p:nvSpPr>
        <p:spPr>
          <a:xfrm>
            <a:off x="8988552" y="4727447"/>
            <a:ext cx="256032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434B6B"/>
                </a:solidFill>
              </a:defRPr>
            </a:lvl1pPr>
          </a:lstStyle>
          <a:p>
            <a:pPr/>
            <a:r>
              <a:t>cash breakeven, zero new funding</a:t>
            </a:r>
          </a:p>
        </p:txBody>
      </p:sp>
      <p:sp>
        <p:nvSpPr>
          <p:cNvPr id="609" name="Text 37"/>
          <p:cNvSpPr txBox="1"/>
          <p:nvPr/>
        </p:nvSpPr>
        <p:spPr>
          <a:xfrm>
            <a:off x="6228146" y="5576453"/>
            <a:ext cx="560527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chemeClr val="accent6"/>
                </a:solidFill>
              </a:defRPr>
            </a:lvl1pPr>
          </a:lstStyle>
          <a:p>
            <a:pPr/>
            <a:r>
              <a:t>$400K close: ₹68 L ARR at M15 (~31 mo runway)  ·  $700K close: ₹1.06 Cr ARR, 2nd sales rep in M6</a:t>
            </a:r>
          </a:p>
        </p:txBody>
      </p:sp>
      <p:sp>
        <p:nvSpPr>
          <p:cNvPr id="610" name="Text 38"/>
          <p:cNvSpPr txBox="1"/>
          <p:nvPr/>
        </p:nvSpPr>
        <p:spPr>
          <a:xfrm>
            <a:off x="6035040" y="6053328"/>
            <a:ext cx="560527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b="1" sz="1500">
                <a:solidFill>
                  <a:schemeClr val="accent2"/>
                </a:solidFill>
              </a:defRPr>
            </a:lvl1pPr>
          </a:lstStyle>
          <a:p>
            <a:pPr/>
            <a:r>
              <a:t>Series A-ready in Months 15–18 (~₹1.12 Cr ARR run-rate)</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14" name="Text 0"/>
          <p:cNvSpPr txBox="1"/>
          <p:nvPr>
            <p:ph type="title"/>
          </p:nvPr>
        </p:nvSpPr>
        <p:spPr>
          <a:xfrm>
            <a:off x="548638" y="1737360"/>
            <a:ext cx="10607044" cy="1783080"/>
          </a:xfrm>
          <a:prstGeom prst="rect">
            <a:avLst/>
          </a:prstGeom>
        </p:spPr>
        <p:txBody>
          <a:bodyPr lIns="0" tIns="0" rIns="0" bIns="0" anchor="b"/>
          <a:lstStyle/>
          <a:p>
            <a:pPr/>
            <a:r>
              <a:t>Every Indian investor deserves an analyst, a quant and a planner.</a:t>
            </a:r>
          </a:p>
        </p:txBody>
      </p:sp>
      <p:sp>
        <p:nvSpPr>
          <p:cNvPr id="615" name="Text 1"/>
          <p:cNvSpPr txBox="1"/>
          <p:nvPr/>
        </p:nvSpPr>
        <p:spPr>
          <a:xfrm>
            <a:off x="548639" y="3657598"/>
            <a:ext cx="8778242" cy="3828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600">
                <a:solidFill>
                  <a:schemeClr val="accent2"/>
                </a:solidFill>
                <a:latin typeface="Arial"/>
                <a:ea typeface="Arial"/>
                <a:cs typeface="Arial"/>
                <a:sym typeface="Arial"/>
              </a:defRPr>
            </a:lvl1pPr>
          </a:lstStyle>
          <a:p>
            <a:pPr/>
            <a:r>
              <a:t>Anvest puts all three behind one question.</a:t>
            </a:r>
          </a:p>
        </p:txBody>
      </p:sp>
      <p:sp>
        <p:nvSpPr>
          <p:cNvPr id="616" name="Text 2"/>
          <p:cNvSpPr txBox="1"/>
          <p:nvPr/>
        </p:nvSpPr>
        <p:spPr>
          <a:xfrm>
            <a:off x="548639" y="4343398"/>
            <a:ext cx="8778242" cy="2416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FFFFFF"/>
                </a:solidFill>
              </a:defRPr>
            </a:lvl1pPr>
          </a:lstStyle>
          <a:p>
            <a:pPr/>
            <a:r>
              <a:t>Institutional depth. Retail reach. One verified filings database.</a:t>
            </a:r>
          </a:p>
        </p:txBody>
      </p:sp>
      <p:sp>
        <p:nvSpPr>
          <p:cNvPr id="617" name="Text 3"/>
          <p:cNvSpPr txBox="1"/>
          <p:nvPr/>
        </p:nvSpPr>
        <p:spPr>
          <a:xfrm>
            <a:off x="548639" y="4846320"/>
            <a:ext cx="877824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chemeClr val="accent6"/>
                </a:solidFill>
              </a:defRPr>
            </a:lvl1pPr>
          </a:lstStyle>
          <a:p>
            <a:pPr/>
            <a:r>
              <a:t>Book a live demo and data-room walkthrough: harsh@anvest.in</a:t>
            </a:r>
          </a:p>
        </p:txBody>
      </p:sp>
      <p:sp>
        <p:nvSpPr>
          <p:cNvPr id="618" name="qr backing"/>
          <p:cNvSpPr/>
          <p:nvPr/>
        </p:nvSpPr>
        <p:spPr>
          <a:xfrm>
            <a:off x="9921240" y="3611879"/>
            <a:ext cx="1737362" cy="1737362"/>
          </a:xfrm>
          <a:prstGeom prst="roundRect">
            <a:avLst>
              <a:gd name="adj" fmla="val 5263"/>
            </a:avLst>
          </a:prstGeom>
          <a:solidFill>
            <a:srgbClr val="FFFFFF"/>
          </a:solidFill>
          <a:ln w="12700">
            <a:miter lim="400000"/>
          </a:ln>
        </p:spPr>
        <p:txBody>
          <a:bodyPr lIns="45718" tIns="45718" rIns="45718" bIns="45718"/>
          <a:lstStyle/>
          <a:p>
            <a:pPr/>
          </a:p>
        </p:txBody>
      </p:sp>
      <p:pic>
        <p:nvPicPr>
          <p:cNvPr id="619" name="qr code" descr="qr code"/>
          <p:cNvPicPr>
            <a:picLocks noChangeAspect="1"/>
          </p:cNvPicPr>
          <p:nvPr/>
        </p:nvPicPr>
        <p:blipFill>
          <a:blip r:embed="rId3">
            <a:extLst/>
          </a:blip>
          <a:stretch>
            <a:fillRect/>
          </a:stretch>
        </p:blipFill>
        <p:spPr>
          <a:xfrm>
            <a:off x="10012680" y="3703320"/>
            <a:ext cx="1554482" cy="1554482"/>
          </a:xfrm>
          <a:prstGeom prst="rect">
            <a:avLst/>
          </a:prstGeom>
          <a:ln w="12700">
            <a:miter lim="400000"/>
          </a:ln>
        </p:spPr>
      </p:pic>
      <p:sp>
        <p:nvSpPr>
          <p:cNvPr id="620" name="Text 5"/>
          <p:cNvSpPr txBox="1"/>
          <p:nvPr/>
        </p:nvSpPr>
        <p:spPr>
          <a:xfrm>
            <a:off x="9646918" y="5413247"/>
            <a:ext cx="228600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chemeClr val="accent6"/>
                </a:solidFill>
              </a:defRPr>
            </a:lvl1pPr>
          </a:lstStyle>
          <a:p>
            <a:pPr/>
            <a:r>
              <a:t>Scan: a live screen, no sign-in</a:t>
            </a:r>
          </a:p>
        </p:txBody>
      </p:sp>
      <p:sp>
        <p:nvSpPr>
          <p:cNvPr id="621" name="Text 6"/>
          <p:cNvSpPr txBox="1"/>
          <p:nvPr/>
        </p:nvSpPr>
        <p:spPr>
          <a:xfrm>
            <a:off x="548640" y="6172198"/>
            <a:ext cx="73152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chemeClr val="accent6"/>
                </a:solidFill>
              </a:defRPr>
            </a:lvl1pPr>
          </a:lstStyle>
          <a:p>
            <a:pPr/>
            <a:r>
              <a:t>Harsh Bhardwaj  ·  harsh@anvest.in  ·  live at anvest.in</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5" name="Text 0"/>
          <p:cNvSpPr txBox="1"/>
          <p:nvPr>
            <p:ph type="body" sz="quarter" idx="1"/>
          </p:nvPr>
        </p:nvSpPr>
        <p:spPr>
          <a:xfrm>
            <a:off x="548640" y="384047"/>
            <a:ext cx="8229601" cy="274322"/>
          </a:xfrm>
          <a:prstGeom prst="rect">
            <a:avLst/>
          </a:prstGeom>
        </p:spPr>
        <p:txBody>
          <a:bodyPr lIns="0" tIns="0" rIns="0" bIns="0"/>
          <a:lstStyle/>
          <a:p>
            <a:pPr/>
            <a:r>
              <a:t>OPTIONAL REFERENCE APPENDIX</a:t>
            </a:r>
          </a:p>
        </p:txBody>
      </p:sp>
      <p:sp>
        <p:nvSpPr>
          <p:cNvPr id="626" name="Text 0"/>
          <p:cNvSpPr txBox="1"/>
          <p:nvPr>
            <p:ph type="title"/>
          </p:nvPr>
        </p:nvSpPr>
        <p:spPr>
          <a:xfrm>
            <a:off x="548638" y="676655"/>
            <a:ext cx="11094419" cy="868682"/>
          </a:xfrm>
          <a:prstGeom prst="rect">
            <a:avLst/>
          </a:prstGeom>
        </p:spPr>
        <p:txBody>
          <a:bodyPr lIns="0" tIns="0" rIns="0" bIns="0"/>
          <a:lstStyle>
            <a:lvl1pPr>
              <a:defRPr sz="2800"/>
            </a:lvl1pPr>
          </a:lstStyle>
          <a:p>
            <a:pPr/>
            <a:r>
              <a:t>Five-year operating model and Month-15 revenue assumptions</a:t>
            </a:r>
          </a:p>
        </p:txBody>
      </p:sp>
      <p:graphicFrame>
        <p:nvGraphicFramePr>
          <p:cNvPr id="627" name="Table 0"/>
          <p:cNvGraphicFramePr/>
          <p:nvPr/>
        </p:nvGraphicFramePr>
        <p:xfrm>
          <a:off x="548640" y="1645920"/>
          <a:ext cx="11091674" cy="2743202"/>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1280160"/>
                <a:gridCol w="1005839"/>
                <a:gridCol w="1417320"/>
                <a:gridCol w="1280160"/>
                <a:gridCol w="1280160"/>
                <a:gridCol w="1828800"/>
                <a:gridCol w="1463040"/>
                <a:gridCol w="1536192"/>
              </a:tblGrid>
              <a:tr h="457200">
                <a:tc>
                  <a:txBody>
                    <a:bodyPr/>
                    <a:lstStyle/>
                    <a:p>
                      <a:pPr algn="l">
                        <a:defRPr sz="1800">
                          <a:solidFill>
                            <a:srgbClr val="000000"/>
                          </a:solidFill>
                        </a:defRPr>
                      </a:pPr>
                      <a:r>
                        <a:rPr b="1" sz="1000">
                          <a:solidFill>
                            <a:srgbClr val="FFFFFF"/>
                          </a:solidFill>
                        </a:rPr>
                        <a:t>Timeline</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chemeClr val="accent3"/>
                    </a:solidFill>
                  </a:tcPr>
                </a:tc>
                <a:tc>
                  <a:txBody>
                    <a:bodyPr/>
                    <a:lstStyle/>
                    <a:p>
                      <a:pPr algn="ctr">
                        <a:defRPr sz="1800">
                          <a:solidFill>
                            <a:srgbClr val="000000"/>
                          </a:solidFill>
                        </a:defRPr>
                      </a:pPr>
                      <a:r>
                        <a:rPr b="1" sz="1000">
                          <a:solidFill>
                            <a:srgbClr val="FFFFFF"/>
                          </a:solidFill>
                        </a:rPr>
                        <a:t>B2B Sales Reps</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chemeClr val="accent3"/>
                    </a:solidFill>
                  </a:tcPr>
                </a:tc>
                <a:tc>
                  <a:txBody>
                    <a:bodyPr/>
                    <a:lstStyle/>
                    <a:p>
                      <a:pPr algn="ctr">
                        <a:defRPr sz="1800">
                          <a:solidFill>
                            <a:srgbClr val="000000"/>
                          </a:solidFill>
                        </a:defRPr>
                      </a:pPr>
                      <a:r>
                        <a:rPr b="1" sz="1000">
                          <a:solidFill>
                            <a:srgbClr val="FFFFFF"/>
                          </a:solidFill>
                        </a:rPr>
                        <a:t>Monthly Active Users</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chemeClr val="accent3"/>
                    </a:solidFill>
                  </a:tcPr>
                </a:tc>
                <a:tc>
                  <a:txBody>
                    <a:bodyPr/>
                    <a:lstStyle/>
                    <a:p>
                      <a:pPr algn="ctr">
                        <a:defRPr sz="1800">
                          <a:solidFill>
                            <a:srgbClr val="000000"/>
                          </a:solidFill>
                        </a:defRPr>
                      </a:pPr>
                      <a:r>
                        <a:rPr b="1" sz="1000">
                          <a:solidFill>
                            <a:srgbClr val="FFFFFF"/>
                          </a:solidFill>
                        </a:rPr>
                        <a:t>Individual Subs (Plus/Pro)</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chemeClr val="accent3"/>
                    </a:solidFill>
                  </a:tcPr>
                </a:tc>
                <a:tc>
                  <a:txBody>
                    <a:bodyPr/>
                    <a:lstStyle/>
                    <a:p>
                      <a:pPr algn="ctr">
                        <a:defRPr sz="1800">
                          <a:solidFill>
                            <a:srgbClr val="000000"/>
                          </a:solidFill>
                        </a:defRPr>
                      </a:pPr>
                      <a:r>
                        <a:rPr b="1" sz="1000">
                          <a:solidFill>
                            <a:srgbClr val="FFFFFF"/>
                          </a:solidFill>
                        </a:rPr>
                        <a:t>Advisory Seats (Desk)</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chemeClr val="accent3"/>
                    </a:solidFill>
                  </a:tcPr>
                </a:tc>
                <a:tc>
                  <a:txBody>
                    <a:bodyPr/>
                    <a:lstStyle/>
                    <a:p>
                      <a:pPr algn="ctr">
                        <a:defRPr sz="1800">
                          <a:solidFill>
                            <a:srgbClr val="000000"/>
                          </a:solidFill>
                        </a:defRPr>
                      </a:pPr>
                      <a:r>
                        <a:rPr b="1" sz="1000">
                          <a:solidFill>
                            <a:srgbClr val="FFFFFF"/>
                          </a:solidFill>
                        </a:rPr>
                        <a:t>Broker APIs (Active Users)</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chemeClr val="accent3"/>
                    </a:solidFill>
                  </a:tcPr>
                </a:tc>
                <a:tc>
                  <a:txBody>
                    <a:bodyPr/>
                    <a:lstStyle/>
                    <a:p>
                      <a:pPr algn="ctr">
                        <a:defRPr sz="1800">
                          <a:solidFill>
                            <a:srgbClr val="000000"/>
                          </a:solidFill>
                        </a:defRPr>
                      </a:pPr>
                      <a:r>
                        <a:rPr b="1" sz="1000">
                          <a:solidFill>
                            <a:srgbClr val="FFFFFF"/>
                          </a:solidFill>
                        </a:rPr>
                        <a:t>Model Portfolio Subs</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chemeClr val="accent3"/>
                    </a:solidFill>
                  </a:tcPr>
                </a:tc>
                <a:tc>
                  <a:txBody>
                    <a:bodyPr/>
                    <a:lstStyle/>
                    <a:p>
                      <a:pPr algn="ctr">
                        <a:defRPr sz="1800">
                          <a:solidFill>
                            <a:srgbClr val="000000"/>
                          </a:solidFill>
                        </a:defRPr>
                      </a:pPr>
                      <a:r>
                        <a:rPr b="1" sz="1000">
                          <a:solidFill>
                            <a:srgbClr val="FFFFFF"/>
                          </a:solidFill>
                        </a:rPr>
                        <a:t>Annualized ARR</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chemeClr val="accent3"/>
                    </a:solidFill>
                  </a:tcPr>
                </a:tc>
              </a:tr>
              <a:tr h="457200">
                <a:tc>
                  <a:txBody>
                    <a:bodyPr/>
                    <a:lstStyle/>
                    <a:p>
                      <a:pPr algn="l">
                        <a:defRPr sz="1800">
                          <a:solidFill>
                            <a:srgbClr val="000000"/>
                          </a:solidFill>
                        </a:defRPr>
                      </a:pPr>
                      <a:r>
                        <a:rPr b="1" sz="1100">
                          <a:solidFill>
                            <a:srgbClr val="0B0E26"/>
                          </a:solidFill>
                        </a:rPr>
                        <a:t>Month 15</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3 (incl. Founder)</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10,192</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186</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243 (77 firms)</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2 (9,593)</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 (Post-License)</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100">
                          <a:solidFill>
                            <a:schemeClr val="accent1"/>
                          </a:solidFill>
                        </a:rPr>
                        <a:t>₹87 L</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57200">
                <a:tc>
                  <a:txBody>
                    <a:bodyPr/>
                    <a:lstStyle/>
                    <a:p>
                      <a:pPr algn="l">
                        <a:defRPr sz="1800">
                          <a:solidFill>
                            <a:srgbClr val="000000"/>
                          </a:solidFill>
                        </a:defRPr>
                      </a:pPr>
                      <a:r>
                        <a:rPr b="1" sz="1100">
                          <a:solidFill>
                            <a:srgbClr val="0B0E26"/>
                          </a:solidFill>
                        </a:rPr>
                        <a:t>Year 2</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6</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24,015</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496</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532</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4 (37,466)</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362</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b="1" sz="1100">
                          <a:solidFill>
                            <a:schemeClr val="accent1"/>
                          </a:solidFill>
                        </a:rPr>
                        <a:t>₹2.3 Cr</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r>
              <a:tr h="457200">
                <a:tc>
                  <a:txBody>
                    <a:bodyPr/>
                    <a:lstStyle/>
                    <a:p>
                      <a:pPr algn="l">
                        <a:defRPr sz="1800">
                          <a:solidFill>
                            <a:srgbClr val="000000"/>
                          </a:solidFill>
                        </a:defRPr>
                      </a:pPr>
                      <a:r>
                        <a:rPr b="1" sz="1100">
                          <a:solidFill>
                            <a:srgbClr val="0B0E26"/>
                          </a:solidFill>
                        </a:rPr>
                        <a:t>Year 3</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10</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84,016</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1,746</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1,395</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6 (94,213)</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2,810</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100">
                          <a:solidFill>
                            <a:schemeClr val="accent1"/>
                          </a:solidFill>
                        </a:rPr>
                        <a:t>₹6.5 Cr</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r h="457200">
                <a:tc>
                  <a:txBody>
                    <a:bodyPr/>
                    <a:lstStyle/>
                    <a:p>
                      <a:pPr algn="l">
                        <a:defRPr sz="1800">
                          <a:solidFill>
                            <a:srgbClr val="000000"/>
                          </a:solidFill>
                        </a:defRPr>
                      </a:pPr>
                      <a:r>
                        <a:rPr b="1" sz="1100">
                          <a:solidFill>
                            <a:srgbClr val="0B0E26"/>
                          </a:solidFill>
                        </a:rPr>
                        <a:t>Year 4</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13</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1,69,058</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4,519</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2,634</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8 (1,97,638)</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sz="1100">
                          <a:solidFill>
                            <a:srgbClr val="0B0E26"/>
                          </a:solidFill>
                        </a:rPr>
                        <a:t>7,296</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c>
                  <a:txBody>
                    <a:bodyPr/>
                    <a:lstStyle/>
                    <a:p>
                      <a:pPr algn="ctr">
                        <a:defRPr sz="1800">
                          <a:solidFill>
                            <a:srgbClr val="000000"/>
                          </a:solidFill>
                        </a:defRPr>
                      </a:pPr>
                      <a:r>
                        <a:rPr b="1" sz="1100">
                          <a:solidFill>
                            <a:schemeClr val="accent1"/>
                          </a:solidFill>
                        </a:rPr>
                        <a:t>₹13.2 Cr</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4F7FC"/>
                    </a:solidFill>
                  </a:tcPr>
                </a:tc>
              </a:tr>
              <a:tr h="457200">
                <a:tc>
                  <a:txBody>
                    <a:bodyPr/>
                    <a:lstStyle/>
                    <a:p>
                      <a:pPr algn="l">
                        <a:defRPr sz="1800">
                          <a:solidFill>
                            <a:srgbClr val="000000"/>
                          </a:solidFill>
                        </a:defRPr>
                      </a:pPr>
                      <a:r>
                        <a:rPr b="1" sz="1100">
                          <a:solidFill>
                            <a:srgbClr val="0B0E26"/>
                          </a:solidFill>
                        </a:rPr>
                        <a:t>Year 5</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15</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3,40,177</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9,635</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4,132</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10 (3,83,373)</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sz="1100">
                          <a:solidFill>
                            <a:srgbClr val="0B0E26"/>
                          </a:solidFill>
                        </a:rPr>
                        <a:t>15,349</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c>
                  <a:txBody>
                    <a:bodyPr/>
                    <a:lstStyle/>
                    <a:p>
                      <a:pPr algn="ctr">
                        <a:defRPr sz="1800">
                          <a:solidFill>
                            <a:srgbClr val="000000"/>
                          </a:solidFill>
                        </a:defRPr>
                      </a:pPr>
                      <a:r>
                        <a:rPr b="1" sz="1100">
                          <a:solidFill>
                            <a:schemeClr val="accent1"/>
                          </a:solidFill>
                        </a:rPr>
                        <a:t>₹23.1 Cr</a:t>
                      </a:r>
                    </a:p>
                  </a:txBody>
                  <a:tcPr marL="38100" marR="38100" marT="38100" marB="38100" anchor="ctr" anchorCtr="0" horzOverflow="overflow">
                    <a:lnL>
                      <a:solidFill>
                        <a:srgbClr val="E3E7F2"/>
                      </a:solidFill>
                    </a:lnL>
                    <a:lnR>
                      <a:solidFill>
                        <a:srgbClr val="E3E7F2"/>
                      </a:solidFill>
                    </a:lnR>
                    <a:lnT>
                      <a:solidFill>
                        <a:srgbClr val="E3E7F2"/>
                      </a:solidFill>
                    </a:lnT>
                    <a:lnB>
                      <a:solidFill>
                        <a:srgbClr val="E3E7F2"/>
                      </a:solidFill>
                    </a:lnB>
                    <a:solidFill>
                      <a:srgbClr val="FFFFFF"/>
                    </a:solidFill>
                  </a:tcPr>
                </a:tc>
              </a:tr>
            </a:tbl>
          </a:graphicData>
        </a:graphic>
      </p:graphicFrame>
      <p:sp>
        <p:nvSpPr>
          <p:cNvPr id="628" name="condition 1"/>
          <p:cNvSpPr/>
          <p:nvPr/>
        </p:nvSpPr>
        <p:spPr>
          <a:xfrm>
            <a:off x="548640" y="4846320"/>
            <a:ext cx="3566160" cy="1143002"/>
          </a:xfrm>
          <a:prstGeom prst="roundRect">
            <a:avLst>
              <a:gd name="adj" fmla="val 960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629" name="Text 4"/>
          <p:cNvSpPr txBox="1"/>
          <p:nvPr/>
        </p:nvSpPr>
        <p:spPr>
          <a:xfrm>
            <a:off x="777238" y="4937759"/>
            <a:ext cx="3154684"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lvl1pPr>
          </a:lstStyle>
          <a:p>
            <a:pPr/>
            <a:r>
              <a:t>Month-15 Net MRR ($500K Plan)</a:t>
            </a:r>
          </a:p>
        </p:txBody>
      </p:sp>
      <p:sp>
        <p:nvSpPr>
          <p:cNvPr id="630" name="Text 5"/>
          <p:cNvSpPr txBox="1"/>
          <p:nvPr/>
        </p:nvSpPr>
        <p:spPr>
          <a:xfrm>
            <a:off x="777238" y="5230367"/>
            <a:ext cx="3154684" cy="4672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₹5.5L Advisory Desk + ₹1.4L Broker APIs + ₹0.4L Individual Plans = ₹7.3L Net MRR after GST ($400K: ₹5.7L; $700K: ₹8.8L).</a:t>
            </a:r>
          </a:p>
        </p:txBody>
      </p:sp>
      <p:sp>
        <p:nvSpPr>
          <p:cNvPr id="631" name="condition 2"/>
          <p:cNvSpPr/>
          <p:nvPr/>
        </p:nvSpPr>
        <p:spPr>
          <a:xfrm>
            <a:off x="4315967" y="4846320"/>
            <a:ext cx="3566162" cy="1143002"/>
          </a:xfrm>
          <a:prstGeom prst="roundRect">
            <a:avLst>
              <a:gd name="adj" fmla="val 960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632" name="Text 7"/>
          <p:cNvSpPr txBox="1"/>
          <p:nvPr/>
        </p:nvSpPr>
        <p:spPr>
          <a:xfrm>
            <a:off x="4544567" y="4937759"/>
            <a:ext cx="3154683"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lvl1pPr>
          </a:lstStyle>
          <a:p>
            <a:pPr/>
            <a:r>
              <a:t>Seed Unit Economics &amp; Payback</a:t>
            </a:r>
          </a:p>
        </p:txBody>
      </p:sp>
      <p:sp>
        <p:nvSpPr>
          <p:cNvPr id="633" name="Text 8"/>
          <p:cNvSpPr txBox="1"/>
          <p:nvPr/>
        </p:nvSpPr>
        <p:spPr>
          <a:xfrm>
            <a:off x="4544567" y="5230367"/>
            <a:ext cx="3154683" cy="4672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4 new firms/rep/mo ramped (avg. 3 seats at ₹2,245 net/seat/mo, 2% churn). ₹0.73L team CAC paid back in ~11 months.</a:t>
            </a:r>
          </a:p>
        </p:txBody>
      </p:sp>
      <p:sp>
        <p:nvSpPr>
          <p:cNvPr id="634" name="condition 3"/>
          <p:cNvSpPr/>
          <p:nvPr/>
        </p:nvSpPr>
        <p:spPr>
          <a:xfrm>
            <a:off x="8083294" y="4846320"/>
            <a:ext cx="3566162" cy="1143002"/>
          </a:xfrm>
          <a:prstGeom prst="roundRect">
            <a:avLst>
              <a:gd name="adj" fmla="val 9600"/>
            </a:avLst>
          </a:prstGeom>
          <a:solidFill>
            <a:srgbClr val="FFFFFF"/>
          </a:solidFill>
          <a:ln w="12700">
            <a:miter lim="400000"/>
          </a:ln>
          <a:effectLst>
            <a:outerShdw sx="100000" sy="100000" kx="0" ky="0" algn="b" rotWithShape="0" blurRad="127000" dist="38100" dir="5400000">
              <a:srgbClr val="0B0E26">
                <a:alpha val="10000"/>
              </a:srgbClr>
            </a:outerShdw>
          </a:effectLst>
        </p:spPr>
        <p:txBody>
          <a:bodyPr lIns="45718" tIns="45718" rIns="45718" bIns="45718"/>
          <a:lstStyle/>
          <a:p>
            <a:pPr/>
          </a:p>
        </p:txBody>
      </p:sp>
      <p:sp>
        <p:nvSpPr>
          <p:cNvPr id="635" name="Text 10"/>
          <p:cNvSpPr txBox="1"/>
          <p:nvPr/>
        </p:nvSpPr>
        <p:spPr>
          <a:xfrm>
            <a:off x="8311894" y="4937759"/>
            <a:ext cx="3154683"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lvl1pPr>
          </a:lstStyle>
          <a:p>
            <a:pPr/>
            <a:r>
              <a:t>Series A Expansion (Month 18+)</a:t>
            </a:r>
          </a:p>
        </p:txBody>
      </p:sp>
      <p:sp>
        <p:nvSpPr>
          <p:cNvPr id="636" name="Text 11"/>
          <p:cNvSpPr txBox="1"/>
          <p:nvPr/>
        </p:nvSpPr>
        <p:spPr>
          <a:xfrm>
            <a:off x="8311894" y="5230367"/>
            <a:ext cx="3154683" cy="4672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434B6B"/>
                </a:solidFill>
              </a:defRPr>
            </a:lvl1pPr>
          </a:lstStyle>
          <a:p>
            <a:pPr/>
            <a:r>
              <a:t>Expands Desk to wealth practices &amp; family offices; adds 8 broker APIs (₹15→₹6/user) and SEBI-licensed portfolios (₹250/mo).</a:t>
            </a:r>
          </a:p>
        </p:txBody>
      </p:sp>
      <p:sp>
        <p:nvSpPr>
          <p:cNvPr id="637" name="Slide Number Placeholder 0"/>
          <p:cNvSpPr txBox="1"/>
          <p:nvPr>
            <p:ph type="sldNum" sz="quarter" idx="4294967295"/>
          </p:nvPr>
        </p:nvSpPr>
        <p:spPr>
          <a:xfrm>
            <a:off x="11501618" y="6419088"/>
            <a:ext cx="141437" cy="13707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Anvest">
  <a:themeElements>
    <a:clrScheme name="Anvest">
      <a:dk1>
        <a:srgbClr val="0B0E26"/>
      </a:dk1>
      <a:lt1>
        <a:srgbClr val="26251B"/>
      </a:lt1>
      <a:dk2>
        <a:srgbClr val="A7A7A7"/>
      </a:dk2>
      <a:lt2>
        <a:srgbClr val="535353"/>
      </a:lt2>
      <a:accent1>
        <a:srgbClr val="4A3699"/>
      </a:accent1>
      <a:accent2>
        <a:srgbClr val="F5A623"/>
      </a:accent2>
      <a:accent3>
        <a:srgbClr val="1E2761"/>
      </a:accent3>
      <a:accent4>
        <a:srgbClr val="1FA971"/>
      </a:accent4>
      <a:accent5>
        <a:srgbClr val="7C88B0"/>
      </a:accent5>
      <a:accent6>
        <a:srgbClr val="C9D3F0"/>
      </a:accent6>
      <a:hlink>
        <a:srgbClr val="0000FF"/>
      </a:hlink>
      <a:folHlink>
        <a:srgbClr val="FF00FF"/>
      </a:folHlink>
    </a:clrScheme>
    <a:fontScheme name="Anvest">
      <a:majorFont>
        <a:latin typeface="Helvetica"/>
        <a:ea typeface="Helvetica"/>
        <a:cs typeface="Helvetica"/>
      </a:majorFont>
      <a:minorFont>
        <a:latin typeface="Calibri"/>
        <a:ea typeface="Calibri"/>
        <a:cs typeface="Calibri"/>
      </a:minorFont>
    </a:fontScheme>
    <a:fmtScheme name="Anves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26251B"/>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Anvest">
  <a:themeElements>
    <a:clrScheme name="Anvest">
      <a:dk1>
        <a:srgbClr val="0B0E26"/>
      </a:dk1>
      <a:lt1>
        <a:srgbClr val="26251B"/>
      </a:lt1>
      <a:dk2>
        <a:srgbClr val="A7A7A7"/>
      </a:dk2>
      <a:lt2>
        <a:srgbClr val="535353"/>
      </a:lt2>
      <a:accent1>
        <a:srgbClr val="4A3699"/>
      </a:accent1>
      <a:accent2>
        <a:srgbClr val="F5A623"/>
      </a:accent2>
      <a:accent3>
        <a:srgbClr val="1E2761"/>
      </a:accent3>
      <a:accent4>
        <a:srgbClr val="1FA971"/>
      </a:accent4>
      <a:accent5>
        <a:srgbClr val="7C88B0"/>
      </a:accent5>
      <a:accent6>
        <a:srgbClr val="C9D3F0"/>
      </a:accent6>
      <a:hlink>
        <a:srgbClr val="0000FF"/>
      </a:hlink>
      <a:folHlink>
        <a:srgbClr val="FF00FF"/>
      </a:folHlink>
    </a:clrScheme>
    <a:fontScheme name="Anvest">
      <a:majorFont>
        <a:latin typeface="Helvetica"/>
        <a:ea typeface="Helvetica"/>
        <a:cs typeface="Helvetica"/>
      </a:majorFont>
      <a:minorFont>
        <a:latin typeface="Calibri"/>
        <a:ea typeface="Calibri"/>
        <a:cs typeface="Calibri"/>
      </a:minorFont>
    </a:fontScheme>
    <a:fmtScheme name="Anves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26251B"/>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B0E26"/>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