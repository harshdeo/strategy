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jpg" ContentType="image/jpg"/>
  <Override PartName="/ppt/media/image-4-1.jpg" ContentType="image/jpg"/>
  <Override PartName="/ppt/media/image-4-2.jpg" ContentType="image/jpg"/>
  <Override PartName="/ppt/media/image-4-3.jpg" ContentType="image/jpg"/>
  <Override PartName="/ppt/media/image-4-4.jpg" ContentType="image/jpg"/>
  <Override PartName="/ppt/media/image-4-5.jpg" ContentType="image/jpg"/>
  <Override PartName="/ppt/media/image-4-6.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b1cef639-0bf4-c4e3-ea50-8ab6239b795e}">
          <p14:sldIdLst>
            <p14:sldId id="256"/>
            <p14:sldId id="257"/>
            <p14:sldId id="258"/>
            <p14:sldId id="259"/>
            <p14:sldId id="260"/>
            <p14:sldId id="261"/>
            <p14:sldId id="262"/>
            <p14:sldId id="263"/>
            <p14:sldId id="264"/>
          </p14:sldIdLst>
        </p14:section>
        <p14:section name="Business" id="{96f23c00-626d-c25e-85d3-515fc7b87fd9}">
          <p14:sldIdLst>
            <p14:sldId id="265"/>
            <p14:sldId id="266"/>
            <p14:sldId id="267"/>
            <p14:sldId id="268"/>
            <p14:sldId id="269"/>
            <p14:sldId id="270"/>
            <p14:sldId id="271"/>
          </p14:sldIdLst>
        </p14:section>
        <p14:section name="Appendix" id="{43df425c-c27e-be5e-c7b3-964b5c36333e}">
          <p14:sldIdLst>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Desk seats</c:v>
                </c:pt>
              </c:strCache>
            </c:strRef>
          </c:tx>
          <c:spPr>
            <a:solidFill>
              <a:srgbClr val="1E2761"/>
            </a:solidFill>
            <a:ln>
              <a:noFill/>
            </a:ln>
          </c:spPr>
          <c:dLbls>
            <c:numFmt formatCode="[&lt;1]&quot;&quot;;&quot;₹&quot;0.0" sourceLinked="0"/>
            <c:txPr>
              <a:bodyPr/>
              <a:lstStyle/>
              <a:p>
                <a:pPr>
                  <a:defRPr sz="950" b="1">
                    <a:solidFill>
                      <a:srgbClr val="FFFFFF"/>
                    </a:solidFill>
                  </a:defRPr>
                </a:pPr>
              </a:p>
            </c:txPr>
            <c:dLblPos val="ctr"/>
            <c:showLegendKey val="0"/>
            <c:showVal val="1"/>
            <c:showCatName val="0"/>
            <c:showSerName val="0"/>
            <c:showPercent val="0"/>
            <c:showBubbleSize val="0"/>
          </c:dLbls>
          <c:cat>
            <c:strRef>
              <c:f>Sheet1!$A$2:$A$6</c:f>
              <c:strCache>
                <c:ptCount val="5"/>
                <c:pt idx="0">
                  <c:v>Month 15
₹87 L</c:v>
                </c:pt>
                <c:pt idx="1">
                  <c:v>Year 2
₹2.3 Cr</c:v>
                </c:pt>
                <c:pt idx="2">
                  <c:v>Year 3
₹6.5 Cr</c:v>
                </c:pt>
                <c:pt idx="3">
                  <c:v>Year 4
₹13.2 Cr</c:v>
                </c:pt>
                <c:pt idx="4">
                  <c:v>Year 5
₹23.1 Cr</c:v>
                </c:pt>
              </c:strCache>
            </c:strRef>
          </c:cat>
          <c:val>
            <c:numRef>
              <c:f>Sheet1!$B$2:$B$6</c:f>
              <c:numCache>
                <c:formatCode>0.0</c:formatCode>
                <c:ptCount val="5"/>
                <c:pt idx="0">
                  <c:v>0.65</c:v>
                </c:pt>
                <c:pt idx="1">
                  <c:v>1.43</c:v>
                </c:pt>
                <c:pt idx="2">
                  <c:v>3.76</c:v>
                </c:pt>
                <c:pt idx="3">
                  <c:v>7.1</c:v>
                </c:pt>
                <c:pt idx="4">
                  <c:v>11.13</c:v>
                </c:pt>
              </c:numCache>
            </c:numRef>
          </c:val>
        </c:ser>
        <c:ser>
          <c:idx val="1"/>
          <c:order val="1"/>
          <c:tx>
            <c:strRef>
              <c:f>Sheet1!$C$1</c:f>
              <c:strCache>
                <c:ptCount val="1"/>
                <c:pt idx="0">
                  <c:v>Retail subscriptions</c:v>
                </c:pt>
              </c:strCache>
            </c:strRef>
          </c:tx>
          <c:spPr>
            <a:solidFill>
              <a:srgbClr val="4A3699"/>
            </a:solidFill>
            <a:ln>
              <a:noFill/>
            </a:ln>
          </c:spPr>
          <c:dLbls>
            <c:numFmt formatCode="[&lt;1]&quot;&quot;;&quot;₹&quot;0.0" sourceLinked="0"/>
            <c:txPr>
              <a:bodyPr/>
              <a:lstStyle/>
              <a:p>
                <a:pPr>
                  <a:defRPr sz="950" b="1">
                    <a:solidFill>
                      <a:srgbClr val="FFFFFF"/>
                    </a:solidFill>
                  </a:defRPr>
                </a:pPr>
              </a:p>
            </c:txPr>
            <c:dLblPos val="ctr"/>
            <c:showLegendKey val="0"/>
            <c:showVal val="1"/>
            <c:showCatName val="0"/>
            <c:showSerName val="0"/>
            <c:showPercent val="0"/>
            <c:showBubbleSize val="0"/>
          </c:dLbls>
          <c:cat>
            <c:strRef>
              <c:f>Sheet1!$A$2:$A$6</c:f>
              <c:strCache>
                <c:ptCount val="5"/>
                <c:pt idx="0">
                  <c:v>Month 15
₹87 L</c:v>
                </c:pt>
                <c:pt idx="1">
                  <c:v>Year 2
₹2.3 Cr</c:v>
                </c:pt>
                <c:pt idx="2">
                  <c:v>Year 3
₹6.5 Cr</c:v>
                </c:pt>
                <c:pt idx="3">
                  <c:v>Year 4
₹13.2 Cr</c:v>
                </c:pt>
                <c:pt idx="4">
                  <c:v>Year 5
₹23.1 Cr</c:v>
                </c:pt>
              </c:strCache>
            </c:strRef>
          </c:cat>
          <c:val>
            <c:numRef>
              <c:f>Sheet1!$C$2:$C$6</c:f>
              <c:numCache>
                <c:formatCode>0.0</c:formatCode>
                <c:ptCount val="5"/>
                <c:pt idx="0">
                  <c:v>0.04</c:v>
                </c:pt>
                <c:pt idx="1">
                  <c:v>0.12</c:v>
                </c:pt>
                <c:pt idx="2">
                  <c:v>0.42</c:v>
                </c:pt>
                <c:pt idx="3">
                  <c:v>1.08</c:v>
                </c:pt>
                <c:pt idx="4">
                  <c:v>2.31</c:v>
                </c:pt>
              </c:numCache>
            </c:numRef>
          </c:val>
        </c:ser>
        <c:ser>
          <c:idx val="2"/>
          <c:order val="2"/>
          <c:tx>
            <c:strRef>
              <c:f>Sheet1!$D$1</c:f>
              <c:strCache>
                <c:ptCount val="1"/>
                <c:pt idx="0">
                  <c:v>Partners and API (conditional)</c:v>
                </c:pt>
              </c:strCache>
            </c:strRef>
          </c:tx>
          <c:spPr>
            <a:solidFill>
              <a:srgbClr val="F8CB7A"/>
            </a:solidFill>
            <a:ln>
              <a:noFill/>
            </a:ln>
          </c:spPr>
          <c:dLbls>
            <c:numFmt formatCode="[&lt;1]&quot;&quot;;&quot;₹&quot;0.0" sourceLinked="0"/>
            <c:txPr>
              <a:bodyPr/>
              <a:lstStyle/>
              <a:p>
                <a:pPr>
                  <a:defRPr sz="950" b="1">
                    <a:solidFill>
                      <a:srgbClr val="0B0E26"/>
                    </a:solidFill>
                  </a:defRPr>
                </a:pPr>
              </a:p>
            </c:txPr>
            <c:dLblPos val="ctr"/>
            <c:showLegendKey val="0"/>
            <c:showVal val="1"/>
            <c:showCatName val="0"/>
            <c:showSerName val="0"/>
            <c:showPercent val="0"/>
            <c:showBubbleSize val="0"/>
          </c:dLbls>
          <c:cat>
            <c:strRef>
              <c:f>Sheet1!$A$2:$A$6</c:f>
              <c:strCache>
                <c:ptCount val="5"/>
                <c:pt idx="0">
                  <c:v>Month 15
₹87 L</c:v>
                </c:pt>
                <c:pt idx="1">
                  <c:v>Year 2
₹2.3 Cr</c:v>
                </c:pt>
                <c:pt idx="2">
                  <c:v>Year 3
₹6.5 Cr</c:v>
                </c:pt>
                <c:pt idx="3">
                  <c:v>Year 4
₹13.2 Cr</c:v>
                </c:pt>
                <c:pt idx="4">
                  <c:v>Year 5
₹23.1 Cr</c:v>
                </c:pt>
              </c:strCache>
            </c:strRef>
          </c:cat>
          <c:val>
            <c:numRef>
              <c:f>Sheet1!$D$2:$D$6</c:f>
              <c:numCache>
                <c:formatCode>0.0</c:formatCode>
                <c:ptCount val="5"/>
                <c:pt idx="0">
                  <c:v>0.17</c:v>
                </c:pt>
                <c:pt idx="1">
                  <c:v>0.66</c:v>
                </c:pt>
                <c:pt idx="2">
                  <c:v>1.49</c:v>
                </c:pt>
                <c:pt idx="3">
                  <c:v>2.85</c:v>
                </c:pt>
                <c:pt idx="4">
                  <c:v>5.06</c:v>
                </c:pt>
              </c:numCache>
            </c:numRef>
          </c:val>
        </c:ser>
        <c:ser>
          <c:idx val="3"/>
          <c:order val="3"/>
          <c:tx>
            <c:strRef>
              <c:f>Sheet1!$E$1</c:f>
              <c:strCache>
                <c:ptCount val="1"/>
                <c:pt idx="0">
                  <c:v>Strategies (conditional)</c:v>
                </c:pt>
              </c:strCache>
            </c:strRef>
          </c:tx>
          <c:spPr>
            <a:solidFill>
              <a:srgbClr val="9ED9BD"/>
            </a:solidFill>
            <a:ln>
              <a:noFill/>
            </a:ln>
          </c:spPr>
          <c:dLbls>
            <c:numFmt formatCode="[&lt;1]&quot;&quot;;&quot;₹&quot;0.0" sourceLinked="0"/>
            <c:txPr>
              <a:bodyPr/>
              <a:lstStyle/>
              <a:p>
                <a:pPr>
                  <a:defRPr sz="950" b="1">
                    <a:solidFill>
                      <a:srgbClr val="0B0E26"/>
                    </a:solidFill>
                  </a:defRPr>
                </a:pPr>
              </a:p>
            </c:txPr>
            <c:dLblPos val="ctr"/>
            <c:showLegendKey val="0"/>
            <c:showVal val="1"/>
            <c:showCatName val="0"/>
            <c:showSerName val="0"/>
            <c:showPercent val="0"/>
            <c:showBubbleSize val="0"/>
          </c:dLbls>
          <c:cat>
            <c:strRef>
              <c:f>Sheet1!$A$2:$A$6</c:f>
              <c:strCache>
                <c:ptCount val="5"/>
                <c:pt idx="0">
                  <c:v>Month 15
₹87 L</c:v>
                </c:pt>
                <c:pt idx="1">
                  <c:v>Year 2
₹2.3 Cr</c:v>
                </c:pt>
                <c:pt idx="2">
                  <c:v>Year 3
₹6.5 Cr</c:v>
                </c:pt>
                <c:pt idx="3">
                  <c:v>Year 4
₹13.2 Cr</c:v>
                </c:pt>
                <c:pt idx="4">
                  <c:v>Year 5
₹23.1 Cr</c:v>
                </c:pt>
              </c:strCache>
            </c:strRef>
          </c:cat>
          <c:val>
            <c:numRef>
              <c:f>Sheet1!$E$2:$E$6</c:f>
              <c:numCache>
                <c:formatCode>0.0</c:formatCode>
                <c:ptCount val="5"/>
                <c:pt idx="0">
                  <c:v>0.0</c:v>
                </c:pt>
                <c:pt idx="1">
                  <c:v>0.11</c:v>
                </c:pt>
                <c:pt idx="2">
                  <c:v>0.84</c:v>
                </c:pt>
                <c:pt idx="3">
                  <c:v>2.19</c:v>
                </c:pt>
                <c:pt idx="4">
                  <c:v>4.6</c:v>
                </c:pt>
              </c:numCache>
            </c:numRef>
          </c:val>
        </c:ser>
        <c:gapWidth val="55"/>
        <c:overlap val="100"/>
        <c:axId val="2226939960"/>
        <c:axId val="2180972856"/>
      </c:barChart>
      <c:catAx>
        <c:axId val="2226939960"/>
        <c:scaling>
          <c:orientation val="minMax"/>
        </c:scaling>
        <c:delete val="0"/>
        <c:axPos val="b"/>
        <c:majorTickMark val="out"/>
        <c:minorTickMark val="none"/>
        <c:tickLblPos val="low"/>
        <c:spPr>
          <a:ln>
            <a:solidFill>
              <a:srgbClr val="C9D3F0"/>
            </a:solidFill>
          </a:ln>
        </c:spPr>
        <c:txPr>
          <a:bodyPr/>
          <a:lstStyle/>
          <a:p>
            <a:pPr>
              <a:defRPr sz="1200" b="1">
                <a:solidFill>
                  <a:srgbClr val="0B0E26"/>
                </a:solidFill>
              </a:defRPr>
            </a:pPr>
          </a:p>
        </c:txPr>
        <c:crossAx val="2180972856"/>
        <c:crosses val="autoZero"/>
        <c:auto val="1"/>
        <c:lblAlgn val="ctr"/>
        <c:lblOffset val="100"/>
        <c:noMultiLvlLbl val="0"/>
      </c:catAx>
      <c:valAx>
        <c:axId val="2180972856"/>
        <c:scaling>
          <c:max val="28.0"/>
        </c:scaling>
        <c:delete val="0"/>
        <c:axPos val="l"/>
        <c:majorGridlines>
          <c:spPr>
            <a:ln w="9525">
              <a:solidFill>
                <a:srgbClr val="E3E7F2"/>
              </a:solidFill>
            </a:ln>
          </c:spPr>
        </c:majorGridlines>
        <c:numFmt formatCode="&quot;₹&quot;0&quot; Cr&quot;" sourceLinked="0"/>
        <c:majorTickMark val="out"/>
        <c:minorTickMark val="none"/>
        <c:tickLblPos val="nextTo"/>
        <c:spPr>
          <a:ln>
            <a:noFill/>
          </a:ln>
        </c:spPr>
        <c:txPr>
          <a:bodyPr/>
          <a:lstStyle/>
          <a:p>
            <a:pPr>
              <a:defRPr sz="1000">
                <a:solidFill>
                  <a:srgbClr val="7C88B0"/>
                </a:solidFill>
              </a:defRPr>
            </a:pPr>
          </a:p>
        </c:txPr>
        <c:crossAx val="2226939960"/>
        <c:crosses val="autoZero"/>
        <c:majorUnit val="7.0"/>
      </c:valAx>
    </c:plotArea>
    <c:legend>
      <c:legendPos val="t"/>
      <c:overlay val="0"/>
      <c:txPr>
        <a:bodyPr/>
        <a:lstStyle/>
        <a:p>
          <a:pPr>
            <a:defRPr sz="1100"/>
          </a:pPr>
        </a:p>
      </c:txPr>
    </c:legend>
    <c:dispBlanksAs val="gap"/>
  </c:chart>
  <c:txPr>
    <a:bodyPr/>
    <a:lstStyle/>
    <a:p>
      <a:pPr>
        <a:defRPr sz="1100">
          <a:solidFill>
            <a:srgbClr val="434B6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Anvest is India's AI research co-pilot. Professionals and serious investors ask in plain English and get answers built from exchange filings, with the source one click away; the same question flows into an editable screen, a costed backtest and portfolio planning. The screenshot is a real answer from 19 October: TCS's September-quarter revenue (₹73,188 cr) and profit (₹13,934 cr) match the NSE XBRL filing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buyer is the professional: 2,304 research analysts, 1,057 investment advisers and 539 portfolio managers registered with SEBI, plus distribution professionals, who track a constant stream of filings by hand. Serious investors face the same scattered workflow without the time. General AI can't fix this on its own because it has no verified Indian filings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end-to-end product flow verified on 19 Oct 2026: asking 'Find profitable companies with high ROE and low debt' translates into the explicit formula (profit_margin &gt; 0 AND roe &gt; 15 AND debt_to_equity &lt; 1), matching 516 companies. One click runs a 1-year historical backtest net of Indian brokerage, STT, stamp duty, and slippage against the Nifty 500, and converts the top 10 holdings into an equal-weight virtual paper-trading basket.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live workflows, all reading the same verified warehouse, which is why one founder could build them. The free modules (IPO hub, fund X-ray, bond board, curated screens) bring people in at no acquisition cost; research, backtesting and Desk features are what they pay for. The IPO tile shows Jio Platforms' issue, whose ₹1,065–1,119 band and ₹30,213 Cr size come from its red herring prospectus.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snapshot, 20 October 2026: 31 registered accounts, 418 logged research queries across 16 accounts, 238 saved backtest records and 2 saved screens. These totals include founder and testing activity and do not establish retention or paying demand. Revenue and PAT matched the original NSE XBRL for 50 recent consolidated results. The audit measures source-data extraction, not 50 complete AI answers. The earlier four-question live spot-check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tailwinds: grounded AI makes filing research automatable; SEBI's retail algo framework formalises strategy providers (RA registration, funded this round, is what opens the regulated strategy layer later); brokers are exposing accounts to AI agents through MCP; and India's investor base keeps growing. AlphaSense shows professionals pay for source-cited AI research; Anvest offers it at an Indian price point with near-zero marginal data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Bottom-up at list prices. The professional segment is the entry: 2,304 RAs, 1,057 IAs and 539 PMS firms, plus distributors, are high-intent buyers we can reach directly, but at Indian prices their SAM is about ₹78 Cr. The venture-scale pool is active investors (about ₹2,292 Cr SAM) reached through self-serve and partner distribution. The year-5 scenario needs about 1% of SAM.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each vendor's public product pages on 19 October 2026. Closest alternatives: Trendlyne (AI screener creation, screener backtests, portfolio reports, baskets) and Tijori (natural-language screener and filing timeline) on research; Streak on technical strategies and execution through Zerodha. None connects cited filing answers to costed backtests and paper trading in one account. Our accuracy spot-check matched 3 of 3 answers to the NSE filings; a published head-to-head benchmark is a month-15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chatbot is replaceable; the verified corpus is not. Internal audits: 15,899 cash-flow rows recovered from filings the exchange's own context labels broke (zero non-reconciling); 3,608 figures where two sources disagreed across 1,022 companies, 1,521 of them 10x scaling errors, flagged by a cross-source audit (spot checks confirmed the exchange XBRL side); and every tier-1 bank result in a 21-filing Q1 FY27 sample was a scanned PDF. Each fix compounds and is hard to rediscover.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engines carry this round: Desk seats (1–5+ seats, so solo RAs and IAs can start small) and API/MCP licences for brokers and wealth apps, priced per active user with volume tiers. Plus and Pro are self-serve upside from the free funnel; strategies come after RA registration and empanelment, post-Series A. Pricing is launch pricing; checkout goes live in the first 90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Professionals first: a short list of 200 firms, 40 demos and 10 paid pilots in the first 90 days, with seats from month 3. Search pages, partner integrations and shareable answers compound distribution without paid consumer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Algorithms already run more than half of NSE cash turnover. SEBI's framework, in force since April 2026, formalises retail algo trading through registered, tagged algos. Anvest owns the pre-trade layer: rules that combine fundamentals, filings and technicals (P/E, ROE, RSI, moving averages), costed backtests and paper trading, rebalanced periodically. Live deployment comes later through partner brokers once RA registration and empanelment are in place; providers and brokers may share disclosed subscription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Bottom-up monthly model: users, conversion and churn; sellers and their productivity; partner users with tiered pricing; salaries, serving, data licence, compliance and growth spend. On the $500K plan, revenue covers costs by about month 42 with cash never below about ₹51 L, even without new funding; on $400K, cash lasts about 31 months. The year-5 scenario assumes a Series A near month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Harsh goes full-time on Anvest when this round closes. Seven years in backend and distributed systems and current work on production agentic LLM systems; built the whole data engine and platform alone. The round adds a growth and partnerships lead, a data engineer, a full-stack and quant engineer and, at $500K, a second seller; the compliance and capital-markets adviser bench is being assembled.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raising $500K on a $3.5M post-money cap through CCD/CCPS, identical terms for every investor, with a first close at $400K and room to $700K. Use of funds sums to $500K: team $185K, compliance and infrastructure $65K, growth and founder $100K, reserve and runway $150K. By month 15 the plan delivers ₹87 L ARR from 77 Desk teams and two paying partners, plus RA registration and a published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vision, then invite a live demo. The QR code opens the live 'profitable companies with high ROE and low debt' screen without sign-in, so investors can try the product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By Years 3–5 the Desk sales assumption expands beyond the initial 7,250 firms into broader distributors, family offices and CA/wealth practices. 4,132 seats equal 19% of the initial 21,750-seat segment, so this expansion is a condition of the scenario. The model includes salaries for all added sellers and higher marketing spend. Scenario cash excludes an unpriced Series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TATEM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6035040" cy="118872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607040" cy="17830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Anvest  ·  Confidential  ·  20 Oct 2026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Anvest  ·  Confidential  ·  20 Oct 2026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6.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slideLayout" Target="../slideLayouts/slideLayout6.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6.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5.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5.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6.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6.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6.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6.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6035040" cy="1188720"/>
          </a:xfrm>
          <a:prstGeom prst="rect">
            <a:avLst/>
          </a:prstGeom>
          <a:noFill/>
          <a:ln/>
        </p:spPr>
        <p:txBody>
          <a:bodyPr wrap="square" lIns="0" tIns="0" rIns="0" bIns="0" rtlCol="0" anchor="t"/>
          <a:lstStyle/>
          <a:p>
            <a:pPr algn="l" indent="0" marL="0">
              <a:buNone/>
            </a:pPr>
            <a:r>
              <a:rPr lang="en-US" sz="7200" b="1" dirty="0">
                <a:solidFill>
                  <a:schemeClr val="bg1"/>
                </a:solidFill>
              </a:rPr>
              <a:t>Anvest</a:t>
            </a:r>
            <a:endParaRPr lang="en-US" sz="7200" dirty="0"/>
          </a:p>
        </p:txBody>
      </p:sp>
      <p:sp>
        <p:nvSpPr>
          <p:cNvPr id="3" name="Text 1"/>
          <p:cNvSpPr txBox="1"/>
          <p:nvPr/>
        </p:nvSpPr>
        <p:spPr>
          <a:xfrm>
            <a:off x="548640" y="2331720"/>
            <a:ext cx="6035040" cy="502920"/>
          </a:xfrm>
          <a:prstGeom prst="rect">
            <a:avLst/>
          </a:prstGeom>
          <a:noFill/>
          <a:ln/>
        </p:spPr>
        <p:txBody>
          <a:bodyPr wrap="square" lIns="0" tIns="0" rIns="0" bIns="0" rtlCol="0" anchor="t"/>
          <a:lstStyle/>
          <a:p>
            <a:pPr indent="0" marL="0">
              <a:buNone/>
            </a:pPr>
            <a:r>
              <a:rPr lang="en-US" sz="2800" b="1" dirty="0">
                <a:solidFill>
                  <a:srgbClr val="F5A623"/>
                </a:solidFill>
                <a:latin typeface="Arial" pitchFamily="34" charset="0"/>
                <a:ea typeface="Arial" pitchFamily="34" charset="-122"/>
                <a:cs typeface="Arial" pitchFamily="34" charset="-120"/>
              </a:rPr>
              <a:t>India's AI research co-pilot</a:t>
            </a:r>
            <a:endParaRPr lang="en-US" sz="2800" dirty="0"/>
          </a:p>
        </p:txBody>
      </p:sp>
      <p:sp>
        <p:nvSpPr>
          <p:cNvPr id="4" name="Text 2"/>
          <p:cNvSpPr txBox="1"/>
          <p:nvPr/>
        </p:nvSpPr>
        <p:spPr>
          <a:xfrm>
            <a:off x="548640" y="2907792"/>
            <a:ext cx="5760720" cy="822960"/>
          </a:xfrm>
          <a:prstGeom prst="rect">
            <a:avLst/>
          </a:prstGeom>
          <a:noFill/>
          <a:ln/>
        </p:spPr>
        <p:txBody>
          <a:bodyPr wrap="square" lIns="0" tIns="0" rIns="0" bIns="0" rtlCol="0" anchor="t"/>
          <a:lstStyle/>
          <a:p>
            <a:pPr indent="0" marL="0">
              <a:buNone/>
            </a:pPr>
            <a:r>
              <a:rPr lang="en-US" sz="1700" dirty="0">
                <a:solidFill>
                  <a:srgbClr val="C9D3F0"/>
                </a:solidFill>
              </a:rPr>
              <a:t>Cited filing answers, costed backtests and portfolio impact, for SEBI-registered professionals and serious investors.</a:t>
            </a:r>
            <a:endParaRPr lang="en-US" sz="1700" dirty="0"/>
          </a:p>
        </p:txBody>
      </p:sp>
      <p:sp>
        <p:nvSpPr>
          <p:cNvPr id="5" name="Text 3"/>
          <p:cNvSpPr txBox="1"/>
          <p:nvPr/>
        </p:nvSpPr>
        <p:spPr>
          <a:xfrm>
            <a:off x="548640" y="4069080"/>
            <a:ext cx="1463040" cy="457200"/>
          </a:xfrm>
          <a:prstGeom prst="rect">
            <a:avLst/>
          </a:prstGeom>
          <a:noFill/>
          <a:ln/>
        </p:spPr>
        <p:txBody>
          <a:bodyPr wrap="square" lIns="0" tIns="0" rIns="0" bIns="0" rtlCol="0" anchor="t"/>
          <a:lstStyle/>
          <a:p>
            <a:pPr indent="0" marL="0">
              <a:buNone/>
            </a:pPr>
            <a:r>
              <a:rPr lang="en-US" sz="2600" b="1" dirty="0">
                <a:solidFill>
                  <a:srgbClr val="F5A623"/>
                </a:solidFill>
                <a:latin typeface="Arial" pitchFamily="34" charset="0"/>
                <a:ea typeface="Arial" pitchFamily="34" charset="-122"/>
                <a:cs typeface="Arial" pitchFamily="34" charset="-120"/>
              </a:rPr>
              <a:t>6K+</a:t>
            </a:r>
            <a:endParaRPr lang="en-US" sz="2600" dirty="0"/>
          </a:p>
        </p:txBody>
      </p:sp>
      <p:sp>
        <p:nvSpPr>
          <p:cNvPr id="6" name="Text 4"/>
          <p:cNvSpPr txBox="1"/>
          <p:nvPr/>
        </p:nvSpPr>
        <p:spPr>
          <a:xfrm>
            <a:off x="548640" y="4553712"/>
            <a:ext cx="1417320" cy="457200"/>
          </a:xfrm>
          <a:prstGeom prst="rect">
            <a:avLst/>
          </a:prstGeom>
          <a:noFill/>
          <a:ln/>
        </p:spPr>
        <p:txBody>
          <a:bodyPr wrap="square" lIns="0" tIns="0" rIns="0" bIns="0" rtlCol="0" anchor="t"/>
          <a:lstStyle/>
          <a:p>
            <a:pPr indent="0" marL="0">
              <a:buNone/>
            </a:pPr>
            <a:r>
              <a:rPr lang="en-US" sz="1100" dirty="0">
                <a:solidFill>
                  <a:srgbClr val="C9D3F0"/>
                </a:solidFill>
              </a:rPr>
              <a:t>listed companies</a:t>
            </a:r>
            <a:endParaRPr lang="en-US" sz="1100" dirty="0"/>
          </a:p>
        </p:txBody>
      </p:sp>
      <p:sp>
        <p:nvSpPr>
          <p:cNvPr id="7" name="Text 5"/>
          <p:cNvSpPr txBox="1"/>
          <p:nvPr/>
        </p:nvSpPr>
        <p:spPr>
          <a:xfrm>
            <a:off x="2084832" y="4069080"/>
            <a:ext cx="1463040" cy="457200"/>
          </a:xfrm>
          <a:prstGeom prst="rect">
            <a:avLst/>
          </a:prstGeom>
          <a:noFill/>
          <a:ln/>
        </p:spPr>
        <p:txBody>
          <a:bodyPr wrap="square" lIns="0" tIns="0" rIns="0" bIns="0" rtlCol="0" anchor="t"/>
          <a:lstStyle/>
          <a:p>
            <a:pPr indent="0" marL="0">
              <a:buNone/>
            </a:pPr>
            <a:r>
              <a:rPr lang="en-US" sz="2600" b="1" dirty="0">
                <a:solidFill>
                  <a:srgbClr val="F5A623"/>
                </a:solidFill>
                <a:latin typeface="Arial" pitchFamily="34" charset="0"/>
                <a:ea typeface="Arial" pitchFamily="34" charset="-122"/>
                <a:cs typeface="Arial" pitchFamily="34" charset="-120"/>
              </a:rPr>
              <a:t>2.94M</a:t>
            </a:r>
            <a:endParaRPr lang="en-US" sz="2600" dirty="0"/>
          </a:p>
        </p:txBody>
      </p:sp>
      <p:sp>
        <p:nvSpPr>
          <p:cNvPr id="8" name="Text 6"/>
          <p:cNvSpPr txBox="1"/>
          <p:nvPr/>
        </p:nvSpPr>
        <p:spPr>
          <a:xfrm>
            <a:off x="2084832" y="4553712"/>
            <a:ext cx="1417320" cy="457200"/>
          </a:xfrm>
          <a:prstGeom prst="rect">
            <a:avLst/>
          </a:prstGeom>
          <a:noFill/>
          <a:ln/>
        </p:spPr>
        <p:txBody>
          <a:bodyPr wrap="square" lIns="0" tIns="0" rIns="0" bIns="0" rtlCol="0" anchor="t"/>
          <a:lstStyle/>
          <a:p>
            <a:pPr indent="0" marL="0">
              <a:buNone/>
            </a:pPr>
            <a:r>
              <a:rPr lang="en-US" sz="1100" dirty="0">
                <a:solidFill>
                  <a:srgbClr val="C9D3F0"/>
                </a:solidFill>
              </a:rPr>
              <a:t>corporate announcements</a:t>
            </a:r>
            <a:endParaRPr lang="en-US" sz="1100" dirty="0"/>
          </a:p>
        </p:txBody>
      </p:sp>
      <p:sp>
        <p:nvSpPr>
          <p:cNvPr id="9" name="Text 7"/>
          <p:cNvSpPr txBox="1"/>
          <p:nvPr/>
        </p:nvSpPr>
        <p:spPr>
          <a:xfrm>
            <a:off x="3621024" y="4069080"/>
            <a:ext cx="1463040" cy="457200"/>
          </a:xfrm>
          <a:prstGeom prst="rect">
            <a:avLst/>
          </a:prstGeom>
          <a:noFill/>
          <a:ln/>
        </p:spPr>
        <p:txBody>
          <a:bodyPr wrap="square" lIns="0" tIns="0" rIns="0" bIns="0" rtlCol="0" anchor="t"/>
          <a:lstStyle/>
          <a:p>
            <a:pPr indent="0" marL="0">
              <a:buNone/>
            </a:pPr>
            <a:r>
              <a:rPr lang="en-US" sz="2600" b="1" dirty="0">
                <a:solidFill>
                  <a:srgbClr val="F5A623"/>
                </a:solidFill>
                <a:latin typeface="Arial" pitchFamily="34" charset="0"/>
                <a:ea typeface="Arial" pitchFamily="34" charset="-122"/>
                <a:cs typeface="Arial" pitchFamily="34" charset="-120"/>
              </a:rPr>
              <a:t>1.35M</a:t>
            </a:r>
            <a:endParaRPr lang="en-US" sz="2600" dirty="0"/>
          </a:p>
        </p:txBody>
      </p:sp>
      <p:sp>
        <p:nvSpPr>
          <p:cNvPr id="10" name="Text 8"/>
          <p:cNvSpPr txBox="1"/>
          <p:nvPr/>
        </p:nvSpPr>
        <p:spPr>
          <a:xfrm>
            <a:off x="3621024" y="4553712"/>
            <a:ext cx="1417320" cy="457200"/>
          </a:xfrm>
          <a:prstGeom prst="rect">
            <a:avLst/>
          </a:prstGeom>
          <a:noFill/>
          <a:ln/>
        </p:spPr>
        <p:txBody>
          <a:bodyPr wrap="square" lIns="0" tIns="0" rIns="0" bIns="0" rtlCol="0" anchor="t"/>
          <a:lstStyle/>
          <a:p>
            <a:pPr indent="0" marL="0">
              <a:buNone/>
            </a:pPr>
            <a:r>
              <a:rPr lang="en-US" sz="1100" dirty="0">
                <a:solidFill>
                  <a:srgbClr val="C9D3F0"/>
                </a:solidFill>
              </a:rPr>
              <a:t>indexed filing passages</a:t>
            </a:r>
            <a:endParaRPr lang="en-US" sz="1100" dirty="0"/>
          </a:p>
        </p:txBody>
      </p:sp>
      <p:sp>
        <p:nvSpPr>
          <p:cNvPr id="11" name="Text 9"/>
          <p:cNvSpPr txBox="1"/>
          <p:nvPr/>
        </p:nvSpPr>
        <p:spPr>
          <a:xfrm>
            <a:off x="5157216" y="4069080"/>
            <a:ext cx="1463040" cy="457200"/>
          </a:xfrm>
          <a:prstGeom prst="rect">
            <a:avLst/>
          </a:prstGeom>
          <a:noFill/>
          <a:ln/>
        </p:spPr>
        <p:txBody>
          <a:bodyPr wrap="square" lIns="0" tIns="0" rIns="0" bIns="0" rtlCol="0" anchor="t"/>
          <a:lstStyle/>
          <a:p>
            <a:pPr indent="0" marL="0">
              <a:buNone/>
            </a:pPr>
            <a:r>
              <a:rPr lang="en-US" sz="2600" b="1" dirty="0">
                <a:solidFill>
                  <a:srgbClr val="F5A623"/>
                </a:solidFill>
                <a:latin typeface="Arial" pitchFamily="34" charset="0"/>
                <a:ea typeface="Arial" pitchFamily="34" charset="-122"/>
                <a:cs typeface="Arial" pitchFamily="34" charset="-120"/>
              </a:rPr>
              <a:t>~49K</a:t>
            </a:r>
            <a:endParaRPr lang="en-US" sz="2600" dirty="0"/>
          </a:p>
        </p:txBody>
      </p:sp>
      <p:sp>
        <p:nvSpPr>
          <p:cNvPr id="12" name="Text 10"/>
          <p:cNvSpPr txBox="1"/>
          <p:nvPr/>
        </p:nvSpPr>
        <p:spPr>
          <a:xfrm>
            <a:off x="5157216" y="4553712"/>
            <a:ext cx="1417320" cy="457200"/>
          </a:xfrm>
          <a:prstGeom prst="rect">
            <a:avLst/>
          </a:prstGeom>
          <a:noFill/>
          <a:ln/>
        </p:spPr>
        <p:txBody>
          <a:bodyPr wrap="square" lIns="0" tIns="0" rIns="0" bIns="0" rtlCol="0" anchor="t"/>
          <a:lstStyle/>
          <a:p>
            <a:pPr indent="0" marL="0">
              <a:buNone/>
            </a:pPr>
            <a:r>
              <a:rPr lang="en-US" sz="1100" dirty="0">
                <a:solidFill>
                  <a:srgbClr val="C9D3F0"/>
                </a:solidFill>
              </a:rPr>
              <a:t>announcements/month, Q2 FY27</a:t>
            </a:r>
            <a:endParaRPr lang="en-US" sz="1100" dirty="0"/>
          </a:p>
        </p:txBody>
      </p:sp>
      <p:sp>
        <p:nvSpPr>
          <p:cNvPr id="13" name="Text 11"/>
          <p:cNvSpPr txBox="1"/>
          <p:nvPr/>
        </p:nvSpPr>
        <p:spPr>
          <a:xfrm>
            <a:off x="548640" y="6172200"/>
            <a:ext cx="7315200" cy="274320"/>
          </a:xfrm>
          <a:prstGeom prst="rect">
            <a:avLst/>
          </a:prstGeom>
          <a:noFill/>
          <a:ln/>
        </p:spPr>
        <p:txBody>
          <a:bodyPr wrap="square" lIns="0" tIns="0" rIns="0" bIns="0" rtlCol="0" anchor="t"/>
          <a:lstStyle/>
          <a:p>
            <a:pPr indent="0" marL="0">
              <a:buNone/>
            </a:pPr>
            <a:r>
              <a:rPr lang="en-US" sz="1200" dirty="0">
                <a:solidFill>
                  <a:srgbClr val="C9D3F0"/>
                </a:solidFill>
              </a:rPr>
              <a:t>Harsh Bhardwaj, Founder  ·  harsh@anvest.in  ·  anvest.in  ·  Seed round, October 2026</a:t>
            </a:r>
            <a:endParaRPr lang="en-US" sz="1200" dirty="0"/>
          </a:p>
        </p:txBody>
      </p:sp>
      <p:sp>
        <p:nvSpPr>
          <p:cNvPr id="14" name="Live Anvest answer citing the NSE filing frame"/>
          <p:cNvSpPr/>
          <p:nvPr/>
        </p:nvSpPr>
        <p:spPr>
          <a:xfrm>
            <a:off x="6766560" y="1325880"/>
            <a:ext cx="4892040" cy="2917655"/>
          </a:xfrm>
          <a:prstGeom prst="roundRect">
            <a:avLst>
              <a:gd name="adj" fmla="val 3761"/>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15" name="Live Anvest answer citing the NSE filing window dot 1"/>
          <p:cNvSpPr/>
          <p:nvPr/>
        </p:nvSpPr>
        <p:spPr>
          <a:xfrm>
            <a:off x="6861840" y="1390455"/>
            <a:ext cx="66532" cy="66532"/>
          </a:xfrm>
          <a:prstGeom prst="ellipse">
            <a:avLst/>
          </a:prstGeom>
          <a:solidFill>
            <a:srgbClr val="FF5F57"/>
          </a:solidFill>
          <a:ln/>
        </p:spPr>
      </p:sp>
      <p:sp>
        <p:nvSpPr>
          <p:cNvPr id="16" name="Live Anvest answer citing the NSE filing window dot 2"/>
          <p:cNvSpPr/>
          <p:nvPr/>
        </p:nvSpPr>
        <p:spPr>
          <a:xfrm>
            <a:off x="6974944" y="1390455"/>
            <a:ext cx="66532" cy="66532"/>
          </a:xfrm>
          <a:prstGeom prst="ellipse">
            <a:avLst/>
          </a:prstGeom>
          <a:solidFill>
            <a:srgbClr val="FEBC2E"/>
          </a:solidFill>
          <a:ln/>
        </p:spPr>
      </p:sp>
      <p:sp>
        <p:nvSpPr>
          <p:cNvPr id="17" name="Live Anvest answer citing the NSE filing window dot 3"/>
          <p:cNvSpPr/>
          <p:nvPr/>
        </p:nvSpPr>
        <p:spPr>
          <a:xfrm>
            <a:off x="7088048" y="1390455"/>
            <a:ext cx="66532" cy="66532"/>
          </a:xfrm>
          <a:prstGeom prst="ellipse">
            <a:avLst/>
          </a:prstGeom>
          <a:solidFill>
            <a:srgbClr val="28C840"/>
          </a:solidFill>
          <a:ln/>
        </p:spPr>
      </p:sp>
      <p:pic>
        <p:nvPicPr>
          <p:cNvPr id="18" name="Live Anvest answer citing the NSE filing image" descr="Live Anvest answer citing the NSE filing">    </p:cNvPr>
          <p:cNvPicPr>
            <a:picLocks noChangeAspect="1"/>
          </p:cNvPicPr>
          <p:nvPr/>
        </p:nvPicPr>
        <p:blipFill>
          <a:blip r:embed="rId1"/>
          <a:stretch>
            <a:fillRect/>
          </a:stretch>
        </p:blipFill>
        <p:spPr>
          <a:xfrm>
            <a:off x="6825264" y="1521562"/>
            <a:ext cx="4774631" cy="2663269"/>
          </a:xfrm>
          <a:prstGeom prst="rect">
            <a:avLst/>
          </a:prstGeom>
        </p:spPr>
      </p:pic>
      <p:sp>
        <p:nvSpPr>
          <p:cNvPr id="19" name="Text 16"/>
          <p:cNvSpPr txBox="1"/>
          <p:nvPr/>
        </p:nvSpPr>
        <p:spPr>
          <a:xfrm>
            <a:off x="6766560" y="4251960"/>
            <a:ext cx="4892040" cy="457200"/>
          </a:xfrm>
          <a:prstGeom prst="rect">
            <a:avLst/>
          </a:prstGeom>
          <a:noFill/>
          <a:ln/>
        </p:spPr>
        <p:txBody>
          <a:bodyPr wrap="square" lIns="0" tIns="0" rIns="0" bIns="0" rtlCol="0" anchor="t"/>
          <a:lstStyle/>
          <a:p>
            <a:pPr indent="0" marL="0">
              <a:buNone/>
            </a:pPr>
            <a:r>
              <a:rPr lang="en-US" sz="1100" i="1" dirty="0">
                <a:solidFill>
                  <a:srgbClr val="C9D3F0"/>
                </a:solidFill>
              </a:rPr>
              <a:t>Live answer, 19 Oct: net margin = PAT / total income (₹74,525 Cr). Operating margin fell 67 bps YoY.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Advisers and investors decide without verified research</a:t>
            </a:r>
            <a:endParaRPr lang="en-US" sz="3200" dirty="0"/>
          </a:p>
        </p:txBody>
      </p:sp>
      <p:sp>
        <p:nvSpPr>
          <p:cNvPr id="4" name="problem card 1"/>
          <p:cNvSpPr/>
          <p:nvPr/>
        </p:nvSpPr>
        <p:spPr>
          <a:xfrm>
            <a:off x="548640" y="1783080"/>
            <a:ext cx="3520440" cy="3246120"/>
          </a:xfrm>
          <a:prstGeom prst="roundRect">
            <a:avLst>
              <a:gd name="adj" fmla="val 3380"/>
            </a:avLst>
          </a:prstGeom>
          <a:solidFill>
            <a:srgbClr val="FFFFFF"/>
          </a:solidFill>
          <a:ln/>
          <a:effectLst>
            <a:outerShdw sx="100000" sy="100000" kx="0" ky="0" algn="bl" rotWithShape="0" blurRad="127000" dist="38100" dir="5400000">
              <a:srgbClr val="0B0E26">
                <a:alpha val="10000"/>
              </a:srgbClr>
            </a:outerShdw>
          </a:effectLst>
        </p:spPr>
      </p:sp>
      <p:sp>
        <p:nvSpPr>
          <p:cNvPr id="5" name="LuNewspaper circle"/>
          <p:cNvSpPr/>
          <p:nvPr/>
        </p:nvSpPr>
        <p:spPr>
          <a:xfrm>
            <a:off x="868680" y="2103120"/>
            <a:ext cx="566928" cy="566928"/>
          </a:xfrm>
          <a:prstGeom prst="ellipse">
            <a:avLst/>
          </a:prstGeom>
          <a:solidFill>
            <a:srgbClr val="F4F7FC"/>
          </a:solidFill>
          <a:ln/>
        </p:spPr>
      </p:sp>
      <p:pic>
        <p:nvPicPr>
          <p:cNvPr id="6" name="LuNewspaper icon" descr="preencoded.png">    </p:cNvPr>
          <p:cNvPicPr>
            <a:picLocks noChangeAspect="1"/>
          </p:cNvPicPr>
          <p:nvPr/>
        </p:nvPicPr>
        <p:blipFill>
          <a:blip r:embed="rId1"/>
          <a:stretch>
            <a:fillRect/>
          </a:stretch>
        </p:blipFill>
        <p:spPr>
          <a:xfrm>
            <a:off x="1010412" y="2244852"/>
            <a:ext cx="283464" cy="283464"/>
          </a:xfrm>
          <a:prstGeom prst="rect">
            <a:avLst/>
          </a:prstGeom>
        </p:spPr>
      </p:pic>
      <p:sp>
        <p:nvSpPr>
          <p:cNvPr id="7" name="Text 4"/>
          <p:cNvSpPr txBox="1"/>
          <p:nvPr/>
        </p:nvSpPr>
        <p:spPr>
          <a:xfrm>
            <a:off x="868680" y="2816352"/>
            <a:ext cx="2926080" cy="566928"/>
          </a:xfrm>
          <a:prstGeom prst="rect">
            <a:avLst/>
          </a:prstGeom>
          <a:noFill/>
          <a:ln/>
        </p:spPr>
        <p:txBody>
          <a:bodyPr wrap="square" lIns="0" tIns="0" rIns="0" bIns="0" rtlCol="0" anchor="t"/>
          <a:lstStyle/>
          <a:p>
            <a:pPr indent="0" marL="0">
              <a:buNone/>
            </a:pPr>
            <a:r>
              <a:rPr lang="en-US" sz="3000" b="1" dirty="0">
                <a:solidFill>
                  <a:srgbClr val="4A3699"/>
                </a:solidFill>
                <a:latin typeface="Arial" pitchFamily="34" charset="0"/>
                <a:ea typeface="Arial" pitchFamily="34" charset="-122"/>
                <a:cs typeface="Arial" pitchFamily="34" charset="-120"/>
              </a:rPr>
              <a:t>~49,000</a:t>
            </a:r>
            <a:endParaRPr lang="en-US" sz="3000" dirty="0"/>
          </a:p>
        </p:txBody>
      </p:sp>
      <p:sp>
        <p:nvSpPr>
          <p:cNvPr id="8" name="Text 5"/>
          <p:cNvSpPr txBox="1"/>
          <p:nvPr/>
        </p:nvSpPr>
        <p:spPr>
          <a:xfrm>
            <a:off x="868680" y="3383280"/>
            <a:ext cx="2926080" cy="292608"/>
          </a:xfrm>
          <a:prstGeom prst="rect">
            <a:avLst/>
          </a:prstGeom>
          <a:noFill/>
          <a:ln/>
        </p:spPr>
        <p:txBody>
          <a:bodyPr wrap="square" lIns="0" tIns="0" rIns="0" bIns="0" rtlCol="0" anchor="t"/>
          <a:lstStyle/>
          <a:p>
            <a:pPr indent="0" marL="0">
              <a:buNone/>
            </a:pPr>
            <a:r>
              <a:rPr lang="en-US" sz="1400" b="1" dirty="0">
                <a:solidFill>
                  <a:srgbClr val="0B0E26"/>
                </a:solidFill>
              </a:rPr>
              <a:t>announcements/month, Q2 FY27</a:t>
            </a:r>
            <a:endParaRPr lang="en-US" sz="1400" dirty="0"/>
          </a:p>
        </p:txBody>
      </p:sp>
      <p:sp>
        <p:nvSpPr>
          <p:cNvPr id="9" name="Text 6"/>
          <p:cNvSpPr txBox="1"/>
          <p:nvPr/>
        </p:nvSpPr>
        <p:spPr>
          <a:xfrm>
            <a:off x="868680" y="3749040"/>
            <a:ext cx="2926080" cy="1188720"/>
          </a:xfrm>
          <a:prstGeom prst="rect">
            <a:avLst/>
          </a:prstGeom>
          <a:noFill/>
          <a:ln/>
        </p:spPr>
        <p:txBody>
          <a:bodyPr wrap="square" lIns="0" tIns="0" rIns="0" bIns="0" rtlCol="0" anchor="t"/>
          <a:lstStyle/>
          <a:p>
            <a:pPr indent="0" marL="0">
              <a:buNone/>
            </a:pPr>
            <a:r>
              <a:rPr lang="en-US" sz="1300" dirty="0">
                <a:solidFill>
                  <a:srgbClr val="434B6B"/>
                </a:solidFill>
              </a:rPr>
              <a:t>Results, pledges and board notices land on NSE and BSE daily. Analysts, advisers and PMS desks still read them by hand, often as scanned PDFs.</a:t>
            </a:r>
            <a:endParaRPr lang="en-US" sz="1300" dirty="0"/>
          </a:p>
        </p:txBody>
      </p:sp>
      <p:sp>
        <p:nvSpPr>
          <p:cNvPr id="10" name="problem card 2"/>
          <p:cNvSpPr/>
          <p:nvPr/>
        </p:nvSpPr>
        <p:spPr>
          <a:xfrm>
            <a:off x="4315968" y="1783080"/>
            <a:ext cx="3520440" cy="3246120"/>
          </a:xfrm>
          <a:prstGeom prst="roundRect">
            <a:avLst>
              <a:gd name="adj" fmla="val 3380"/>
            </a:avLst>
          </a:prstGeom>
          <a:solidFill>
            <a:srgbClr val="FFFFFF"/>
          </a:solidFill>
          <a:ln/>
          <a:effectLst>
            <a:outerShdw sx="100000" sy="100000" kx="0" ky="0" algn="bl" rotWithShape="0" blurRad="127000" dist="38100" dir="5400000">
              <a:srgbClr val="0B0E26">
                <a:alpha val="10000"/>
              </a:srgbClr>
            </a:outerShdw>
          </a:effectLst>
        </p:spPr>
      </p:sp>
      <p:sp>
        <p:nvSpPr>
          <p:cNvPr id="11" name="LuShuffle circle"/>
          <p:cNvSpPr/>
          <p:nvPr/>
        </p:nvSpPr>
        <p:spPr>
          <a:xfrm>
            <a:off x="4636008" y="2103120"/>
            <a:ext cx="566928" cy="566928"/>
          </a:xfrm>
          <a:prstGeom prst="ellipse">
            <a:avLst/>
          </a:prstGeom>
          <a:solidFill>
            <a:srgbClr val="F4F7FC"/>
          </a:solidFill>
          <a:ln/>
        </p:spPr>
      </p:sp>
      <p:pic>
        <p:nvPicPr>
          <p:cNvPr id="12" name="LuShuffle icon" descr="preencoded.png">    </p:cNvPr>
          <p:cNvPicPr>
            <a:picLocks noChangeAspect="1"/>
          </p:cNvPicPr>
          <p:nvPr/>
        </p:nvPicPr>
        <p:blipFill>
          <a:blip r:embed="rId2"/>
          <a:stretch>
            <a:fillRect/>
          </a:stretch>
        </p:blipFill>
        <p:spPr>
          <a:xfrm>
            <a:off x="4777740" y="2244852"/>
            <a:ext cx="283464" cy="283464"/>
          </a:xfrm>
          <a:prstGeom prst="rect">
            <a:avLst/>
          </a:prstGeom>
        </p:spPr>
      </p:pic>
      <p:sp>
        <p:nvSpPr>
          <p:cNvPr id="13" name="Text 9"/>
          <p:cNvSpPr txBox="1"/>
          <p:nvPr/>
        </p:nvSpPr>
        <p:spPr>
          <a:xfrm>
            <a:off x="4636008" y="2816352"/>
            <a:ext cx="2926080" cy="566928"/>
          </a:xfrm>
          <a:prstGeom prst="rect">
            <a:avLst/>
          </a:prstGeom>
          <a:noFill/>
          <a:ln/>
        </p:spPr>
        <p:txBody>
          <a:bodyPr wrap="square" lIns="0" tIns="0" rIns="0" bIns="0" rtlCol="0" anchor="t"/>
          <a:lstStyle/>
          <a:p>
            <a:pPr indent="0" marL="0">
              <a:buNone/>
            </a:pPr>
            <a:r>
              <a:rPr lang="en-US" sz="3000" b="1" dirty="0">
                <a:solidFill>
                  <a:srgbClr val="4A3699"/>
                </a:solidFill>
                <a:latin typeface="Arial" pitchFamily="34" charset="0"/>
                <a:ea typeface="Arial" pitchFamily="34" charset="-122"/>
                <a:cs typeface="Arial" pitchFamily="34" charset="-120"/>
              </a:rPr>
              <a:t>Scattered</a:t>
            </a:r>
            <a:endParaRPr lang="en-US" sz="3000" dirty="0"/>
          </a:p>
        </p:txBody>
      </p:sp>
      <p:sp>
        <p:nvSpPr>
          <p:cNvPr id="14" name="Text 10"/>
          <p:cNvSpPr txBox="1"/>
          <p:nvPr/>
        </p:nvSpPr>
        <p:spPr>
          <a:xfrm>
            <a:off x="4636008" y="3383280"/>
            <a:ext cx="2926080" cy="292608"/>
          </a:xfrm>
          <a:prstGeom prst="rect">
            <a:avLst/>
          </a:prstGeom>
          <a:noFill/>
          <a:ln/>
        </p:spPr>
        <p:txBody>
          <a:bodyPr wrap="square" lIns="0" tIns="0" rIns="0" bIns="0" rtlCol="0" anchor="t"/>
          <a:lstStyle/>
          <a:p>
            <a:pPr indent="0" marL="0">
              <a:buNone/>
            </a:pPr>
            <a:r>
              <a:rPr lang="en-US" sz="1400" b="1" dirty="0">
                <a:solidFill>
                  <a:srgbClr val="0B0E26"/>
                </a:solidFill>
              </a:rPr>
              <a:t>research, backtest and desk tools</a:t>
            </a:r>
            <a:endParaRPr lang="en-US" sz="1400" dirty="0"/>
          </a:p>
        </p:txBody>
      </p:sp>
      <p:sp>
        <p:nvSpPr>
          <p:cNvPr id="15" name="Text 11"/>
          <p:cNvSpPr txBox="1"/>
          <p:nvPr/>
        </p:nvSpPr>
        <p:spPr>
          <a:xfrm>
            <a:off x="4636008" y="3749040"/>
            <a:ext cx="2926080" cy="1188720"/>
          </a:xfrm>
          <a:prstGeom prst="rect">
            <a:avLst/>
          </a:prstGeom>
          <a:noFill/>
          <a:ln/>
        </p:spPr>
        <p:txBody>
          <a:bodyPr wrap="square" lIns="0" tIns="0" rIns="0" bIns="0" rtlCol="0" anchor="t"/>
          <a:lstStyle/>
          <a:p>
            <a:pPr indent="0" marL="0">
              <a:buNone/>
            </a:pPr>
            <a:r>
              <a:rPr lang="en-US" sz="1300" dirty="0">
                <a:solidFill>
                  <a:srgbClr val="434B6B"/>
                </a:solidFill>
              </a:rPr>
              <a:t>Professionals and investors jump between exchange PDFs, ratio screeners, backtesters and spreadsheets, losing hours and context at every hop.</a:t>
            </a:r>
            <a:endParaRPr lang="en-US" sz="1300" dirty="0"/>
          </a:p>
        </p:txBody>
      </p:sp>
      <p:sp>
        <p:nvSpPr>
          <p:cNvPr id="16" name="problem card 3"/>
          <p:cNvSpPr/>
          <p:nvPr/>
        </p:nvSpPr>
        <p:spPr>
          <a:xfrm>
            <a:off x="8083296" y="1783080"/>
            <a:ext cx="3520440" cy="3246120"/>
          </a:xfrm>
          <a:prstGeom prst="roundRect">
            <a:avLst>
              <a:gd name="adj" fmla="val 3380"/>
            </a:avLst>
          </a:prstGeom>
          <a:solidFill>
            <a:srgbClr val="FFFFFF"/>
          </a:solidFill>
          <a:ln/>
          <a:effectLst>
            <a:outerShdw sx="100000" sy="100000" kx="0" ky="0" algn="bl" rotWithShape="0" blurRad="127000" dist="38100" dir="5400000">
              <a:srgbClr val="0B0E26">
                <a:alpha val="10000"/>
              </a:srgbClr>
            </a:outerShdw>
          </a:effectLst>
        </p:spPr>
      </p:sp>
      <p:sp>
        <p:nvSpPr>
          <p:cNvPr id="17" name="LuMessageSquareText circle"/>
          <p:cNvSpPr/>
          <p:nvPr/>
        </p:nvSpPr>
        <p:spPr>
          <a:xfrm>
            <a:off x="8403336" y="2103120"/>
            <a:ext cx="566928" cy="566928"/>
          </a:xfrm>
          <a:prstGeom prst="ellipse">
            <a:avLst/>
          </a:prstGeom>
          <a:solidFill>
            <a:srgbClr val="F4F7FC"/>
          </a:solidFill>
          <a:ln/>
        </p:spPr>
      </p:sp>
      <p:pic>
        <p:nvPicPr>
          <p:cNvPr id="18" name="LuMessageSquareText icon" descr="preencoded.png">    </p:cNvPr>
          <p:cNvPicPr>
            <a:picLocks noChangeAspect="1"/>
          </p:cNvPicPr>
          <p:nvPr/>
        </p:nvPicPr>
        <p:blipFill>
          <a:blip r:embed="rId3"/>
          <a:stretch>
            <a:fillRect/>
          </a:stretch>
        </p:blipFill>
        <p:spPr>
          <a:xfrm>
            <a:off x="8545068" y="2244852"/>
            <a:ext cx="283464" cy="283464"/>
          </a:xfrm>
          <a:prstGeom prst="rect">
            <a:avLst/>
          </a:prstGeom>
        </p:spPr>
      </p:pic>
      <p:sp>
        <p:nvSpPr>
          <p:cNvPr id="19" name="Text 14"/>
          <p:cNvSpPr txBox="1"/>
          <p:nvPr/>
        </p:nvSpPr>
        <p:spPr>
          <a:xfrm>
            <a:off x="8403336" y="2816352"/>
            <a:ext cx="2926080" cy="566928"/>
          </a:xfrm>
          <a:prstGeom prst="rect">
            <a:avLst/>
          </a:prstGeom>
          <a:noFill/>
          <a:ln/>
        </p:spPr>
        <p:txBody>
          <a:bodyPr wrap="square" lIns="0" tIns="0" rIns="0" bIns="0" rtlCol="0" anchor="t"/>
          <a:lstStyle/>
          <a:p>
            <a:pPr indent="0" marL="0">
              <a:buNone/>
            </a:pPr>
            <a:r>
              <a:rPr lang="en-US" sz="3000" b="1" dirty="0">
                <a:solidFill>
                  <a:srgbClr val="4A3699"/>
                </a:solidFill>
                <a:latin typeface="Arial" pitchFamily="34" charset="0"/>
                <a:ea typeface="Arial" pitchFamily="34" charset="-122"/>
                <a:cs typeface="Arial" pitchFamily="34" charset="-120"/>
              </a:rPr>
              <a:t>Unverified</a:t>
            </a:r>
            <a:endParaRPr lang="en-US" sz="3000" dirty="0"/>
          </a:p>
        </p:txBody>
      </p:sp>
      <p:sp>
        <p:nvSpPr>
          <p:cNvPr id="20" name="Text 15"/>
          <p:cNvSpPr txBox="1"/>
          <p:nvPr/>
        </p:nvSpPr>
        <p:spPr>
          <a:xfrm>
            <a:off x="8403336" y="3383280"/>
            <a:ext cx="2926080" cy="292608"/>
          </a:xfrm>
          <a:prstGeom prst="rect">
            <a:avLst/>
          </a:prstGeom>
          <a:noFill/>
          <a:ln/>
        </p:spPr>
        <p:txBody>
          <a:bodyPr wrap="square" lIns="0" tIns="0" rIns="0" bIns="0" rtlCol="0" anchor="t"/>
          <a:lstStyle/>
          <a:p>
            <a:pPr indent="0" marL="0">
              <a:buNone/>
            </a:pPr>
            <a:r>
              <a:rPr lang="en-US" sz="1400" b="1" dirty="0">
                <a:solidFill>
                  <a:srgbClr val="0B0E26"/>
                </a:solidFill>
              </a:rPr>
              <a:t>answers from general-purpose AI</a:t>
            </a:r>
            <a:endParaRPr lang="en-US" sz="1400" dirty="0"/>
          </a:p>
        </p:txBody>
      </p:sp>
      <p:sp>
        <p:nvSpPr>
          <p:cNvPr id="21" name="Text 16"/>
          <p:cNvSpPr txBox="1"/>
          <p:nvPr/>
        </p:nvSpPr>
        <p:spPr>
          <a:xfrm>
            <a:off x="8403336" y="3749040"/>
            <a:ext cx="2926080" cy="1188720"/>
          </a:xfrm>
          <a:prstGeom prst="rect">
            <a:avLst/>
          </a:prstGeom>
          <a:noFill/>
          <a:ln/>
        </p:spPr>
        <p:txBody>
          <a:bodyPr wrap="square" lIns="0" tIns="0" rIns="0" bIns="0" rtlCol="0" anchor="t"/>
          <a:lstStyle/>
          <a:p>
            <a:pPr indent="0" marL="0">
              <a:buNone/>
            </a:pPr>
            <a:r>
              <a:rPr lang="en-US" sz="1300" dirty="0">
                <a:solidFill>
                  <a:srgbClr val="434B6B"/>
                </a:solidFill>
              </a:rPr>
              <a:t>Chatbots sound confident but can invent figures on Indian filings. Without a verified filings warehouse underneath, their answers can't be checked.</a:t>
            </a:r>
            <a:endParaRPr lang="en-US" sz="1300" dirty="0"/>
          </a:p>
        </p:txBody>
      </p:sp>
      <p:sp>
        <p:nvSpPr>
          <p:cNvPr id="22" name="Text 17"/>
          <p:cNvSpPr txBox="1"/>
          <p:nvPr/>
        </p:nvSpPr>
        <p:spPr>
          <a:xfrm>
            <a:off x="548640" y="5257800"/>
            <a:ext cx="11094415" cy="640080"/>
          </a:xfrm>
          <a:prstGeom prst="rect">
            <a:avLst/>
          </a:prstGeom>
          <a:noFill/>
          <a:ln/>
        </p:spPr>
        <p:txBody>
          <a:bodyPr wrap="square" lIns="0" tIns="0" rIns="0" bIns="0" rtlCol="0" anchor="t"/>
          <a:lstStyle/>
          <a:p>
            <a:pPr indent="0" marL="0">
              <a:buNone/>
            </a:pPr>
            <a:r>
              <a:rPr lang="en-US" sz="1700" b="1" dirty="0">
                <a:solidFill>
                  <a:srgbClr val="0B0E26"/>
                </a:solidFill>
                <a:latin typeface="Arial" pitchFamily="34" charset="0"/>
                <a:ea typeface="Arial" pitchFamily="34" charset="-122"/>
                <a:cs typeface="Arial" pitchFamily="34" charset="-120"/>
              </a:rPr>
              <a:t>3,900 SEBI-registered firms and 13.4 crore investors don't lack information. They lack a trustworthy way to turn it into a decision.</a:t>
            </a:r>
            <a:endParaRPr lang="en-US" sz="1700" dirty="0"/>
          </a:p>
        </p:txBody>
      </p:sp>
      <p:sp>
        <p:nvSpPr>
          <p:cNvPr id="23" name="Text 18"/>
          <p:cNvSpPr txBox="1"/>
          <p:nvPr/>
        </p:nvSpPr>
        <p:spPr>
          <a:xfrm>
            <a:off x="548640" y="6108192"/>
            <a:ext cx="10362895" cy="274320"/>
          </a:xfrm>
          <a:prstGeom prst="rect">
            <a:avLst/>
          </a:prstGeom>
          <a:noFill/>
          <a:ln/>
        </p:spPr>
        <p:txBody>
          <a:bodyPr wrap="square" lIns="0" tIns="0" rIns="0" bIns="0" rtlCol="0" anchor="t"/>
          <a:lstStyle/>
          <a:p>
            <a:pPr indent="0" marL="0">
              <a:buNone/>
            </a:pPr>
            <a:r>
              <a:rPr lang="en-US" sz="1000" i="1" dirty="0">
                <a:solidFill>
                  <a:srgbClr val="7C88B0"/>
                </a:solidFill>
              </a:rPr>
              <a:t>Warehouse, announcement date: Jul 45,997 · Aug 61,875 · Sep 38,558 (2026) · Q2 FY27 average 48,810/month · extracted 20 Oct 2026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36" name="Text 0"/>
          <p:cNvSpPr txBox="1"/>
          <p:nvPr>
            <p:ph type="body" sz="quarter" idx="100"/>
          </p:nvPr>
        </p:nvSpPr>
        <p:spPr>
          <a:xfrm>
            <a:off x="548640" y="384047"/>
            <a:ext cx="8229601" cy="274321"/>
          </a:xfrm>
          <a:prstGeom prst="rect">
            <a:avLst/>
          </a:prstGeom>
        </p:spPr>
        <p:txBody>
          <a:bodyPr lIns="0" tIns="0" rIns="0" bIns="0"/>
          <a:lstStyle/>
          <a:p>
            <a:pPr algn="l"/>
            <a:r>
              <a:rPr lang="en-US" sz="1200" b="1" spc="200" kern="0" dirty="0">
                <a:solidFill>
                  <a:schemeClr val="accent1"/>
                </a:solidFill>
              </a:rPr>
              <a:t>THE SOLUTION</a:t>
            </a:r>
          </a:p>
        </p:txBody>
      </p:sp>
      <p:sp>
        <p:nvSpPr>
          <p:cNvPr id="137" name="Text 0"/>
          <p:cNvSpPr txBox="1"/>
          <p:nvPr>
            <p:ph type="title"/>
          </p:nvPr>
        </p:nvSpPr>
        <p:spPr>
          <a:xfrm>
            <a:off x="548639" y="676655"/>
            <a:ext cx="11094417" cy="868681"/>
          </a:xfrm>
          <a:prstGeom prst="rect">
            <a:avLst/>
          </a:prstGeom>
        </p:spPr>
        <p:txBody>
          <a:bodyPr lIns="0" tIns="0" rIns="0" bIns="0"/>
          <a:lstStyle/>
          <a:p>
            <a:pPr algn="l"/>
            <a:r>
              <a:rPr lang="en-US" sz="3200" b="1" dirty="0">
                <a:solidFill>
                  <a:schemeClr val="tx1"/>
                </a:solidFill>
              </a:rPr>
              <a:t>From a question to a tested strategy, in one flow</a:t>
            </a:r>
          </a:p>
        </p:txBody>
      </p:sp>
      <p:sp>
        <p:nvSpPr>
          <p:cNvPr id="138" name="step 1"/>
          <p:cNvSpPr/>
          <p:nvPr/>
        </p:nvSpPr>
        <p:spPr>
          <a:xfrm>
            <a:off x="548640" y="1783079"/>
            <a:ext cx="384049" cy="384049"/>
          </a:xfrm>
          <a:prstGeom prst="ellipse">
            <a:avLst/>
          </a:prstGeom>
          <a:solidFill>
            <a:schemeClr val="accent2"/>
          </a:solidFill>
          <a:ln w="12700">
            <a:miter lim="400000"/>
          </a:ln>
        </p:spPr>
        <p:txBody>
          <a:bodyPr lIns="45719" rIns="45719"/>
          <a:lstStyle/>
          <a:p>
            <a:pPr/>
          </a:p>
        </p:txBody>
      </p:sp>
      <p:sp>
        <p:nvSpPr>
          <p:cNvPr id="139" name="Text 3"/>
          <p:cNvSpPr txBox="1"/>
          <p:nvPr/>
        </p:nvSpPr>
        <p:spPr>
          <a:xfrm>
            <a:off x="548640" y="1881825"/>
            <a:ext cx="384049"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lvl1pPr>
          </a:lstStyle>
          <a:p>
            <a:pPr/>
            <a:r>
              <a:t>1</a:t>
            </a:r>
          </a:p>
        </p:txBody>
      </p:sp>
      <p:sp>
        <p:nvSpPr>
          <p:cNvPr id="140" name="Text 4"/>
          <p:cNvSpPr txBox="1"/>
          <p:nvPr/>
        </p:nvSpPr>
        <p:spPr>
          <a:xfrm>
            <a:off x="1051560" y="1847088"/>
            <a:ext cx="2011680"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1200">
                <a:solidFill>
                  <a:schemeClr val="accent1"/>
                </a:solidFill>
              </a:defRPr>
            </a:lvl1pPr>
          </a:lstStyle>
          <a:p>
            <a:pPr/>
            <a:r>
              <a:t>ASK</a:t>
            </a:r>
          </a:p>
        </p:txBody>
      </p:sp>
      <p:sp>
        <p:nvSpPr>
          <p:cNvPr id="141" name="ASK screenshot frame"/>
          <p:cNvSpPr/>
          <p:nvPr/>
        </p:nvSpPr>
        <p:spPr>
          <a:xfrm>
            <a:off x="548640" y="2331720"/>
            <a:ext cx="2606040" cy="1449325"/>
          </a:xfrm>
          <a:prstGeom prst="roundRect">
            <a:avLst>
              <a:gd name="adj" fmla="val 4495"/>
            </a:avLst>
          </a:prstGeom>
          <a:solidFill>
            <a:srgbClr val="161A33"/>
          </a:solidFill>
          <a:ln>
            <a:solidFill>
              <a:srgbClr val="2A3060"/>
            </a:solidFill>
          </a:ln>
          <a:effectLst>
            <a:outerShdw sx="100000" sy="100000" kx="0" ky="0" algn="b" rotWithShape="0" blurRad="177800" dist="63500" dir="5400000">
              <a:srgbClr val="0B0E26">
                <a:alpha val="28000"/>
              </a:srgbClr>
            </a:outerShdw>
          </a:effectLst>
        </p:spPr>
        <p:txBody>
          <a:bodyPr lIns="45719" rIns="45719"/>
          <a:lstStyle/>
          <a:p>
            <a:pPr/>
          </a:p>
        </p:txBody>
      </p:sp>
      <p:sp>
        <p:nvSpPr>
          <p:cNvPr id="142" name="ASK screenshot window dot 1"/>
          <p:cNvSpPr/>
          <p:nvPr/>
        </p:nvSpPr>
        <p:spPr>
          <a:xfrm>
            <a:off x="621791" y="2380000"/>
            <a:ext cx="49745" cy="49745"/>
          </a:xfrm>
          <a:prstGeom prst="ellipse">
            <a:avLst/>
          </a:prstGeom>
          <a:solidFill>
            <a:srgbClr val="FF5F57"/>
          </a:solidFill>
          <a:ln w="12700">
            <a:miter lim="400000"/>
          </a:ln>
        </p:spPr>
        <p:txBody>
          <a:bodyPr lIns="45719" rIns="45719"/>
          <a:lstStyle/>
          <a:p>
            <a:pPr/>
          </a:p>
        </p:txBody>
      </p:sp>
      <p:sp>
        <p:nvSpPr>
          <p:cNvPr id="143" name="ASK screenshot window dot 2"/>
          <p:cNvSpPr/>
          <p:nvPr/>
        </p:nvSpPr>
        <p:spPr>
          <a:xfrm>
            <a:off x="706356" y="2380000"/>
            <a:ext cx="49745" cy="49745"/>
          </a:xfrm>
          <a:prstGeom prst="ellipse">
            <a:avLst/>
          </a:prstGeom>
          <a:solidFill>
            <a:srgbClr val="FEBC2E"/>
          </a:solidFill>
          <a:ln w="12700">
            <a:miter lim="400000"/>
          </a:ln>
        </p:spPr>
        <p:txBody>
          <a:bodyPr lIns="45719" rIns="45719"/>
          <a:lstStyle/>
          <a:p>
            <a:pPr/>
          </a:p>
        </p:txBody>
      </p:sp>
      <p:sp>
        <p:nvSpPr>
          <p:cNvPr id="144" name="ASK screenshot window dot 3"/>
          <p:cNvSpPr/>
          <p:nvPr/>
        </p:nvSpPr>
        <p:spPr>
          <a:xfrm>
            <a:off x="790919" y="2380000"/>
            <a:ext cx="49745" cy="49745"/>
          </a:xfrm>
          <a:prstGeom prst="ellipse">
            <a:avLst/>
          </a:prstGeom>
          <a:solidFill>
            <a:srgbClr val="28C840"/>
          </a:solidFill>
          <a:ln w="12700">
            <a:miter lim="400000"/>
          </a:ln>
        </p:spPr>
        <p:txBody>
          <a:bodyPr lIns="45719" rIns="45719"/>
          <a:lstStyle/>
          <a:p>
            <a:pPr/>
          </a:p>
        </p:txBody>
      </p:sp>
      <p:pic>
        <p:nvPicPr>
          <p:cNvPr id="145" name="ASK screenshot image" descr="ASK screenshot image"/>
          <p:cNvPicPr>
            <a:picLocks noChangeAspect="1"/>
          </p:cNvPicPr>
          <p:nvPr/>
        </p:nvPicPr>
        <p:blipFill>
          <a:blip r:embed="rId3">
            <a:extLst/>
          </a:blip>
          <a:stretch>
            <a:fillRect/>
          </a:stretch>
        </p:blipFill>
        <p:spPr>
          <a:xfrm>
            <a:off x="585216" y="2478023"/>
            <a:ext cx="2532889" cy="1266445"/>
          </a:xfrm>
          <a:prstGeom prst="rect">
            <a:avLst/>
          </a:prstGeom>
          <a:ln w="12700">
            <a:miter lim="400000"/>
          </a:ln>
        </p:spPr>
      </p:pic>
      <p:sp>
        <p:nvSpPr>
          <p:cNvPr id="146" name="Text 9"/>
          <p:cNvSpPr txBox="1"/>
          <p:nvPr/>
        </p:nvSpPr>
        <p:spPr>
          <a:xfrm>
            <a:off x="548640" y="3977640"/>
            <a:ext cx="260604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latin typeface="Arial"/>
                <a:ea typeface="Arial"/>
                <a:cs typeface="Arial"/>
                <a:sym typeface="Arial"/>
              </a:defRPr>
            </a:lvl1pPr>
          </a:lstStyle>
          <a:p>
            <a:pPr/>
            <a:r>
              <a:t>Ask in plain English</a:t>
            </a:r>
          </a:p>
        </p:txBody>
      </p:sp>
      <p:sp>
        <p:nvSpPr>
          <p:cNvPr id="147" name="Text 10"/>
          <p:cNvSpPr txBox="1"/>
          <p:nvPr/>
        </p:nvSpPr>
        <p:spPr>
          <a:xfrm>
            <a:off x="548640" y="4315967"/>
            <a:ext cx="260604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434B6B"/>
                </a:solidFill>
              </a:defRPr>
            </a:lvl1pPr>
          </a:lstStyle>
          <a:p>
            <a:pPr/>
            <a:r>
              <a:t>“Find profitable companies with high ROE and low debt.”</a:t>
            </a:r>
          </a:p>
        </p:txBody>
      </p:sp>
      <p:sp>
        <p:nvSpPr>
          <p:cNvPr id="148" name="flow arrow 1 circle"/>
          <p:cNvSpPr/>
          <p:nvPr/>
        </p:nvSpPr>
        <p:spPr>
          <a:xfrm>
            <a:off x="3159251" y="2944367"/>
            <a:ext cx="219457" cy="219457"/>
          </a:xfrm>
          <a:prstGeom prst="ellipse">
            <a:avLst/>
          </a:prstGeom>
          <a:solidFill>
            <a:schemeClr val="accent1"/>
          </a:solidFill>
          <a:ln w="12700">
            <a:miter lim="400000"/>
          </a:ln>
        </p:spPr>
        <p:txBody>
          <a:bodyPr lIns="45719" rIns="45719"/>
          <a:lstStyle/>
          <a:p>
            <a:pPr/>
          </a:p>
        </p:txBody>
      </p:sp>
      <p:pic>
        <p:nvPicPr>
          <p:cNvPr id="149" name="flow arrow 1 icon" descr="flow arrow 1 icon"/>
          <p:cNvPicPr>
            <a:picLocks noChangeAspect="1"/>
          </p:cNvPicPr>
          <p:nvPr/>
        </p:nvPicPr>
        <p:blipFill>
          <a:blip r:embed="rId4">
            <a:extLst/>
          </a:blip>
          <a:stretch>
            <a:fillRect/>
          </a:stretch>
        </p:blipFill>
        <p:spPr>
          <a:xfrm>
            <a:off x="3214116" y="2999232"/>
            <a:ext cx="109729" cy="109729"/>
          </a:xfrm>
          <a:prstGeom prst="rect">
            <a:avLst/>
          </a:prstGeom>
          <a:ln w="12700">
            <a:miter lim="400000"/>
          </a:ln>
        </p:spPr>
      </p:pic>
      <p:sp>
        <p:nvSpPr>
          <p:cNvPr id="150" name="step 2"/>
          <p:cNvSpPr/>
          <p:nvPr/>
        </p:nvSpPr>
        <p:spPr>
          <a:xfrm>
            <a:off x="3383279" y="1783079"/>
            <a:ext cx="384049" cy="384049"/>
          </a:xfrm>
          <a:prstGeom prst="ellipse">
            <a:avLst/>
          </a:prstGeom>
          <a:solidFill>
            <a:schemeClr val="accent2"/>
          </a:solidFill>
          <a:ln w="12700">
            <a:miter lim="400000"/>
          </a:ln>
        </p:spPr>
        <p:txBody>
          <a:bodyPr lIns="45719" rIns="45719"/>
          <a:lstStyle/>
          <a:p>
            <a:pPr/>
          </a:p>
        </p:txBody>
      </p:sp>
      <p:sp>
        <p:nvSpPr>
          <p:cNvPr id="151" name="Text 13"/>
          <p:cNvSpPr txBox="1"/>
          <p:nvPr/>
        </p:nvSpPr>
        <p:spPr>
          <a:xfrm>
            <a:off x="3383279" y="1881825"/>
            <a:ext cx="384049"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lvl1pPr>
          </a:lstStyle>
          <a:p>
            <a:pPr/>
            <a:r>
              <a:t>2</a:t>
            </a:r>
          </a:p>
        </p:txBody>
      </p:sp>
      <p:sp>
        <p:nvSpPr>
          <p:cNvPr id="152" name="Text 14"/>
          <p:cNvSpPr txBox="1"/>
          <p:nvPr/>
        </p:nvSpPr>
        <p:spPr>
          <a:xfrm>
            <a:off x="3886200" y="1847088"/>
            <a:ext cx="2011679"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1200">
                <a:solidFill>
                  <a:schemeClr val="accent1"/>
                </a:solidFill>
              </a:defRPr>
            </a:lvl1pPr>
          </a:lstStyle>
          <a:p>
            <a:pPr/>
            <a:r>
              <a:t>SCREEN</a:t>
            </a:r>
          </a:p>
        </p:txBody>
      </p:sp>
      <p:sp>
        <p:nvSpPr>
          <p:cNvPr id="153" name="SCREEN screenshot frame"/>
          <p:cNvSpPr/>
          <p:nvPr/>
        </p:nvSpPr>
        <p:spPr>
          <a:xfrm>
            <a:off x="3383279" y="2331720"/>
            <a:ext cx="2606041" cy="1449325"/>
          </a:xfrm>
          <a:prstGeom prst="roundRect">
            <a:avLst>
              <a:gd name="adj" fmla="val 4495"/>
            </a:avLst>
          </a:prstGeom>
          <a:solidFill>
            <a:srgbClr val="161A33"/>
          </a:solidFill>
          <a:ln>
            <a:solidFill>
              <a:srgbClr val="2A3060"/>
            </a:solidFill>
          </a:ln>
          <a:effectLst>
            <a:outerShdw sx="100000" sy="100000" kx="0" ky="0" algn="b" rotWithShape="0" blurRad="177800" dist="63500" dir="5400000">
              <a:srgbClr val="0B0E26">
                <a:alpha val="28000"/>
              </a:srgbClr>
            </a:outerShdw>
          </a:effectLst>
        </p:spPr>
        <p:txBody>
          <a:bodyPr lIns="45719" rIns="45719"/>
          <a:lstStyle/>
          <a:p>
            <a:pPr/>
          </a:p>
        </p:txBody>
      </p:sp>
      <p:sp>
        <p:nvSpPr>
          <p:cNvPr id="154" name="SCREEN screenshot window dot 1"/>
          <p:cNvSpPr/>
          <p:nvPr/>
        </p:nvSpPr>
        <p:spPr>
          <a:xfrm>
            <a:off x="3456432" y="2380000"/>
            <a:ext cx="49745" cy="49745"/>
          </a:xfrm>
          <a:prstGeom prst="ellipse">
            <a:avLst/>
          </a:prstGeom>
          <a:solidFill>
            <a:srgbClr val="FF5F57"/>
          </a:solidFill>
          <a:ln w="12700">
            <a:miter lim="400000"/>
          </a:ln>
        </p:spPr>
        <p:txBody>
          <a:bodyPr lIns="45719" rIns="45719"/>
          <a:lstStyle/>
          <a:p>
            <a:pPr/>
          </a:p>
        </p:txBody>
      </p:sp>
      <p:sp>
        <p:nvSpPr>
          <p:cNvPr id="155" name="SCREEN screenshot window dot 2"/>
          <p:cNvSpPr/>
          <p:nvPr/>
        </p:nvSpPr>
        <p:spPr>
          <a:xfrm>
            <a:off x="3540995" y="2380000"/>
            <a:ext cx="49745" cy="49745"/>
          </a:xfrm>
          <a:prstGeom prst="ellipse">
            <a:avLst/>
          </a:prstGeom>
          <a:solidFill>
            <a:srgbClr val="FEBC2E"/>
          </a:solidFill>
          <a:ln w="12700">
            <a:miter lim="400000"/>
          </a:ln>
        </p:spPr>
        <p:txBody>
          <a:bodyPr lIns="45719" rIns="45719"/>
          <a:lstStyle/>
          <a:p>
            <a:pPr/>
          </a:p>
        </p:txBody>
      </p:sp>
      <p:sp>
        <p:nvSpPr>
          <p:cNvPr id="156" name="SCREEN screenshot window dot 3"/>
          <p:cNvSpPr/>
          <p:nvPr/>
        </p:nvSpPr>
        <p:spPr>
          <a:xfrm>
            <a:off x="3625558" y="2380000"/>
            <a:ext cx="49745" cy="49745"/>
          </a:xfrm>
          <a:prstGeom prst="ellipse">
            <a:avLst/>
          </a:prstGeom>
          <a:solidFill>
            <a:srgbClr val="28C840"/>
          </a:solidFill>
          <a:ln w="12700">
            <a:miter lim="400000"/>
          </a:ln>
        </p:spPr>
        <p:txBody>
          <a:bodyPr lIns="45719" rIns="45719"/>
          <a:lstStyle/>
          <a:p>
            <a:pPr/>
          </a:p>
        </p:txBody>
      </p:sp>
      <p:sp>
        <p:nvSpPr>
          <p:cNvPr id="157" name="Text 19"/>
          <p:cNvSpPr txBox="1"/>
          <p:nvPr/>
        </p:nvSpPr>
        <p:spPr>
          <a:xfrm>
            <a:off x="3383279" y="3977640"/>
            <a:ext cx="260604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latin typeface="Arial"/>
                <a:ea typeface="Arial"/>
                <a:cs typeface="Arial"/>
                <a:sym typeface="Arial"/>
              </a:defRPr>
            </a:lvl1pPr>
          </a:lstStyle>
          <a:p>
            <a:pPr/>
            <a:r>
              <a:t>AI builds the screen</a:t>
            </a:r>
          </a:p>
        </p:txBody>
      </p:sp>
      <p:sp>
        <p:nvSpPr>
          <p:cNvPr id="158" name="Text 20"/>
          <p:cNvSpPr txBox="1"/>
          <p:nvPr/>
        </p:nvSpPr>
        <p:spPr>
          <a:xfrm>
            <a:off x="3383279" y="4315967"/>
            <a:ext cx="2606041" cy="537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434B6B"/>
                </a:solidFill>
              </a:defRPr>
            </a:lvl1pPr>
          </a:lstStyle>
          <a:p>
            <a:pPr/>
            <a:r>
              <a:t>Intent becomes explicit, editable filters across 6K+ companies, with a one-click backtest.</a:t>
            </a:r>
          </a:p>
        </p:txBody>
      </p:sp>
      <p:sp>
        <p:nvSpPr>
          <p:cNvPr id="159" name="flow arrow 2 circle"/>
          <p:cNvSpPr/>
          <p:nvPr/>
        </p:nvSpPr>
        <p:spPr>
          <a:xfrm>
            <a:off x="5993891" y="2944367"/>
            <a:ext cx="219457" cy="219457"/>
          </a:xfrm>
          <a:prstGeom prst="ellipse">
            <a:avLst/>
          </a:prstGeom>
          <a:solidFill>
            <a:schemeClr val="accent1"/>
          </a:solidFill>
          <a:ln w="12700">
            <a:miter lim="400000"/>
          </a:ln>
        </p:spPr>
        <p:txBody>
          <a:bodyPr lIns="45719" rIns="45719"/>
          <a:lstStyle/>
          <a:p>
            <a:pPr/>
          </a:p>
        </p:txBody>
      </p:sp>
      <p:pic>
        <p:nvPicPr>
          <p:cNvPr id="160" name="flow arrow 2 icon" descr="flow arrow 2 icon"/>
          <p:cNvPicPr>
            <a:picLocks noChangeAspect="1"/>
          </p:cNvPicPr>
          <p:nvPr/>
        </p:nvPicPr>
        <p:blipFill>
          <a:blip r:embed="rId4">
            <a:extLst/>
          </a:blip>
          <a:stretch>
            <a:fillRect/>
          </a:stretch>
        </p:blipFill>
        <p:spPr>
          <a:xfrm>
            <a:off x="6048755" y="2999232"/>
            <a:ext cx="109729" cy="109729"/>
          </a:xfrm>
          <a:prstGeom prst="rect">
            <a:avLst/>
          </a:prstGeom>
          <a:ln w="12700">
            <a:miter lim="400000"/>
          </a:ln>
        </p:spPr>
      </p:pic>
      <p:sp>
        <p:nvSpPr>
          <p:cNvPr id="161" name="step 3"/>
          <p:cNvSpPr/>
          <p:nvPr/>
        </p:nvSpPr>
        <p:spPr>
          <a:xfrm>
            <a:off x="6217920" y="1783079"/>
            <a:ext cx="384049" cy="384049"/>
          </a:xfrm>
          <a:prstGeom prst="ellipse">
            <a:avLst/>
          </a:prstGeom>
          <a:solidFill>
            <a:schemeClr val="accent2"/>
          </a:solidFill>
          <a:ln w="12700">
            <a:miter lim="400000"/>
          </a:ln>
        </p:spPr>
        <p:txBody>
          <a:bodyPr lIns="45719" rIns="45719"/>
          <a:lstStyle/>
          <a:p>
            <a:pPr/>
          </a:p>
        </p:txBody>
      </p:sp>
      <p:sp>
        <p:nvSpPr>
          <p:cNvPr id="162" name="Text 23"/>
          <p:cNvSpPr txBox="1"/>
          <p:nvPr/>
        </p:nvSpPr>
        <p:spPr>
          <a:xfrm>
            <a:off x="6217920" y="1881825"/>
            <a:ext cx="384049"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lvl1pPr>
          </a:lstStyle>
          <a:p>
            <a:pPr/>
            <a:r>
              <a:t>3</a:t>
            </a:r>
          </a:p>
        </p:txBody>
      </p:sp>
      <p:sp>
        <p:nvSpPr>
          <p:cNvPr id="163" name="Text 24"/>
          <p:cNvSpPr txBox="1"/>
          <p:nvPr/>
        </p:nvSpPr>
        <p:spPr>
          <a:xfrm>
            <a:off x="6720840" y="1847088"/>
            <a:ext cx="2011680"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1200">
                <a:solidFill>
                  <a:schemeClr val="accent1"/>
                </a:solidFill>
              </a:defRPr>
            </a:lvl1pPr>
          </a:lstStyle>
          <a:p>
            <a:pPr/>
            <a:r>
              <a:t>BACKTEST</a:t>
            </a:r>
          </a:p>
        </p:txBody>
      </p:sp>
      <p:sp>
        <p:nvSpPr>
          <p:cNvPr id="164" name="BACKTEST screenshot frame"/>
          <p:cNvSpPr/>
          <p:nvPr/>
        </p:nvSpPr>
        <p:spPr>
          <a:xfrm>
            <a:off x="6217920" y="2331720"/>
            <a:ext cx="2606041" cy="1449325"/>
          </a:xfrm>
          <a:prstGeom prst="roundRect">
            <a:avLst>
              <a:gd name="adj" fmla="val 4495"/>
            </a:avLst>
          </a:prstGeom>
          <a:solidFill>
            <a:srgbClr val="161A33"/>
          </a:solidFill>
          <a:ln>
            <a:solidFill>
              <a:srgbClr val="2A3060"/>
            </a:solidFill>
          </a:ln>
          <a:effectLst>
            <a:outerShdw sx="100000" sy="100000" kx="0" ky="0" algn="b" rotWithShape="0" blurRad="177800" dist="63500" dir="5400000">
              <a:srgbClr val="0B0E26">
                <a:alpha val="28000"/>
              </a:srgbClr>
            </a:outerShdw>
          </a:effectLst>
        </p:spPr>
        <p:txBody>
          <a:bodyPr lIns="45719" rIns="45719"/>
          <a:lstStyle/>
          <a:p>
            <a:pPr/>
          </a:p>
        </p:txBody>
      </p:sp>
      <p:sp>
        <p:nvSpPr>
          <p:cNvPr id="165" name="BACKTEST screenshot window dot 1"/>
          <p:cNvSpPr/>
          <p:nvPr/>
        </p:nvSpPr>
        <p:spPr>
          <a:xfrm>
            <a:off x="6291071" y="2380000"/>
            <a:ext cx="49745" cy="49745"/>
          </a:xfrm>
          <a:prstGeom prst="ellipse">
            <a:avLst/>
          </a:prstGeom>
          <a:solidFill>
            <a:srgbClr val="FF5F57"/>
          </a:solidFill>
          <a:ln w="12700">
            <a:miter lim="400000"/>
          </a:ln>
        </p:spPr>
        <p:txBody>
          <a:bodyPr lIns="45719" rIns="45719"/>
          <a:lstStyle/>
          <a:p>
            <a:pPr/>
          </a:p>
        </p:txBody>
      </p:sp>
      <p:sp>
        <p:nvSpPr>
          <p:cNvPr id="166" name="BACKTEST screenshot window dot 2"/>
          <p:cNvSpPr/>
          <p:nvPr/>
        </p:nvSpPr>
        <p:spPr>
          <a:xfrm>
            <a:off x="6375636" y="2380000"/>
            <a:ext cx="49745" cy="49745"/>
          </a:xfrm>
          <a:prstGeom prst="ellipse">
            <a:avLst/>
          </a:prstGeom>
          <a:solidFill>
            <a:srgbClr val="FEBC2E"/>
          </a:solidFill>
          <a:ln w="12700">
            <a:miter lim="400000"/>
          </a:ln>
        </p:spPr>
        <p:txBody>
          <a:bodyPr lIns="45719" rIns="45719"/>
          <a:lstStyle/>
          <a:p>
            <a:pPr/>
          </a:p>
        </p:txBody>
      </p:sp>
      <p:sp>
        <p:nvSpPr>
          <p:cNvPr id="167" name="BACKTEST screenshot window dot 3"/>
          <p:cNvSpPr/>
          <p:nvPr/>
        </p:nvSpPr>
        <p:spPr>
          <a:xfrm>
            <a:off x="6460199" y="2380000"/>
            <a:ext cx="49745" cy="49745"/>
          </a:xfrm>
          <a:prstGeom prst="ellipse">
            <a:avLst/>
          </a:prstGeom>
          <a:solidFill>
            <a:srgbClr val="28C840"/>
          </a:solidFill>
          <a:ln w="12700">
            <a:miter lim="400000"/>
          </a:ln>
        </p:spPr>
        <p:txBody>
          <a:bodyPr lIns="45719" rIns="45719"/>
          <a:lstStyle/>
          <a:p>
            <a:pPr/>
          </a:p>
        </p:txBody>
      </p:sp>
      <p:sp>
        <p:nvSpPr>
          <p:cNvPr id="168" name="Text 29"/>
          <p:cNvSpPr txBox="1"/>
          <p:nvPr/>
        </p:nvSpPr>
        <p:spPr>
          <a:xfrm>
            <a:off x="6217920" y="3977640"/>
            <a:ext cx="260604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latin typeface="Arial"/>
                <a:ea typeface="Arial"/>
                <a:cs typeface="Arial"/>
                <a:sym typeface="Arial"/>
              </a:defRPr>
            </a:lvl1pPr>
          </a:lstStyle>
          <a:p>
            <a:pPr/>
            <a:r>
              <a:t>Test it on history</a:t>
            </a:r>
          </a:p>
        </p:txBody>
      </p:sp>
      <p:sp>
        <p:nvSpPr>
          <p:cNvPr id="169" name="Text 30"/>
          <p:cNvSpPr txBox="1"/>
          <p:nvPr/>
        </p:nvSpPr>
        <p:spPr>
          <a:xfrm>
            <a:off x="6217920" y="4315967"/>
            <a:ext cx="2606041" cy="537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434B6B"/>
                </a:solidFill>
              </a:defRPr>
            </a:lvl1pPr>
          </a:lstStyle>
          <a:p>
            <a:pPr/>
            <a:r>
              <a:t>Brokerage, STT, stamp duty and slippage built in; alpha, drawdown and Sharpe reported, with every rule shown.</a:t>
            </a:r>
          </a:p>
        </p:txBody>
      </p:sp>
      <p:sp>
        <p:nvSpPr>
          <p:cNvPr id="170" name="flow arrow 3 circle"/>
          <p:cNvSpPr/>
          <p:nvPr/>
        </p:nvSpPr>
        <p:spPr>
          <a:xfrm>
            <a:off x="8828531" y="2944367"/>
            <a:ext cx="219457" cy="219457"/>
          </a:xfrm>
          <a:prstGeom prst="ellipse">
            <a:avLst/>
          </a:prstGeom>
          <a:solidFill>
            <a:schemeClr val="accent1"/>
          </a:solidFill>
          <a:ln w="12700">
            <a:miter lim="400000"/>
          </a:ln>
        </p:spPr>
        <p:txBody>
          <a:bodyPr lIns="45719" rIns="45719"/>
          <a:lstStyle/>
          <a:p>
            <a:pPr/>
          </a:p>
        </p:txBody>
      </p:sp>
      <p:pic>
        <p:nvPicPr>
          <p:cNvPr id="171" name="flow arrow 3 icon" descr="flow arrow 3 icon"/>
          <p:cNvPicPr>
            <a:picLocks noChangeAspect="1"/>
          </p:cNvPicPr>
          <p:nvPr/>
        </p:nvPicPr>
        <p:blipFill>
          <a:blip r:embed="rId4">
            <a:extLst/>
          </a:blip>
          <a:stretch>
            <a:fillRect/>
          </a:stretch>
        </p:blipFill>
        <p:spPr>
          <a:xfrm>
            <a:off x="8883395" y="2999232"/>
            <a:ext cx="109729" cy="109729"/>
          </a:xfrm>
          <a:prstGeom prst="rect">
            <a:avLst/>
          </a:prstGeom>
          <a:ln w="12700">
            <a:miter lim="400000"/>
          </a:ln>
        </p:spPr>
      </p:pic>
      <p:sp>
        <p:nvSpPr>
          <p:cNvPr id="172" name="step 4"/>
          <p:cNvSpPr/>
          <p:nvPr/>
        </p:nvSpPr>
        <p:spPr>
          <a:xfrm>
            <a:off x="9052559" y="1783079"/>
            <a:ext cx="384049" cy="384049"/>
          </a:xfrm>
          <a:prstGeom prst="ellipse">
            <a:avLst/>
          </a:prstGeom>
          <a:solidFill>
            <a:schemeClr val="accent2"/>
          </a:solidFill>
          <a:ln w="12700">
            <a:miter lim="400000"/>
          </a:ln>
        </p:spPr>
        <p:txBody>
          <a:bodyPr lIns="45719" rIns="45719"/>
          <a:lstStyle/>
          <a:p>
            <a:pPr/>
          </a:p>
        </p:txBody>
      </p:sp>
      <p:sp>
        <p:nvSpPr>
          <p:cNvPr id="173" name="Text 33"/>
          <p:cNvSpPr txBox="1"/>
          <p:nvPr/>
        </p:nvSpPr>
        <p:spPr>
          <a:xfrm>
            <a:off x="9052559" y="1881825"/>
            <a:ext cx="384049"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lvl1pPr>
          </a:lstStyle>
          <a:p>
            <a:pPr/>
            <a:r>
              <a:t>4</a:t>
            </a:r>
          </a:p>
        </p:txBody>
      </p:sp>
      <p:sp>
        <p:nvSpPr>
          <p:cNvPr id="174" name="Text 34"/>
          <p:cNvSpPr txBox="1"/>
          <p:nvPr/>
        </p:nvSpPr>
        <p:spPr>
          <a:xfrm>
            <a:off x="9555480" y="1847088"/>
            <a:ext cx="2011680"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1200">
                <a:solidFill>
                  <a:schemeClr val="accent1"/>
                </a:solidFill>
              </a:defRPr>
            </a:lvl1pPr>
          </a:lstStyle>
          <a:p>
            <a:pPr/>
            <a:r>
              <a:t>PRACTISE</a:t>
            </a:r>
          </a:p>
        </p:txBody>
      </p:sp>
      <p:sp>
        <p:nvSpPr>
          <p:cNvPr id="175" name="PRACTISE screenshot frame"/>
          <p:cNvSpPr/>
          <p:nvPr/>
        </p:nvSpPr>
        <p:spPr>
          <a:xfrm>
            <a:off x="9052559" y="2331720"/>
            <a:ext cx="2606041" cy="1449325"/>
          </a:xfrm>
          <a:prstGeom prst="roundRect">
            <a:avLst>
              <a:gd name="adj" fmla="val 4495"/>
            </a:avLst>
          </a:prstGeom>
          <a:solidFill>
            <a:srgbClr val="161A33"/>
          </a:solidFill>
          <a:ln>
            <a:solidFill>
              <a:srgbClr val="2A3060"/>
            </a:solidFill>
          </a:ln>
          <a:effectLst>
            <a:outerShdw sx="100000" sy="100000" kx="0" ky="0" algn="b" rotWithShape="0" blurRad="177800" dist="63500" dir="5400000">
              <a:srgbClr val="0B0E26">
                <a:alpha val="28000"/>
              </a:srgbClr>
            </a:outerShdw>
          </a:effectLst>
        </p:spPr>
        <p:txBody>
          <a:bodyPr lIns="45719" rIns="45719"/>
          <a:lstStyle/>
          <a:p>
            <a:pPr/>
          </a:p>
        </p:txBody>
      </p:sp>
      <p:sp>
        <p:nvSpPr>
          <p:cNvPr id="176" name="PRACTISE screenshot window dot 1"/>
          <p:cNvSpPr/>
          <p:nvPr/>
        </p:nvSpPr>
        <p:spPr>
          <a:xfrm>
            <a:off x="9125711" y="2380000"/>
            <a:ext cx="49745" cy="49745"/>
          </a:xfrm>
          <a:prstGeom prst="ellipse">
            <a:avLst/>
          </a:prstGeom>
          <a:solidFill>
            <a:srgbClr val="FF5F57"/>
          </a:solidFill>
          <a:ln w="12700">
            <a:miter lim="400000"/>
          </a:ln>
        </p:spPr>
        <p:txBody>
          <a:bodyPr lIns="45719" rIns="45719"/>
          <a:lstStyle/>
          <a:p>
            <a:pPr/>
          </a:p>
        </p:txBody>
      </p:sp>
      <p:sp>
        <p:nvSpPr>
          <p:cNvPr id="177" name="PRACTISE screenshot window dot 2"/>
          <p:cNvSpPr/>
          <p:nvPr/>
        </p:nvSpPr>
        <p:spPr>
          <a:xfrm>
            <a:off x="9210275" y="2380000"/>
            <a:ext cx="49745" cy="49745"/>
          </a:xfrm>
          <a:prstGeom prst="ellipse">
            <a:avLst/>
          </a:prstGeom>
          <a:solidFill>
            <a:srgbClr val="FEBC2E"/>
          </a:solidFill>
          <a:ln w="12700">
            <a:miter lim="400000"/>
          </a:ln>
        </p:spPr>
        <p:txBody>
          <a:bodyPr lIns="45719" rIns="45719"/>
          <a:lstStyle/>
          <a:p>
            <a:pPr/>
          </a:p>
        </p:txBody>
      </p:sp>
      <p:sp>
        <p:nvSpPr>
          <p:cNvPr id="178" name="PRACTISE screenshot window dot 3"/>
          <p:cNvSpPr/>
          <p:nvPr/>
        </p:nvSpPr>
        <p:spPr>
          <a:xfrm>
            <a:off x="9294838" y="2380000"/>
            <a:ext cx="49745" cy="49745"/>
          </a:xfrm>
          <a:prstGeom prst="ellipse">
            <a:avLst/>
          </a:prstGeom>
          <a:solidFill>
            <a:srgbClr val="28C840"/>
          </a:solidFill>
          <a:ln w="12700">
            <a:miter lim="400000"/>
          </a:ln>
        </p:spPr>
        <p:txBody>
          <a:bodyPr lIns="45719" rIns="45719"/>
          <a:lstStyle/>
          <a:p>
            <a:pPr/>
          </a:p>
        </p:txBody>
      </p:sp>
      <p:sp>
        <p:nvSpPr>
          <p:cNvPr id="179" name="Text 39"/>
          <p:cNvSpPr txBox="1"/>
          <p:nvPr/>
        </p:nvSpPr>
        <p:spPr>
          <a:xfrm>
            <a:off x="9052559" y="3977640"/>
            <a:ext cx="260604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latin typeface="Arial"/>
                <a:ea typeface="Arial"/>
                <a:cs typeface="Arial"/>
                <a:sym typeface="Arial"/>
              </a:defRPr>
            </a:lvl1pPr>
          </a:lstStyle>
          <a:p>
            <a:pPr/>
            <a:r>
              <a:t>Practise, then act</a:t>
            </a:r>
          </a:p>
        </p:txBody>
      </p:sp>
      <p:sp>
        <p:nvSpPr>
          <p:cNvPr id="180" name="Text 40"/>
          <p:cNvSpPr txBox="1"/>
          <p:nvPr/>
        </p:nvSpPr>
        <p:spPr>
          <a:xfrm>
            <a:off x="9052559" y="4315967"/>
            <a:ext cx="260604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434B6B"/>
                </a:solidFill>
              </a:defRPr>
            </a:lvl1pPr>
          </a:lstStyle>
          <a:p>
            <a:pPr/>
            <a:r>
              <a:t>Paper-trade the strategy with virtual cash and review every decision in a journal.</a:t>
            </a:r>
          </a:p>
        </p:txBody>
      </p:sp>
      <p:sp>
        <p:nvSpPr>
          <p:cNvPr id="181" name="Text 41"/>
          <p:cNvSpPr txBox="1"/>
          <p:nvPr/>
        </p:nvSpPr>
        <p:spPr>
          <a:xfrm>
            <a:off x="548792" y="5049765"/>
            <a:ext cx="11094416"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000">
                <a:solidFill>
                  <a:schemeClr val="accent5"/>
                </a:solidFill>
              </a:defRPr>
            </a:lvl1pPr>
          </a:lstStyle>
          <a:p>
            <a:pPr/>
            <a:r>
              <a:t>Verified live on 19 Oct 2026: this prompt generated a 516-stock screen (ROE &gt; 15%, D/E &lt; 1), a 1Y costed backtest and a 10-stock paper basket.</a:t>
            </a:r>
          </a:p>
        </p:txBody>
      </p:sp>
      <p:sp>
        <p:nvSpPr>
          <p:cNvPr id="182" name="principle band"/>
          <p:cNvSpPr/>
          <p:nvPr/>
        </p:nvSpPr>
        <p:spPr>
          <a:xfrm>
            <a:off x="548640" y="5349240"/>
            <a:ext cx="11094416" cy="658369"/>
          </a:xfrm>
          <a:prstGeom prst="roundRect">
            <a:avLst>
              <a:gd name="adj" fmla="val 16667"/>
            </a:avLst>
          </a:prstGeom>
          <a:solidFill>
            <a:srgbClr val="FFFFFF"/>
          </a:solidFill>
          <a:ln w="12700">
            <a:miter lim="400000"/>
          </a:ln>
          <a:effectLst>
            <a:outerShdw sx="100000" sy="100000" kx="0" ky="0" algn="b" rotWithShape="0" blurRad="127000" dist="38100" dir="5400000">
              <a:srgbClr val="0B0E26">
                <a:alpha val="10000"/>
              </a:srgbClr>
            </a:outerShdw>
          </a:effectLst>
        </p:spPr>
        <p:txBody>
          <a:bodyPr lIns="45719" rIns="45719"/>
          <a:lstStyle/>
          <a:p>
            <a:pPr/>
          </a:p>
        </p:txBody>
      </p:sp>
      <p:sp>
        <p:nvSpPr>
          <p:cNvPr id="183" name="LuShieldCheck circle"/>
          <p:cNvSpPr/>
          <p:nvPr/>
        </p:nvSpPr>
        <p:spPr>
          <a:xfrm>
            <a:off x="749808" y="5468111"/>
            <a:ext cx="420625" cy="420625"/>
          </a:xfrm>
          <a:prstGeom prst="ellipse">
            <a:avLst/>
          </a:prstGeom>
          <a:solidFill>
            <a:srgbClr val="F4F7FC"/>
          </a:solidFill>
          <a:ln w="12700">
            <a:miter lim="400000"/>
          </a:ln>
        </p:spPr>
        <p:txBody>
          <a:bodyPr lIns="45719" rIns="45719"/>
          <a:lstStyle/>
          <a:p>
            <a:pPr/>
          </a:p>
        </p:txBody>
      </p:sp>
      <p:pic>
        <p:nvPicPr>
          <p:cNvPr id="184" name="LuShieldCheck icon" descr="LuShieldCheck icon"/>
          <p:cNvPicPr>
            <a:picLocks noChangeAspect="1"/>
          </p:cNvPicPr>
          <p:nvPr/>
        </p:nvPicPr>
        <p:blipFill>
          <a:blip r:embed="rId5">
            <a:extLst/>
          </a:blip>
          <a:stretch>
            <a:fillRect/>
          </a:stretch>
        </p:blipFill>
        <p:spPr>
          <a:xfrm>
            <a:off x="854963" y="5573267"/>
            <a:ext cx="210313" cy="210313"/>
          </a:xfrm>
          <a:prstGeom prst="rect">
            <a:avLst/>
          </a:prstGeom>
          <a:ln w="12700">
            <a:miter lim="400000"/>
          </a:ln>
        </p:spPr>
      </p:pic>
      <p:sp>
        <p:nvSpPr>
          <p:cNvPr id="185" name="Text 44"/>
          <p:cNvSpPr txBox="1"/>
          <p:nvPr/>
        </p:nvSpPr>
        <p:spPr>
          <a:xfrm>
            <a:off x="1325880" y="5585146"/>
            <a:ext cx="10088575"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AI interprets. Engines compute: the model never does the arithmetic, and answers link back to their sources.</a:t>
            </a:r>
          </a:p>
        </p:txBody>
      </p:sp>
      <p:sp>
        <p:nvSpPr>
          <p:cNvPr id="186" name="Slide Number Placeholder 0"/>
          <p:cNvSpPr txBox="1"/>
          <p:nvPr>
            <p:ph type="sldNum" sz="quarter" idx="4294967295"/>
          </p:nvPr>
        </p:nvSpPr>
        <p:spPr>
          <a:xfrm>
            <a:off x="11516055" y="6419088"/>
            <a:ext cx="127001" cy="13707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7" name="pasted-movie.png" descr="pasted-movie.png"/>
          <p:cNvPicPr>
            <a:picLocks noChangeAspect="1"/>
          </p:cNvPicPr>
          <p:nvPr/>
        </p:nvPicPr>
        <p:blipFill>
          <a:blip r:embed="rId6">
            <a:extLst/>
          </a:blip>
          <a:srcRect l="0" t="0" r="0" b="19174"/>
          <a:stretch>
            <a:fillRect/>
          </a:stretch>
        </p:blipFill>
        <p:spPr>
          <a:xfrm>
            <a:off x="3379104" y="2473603"/>
            <a:ext cx="2615038" cy="1240435"/>
          </a:xfrm>
          <a:prstGeom prst="rect">
            <a:avLst/>
          </a:prstGeom>
          <a:ln w="12700">
            <a:miter lim="400000"/>
          </a:ln>
        </p:spPr>
      </p:pic>
      <p:pic>
        <p:nvPicPr>
          <p:cNvPr id="188" name="pasted-movie.png" descr="pasted-movie.png"/>
          <p:cNvPicPr>
            <a:picLocks noChangeAspect="1"/>
          </p:cNvPicPr>
          <p:nvPr/>
        </p:nvPicPr>
        <p:blipFill>
          <a:blip r:embed="rId7">
            <a:extLst/>
          </a:blip>
          <a:srcRect l="0" t="7352" r="0" b="979"/>
          <a:stretch>
            <a:fillRect/>
          </a:stretch>
        </p:blipFill>
        <p:spPr>
          <a:xfrm>
            <a:off x="6425503" y="2438750"/>
            <a:ext cx="2190869" cy="1345054"/>
          </a:xfrm>
          <a:prstGeom prst="rect">
            <a:avLst/>
          </a:prstGeom>
          <a:ln w="12700">
            <a:miter lim="400000"/>
          </a:ln>
        </p:spPr>
      </p:pic>
      <p:pic>
        <p:nvPicPr>
          <p:cNvPr id="189" name="pasted-movie.png" descr="pasted-movie.png"/>
          <p:cNvPicPr>
            <a:picLocks noChangeAspect="1"/>
          </p:cNvPicPr>
          <p:nvPr/>
        </p:nvPicPr>
        <p:blipFill>
          <a:blip r:embed="rId8">
            <a:extLst/>
          </a:blip>
          <a:stretch>
            <a:fillRect/>
          </a:stretch>
        </p:blipFill>
        <p:spPr>
          <a:xfrm>
            <a:off x="9210275" y="2443601"/>
            <a:ext cx="2169129" cy="1345010"/>
          </a:xfrm>
          <a:prstGeom prst="rect">
            <a:avLst/>
          </a:prstGeom>
          <a:ln w="12700">
            <a:miter lim="400000"/>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LIVE TODAY</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One verified data engine, six live workflows</a:t>
            </a:r>
            <a:endParaRPr lang="en-US" sz="3200" dirty="0"/>
          </a:p>
        </p:txBody>
      </p:sp>
      <p:sp>
        <p:nvSpPr>
          <p:cNvPr id="4" name="Text 2"/>
          <p:cNvSpPr txBox="1"/>
          <p:nvPr/>
        </p:nvSpPr>
        <p:spPr>
          <a:xfrm>
            <a:off x="548640" y="1298448"/>
            <a:ext cx="11094415" cy="274320"/>
          </a:xfrm>
          <a:prstGeom prst="rect">
            <a:avLst/>
          </a:prstGeom>
          <a:noFill/>
          <a:ln/>
        </p:spPr>
        <p:txBody>
          <a:bodyPr wrap="square" lIns="0" tIns="0" rIns="0" bIns="0" rtlCol="0" anchor="t"/>
          <a:lstStyle/>
          <a:p>
            <a:pPr indent="0" marL="0">
              <a:buNone/>
            </a:pPr>
            <a:r>
              <a:rPr lang="en-US" sz="1300" dirty="0">
                <a:solidFill>
                  <a:srgbClr val="434B6B"/>
                </a:solidFill>
              </a:rPr>
              <a:t>Every module is a view on the same filings warehouse, not a separate product to maintain.</a:t>
            </a:r>
            <a:endParaRPr lang="en-US" sz="1300" dirty="0"/>
          </a:p>
        </p:txBody>
      </p:sp>
      <p:sp>
        <p:nvSpPr>
          <p:cNvPr id="5" name="Stock intelligence frame"/>
          <p:cNvSpPr/>
          <p:nvPr/>
        </p:nvSpPr>
        <p:spPr>
          <a:xfrm>
            <a:off x="548640" y="1691640"/>
            <a:ext cx="3108960" cy="1700784"/>
          </a:xfrm>
          <a:prstGeom prst="roundRect">
            <a:avLst>
              <a:gd name="adj" fmla="val 4570"/>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6" name="Stock intelligence window dot 1"/>
          <p:cNvSpPr/>
          <p:nvPr/>
        </p:nvSpPr>
        <p:spPr>
          <a:xfrm>
            <a:off x="622524" y="1739920"/>
            <a:ext cx="49743" cy="49743"/>
          </a:xfrm>
          <a:prstGeom prst="ellipse">
            <a:avLst/>
          </a:prstGeom>
          <a:solidFill>
            <a:srgbClr val="FF5F57"/>
          </a:solidFill>
          <a:ln/>
        </p:spPr>
      </p:sp>
      <p:sp>
        <p:nvSpPr>
          <p:cNvPr id="7" name="Stock intelligence window dot 2"/>
          <p:cNvSpPr/>
          <p:nvPr/>
        </p:nvSpPr>
        <p:spPr>
          <a:xfrm>
            <a:off x="707087" y="1739920"/>
            <a:ext cx="49743" cy="49743"/>
          </a:xfrm>
          <a:prstGeom prst="ellipse">
            <a:avLst/>
          </a:prstGeom>
          <a:solidFill>
            <a:srgbClr val="FEBC2E"/>
          </a:solidFill>
          <a:ln/>
        </p:spPr>
      </p:sp>
      <p:sp>
        <p:nvSpPr>
          <p:cNvPr id="8" name="Stock intelligence window dot 3"/>
          <p:cNvSpPr/>
          <p:nvPr/>
        </p:nvSpPr>
        <p:spPr>
          <a:xfrm>
            <a:off x="791651" y="1739920"/>
            <a:ext cx="49743" cy="49743"/>
          </a:xfrm>
          <a:prstGeom prst="ellipse">
            <a:avLst/>
          </a:prstGeom>
          <a:solidFill>
            <a:srgbClr val="28C840"/>
          </a:solidFill>
          <a:ln/>
        </p:spPr>
      </p:sp>
      <p:pic>
        <p:nvPicPr>
          <p:cNvPr id="9" name="Stock intelligence image" descr="Stock intelligence">    </p:cNvPr>
          <p:cNvPicPr>
            <a:picLocks noChangeAspect="1"/>
          </p:cNvPicPr>
          <p:nvPr/>
        </p:nvPicPr>
        <p:blipFill>
          <a:blip r:embed="rId1"/>
          <a:stretch>
            <a:fillRect/>
          </a:stretch>
        </p:blipFill>
        <p:spPr>
          <a:xfrm>
            <a:off x="585948" y="1837944"/>
            <a:ext cx="3034345" cy="1517172"/>
          </a:xfrm>
          <a:prstGeom prst="rect">
            <a:avLst/>
          </a:prstGeom>
        </p:spPr>
      </p:pic>
      <p:sp>
        <p:nvSpPr>
          <p:cNvPr id="10" name="Text 7"/>
          <p:cNvSpPr txBox="1"/>
          <p:nvPr/>
        </p:nvSpPr>
        <p:spPr>
          <a:xfrm>
            <a:off x="548640" y="3465576"/>
            <a:ext cx="3291840" cy="237744"/>
          </a:xfrm>
          <a:prstGeom prst="rect">
            <a:avLst/>
          </a:prstGeom>
          <a:noFill/>
          <a:ln/>
        </p:spPr>
        <p:txBody>
          <a:bodyPr wrap="square" lIns="0" tIns="0" rIns="0" bIns="0" rtlCol="0" anchor="t"/>
          <a:lstStyle/>
          <a:p>
            <a:pPr indent="0" marL="0">
              <a:buNone/>
            </a:pPr>
            <a:r>
              <a:rPr lang="en-US" sz="1350" b="1" dirty="0">
                <a:solidFill>
                  <a:srgbClr val="0B0E26"/>
                </a:solidFill>
              </a:rPr>
              <a:t>Stock intelligence</a:t>
            </a:r>
            <a:endParaRPr lang="en-US" sz="1350" dirty="0"/>
          </a:p>
        </p:txBody>
      </p:sp>
      <p:sp>
        <p:nvSpPr>
          <p:cNvPr id="11" name="Text 8"/>
          <p:cNvSpPr txBox="1"/>
          <p:nvPr/>
        </p:nvSpPr>
        <p:spPr>
          <a:xfrm>
            <a:off x="548640" y="3703320"/>
            <a:ext cx="3566160" cy="237744"/>
          </a:xfrm>
          <a:prstGeom prst="rect">
            <a:avLst/>
          </a:prstGeom>
          <a:noFill/>
          <a:ln/>
        </p:spPr>
        <p:txBody>
          <a:bodyPr wrap="square" lIns="0" tIns="0" rIns="0" bIns="0" rtlCol="0" anchor="t"/>
          <a:lstStyle/>
          <a:p>
            <a:pPr indent="0" marL="0">
              <a:buNone/>
            </a:pPr>
            <a:r>
              <a:rPr lang="en-US" sz="1100" dirty="0">
                <a:solidFill>
                  <a:srgbClr val="434B6B"/>
                </a:solidFill>
              </a:rPr>
              <a:t>Anvest Score, AI profile, financials and filings</a:t>
            </a:r>
            <a:endParaRPr lang="en-US" sz="1100" dirty="0"/>
          </a:p>
        </p:txBody>
      </p:sp>
      <p:sp>
        <p:nvSpPr>
          <p:cNvPr id="12" name="IPO hub frame"/>
          <p:cNvSpPr/>
          <p:nvPr/>
        </p:nvSpPr>
        <p:spPr>
          <a:xfrm>
            <a:off x="4539996" y="1691640"/>
            <a:ext cx="3108960" cy="1700784"/>
          </a:xfrm>
          <a:prstGeom prst="roundRect">
            <a:avLst>
              <a:gd name="adj" fmla="val 4570"/>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13" name="IPO hub window dot 1"/>
          <p:cNvSpPr/>
          <p:nvPr/>
        </p:nvSpPr>
        <p:spPr>
          <a:xfrm>
            <a:off x="4613880" y="1739920"/>
            <a:ext cx="49743" cy="49743"/>
          </a:xfrm>
          <a:prstGeom prst="ellipse">
            <a:avLst/>
          </a:prstGeom>
          <a:solidFill>
            <a:srgbClr val="FF5F57"/>
          </a:solidFill>
          <a:ln/>
        </p:spPr>
      </p:sp>
      <p:sp>
        <p:nvSpPr>
          <p:cNvPr id="14" name="IPO hub window dot 2"/>
          <p:cNvSpPr/>
          <p:nvPr/>
        </p:nvSpPr>
        <p:spPr>
          <a:xfrm>
            <a:off x="4698443" y="1739920"/>
            <a:ext cx="49743" cy="49743"/>
          </a:xfrm>
          <a:prstGeom prst="ellipse">
            <a:avLst/>
          </a:prstGeom>
          <a:solidFill>
            <a:srgbClr val="FEBC2E"/>
          </a:solidFill>
          <a:ln/>
        </p:spPr>
      </p:sp>
      <p:sp>
        <p:nvSpPr>
          <p:cNvPr id="15" name="IPO hub window dot 3"/>
          <p:cNvSpPr/>
          <p:nvPr/>
        </p:nvSpPr>
        <p:spPr>
          <a:xfrm>
            <a:off x="4783007" y="1739920"/>
            <a:ext cx="49743" cy="49743"/>
          </a:xfrm>
          <a:prstGeom prst="ellipse">
            <a:avLst/>
          </a:prstGeom>
          <a:solidFill>
            <a:srgbClr val="28C840"/>
          </a:solidFill>
          <a:ln/>
        </p:spPr>
      </p:sp>
      <p:pic>
        <p:nvPicPr>
          <p:cNvPr id="16" name="IPO hub image" descr="IPO hub">    </p:cNvPr>
          <p:cNvPicPr>
            <a:picLocks noChangeAspect="1"/>
          </p:cNvPicPr>
          <p:nvPr/>
        </p:nvPicPr>
        <p:blipFill>
          <a:blip r:embed="rId2"/>
          <a:stretch>
            <a:fillRect/>
          </a:stretch>
        </p:blipFill>
        <p:spPr>
          <a:xfrm>
            <a:off x="4577304" y="1837944"/>
            <a:ext cx="3034345" cy="1517172"/>
          </a:xfrm>
          <a:prstGeom prst="rect">
            <a:avLst/>
          </a:prstGeom>
        </p:spPr>
      </p:pic>
      <p:sp>
        <p:nvSpPr>
          <p:cNvPr id="17" name="Text 13"/>
          <p:cNvSpPr txBox="1"/>
          <p:nvPr/>
        </p:nvSpPr>
        <p:spPr>
          <a:xfrm>
            <a:off x="4539996" y="3465576"/>
            <a:ext cx="3291840" cy="237744"/>
          </a:xfrm>
          <a:prstGeom prst="rect">
            <a:avLst/>
          </a:prstGeom>
          <a:noFill/>
          <a:ln/>
        </p:spPr>
        <p:txBody>
          <a:bodyPr wrap="square" lIns="0" tIns="0" rIns="0" bIns="0" rtlCol="0" anchor="t"/>
          <a:lstStyle/>
          <a:p>
            <a:pPr indent="0" marL="0">
              <a:buNone/>
            </a:pPr>
            <a:r>
              <a:rPr lang="en-US" sz="1350" b="1" dirty="0">
                <a:solidFill>
                  <a:srgbClr val="0B0E26"/>
                </a:solidFill>
              </a:rPr>
              <a:t>IPO hub</a:t>
            </a:r>
            <a:endParaRPr lang="en-US" sz="1350" dirty="0"/>
          </a:p>
        </p:txBody>
      </p:sp>
      <p:sp>
        <p:nvSpPr>
          <p:cNvPr id="18" name="Text 14"/>
          <p:cNvSpPr txBox="1"/>
          <p:nvPr/>
        </p:nvSpPr>
        <p:spPr>
          <a:xfrm>
            <a:off x="4539996" y="3703320"/>
            <a:ext cx="3566160" cy="237744"/>
          </a:xfrm>
          <a:prstGeom prst="rect">
            <a:avLst/>
          </a:prstGeom>
          <a:noFill/>
          <a:ln/>
        </p:spPr>
        <p:txBody>
          <a:bodyPr wrap="square" lIns="0" tIns="0" rIns="0" bIns="0" rtlCol="0" anchor="t"/>
          <a:lstStyle/>
          <a:p>
            <a:pPr indent="0" marL="0">
              <a:buNone/>
            </a:pPr>
            <a:r>
              <a:rPr lang="en-US" sz="1100" dirty="0">
                <a:solidFill>
                  <a:srgbClr val="434B6B"/>
                </a:solidFill>
              </a:rPr>
              <a:t>Jio Platforms: band, size and dates from its RHP (Oct 2026)</a:t>
            </a:r>
            <a:endParaRPr lang="en-US" sz="1100" dirty="0"/>
          </a:p>
        </p:txBody>
      </p:sp>
      <p:sp>
        <p:nvSpPr>
          <p:cNvPr id="19" name="Mutual fund X-ray frame"/>
          <p:cNvSpPr/>
          <p:nvPr/>
        </p:nvSpPr>
        <p:spPr>
          <a:xfrm>
            <a:off x="8531352" y="1691640"/>
            <a:ext cx="3108960" cy="1700784"/>
          </a:xfrm>
          <a:prstGeom prst="roundRect">
            <a:avLst>
              <a:gd name="adj" fmla="val 4570"/>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20" name="Mutual fund X-ray window dot 1"/>
          <p:cNvSpPr/>
          <p:nvPr/>
        </p:nvSpPr>
        <p:spPr>
          <a:xfrm>
            <a:off x="8605236" y="1739920"/>
            <a:ext cx="49743" cy="49743"/>
          </a:xfrm>
          <a:prstGeom prst="ellipse">
            <a:avLst/>
          </a:prstGeom>
          <a:solidFill>
            <a:srgbClr val="FF5F57"/>
          </a:solidFill>
          <a:ln/>
        </p:spPr>
      </p:sp>
      <p:sp>
        <p:nvSpPr>
          <p:cNvPr id="21" name="Mutual fund X-ray window dot 2"/>
          <p:cNvSpPr/>
          <p:nvPr/>
        </p:nvSpPr>
        <p:spPr>
          <a:xfrm>
            <a:off x="8689799" y="1739920"/>
            <a:ext cx="49743" cy="49743"/>
          </a:xfrm>
          <a:prstGeom prst="ellipse">
            <a:avLst/>
          </a:prstGeom>
          <a:solidFill>
            <a:srgbClr val="FEBC2E"/>
          </a:solidFill>
          <a:ln/>
        </p:spPr>
      </p:sp>
      <p:sp>
        <p:nvSpPr>
          <p:cNvPr id="22" name="Mutual fund X-ray window dot 3"/>
          <p:cNvSpPr/>
          <p:nvPr/>
        </p:nvSpPr>
        <p:spPr>
          <a:xfrm>
            <a:off x="8774363" y="1739920"/>
            <a:ext cx="49743" cy="49743"/>
          </a:xfrm>
          <a:prstGeom prst="ellipse">
            <a:avLst/>
          </a:prstGeom>
          <a:solidFill>
            <a:srgbClr val="28C840"/>
          </a:solidFill>
          <a:ln/>
        </p:spPr>
      </p:sp>
      <p:pic>
        <p:nvPicPr>
          <p:cNvPr id="23" name="Mutual fund X-ray image" descr="Mutual fund X-ray">    </p:cNvPr>
          <p:cNvPicPr>
            <a:picLocks noChangeAspect="1"/>
          </p:cNvPicPr>
          <p:nvPr/>
        </p:nvPicPr>
        <p:blipFill>
          <a:blip r:embed="rId3"/>
          <a:stretch>
            <a:fillRect/>
          </a:stretch>
        </p:blipFill>
        <p:spPr>
          <a:xfrm>
            <a:off x="8568660" y="1837944"/>
            <a:ext cx="3034345" cy="1517172"/>
          </a:xfrm>
          <a:prstGeom prst="rect">
            <a:avLst/>
          </a:prstGeom>
        </p:spPr>
      </p:pic>
      <p:sp>
        <p:nvSpPr>
          <p:cNvPr id="24" name="Text 19"/>
          <p:cNvSpPr txBox="1"/>
          <p:nvPr/>
        </p:nvSpPr>
        <p:spPr>
          <a:xfrm>
            <a:off x="8531352" y="3465576"/>
            <a:ext cx="3291840" cy="237744"/>
          </a:xfrm>
          <a:prstGeom prst="rect">
            <a:avLst/>
          </a:prstGeom>
          <a:noFill/>
          <a:ln/>
        </p:spPr>
        <p:txBody>
          <a:bodyPr wrap="square" lIns="0" tIns="0" rIns="0" bIns="0" rtlCol="0" anchor="t"/>
          <a:lstStyle/>
          <a:p>
            <a:pPr indent="0" marL="0">
              <a:buNone/>
            </a:pPr>
            <a:r>
              <a:rPr lang="en-US" sz="1350" b="1" dirty="0">
                <a:solidFill>
                  <a:srgbClr val="0B0E26"/>
                </a:solidFill>
              </a:rPr>
              <a:t>Mutual fund X-ray</a:t>
            </a:r>
            <a:endParaRPr lang="en-US" sz="1350" dirty="0"/>
          </a:p>
        </p:txBody>
      </p:sp>
      <p:sp>
        <p:nvSpPr>
          <p:cNvPr id="25" name="Text 20"/>
          <p:cNvSpPr txBox="1"/>
          <p:nvPr/>
        </p:nvSpPr>
        <p:spPr>
          <a:xfrm>
            <a:off x="8531352" y="3703320"/>
            <a:ext cx="3566160" cy="237744"/>
          </a:xfrm>
          <a:prstGeom prst="rect">
            <a:avLst/>
          </a:prstGeom>
          <a:noFill/>
          <a:ln/>
        </p:spPr>
        <p:txBody>
          <a:bodyPr wrap="square" lIns="0" tIns="0" rIns="0" bIns="0" rtlCol="0" anchor="t"/>
          <a:lstStyle/>
          <a:p>
            <a:pPr indent="0" marL="0">
              <a:buNone/>
            </a:pPr>
            <a:r>
              <a:rPr lang="en-US" sz="1100" dirty="0">
                <a:solidFill>
                  <a:srgbClr val="434B6B"/>
                </a:solidFill>
              </a:rPr>
              <a:t>991 schemes compared on returns, cost, risk and overlap</a:t>
            </a:r>
            <a:endParaRPr lang="en-US" sz="1100" dirty="0"/>
          </a:p>
        </p:txBody>
      </p:sp>
      <p:sp>
        <p:nvSpPr>
          <p:cNvPr id="26" name="Bonds and fixed income frame"/>
          <p:cNvSpPr/>
          <p:nvPr/>
        </p:nvSpPr>
        <p:spPr>
          <a:xfrm>
            <a:off x="548640" y="3977640"/>
            <a:ext cx="3108960" cy="1700784"/>
          </a:xfrm>
          <a:prstGeom prst="roundRect">
            <a:avLst>
              <a:gd name="adj" fmla="val 4570"/>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27" name="Bonds and fixed income window dot 1"/>
          <p:cNvSpPr/>
          <p:nvPr/>
        </p:nvSpPr>
        <p:spPr>
          <a:xfrm>
            <a:off x="622524" y="4025920"/>
            <a:ext cx="49743" cy="49743"/>
          </a:xfrm>
          <a:prstGeom prst="ellipse">
            <a:avLst/>
          </a:prstGeom>
          <a:solidFill>
            <a:srgbClr val="FF5F57"/>
          </a:solidFill>
          <a:ln/>
        </p:spPr>
      </p:sp>
      <p:sp>
        <p:nvSpPr>
          <p:cNvPr id="28" name="Bonds and fixed income window dot 2"/>
          <p:cNvSpPr/>
          <p:nvPr/>
        </p:nvSpPr>
        <p:spPr>
          <a:xfrm>
            <a:off x="707087" y="4025920"/>
            <a:ext cx="49743" cy="49743"/>
          </a:xfrm>
          <a:prstGeom prst="ellipse">
            <a:avLst/>
          </a:prstGeom>
          <a:solidFill>
            <a:srgbClr val="FEBC2E"/>
          </a:solidFill>
          <a:ln/>
        </p:spPr>
      </p:sp>
      <p:sp>
        <p:nvSpPr>
          <p:cNvPr id="29" name="Bonds and fixed income window dot 3"/>
          <p:cNvSpPr/>
          <p:nvPr/>
        </p:nvSpPr>
        <p:spPr>
          <a:xfrm>
            <a:off x="791651" y="4025920"/>
            <a:ext cx="49743" cy="49743"/>
          </a:xfrm>
          <a:prstGeom prst="ellipse">
            <a:avLst/>
          </a:prstGeom>
          <a:solidFill>
            <a:srgbClr val="28C840"/>
          </a:solidFill>
          <a:ln/>
        </p:spPr>
      </p:sp>
      <p:pic>
        <p:nvPicPr>
          <p:cNvPr id="30" name="Bonds and fixed income image" descr="Bonds and fixed income">    </p:cNvPr>
          <p:cNvPicPr>
            <a:picLocks noChangeAspect="1"/>
          </p:cNvPicPr>
          <p:nvPr/>
        </p:nvPicPr>
        <p:blipFill>
          <a:blip r:embed="rId4"/>
          <a:stretch>
            <a:fillRect/>
          </a:stretch>
        </p:blipFill>
        <p:spPr>
          <a:xfrm>
            <a:off x="585948" y="4123944"/>
            <a:ext cx="3034345" cy="1517172"/>
          </a:xfrm>
          <a:prstGeom prst="rect">
            <a:avLst/>
          </a:prstGeom>
        </p:spPr>
      </p:pic>
      <p:sp>
        <p:nvSpPr>
          <p:cNvPr id="31" name="Text 25"/>
          <p:cNvSpPr txBox="1"/>
          <p:nvPr/>
        </p:nvSpPr>
        <p:spPr>
          <a:xfrm>
            <a:off x="548640" y="5751576"/>
            <a:ext cx="3291840" cy="237744"/>
          </a:xfrm>
          <a:prstGeom prst="rect">
            <a:avLst/>
          </a:prstGeom>
          <a:noFill/>
          <a:ln/>
        </p:spPr>
        <p:txBody>
          <a:bodyPr wrap="square" lIns="0" tIns="0" rIns="0" bIns="0" rtlCol="0" anchor="t"/>
          <a:lstStyle/>
          <a:p>
            <a:pPr indent="0" marL="0">
              <a:buNone/>
            </a:pPr>
            <a:r>
              <a:rPr lang="en-US" sz="1350" b="1" dirty="0">
                <a:solidFill>
                  <a:srgbClr val="0B0E26"/>
                </a:solidFill>
              </a:rPr>
              <a:t>Bonds and fixed income</a:t>
            </a:r>
            <a:endParaRPr lang="en-US" sz="1350" dirty="0"/>
          </a:p>
        </p:txBody>
      </p:sp>
      <p:sp>
        <p:nvSpPr>
          <p:cNvPr id="32" name="Text 26"/>
          <p:cNvSpPr txBox="1"/>
          <p:nvPr/>
        </p:nvSpPr>
        <p:spPr>
          <a:xfrm>
            <a:off x="548640" y="5989320"/>
            <a:ext cx="3566160" cy="237744"/>
          </a:xfrm>
          <a:prstGeom prst="rect">
            <a:avLst/>
          </a:prstGeom>
          <a:noFill/>
          <a:ln/>
        </p:spPr>
        <p:txBody>
          <a:bodyPr wrap="square" lIns="0" tIns="0" rIns="0" bIns="0" rtlCol="0" anchor="t"/>
          <a:lstStyle/>
          <a:p>
            <a:pPr indent="0" marL="0">
              <a:buNone/>
            </a:pPr>
            <a:r>
              <a:rPr lang="en-US" sz="1100" dirty="0">
                <a:solidFill>
                  <a:srgbClr val="434B6B"/>
                </a:solidFill>
              </a:rPr>
              <a:t>G-Sec board, T-bill yields and the 10Y benchmark</a:t>
            </a:r>
            <a:endParaRPr lang="en-US" sz="1100" dirty="0"/>
          </a:p>
        </p:txBody>
      </p:sp>
      <p:sp>
        <p:nvSpPr>
          <p:cNvPr id="33" name="Market stress simulator frame"/>
          <p:cNvSpPr/>
          <p:nvPr/>
        </p:nvSpPr>
        <p:spPr>
          <a:xfrm>
            <a:off x="4539996" y="3977640"/>
            <a:ext cx="3108960" cy="1700784"/>
          </a:xfrm>
          <a:prstGeom prst="roundRect">
            <a:avLst>
              <a:gd name="adj" fmla="val 4570"/>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34" name="Market stress simulator window dot 1"/>
          <p:cNvSpPr/>
          <p:nvPr/>
        </p:nvSpPr>
        <p:spPr>
          <a:xfrm>
            <a:off x="4613880" y="4025920"/>
            <a:ext cx="49743" cy="49743"/>
          </a:xfrm>
          <a:prstGeom prst="ellipse">
            <a:avLst/>
          </a:prstGeom>
          <a:solidFill>
            <a:srgbClr val="FF5F57"/>
          </a:solidFill>
          <a:ln/>
        </p:spPr>
      </p:sp>
      <p:sp>
        <p:nvSpPr>
          <p:cNvPr id="35" name="Market stress simulator window dot 2"/>
          <p:cNvSpPr/>
          <p:nvPr/>
        </p:nvSpPr>
        <p:spPr>
          <a:xfrm>
            <a:off x="4698443" y="4025920"/>
            <a:ext cx="49743" cy="49743"/>
          </a:xfrm>
          <a:prstGeom prst="ellipse">
            <a:avLst/>
          </a:prstGeom>
          <a:solidFill>
            <a:srgbClr val="FEBC2E"/>
          </a:solidFill>
          <a:ln/>
        </p:spPr>
      </p:sp>
      <p:sp>
        <p:nvSpPr>
          <p:cNvPr id="36" name="Market stress simulator window dot 3"/>
          <p:cNvSpPr/>
          <p:nvPr/>
        </p:nvSpPr>
        <p:spPr>
          <a:xfrm>
            <a:off x="4783007" y="4025920"/>
            <a:ext cx="49743" cy="49743"/>
          </a:xfrm>
          <a:prstGeom prst="ellipse">
            <a:avLst/>
          </a:prstGeom>
          <a:solidFill>
            <a:srgbClr val="28C840"/>
          </a:solidFill>
          <a:ln/>
        </p:spPr>
      </p:sp>
      <p:pic>
        <p:nvPicPr>
          <p:cNvPr id="37" name="Market stress simulator image" descr="Market stress simulator">    </p:cNvPr>
          <p:cNvPicPr>
            <a:picLocks noChangeAspect="1"/>
          </p:cNvPicPr>
          <p:nvPr/>
        </p:nvPicPr>
        <p:blipFill>
          <a:blip r:embed="rId5"/>
          <a:stretch>
            <a:fillRect/>
          </a:stretch>
        </p:blipFill>
        <p:spPr>
          <a:xfrm>
            <a:off x="4577304" y="4123944"/>
            <a:ext cx="3034345" cy="1517172"/>
          </a:xfrm>
          <a:prstGeom prst="rect">
            <a:avLst/>
          </a:prstGeom>
        </p:spPr>
      </p:pic>
      <p:sp>
        <p:nvSpPr>
          <p:cNvPr id="38" name="Text 31"/>
          <p:cNvSpPr txBox="1"/>
          <p:nvPr/>
        </p:nvSpPr>
        <p:spPr>
          <a:xfrm>
            <a:off x="4539996" y="5751576"/>
            <a:ext cx="3291840" cy="237744"/>
          </a:xfrm>
          <a:prstGeom prst="rect">
            <a:avLst/>
          </a:prstGeom>
          <a:noFill/>
          <a:ln/>
        </p:spPr>
        <p:txBody>
          <a:bodyPr wrap="square" lIns="0" tIns="0" rIns="0" bIns="0" rtlCol="0" anchor="t"/>
          <a:lstStyle/>
          <a:p>
            <a:pPr indent="0" marL="0">
              <a:buNone/>
            </a:pPr>
            <a:r>
              <a:rPr lang="en-US" sz="1350" b="1" dirty="0">
                <a:solidFill>
                  <a:srgbClr val="0B0E26"/>
                </a:solidFill>
              </a:rPr>
              <a:t>Market stress simulator</a:t>
            </a:r>
            <a:endParaRPr lang="en-US" sz="1350" dirty="0"/>
          </a:p>
        </p:txBody>
      </p:sp>
      <p:sp>
        <p:nvSpPr>
          <p:cNvPr id="39" name="Text 32"/>
          <p:cNvSpPr txBox="1"/>
          <p:nvPr/>
        </p:nvSpPr>
        <p:spPr>
          <a:xfrm>
            <a:off x="4539996" y="5989320"/>
            <a:ext cx="3566160" cy="237744"/>
          </a:xfrm>
          <a:prstGeom prst="rect">
            <a:avLst/>
          </a:prstGeom>
          <a:noFill/>
          <a:ln/>
        </p:spPr>
        <p:txBody>
          <a:bodyPr wrap="square" lIns="0" tIns="0" rIns="0" bIns="0" rtlCol="0" anchor="t"/>
          <a:lstStyle/>
          <a:p>
            <a:pPr indent="0" marL="0">
              <a:buNone/>
            </a:pPr>
            <a:r>
              <a:rPr lang="en-US" sz="1100" dirty="0">
                <a:solidFill>
                  <a:srgbClr val="434B6B"/>
                </a:solidFill>
              </a:rPr>
              <a:t>How a portfolio behaves in a sell-off or an inflation shock</a:t>
            </a:r>
            <a:endParaRPr lang="en-US" sz="1100" dirty="0"/>
          </a:p>
        </p:txBody>
      </p:sp>
      <p:sp>
        <p:nvSpPr>
          <p:cNvPr id="40" name="Curated screens frame"/>
          <p:cNvSpPr/>
          <p:nvPr/>
        </p:nvSpPr>
        <p:spPr>
          <a:xfrm>
            <a:off x="8531352" y="3977640"/>
            <a:ext cx="3108960" cy="1700784"/>
          </a:xfrm>
          <a:prstGeom prst="roundRect">
            <a:avLst>
              <a:gd name="adj" fmla="val 4570"/>
            </a:avLst>
          </a:prstGeom>
          <a:solidFill>
            <a:srgbClr val="161A33"/>
          </a:solidFill>
          <a:ln w="9525">
            <a:solidFill>
              <a:srgbClr val="2A3060"/>
            </a:solidFill>
            <a:prstDash val="solid"/>
          </a:ln>
          <a:effectLst>
            <a:outerShdw sx="100000" sy="100000" kx="0" ky="0" algn="bl" rotWithShape="0" blurRad="177800" dist="63500" dir="5400000">
              <a:srgbClr val="0B0E26">
                <a:alpha val="28000"/>
              </a:srgbClr>
            </a:outerShdw>
          </a:effectLst>
        </p:spPr>
      </p:sp>
      <p:sp>
        <p:nvSpPr>
          <p:cNvPr id="41" name="Curated screens window dot 1"/>
          <p:cNvSpPr/>
          <p:nvPr/>
        </p:nvSpPr>
        <p:spPr>
          <a:xfrm>
            <a:off x="8605236" y="4025920"/>
            <a:ext cx="49743" cy="49743"/>
          </a:xfrm>
          <a:prstGeom prst="ellipse">
            <a:avLst/>
          </a:prstGeom>
          <a:solidFill>
            <a:srgbClr val="FF5F57"/>
          </a:solidFill>
          <a:ln/>
        </p:spPr>
      </p:sp>
      <p:sp>
        <p:nvSpPr>
          <p:cNvPr id="42" name="Curated screens window dot 2"/>
          <p:cNvSpPr/>
          <p:nvPr/>
        </p:nvSpPr>
        <p:spPr>
          <a:xfrm>
            <a:off x="8689799" y="4025920"/>
            <a:ext cx="49743" cy="49743"/>
          </a:xfrm>
          <a:prstGeom prst="ellipse">
            <a:avLst/>
          </a:prstGeom>
          <a:solidFill>
            <a:srgbClr val="FEBC2E"/>
          </a:solidFill>
          <a:ln/>
        </p:spPr>
      </p:sp>
      <p:sp>
        <p:nvSpPr>
          <p:cNvPr id="43" name="Curated screens window dot 3"/>
          <p:cNvSpPr/>
          <p:nvPr/>
        </p:nvSpPr>
        <p:spPr>
          <a:xfrm>
            <a:off x="8774363" y="4025920"/>
            <a:ext cx="49743" cy="49743"/>
          </a:xfrm>
          <a:prstGeom prst="ellipse">
            <a:avLst/>
          </a:prstGeom>
          <a:solidFill>
            <a:srgbClr val="28C840"/>
          </a:solidFill>
          <a:ln/>
        </p:spPr>
      </p:sp>
      <p:pic>
        <p:nvPicPr>
          <p:cNvPr id="44" name="Curated screens image" descr="Curated screens">    </p:cNvPr>
          <p:cNvPicPr>
            <a:picLocks noChangeAspect="1"/>
          </p:cNvPicPr>
          <p:nvPr/>
        </p:nvPicPr>
        <p:blipFill>
          <a:blip r:embed="rId6"/>
          <a:stretch>
            <a:fillRect/>
          </a:stretch>
        </p:blipFill>
        <p:spPr>
          <a:xfrm>
            <a:off x="8568660" y="4123944"/>
            <a:ext cx="3034345" cy="1517172"/>
          </a:xfrm>
          <a:prstGeom prst="rect">
            <a:avLst/>
          </a:prstGeom>
        </p:spPr>
      </p:pic>
      <p:sp>
        <p:nvSpPr>
          <p:cNvPr id="45" name="Text 37"/>
          <p:cNvSpPr txBox="1"/>
          <p:nvPr/>
        </p:nvSpPr>
        <p:spPr>
          <a:xfrm>
            <a:off x="8531352" y="5751576"/>
            <a:ext cx="3291840" cy="237744"/>
          </a:xfrm>
          <a:prstGeom prst="rect">
            <a:avLst/>
          </a:prstGeom>
          <a:noFill/>
          <a:ln/>
        </p:spPr>
        <p:txBody>
          <a:bodyPr wrap="square" lIns="0" tIns="0" rIns="0" bIns="0" rtlCol="0" anchor="t"/>
          <a:lstStyle/>
          <a:p>
            <a:pPr indent="0" marL="0">
              <a:buNone/>
            </a:pPr>
            <a:r>
              <a:rPr lang="en-US" sz="1350" b="1" dirty="0">
                <a:solidFill>
                  <a:srgbClr val="0B0E26"/>
                </a:solidFill>
              </a:rPr>
              <a:t>Curated screens</a:t>
            </a:r>
            <a:endParaRPr lang="en-US" sz="1350" dirty="0"/>
          </a:p>
        </p:txBody>
      </p:sp>
      <p:sp>
        <p:nvSpPr>
          <p:cNvPr id="46" name="Text 38"/>
          <p:cNvSpPr txBox="1"/>
          <p:nvPr/>
        </p:nvSpPr>
        <p:spPr>
          <a:xfrm>
            <a:off x="8531352" y="5989320"/>
            <a:ext cx="3566160" cy="237744"/>
          </a:xfrm>
          <a:prstGeom prst="rect">
            <a:avLst/>
          </a:prstGeom>
          <a:noFill/>
          <a:ln/>
        </p:spPr>
        <p:txBody>
          <a:bodyPr wrap="square" lIns="0" tIns="0" rIns="0" bIns="0" rtlCol="0" anchor="t"/>
          <a:lstStyle/>
          <a:p>
            <a:pPr indent="0" marL="0">
              <a:buNone/>
            </a:pPr>
            <a:r>
              <a:rPr lang="en-US" sz="1100" dirty="0">
                <a:solidFill>
                  <a:srgbClr val="434B6B"/>
                </a:solidFill>
              </a:rPr>
              <a:t>Promoter buying, FII and DII accumulation, quality</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TRACTION</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Built and live, with auditable source checks</a:t>
            </a:r>
            <a:endParaRPr lang="en-US" sz="3200" dirty="0"/>
          </a:p>
        </p:txBody>
      </p:sp>
      <p:sp>
        <p:nvSpPr>
          <p:cNvPr id="4" name="shipped card"/>
          <p:cNvSpPr/>
          <p:nvPr/>
        </p:nvSpPr>
        <p:spPr>
          <a:xfrm>
            <a:off x="548640" y="1783080"/>
            <a:ext cx="6675120" cy="3886200"/>
          </a:xfrm>
          <a:prstGeom prst="roundRect">
            <a:avLst>
              <a:gd name="adj" fmla="val 2824"/>
            </a:avLst>
          </a:prstGeom>
          <a:solidFill>
            <a:srgbClr val="FFFFFF"/>
          </a:solidFill>
          <a:ln/>
          <a:effectLst>
            <a:outerShdw sx="100000" sy="100000" kx="0" ky="0" algn="bl" rotWithShape="0" blurRad="127000" dist="38100" dir="5400000">
              <a:srgbClr val="0B0E26">
                <a:alpha val="10000"/>
              </a:srgbClr>
            </a:outerShdw>
          </a:effectLst>
        </p:spPr>
      </p:sp>
      <p:sp>
        <p:nvSpPr>
          <p:cNvPr id="5" name="chip SHIPPED AND LIVE"/>
          <p:cNvSpPr/>
          <p:nvPr/>
        </p:nvSpPr>
        <p:spPr>
          <a:xfrm>
            <a:off x="822960" y="2011680"/>
            <a:ext cx="1444752" cy="256032"/>
          </a:xfrm>
          <a:prstGeom prst="roundRect">
            <a:avLst>
              <a:gd name="adj" fmla="val 50000"/>
            </a:avLst>
          </a:prstGeom>
          <a:solidFill>
            <a:srgbClr val="1FA971"/>
          </a:solidFill>
          <a:ln/>
        </p:spPr>
      </p:sp>
      <p:sp>
        <p:nvSpPr>
          <p:cNvPr id="6" name="chip text SHIPPED AND LIVE"/>
          <p:cNvSpPr txBox="1"/>
          <p:nvPr/>
        </p:nvSpPr>
        <p:spPr>
          <a:xfrm>
            <a:off x="822960" y="2011680"/>
            <a:ext cx="1444752"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SHIPPED AND LIVE</a:t>
            </a:r>
            <a:endParaRPr lang="en-US" sz="1000" dirty="0"/>
          </a:p>
        </p:txBody>
      </p:sp>
      <p:pic>
        <p:nvPicPr>
          <p:cNvPr id="7" name="check 1" descr="preencoded.png">    </p:cNvPr>
          <p:cNvPicPr>
            <a:picLocks noChangeAspect="1"/>
          </p:cNvPicPr>
          <p:nvPr/>
        </p:nvPicPr>
        <p:blipFill>
          <a:blip r:embed="rId1"/>
          <a:stretch>
            <a:fillRect/>
          </a:stretch>
        </p:blipFill>
        <p:spPr>
          <a:xfrm>
            <a:off x="822960" y="2496312"/>
            <a:ext cx="237744" cy="237744"/>
          </a:xfrm>
          <a:prstGeom prst="rect">
            <a:avLst/>
          </a:prstGeom>
        </p:spPr>
      </p:pic>
      <p:sp>
        <p:nvSpPr>
          <p:cNvPr id="8" name="Text 5"/>
          <p:cNvSpPr txBox="1"/>
          <p:nvPr/>
        </p:nvSpPr>
        <p:spPr>
          <a:xfrm>
            <a:off x="1152144" y="2468880"/>
            <a:ext cx="2788920" cy="548640"/>
          </a:xfrm>
          <a:prstGeom prst="rect">
            <a:avLst/>
          </a:prstGeom>
          <a:noFill/>
          <a:ln/>
        </p:spPr>
        <p:txBody>
          <a:bodyPr wrap="square" lIns="0" tIns="0" rIns="0" bIns="0" rtlCol="0" anchor="t"/>
          <a:lstStyle/>
          <a:p>
            <a:pPr indent="0" marL="0">
              <a:buNone/>
            </a:pPr>
            <a:r>
              <a:rPr lang="en-US" sz="1300" dirty="0">
                <a:solidFill>
                  <a:srgbClr val="0B0E26"/>
                </a:solidFill>
              </a:rPr>
              <a:t>Grounded AI research copilot</a:t>
            </a:r>
            <a:endParaRPr lang="en-US" sz="1300" dirty="0"/>
          </a:p>
        </p:txBody>
      </p:sp>
      <p:pic>
        <p:nvPicPr>
          <p:cNvPr id="9" name="check 2" descr="preencoded.png">    </p:cNvPr>
          <p:cNvPicPr>
            <a:picLocks noChangeAspect="1"/>
          </p:cNvPicPr>
          <p:nvPr/>
        </p:nvPicPr>
        <p:blipFill>
          <a:blip r:embed="rId2"/>
          <a:stretch>
            <a:fillRect/>
          </a:stretch>
        </p:blipFill>
        <p:spPr>
          <a:xfrm>
            <a:off x="4023360" y="2496312"/>
            <a:ext cx="237744" cy="237744"/>
          </a:xfrm>
          <a:prstGeom prst="rect">
            <a:avLst/>
          </a:prstGeom>
        </p:spPr>
      </p:pic>
      <p:sp>
        <p:nvSpPr>
          <p:cNvPr id="10" name="Text 6"/>
          <p:cNvSpPr txBox="1"/>
          <p:nvPr/>
        </p:nvSpPr>
        <p:spPr>
          <a:xfrm>
            <a:off x="4352544" y="2468880"/>
            <a:ext cx="2788920" cy="548640"/>
          </a:xfrm>
          <a:prstGeom prst="rect">
            <a:avLst/>
          </a:prstGeom>
          <a:noFill/>
          <a:ln/>
        </p:spPr>
        <p:txBody>
          <a:bodyPr wrap="square" lIns="0" tIns="0" rIns="0" bIns="0" rtlCol="0" anchor="t"/>
          <a:lstStyle/>
          <a:p>
            <a:pPr indent="0" marL="0">
              <a:buNone/>
            </a:pPr>
            <a:r>
              <a:rPr lang="en-US" sz="1300" dirty="0">
                <a:solidFill>
                  <a:srgbClr val="0B0E26"/>
                </a:solidFill>
              </a:rPr>
              <a:t>Natural-language stock screener</a:t>
            </a:r>
            <a:endParaRPr lang="en-US" sz="1300" dirty="0"/>
          </a:p>
        </p:txBody>
      </p:sp>
      <p:pic>
        <p:nvPicPr>
          <p:cNvPr id="11" name="check 3" descr="preencoded.png">    </p:cNvPr>
          <p:cNvPicPr>
            <a:picLocks noChangeAspect="1"/>
          </p:cNvPicPr>
          <p:nvPr/>
        </p:nvPicPr>
        <p:blipFill>
          <a:blip r:embed="rId3"/>
          <a:stretch>
            <a:fillRect/>
          </a:stretch>
        </p:blipFill>
        <p:spPr>
          <a:xfrm>
            <a:off x="822960" y="3099816"/>
            <a:ext cx="237744" cy="237744"/>
          </a:xfrm>
          <a:prstGeom prst="rect">
            <a:avLst/>
          </a:prstGeom>
        </p:spPr>
      </p:pic>
      <p:sp>
        <p:nvSpPr>
          <p:cNvPr id="12" name="Text 7"/>
          <p:cNvSpPr txBox="1"/>
          <p:nvPr/>
        </p:nvSpPr>
        <p:spPr>
          <a:xfrm>
            <a:off x="1152144" y="3072384"/>
            <a:ext cx="2788920" cy="548640"/>
          </a:xfrm>
          <a:prstGeom prst="rect">
            <a:avLst/>
          </a:prstGeom>
          <a:noFill/>
          <a:ln/>
        </p:spPr>
        <p:txBody>
          <a:bodyPr wrap="square" lIns="0" tIns="0" rIns="0" bIns="0" rtlCol="0" anchor="t"/>
          <a:lstStyle/>
          <a:p>
            <a:pPr indent="0" marL="0">
              <a:buNone/>
            </a:pPr>
            <a:r>
              <a:rPr lang="en-US" sz="1300" dirty="0">
                <a:solidFill>
                  <a:srgbClr val="0B0E26"/>
                </a:solidFill>
              </a:rPr>
              <a:t>6K+ stock pages; 6,119 AI profiles</a:t>
            </a:r>
            <a:endParaRPr lang="en-US" sz="1300" dirty="0"/>
          </a:p>
        </p:txBody>
      </p:sp>
      <p:pic>
        <p:nvPicPr>
          <p:cNvPr id="13" name="check 4" descr="preencoded.png">    </p:cNvPr>
          <p:cNvPicPr>
            <a:picLocks noChangeAspect="1"/>
          </p:cNvPicPr>
          <p:nvPr/>
        </p:nvPicPr>
        <p:blipFill>
          <a:blip r:embed="rId4"/>
          <a:stretch>
            <a:fillRect/>
          </a:stretch>
        </p:blipFill>
        <p:spPr>
          <a:xfrm>
            <a:off x="4023360" y="3099816"/>
            <a:ext cx="237744" cy="237744"/>
          </a:xfrm>
          <a:prstGeom prst="rect">
            <a:avLst/>
          </a:prstGeom>
        </p:spPr>
      </p:pic>
      <p:sp>
        <p:nvSpPr>
          <p:cNvPr id="14" name="Text 8"/>
          <p:cNvSpPr txBox="1"/>
          <p:nvPr/>
        </p:nvSpPr>
        <p:spPr>
          <a:xfrm>
            <a:off x="4352544" y="3072384"/>
            <a:ext cx="2788920" cy="548640"/>
          </a:xfrm>
          <a:prstGeom prst="rect">
            <a:avLst/>
          </a:prstGeom>
          <a:noFill/>
          <a:ln/>
        </p:spPr>
        <p:txBody>
          <a:bodyPr wrap="square" lIns="0" tIns="0" rIns="0" bIns="0" rtlCol="0" anchor="t"/>
          <a:lstStyle/>
          <a:p>
            <a:pPr indent="0" marL="0">
              <a:buNone/>
            </a:pPr>
            <a:r>
              <a:rPr lang="en-US" sz="1300" dirty="0">
                <a:solidFill>
                  <a:srgbClr val="0B0E26"/>
                </a:solidFill>
              </a:rPr>
              <a:t>Backtesting with Indian costs</a:t>
            </a:r>
            <a:endParaRPr lang="en-US" sz="1300" dirty="0"/>
          </a:p>
        </p:txBody>
      </p:sp>
      <p:pic>
        <p:nvPicPr>
          <p:cNvPr id="15" name="check 5" descr="preencoded.png">    </p:cNvPr>
          <p:cNvPicPr>
            <a:picLocks noChangeAspect="1"/>
          </p:cNvPicPr>
          <p:nvPr/>
        </p:nvPicPr>
        <p:blipFill>
          <a:blip r:embed="rId5"/>
          <a:stretch>
            <a:fillRect/>
          </a:stretch>
        </p:blipFill>
        <p:spPr>
          <a:xfrm>
            <a:off x="822960" y="3703320"/>
            <a:ext cx="237744" cy="237744"/>
          </a:xfrm>
          <a:prstGeom prst="rect">
            <a:avLst/>
          </a:prstGeom>
        </p:spPr>
      </p:pic>
      <p:sp>
        <p:nvSpPr>
          <p:cNvPr id="16" name="Text 9"/>
          <p:cNvSpPr txBox="1"/>
          <p:nvPr/>
        </p:nvSpPr>
        <p:spPr>
          <a:xfrm>
            <a:off x="1152144" y="3675888"/>
            <a:ext cx="2788920" cy="548640"/>
          </a:xfrm>
          <a:prstGeom prst="rect">
            <a:avLst/>
          </a:prstGeom>
          <a:noFill/>
          <a:ln/>
        </p:spPr>
        <p:txBody>
          <a:bodyPr wrap="square" lIns="0" tIns="0" rIns="0" bIns="0" rtlCol="0" anchor="t"/>
          <a:lstStyle/>
          <a:p>
            <a:pPr indent="0" marL="0">
              <a:buNone/>
            </a:pPr>
            <a:r>
              <a:rPr lang="en-US" sz="1300" dirty="0">
                <a:solidFill>
                  <a:srgbClr val="0B0E26"/>
                </a:solidFill>
              </a:rPr>
              <a:t>Paper trading and trade journal</a:t>
            </a:r>
            <a:endParaRPr lang="en-US" sz="1300" dirty="0"/>
          </a:p>
        </p:txBody>
      </p:sp>
      <p:pic>
        <p:nvPicPr>
          <p:cNvPr id="17" name="check 6" descr="preencoded.png">    </p:cNvPr>
          <p:cNvPicPr>
            <a:picLocks noChangeAspect="1"/>
          </p:cNvPicPr>
          <p:nvPr/>
        </p:nvPicPr>
        <p:blipFill>
          <a:blip r:embed="rId6"/>
          <a:stretch>
            <a:fillRect/>
          </a:stretch>
        </p:blipFill>
        <p:spPr>
          <a:xfrm>
            <a:off x="4023360" y="3703320"/>
            <a:ext cx="237744" cy="237744"/>
          </a:xfrm>
          <a:prstGeom prst="rect">
            <a:avLst/>
          </a:prstGeom>
        </p:spPr>
      </p:pic>
      <p:sp>
        <p:nvSpPr>
          <p:cNvPr id="18" name="Text 10"/>
          <p:cNvSpPr txBox="1"/>
          <p:nvPr/>
        </p:nvSpPr>
        <p:spPr>
          <a:xfrm>
            <a:off x="4352544" y="3675888"/>
            <a:ext cx="2788920" cy="548640"/>
          </a:xfrm>
          <a:prstGeom prst="rect">
            <a:avLst/>
          </a:prstGeom>
          <a:noFill/>
          <a:ln/>
        </p:spPr>
        <p:txBody>
          <a:bodyPr wrap="square" lIns="0" tIns="0" rIns="0" bIns="0" rtlCol="0" anchor="t"/>
          <a:lstStyle/>
          <a:p>
            <a:pPr indent="0" marL="0">
              <a:buNone/>
            </a:pPr>
            <a:r>
              <a:rPr lang="en-US" sz="1300" dirty="0">
                <a:solidFill>
                  <a:srgbClr val="0B0E26"/>
                </a:solidFill>
              </a:rPr>
              <a:t>IPO hub with prospectus analysis</a:t>
            </a:r>
            <a:endParaRPr lang="en-US" sz="1300" dirty="0"/>
          </a:p>
        </p:txBody>
      </p:sp>
      <p:pic>
        <p:nvPicPr>
          <p:cNvPr id="19" name="check 7" descr="preencoded.png">    </p:cNvPr>
          <p:cNvPicPr>
            <a:picLocks noChangeAspect="1"/>
          </p:cNvPicPr>
          <p:nvPr/>
        </p:nvPicPr>
        <p:blipFill>
          <a:blip r:embed="rId7"/>
          <a:stretch>
            <a:fillRect/>
          </a:stretch>
        </p:blipFill>
        <p:spPr>
          <a:xfrm>
            <a:off x="822960" y="4306824"/>
            <a:ext cx="237744" cy="237744"/>
          </a:xfrm>
          <a:prstGeom prst="rect">
            <a:avLst/>
          </a:prstGeom>
        </p:spPr>
      </p:pic>
      <p:sp>
        <p:nvSpPr>
          <p:cNvPr id="20" name="Text 11"/>
          <p:cNvSpPr txBox="1"/>
          <p:nvPr/>
        </p:nvSpPr>
        <p:spPr>
          <a:xfrm>
            <a:off x="1152144" y="4279392"/>
            <a:ext cx="2788920" cy="548640"/>
          </a:xfrm>
          <a:prstGeom prst="rect">
            <a:avLst/>
          </a:prstGeom>
          <a:noFill/>
          <a:ln/>
        </p:spPr>
        <p:txBody>
          <a:bodyPr wrap="square" lIns="0" tIns="0" rIns="0" bIns="0" rtlCol="0" anchor="t"/>
          <a:lstStyle/>
          <a:p>
            <a:pPr indent="0" marL="0">
              <a:buNone/>
            </a:pPr>
            <a:r>
              <a:rPr lang="en-US" sz="1300" dirty="0">
                <a:solidFill>
                  <a:srgbClr val="0B0E26"/>
                </a:solidFill>
              </a:rPr>
              <a:t>Mutual fund X-ray: cost and overlap</a:t>
            </a:r>
            <a:endParaRPr lang="en-US" sz="1300" dirty="0"/>
          </a:p>
        </p:txBody>
      </p:sp>
      <p:pic>
        <p:nvPicPr>
          <p:cNvPr id="21" name="check 8" descr="preencoded.png">    </p:cNvPr>
          <p:cNvPicPr>
            <a:picLocks noChangeAspect="1"/>
          </p:cNvPicPr>
          <p:nvPr/>
        </p:nvPicPr>
        <p:blipFill>
          <a:blip r:embed="rId8"/>
          <a:stretch>
            <a:fillRect/>
          </a:stretch>
        </p:blipFill>
        <p:spPr>
          <a:xfrm>
            <a:off x="4023360" y="4306824"/>
            <a:ext cx="237744" cy="237744"/>
          </a:xfrm>
          <a:prstGeom prst="rect">
            <a:avLst/>
          </a:prstGeom>
        </p:spPr>
      </p:pic>
      <p:sp>
        <p:nvSpPr>
          <p:cNvPr id="22" name="Text 12"/>
          <p:cNvSpPr txBox="1"/>
          <p:nvPr/>
        </p:nvSpPr>
        <p:spPr>
          <a:xfrm>
            <a:off x="4352544" y="4279392"/>
            <a:ext cx="2788920" cy="548640"/>
          </a:xfrm>
          <a:prstGeom prst="rect">
            <a:avLst/>
          </a:prstGeom>
          <a:noFill/>
          <a:ln/>
        </p:spPr>
        <p:txBody>
          <a:bodyPr wrap="square" lIns="0" tIns="0" rIns="0" bIns="0" rtlCol="0" anchor="t"/>
          <a:lstStyle/>
          <a:p>
            <a:pPr indent="0" marL="0">
              <a:buNone/>
            </a:pPr>
            <a:r>
              <a:rPr lang="en-US" sz="1300" dirty="0">
                <a:solidFill>
                  <a:srgbClr val="0B0E26"/>
                </a:solidFill>
              </a:rPr>
              <a:t>Bonds, G-Secs and yield tools</a:t>
            </a:r>
            <a:endParaRPr lang="en-US" sz="1300" dirty="0"/>
          </a:p>
        </p:txBody>
      </p:sp>
      <p:pic>
        <p:nvPicPr>
          <p:cNvPr id="23" name="check 9" descr="preencoded.png">    </p:cNvPr>
          <p:cNvPicPr>
            <a:picLocks noChangeAspect="1"/>
          </p:cNvPicPr>
          <p:nvPr/>
        </p:nvPicPr>
        <p:blipFill>
          <a:blip r:embed="rId9"/>
          <a:stretch>
            <a:fillRect/>
          </a:stretch>
        </p:blipFill>
        <p:spPr>
          <a:xfrm>
            <a:off x="822960" y="4910328"/>
            <a:ext cx="237744" cy="237744"/>
          </a:xfrm>
          <a:prstGeom prst="rect">
            <a:avLst/>
          </a:prstGeom>
        </p:spPr>
      </p:pic>
      <p:sp>
        <p:nvSpPr>
          <p:cNvPr id="24" name="Text 13"/>
          <p:cNvSpPr txBox="1"/>
          <p:nvPr/>
        </p:nvSpPr>
        <p:spPr>
          <a:xfrm>
            <a:off x="1152144" y="4882896"/>
            <a:ext cx="2788920" cy="548640"/>
          </a:xfrm>
          <a:prstGeom prst="rect">
            <a:avLst/>
          </a:prstGeom>
          <a:noFill/>
          <a:ln/>
        </p:spPr>
        <p:txBody>
          <a:bodyPr wrap="square" lIns="0" tIns="0" rIns="0" bIns="0" rtlCol="0" anchor="t"/>
          <a:lstStyle/>
          <a:p>
            <a:pPr indent="0" marL="0">
              <a:buNone/>
            </a:pPr>
            <a:r>
              <a:rPr lang="en-US" sz="1300" dirty="0">
                <a:solidFill>
                  <a:srgbClr val="0B0E26"/>
                </a:solidFill>
              </a:rPr>
              <a:t>Wealth, retirement and stress simulators</a:t>
            </a:r>
            <a:endParaRPr lang="en-US" sz="1300" dirty="0"/>
          </a:p>
        </p:txBody>
      </p:sp>
      <p:sp>
        <p:nvSpPr>
          <p:cNvPr id="25" name="traction stat 1"/>
          <p:cNvSpPr/>
          <p:nvPr/>
        </p:nvSpPr>
        <p:spPr>
          <a:xfrm>
            <a:off x="7452360" y="1783080"/>
            <a:ext cx="4187952" cy="868680"/>
          </a:xfrm>
          <a:prstGeom prst="roundRect">
            <a:avLst>
              <a:gd name="adj" fmla="val 12632"/>
            </a:avLst>
          </a:prstGeom>
          <a:solidFill>
            <a:srgbClr val="FFFFFF"/>
          </a:solidFill>
          <a:ln/>
          <a:effectLst>
            <a:outerShdw sx="100000" sy="100000" kx="0" ky="0" algn="bl" rotWithShape="0" blurRad="127000" dist="38100" dir="5400000">
              <a:srgbClr val="0B0E26">
                <a:alpha val="10000"/>
              </a:srgbClr>
            </a:outerShdw>
          </a:effectLst>
        </p:spPr>
      </p:sp>
      <p:sp>
        <p:nvSpPr>
          <p:cNvPr id="26" name="Text 15"/>
          <p:cNvSpPr txBox="1"/>
          <p:nvPr/>
        </p:nvSpPr>
        <p:spPr>
          <a:xfrm>
            <a:off x="7680960" y="1874520"/>
            <a:ext cx="1691640" cy="685800"/>
          </a:xfrm>
          <a:prstGeom prst="rect">
            <a:avLst/>
          </a:prstGeom>
          <a:noFill/>
          <a:ln/>
        </p:spPr>
        <p:txBody>
          <a:bodyPr wrap="square" lIns="0" tIns="0" rIns="0" bIns="0" rtlCol="0" anchor="ctr"/>
          <a:lstStyle/>
          <a:p>
            <a:pPr indent="0" marL="0">
              <a:buNone/>
            </a:pPr>
            <a:r>
              <a:rPr lang="en-US" sz="2200" b="1" dirty="0">
                <a:solidFill>
                  <a:srgbClr val="4A3699"/>
                </a:solidFill>
                <a:latin typeface="Arial" pitchFamily="34" charset="0"/>
                <a:ea typeface="Arial" pitchFamily="34" charset="-122"/>
                <a:cs typeface="Arial" pitchFamily="34" charset="-120"/>
              </a:rPr>
              <a:t>50 / 50</a:t>
            </a:r>
            <a:endParaRPr lang="en-US" sz="2200" dirty="0"/>
          </a:p>
        </p:txBody>
      </p:sp>
      <p:sp>
        <p:nvSpPr>
          <p:cNvPr id="27" name="Text 16"/>
          <p:cNvSpPr txBox="1"/>
          <p:nvPr/>
        </p:nvSpPr>
        <p:spPr>
          <a:xfrm>
            <a:off x="9372600" y="1856232"/>
            <a:ext cx="2148840" cy="731520"/>
          </a:xfrm>
          <a:prstGeom prst="rect">
            <a:avLst/>
          </a:prstGeom>
          <a:noFill/>
          <a:ln/>
        </p:spPr>
        <p:txBody>
          <a:bodyPr wrap="square" lIns="0" tIns="0" rIns="0" bIns="0" rtlCol="0" anchor="ctr"/>
          <a:lstStyle/>
          <a:p>
            <a:pPr indent="0" marL="0">
              <a:buNone/>
            </a:pPr>
            <a:r>
              <a:rPr lang="en-US" sz="1150" dirty="0">
                <a:solidFill>
                  <a:srgbClr val="434B6B"/>
                </a:solidFill>
              </a:rPr>
              <a:t>recent filings: revenue and PAT matched NSE XBRL (20 Oct 2026)</a:t>
            </a:r>
            <a:endParaRPr lang="en-US" sz="1150" dirty="0"/>
          </a:p>
        </p:txBody>
      </p:sp>
      <p:sp>
        <p:nvSpPr>
          <p:cNvPr id="28" name="traction stat 2"/>
          <p:cNvSpPr/>
          <p:nvPr/>
        </p:nvSpPr>
        <p:spPr>
          <a:xfrm>
            <a:off x="7452360" y="2770632"/>
            <a:ext cx="4187952" cy="868680"/>
          </a:xfrm>
          <a:prstGeom prst="roundRect">
            <a:avLst>
              <a:gd name="adj" fmla="val 12632"/>
            </a:avLst>
          </a:prstGeom>
          <a:solidFill>
            <a:srgbClr val="FFFFFF"/>
          </a:solidFill>
          <a:ln/>
          <a:effectLst>
            <a:outerShdw sx="100000" sy="100000" kx="0" ky="0" algn="bl" rotWithShape="0" blurRad="127000" dist="38100" dir="5400000">
              <a:srgbClr val="0B0E26">
                <a:alpha val="10000"/>
              </a:srgbClr>
            </a:outerShdw>
          </a:effectLst>
        </p:spPr>
      </p:sp>
      <p:sp>
        <p:nvSpPr>
          <p:cNvPr id="29" name="Text 18"/>
          <p:cNvSpPr txBox="1"/>
          <p:nvPr/>
        </p:nvSpPr>
        <p:spPr>
          <a:xfrm>
            <a:off x="7680960" y="2862072"/>
            <a:ext cx="1691640" cy="685800"/>
          </a:xfrm>
          <a:prstGeom prst="rect">
            <a:avLst/>
          </a:prstGeom>
          <a:noFill/>
          <a:ln/>
        </p:spPr>
        <p:txBody>
          <a:bodyPr wrap="square" lIns="0" tIns="0" rIns="0" bIns="0" rtlCol="0" anchor="ctr"/>
          <a:lstStyle/>
          <a:p>
            <a:pPr indent="0" marL="0">
              <a:buNone/>
            </a:pPr>
            <a:r>
              <a:rPr lang="en-US" sz="2200" b="1" dirty="0">
                <a:solidFill>
                  <a:srgbClr val="4A3699"/>
                </a:solidFill>
                <a:latin typeface="Arial" pitchFamily="34" charset="0"/>
                <a:ea typeface="Arial" pitchFamily="34" charset="-122"/>
                <a:cs typeface="Arial" pitchFamily="34" charset="-120"/>
              </a:rPr>
              <a:t>418</a:t>
            </a:r>
            <a:endParaRPr lang="en-US" sz="2200" dirty="0"/>
          </a:p>
        </p:txBody>
      </p:sp>
      <p:sp>
        <p:nvSpPr>
          <p:cNvPr id="30" name="Text 19"/>
          <p:cNvSpPr txBox="1"/>
          <p:nvPr/>
        </p:nvSpPr>
        <p:spPr>
          <a:xfrm>
            <a:off x="9372600" y="2843784"/>
            <a:ext cx="2148840" cy="731520"/>
          </a:xfrm>
          <a:prstGeom prst="rect">
            <a:avLst/>
          </a:prstGeom>
          <a:noFill/>
          <a:ln/>
        </p:spPr>
        <p:txBody>
          <a:bodyPr wrap="square" lIns="0" tIns="0" rIns="0" bIns="0" rtlCol="0" anchor="ctr"/>
          <a:lstStyle/>
          <a:p>
            <a:pPr indent="0" marL="0">
              <a:buNone/>
            </a:pPr>
            <a:r>
              <a:rPr lang="en-US" sz="1150" dirty="0">
                <a:solidFill>
                  <a:srgbClr val="434B6B"/>
                </a:solidFill>
              </a:rPr>
              <a:t>research queries logged across 16 accounts, including internal testing</a:t>
            </a:r>
            <a:endParaRPr lang="en-US" sz="1150" dirty="0"/>
          </a:p>
        </p:txBody>
      </p:sp>
      <p:sp>
        <p:nvSpPr>
          <p:cNvPr id="31" name="traction stat 3"/>
          <p:cNvSpPr/>
          <p:nvPr/>
        </p:nvSpPr>
        <p:spPr>
          <a:xfrm>
            <a:off x="7452360" y="3758184"/>
            <a:ext cx="4187952" cy="868680"/>
          </a:xfrm>
          <a:prstGeom prst="roundRect">
            <a:avLst>
              <a:gd name="adj" fmla="val 12632"/>
            </a:avLst>
          </a:prstGeom>
          <a:solidFill>
            <a:srgbClr val="FFFFFF"/>
          </a:solidFill>
          <a:ln/>
          <a:effectLst>
            <a:outerShdw sx="100000" sy="100000" kx="0" ky="0" algn="bl" rotWithShape="0" blurRad="127000" dist="38100" dir="5400000">
              <a:srgbClr val="0B0E26">
                <a:alpha val="10000"/>
              </a:srgbClr>
            </a:outerShdw>
          </a:effectLst>
        </p:spPr>
      </p:sp>
      <p:sp>
        <p:nvSpPr>
          <p:cNvPr id="32" name="Text 21"/>
          <p:cNvSpPr txBox="1"/>
          <p:nvPr/>
        </p:nvSpPr>
        <p:spPr>
          <a:xfrm>
            <a:off x="7680960" y="3849624"/>
            <a:ext cx="1691640" cy="685800"/>
          </a:xfrm>
          <a:prstGeom prst="rect">
            <a:avLst/>
          </a:prstGeom>
          <a:noFill/>
          <a:ln/>
        </p:spPr>
        <p:txBody>
          <a:bodyPr wrap="square" lIns="0" tIns="0" rIns="0" bIns="0" rtlCol="0" anchor="ctr"/>
          <a:lstStyle/>
          <a:p>
            <a:pPr indent="0" marL="0">
              <a:buNone/>
            </a:pPr>
            <a:r>
              <a:rPr lang="en-US" sz="2200" b="1" dirty="0">
                <a:solidFill>
                  <a:srgbClr val="4A3699"/>
                </a:solidFill>
                <a:latin typeface="Arial" pitchFamily="34" charset="0"/>
                <a:ea typeface="Arial" pitchFamily="34" charset="-122"/>
                <a:cs typeface="Arial" pitchFamily="34" charset="-120"/>
              </a:rPr>
              <a:t>238</a:t>
            </a:r>
            <a:endParaRPr lang="en-US" sz="2200" dirty="0"/>
          </a:p>
        </p:txBody>
      </p:sp>
      <p:sp>
        <p:nvSpPr>
          <p:cNvPr id="33" name="Text 22"/>
          <p:cNvSpPr txBox="1"/>
          <p:nvPr/>
        </p:nvSpPr>
        <p:spPr>
          <a:xfrm>
            <a:off x="9372600" y="3831336"/>
            <a:ext cx="2148840" cy="731520"/>
          </a:xfrm>
          <a:prstGeom prst="rect">
            <a:avLst/>
          </a:prstGeom>
          <a:noFill/>
          <a:ln/>
        </p:spPr>
        <p:txBody>
          <a:bodyPr wrap="square" lIns="0" tIns="0" rIns="0" bIns="0" rtlCol="0" anchor="ctr"/>
          <a:lstStyle/>
          <a:p>
            <a:pPr indent="0" marL="0">
              <a:buNone/>
            </a:pPr>
            <a:r>
              <a:rPr lang="en-US" sz="1150" dirty="0">
                <a:solidFill>
                  <a:srgbClr val="434B6B"/>
                </a:solidFill>
              </a:rPr>
              <a:t>saved backtest records, including internal testing</a:t>
            </a:r>
            <a:endParaRPr lang="en-US" sz="1150" dirty="0"/>
          </a:p>
        </p:txBody>
      </p:sp>
      <p:sp>
        <p:nvSpPr>
          <p:cNvPr id="34" name="traction stat 4"/>
          <p:cNvSpPr/>
          <p:nvPr/>
        </p:nvSpPr>
        <p:spPr>
          <a:xfrm>
            <a:off x="7452360" y="4745736"/>
            <a:ext cx="4187952" cy="868680"/>
          </a:xfrm>
          <a:prstGeom prst="roundRect">
            <a:avLst>
              <a:gd name="adj" fmla="val 12632"/>
            </a:avLst>
          </a:prstGeom>
          <a:solidFill>
            <a:srgbClr val="FFFFFF"/>
          </a:solidFill>
          <a:ln/>
          <a:effectLst>
            <a:outerShdw sx="100000" sy="100000" kx="0" ky="0" algn="bl" rotWithShape="0" blurRad="127000" dist="38100" dir="5400000">
              <a:srgbClr val="0B0E26">
                <a:alpha val="10000"/>
              </a:srgbClr>
            </a:outerShdw>
          </a:effectLst>
        </p:spPr>
      </p:sp>
      <p:sp>
        <p:nvSpPr>
          <p:cNvPr id="35" name="Text 24"/>
          <p:cNvSpPr txBox="1"/>
          <p:nvPr/>
        </p:nvSpPr>
        <p:spPr>
          <a:xfrm>
            <a:off x="7680960" y="4837176"/>
            <a:ext cx="1691640" cy="685800"/>
          </a:xfrm>
          <a:prstGeom prst="rect">
            <a:avLst/>
          </a:prstGeom>
          <a:noFill/>
          <a:ln/>
        </p:spPr>
        <p:txBody>
          <a:bodyPr wrap="square" lIns="0" tIns="0" rIns="0" bIns="0" rtlCol="0" anchor="ctr"/>
          <a:lstStyle/>
          <a:p>
            <a:pPr indent="0" marL="0">
              <a:buNone/>
            </a:pPr>
            <a:r>
              <a:rPr lang="en-US" sz="2200" b="1" dirty="0">
                <a:solidFill>
                  <a:srgbClr val="4A3699"/>
                </a:solidFill>
                <a:latin typeface="Arial" pitchFamily="34" charset="0"/>
                <a:ea typeface="Arial" pitchFamily="34" charset="-122"/>
                <a:cs typeface="Arial" pitchFamily="34" charset="-120"/>
              </a:rPr>
              <a:t>12 months</a:t>
            </a:r>
            <a:endParaRPr lang="en-US" sz="2200" dirty="0"/>
          </a:p>
        </p:txBody>
      </p:sp>
      <p:sp>
        <p:nvSpPr>
          <p:cNvPr id="36" name="Text 25"/>
          <p:cNvSpPr txBox="1"/>
          <p:nvPr/>
        </p:nvSpPr>
        <p:spPr>
          <a:xfrm>
            <a:off x="9372600" y="4818888"/>
            <a:ext cx="2148840" cy="731520"/>
          </a:xfrm>
          <a:prstGeom prst="rect">
            <a:avLst/>
          </a:prstGeom>
          <a:noFill/>
          <a:ln/>
        </p:spPr>
        <p:txBody>
          <a:bodyPr wrap="square" lIns="0" tIns="0" rIns="0" bIns="0" rtlCol="0" anchor="ctr"/>
          <a:lstStyle/>
          <a:p>
            <a:pPr indent="0" marL="0">
              <a:buNone/>
            </a:pPr>
            <a:r>
              <a:rPr lang="en-US" sz="1150" dirty="0">
                <a:solidFill>
                  <a:srgbClr val="434B6B"/>
                </a:solidFill>
              </a:rPr>
              <a:t>from first commit to full platform, no outside capital</a:t>
            </a:r>
            <a:endParaRPr lang="en-US" sz="1150" dirty="0"/>
          </a:p>
        </p:txBody>
      </p:sp>
      <p:sp>
        <p:nvSpPr>
          <p:cNvPr id="37" name="journey band"/>
          <p:cNvSpPr/>
          <p:nvPr/>
        </p:nvSpPr>
        <p:spPr>
          <a:xfrm>
            <a:off x="548640" y="5779008"/>
            <a:ext cx="11094415" cy="502920"/>
          </a:xfrm>
          <a:prstGeom prst="roundRect">
            <a:avLst>
              <a:gd name="adj" fmla="val 21818"/>
            </a:avLst>
          </a:prstGeom>
          <a:solidFill>
            <a:srgbClr val="F4F7FC"/>
          </a:solidFill>
          <a:ln/>
        </p:spPr>
      </p:sp>
      <p:sp>
        <p:nvSpPr>
          <p:cNvPr id="38" name="Text 27"/>
          <p:cNvSpPr txBox="1"/>
          <p:nvPr/>
        </p:nvSpPr>
        <p:spPr>
          <a:xfrm>
            <a:off x="822960" y="5779008"/>
            <a:ext cx="10545775" cy="502920"/>
          </a:xfrm>
          <a:prstGeom prst="rect">
            <a:avLst/>
          </a:prstGeom>
          <a:noFill/>
          <a:ln/>
        </p:spPr>
        <p:txBody>
          <a:bodyPr wrap="square" lIns="0" tIns="0" rIns="0" bIns="0" rtlCol="0" anchor="ctr"/>
          <a:lstStyle/>
          <a:p>
            <a:pPr indent="0" marL="0">
              <a:buNone/>
            </a:pPr>
            <a:r>
              <a:rPr lang="en-US" sz="1300" b="1" dirty="0">
                <a:solidFill>
                  <a:srgbClr val="4A3699"/>
                </a:solidFill>
              </a:rPr>
              <a:t>Production snapshot, 20 Oct 2026:  </a:t>
            </a:r>
            <a:pPr indent="0" marL="0">
              <a:buNone/>
            </a:pPr>
            <a:r>
              <a:rPr lang="en-US" sz="1300" dirty="0">
                <a:solidFill>
                  <a:srgbClr val="0B0E26"/>
                </a:solidFill>
              </a:rPr>
              <a:t>31 accounts, 2 saved screens. Usage includes founder/testing. Source checks measure extraction, not AI answer accuracy.</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WHY NOW</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bg1"/>
                </a:solidFill>
              </a:rPr>
              <a:t>Four shifts make this the moment</a:t>
            </a:r>
            <a:endParaRPr lang="en-US" sz="3200" dirty="0"/>
          </a:p>
        </p:txBody>
      </p:sp>
      <p:sp>
        <p:nvSpPr>
          <p:cNvPr id="4" name="why-now card 1"/>
          <p:cNvSpPr/>
          <p:nvPr/>
        </p:nvSpPr>
        <p:spPr>
          <a:xfrm>
            <a:off x="548640" y="1691640"/>
            <a:ext cx="5440680" cy="1645920"/>
          </a:xfrm>
          <a:prstGeom prst="roundRect">
            <a:avLst>
              <a:gd name="adj" fmla="val 6667"/>
            </a:avLst>
          </a:prstGeom>
          <a:solidFill>
            <a:srgbClr val="FFFFFF">
              <a:alpha val="8000"/>
            </a:srgbClr>
          </a:solidFill>
          <a:ln w="9525">
            <a:solidFill>
              <a:srgbClr val="C9D3F0">
                <a:alpha val="25000"/>
              </a:srgbClr>
            </a:solidFill>
            <a:prstDash val="solid"/>
          </a:ln>
        </p:spPr>
      </p:sp>
      <p:sp>
        <p:nvSpPr>
          <p:cNvPr id="5" name="LuBrainCircuit circle"/>
          <p:cNvSpPr/>
          <p:nvPr/>
        </p:nvSpPr>
        <p:spPr>
          <a:xfrm>
            <a:off x="822960" y="1984248"/>
            <a:ext cx="585216" cy="585216"/>
          </a:xfrm>
          <a:prstGeom prst="ellipse">
            <a:avLst/>
          </a:prstGeom>
          <a:solidFill>
            <a:srgbClr val="F5A623"/>
          </a:solidFill>
          <a:ln/>
        </p:spPr>
      </p:sp>
      <p:pic>
        <p:nvPicPr>
          <p:cNvPr id="6" name="LuBrainCircuit icon" descr="preencoded.png">    </p:cNvPr>
          <p:cNvPicPr>
            <a:picLocks noChangeAspect="1"/>
          </p:cNvPicPr>
          <p:nvPr/>
        </p:nvPicPr>
        <p:blipFill>
          <a:blip r:embed="rId1"/>
          <a:stretch>
            <a:fillRect/>
          </a:stretch>
        </p:blipFill>
        <p:spPr>
          <a:xfrm>
            <a:off x="969264" y="2130552"/>
            <a:ext cx="292608" cy="292608"/>
          </a:xfrm>
          <a:prstGeom prst="rect">
            <a:avLst/>
          </a:prstGeom>
        </p:spPr>
      </p:pic>
      <p:sp>
        <p:nvSpPr>
          <p:cNvPr id="7" name="Text 4"/>
          <p:cNvSpPr txBox="1"/>
          <p:nvPr/>
        </p:nvSpPr>
        <p:spPr>
          <a:xfrm>
            <a:off x="1600200" y="1965960"/>
            <a:ext cx="420624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AI can finally read filings</a:t>
            </a:r>
            <a:endParaRPr lang="en-US" sz="1800" dirty="0"/>
          </a:p>
        </p:txBody>
      </p:sp>
      <p:sp>
        <p:nvSpPr>
          <p:cNvPr id="8" name="Text 5"/>
          <p:cNvSpPr txBox="1"/>
          <p:nvPr/>
        </p:nvSpPr>
        <p:spPr>
          <a:xfrm>
            <a:off x="1600200" y="2377440"/>
            <a:ext cx="4206240" cy="896112"/>
          </a:xfrm>
          <a:prstGeom prst="rect">
            <a:avLst/>
          </a:prstGeom>
          <a:noFill/>
          <a:ln/>
        </p:spPr>
        <p:txBody>
          <a:bodyPr wrap="square" lIns="0" tIns="0" rIns="0" bIns="0" rtlCol="0" anchor="t"/>
          <a:lstStyle/>
          <a:p>
            <a:pPr indent="0" marL="0">
              <a:buNone/>
            </a:pPr>
            <a:r>
              <a:rPr lang="en-US" sz="1300" dirty="0">
                <a:solidFill>
                  <a:srgbClr val="C9D3F0"/>
                </a:solidFill>
              </a:rPr>
              <a:t>Language models can now read and explain filings. Trust depends on verified, citable data underneath, which is what Anvest has built.</a:t>
            </a:r>
            <a:endParaRPr lang="en-US" sz="1300" dirty="0"/>
          </a:p>
        </p:txBody>
      </p:sp>
      <p:sp>
        <p:nvSpPr>
          <p:cNvPr id="9" name="why-now card 2"/>
          <p:cNvSpPr/>
          <p:nvPr/>
        </p:nvSpPr>
        <p:spPr>
          <a:xfrm>
            <a:off x="6217920" y="1691640"/>
            <a:ext cx="5440680" cy="1645920"/>
          </a:xfrm>
          <a:prstGeom prst="roundRect">
            <a:avLst>
              <a:gd name="adj" fmla="val 6667"/>
            </a:avLst>
          </a:prstGeom>
          <a:solidFill>
            <a:srgbClr val="FFFFFF">
              <a:alpha val="8000"/>
            </a:srgbClr>
          </a:solidFill>
          <a:ln w="9525">
            <a:solidFill>
              <a:srgbClr val="C9D3F0">
                <a:alpha val="25000"/>
              </a:srgbClr>
            </a:solidFill>
            <a:prstDash val="solid"/>
          </a:ln>
        </p:spPr>
      </p:sp>
      <p:sp>
        <p:nvSpPr>
          <p:cNvPr id="10" name="LuScale circle"/>
          <p:cNvSpPr/>
          <p:nvPr/>
        </p:nvSpPr>
        <p:spPr>
          <a:xfrm>
            <a:off x="6492240" y="1984248"/>
            <a:ext cx="585216" cy="585216"/>
          </a:xfrm>
          <a:prstGeom prst="ellipse">
            <a:avLst/>
          </a:prstGeom>
          <a:solidFill>
            <a:srgbClr val="F5A623"/>
          </a:solidFill>
          <a:ln/>
        </p:spPr>
      </p:sp>
      <p:pic>
        <p:nvPicPr>
          <p:cNvPr id="11" name="LuScale icon" descr="preencoded.png">    </p:cNvPr>
          <p:cNvPicPr>
            <a:picLocks noChangeAspect="1"/>
          </p:cNvPicPr>
          <p:nvPr/>
        </p:nvPicPr>
        <p:blipFill>
          <a:blip r:embed="rId2"/>
          <a:stretch>
            <a:fillRect/>
          </a:stretch>
        </p:blipFill>
        <p:spPr>
          <a:xfrm>
            <a:off x="6638544" y="2130552"/>
            <a:ext cx="292608" cy="292608"/>
          </a:xfrm>
          <a:prstGeom prst="rect">
            <a:avLst/>
          </a:prstGeom>
        </p:spPr>
      </p:pic>
      <p:sp>
        <p:nvSpPr>
          <p:cNvPr id="12" name="Text 8"/>
          <p:cNvSpPr txBox="1"/>
          <p:nvPr/>
        </p:nvSpPr>
        <p:spPr>
          <a:xfrm>
            <a:off x="7269480" y="1965960"/>
            <a:ext cx="420624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SEBI has set the algo rules</a:t>
            </a:r>
            <a:endParaRPr lang="en-US" sz="1800" dirty="0"/>
          </a:p>
        </p:txBody>
      </p:sp>
      <p:sp>
        <p:nvSpPr>
          <p:cNvPr id="13" name="Text 9"/>
          <p:cNvSpPr txBox="1"/>
          <p:nvPr/>
        </p:nvSpPr>
        <p:spPr>
          <a:xfrm>
            <a:off x="7269480" y="2377440"/>
            <a:ext cx="4206240" cy="896112"/>
          </a:xfrm>
          <a:prstGeom prst="rect">
            <a:avLst/>
          </a:prstGeom>
          <a:noFill/>
          <a:ln/>
        </p:spPr>
        <p:txBody>
          <a:bodyPr wrap="square" lIns="0" tIns="0" rIns="0" bIns="0" rtlCol="0" anchor="t"/>
          <a:lstStyle/>
          <a:p>
            <a:pPr indent="0" marL="0">
              <a:buNone/>
            </a:pPr>
            <a:r>
              <a:rPr lang="en-US" sz="1300" dirty="0">
                <a:solidFill>
                  <a:srgbClr val="C9D3F0"/>
                </a:solidFill>
              </a:rPr>
              <a:t>SEBI's framework (in force April 2026) requires exchange empanelment for algo providers and RA registration for black-box strategies. Anvest works in white-box research and backtesting today.</a:t>
            </a:r>
            <a:endParaRPr lang="en-US" sz="1300" dirty="0"/>
          </a:p>
        </p:txBody>
      </p:sp>
      <p:sp>
        <p:nvSpPr>
          <p:cNvPr id="14" name="why-now card 3"/>
          <p:cNvSpPr/>
          <p:nvPr/>
        </p:nvSpPr>
        <p:spPr>
          <a:xfrm>
            <a:off x="548640" y="3520440"/>
            <a:ext cx="5440680" cy="1645920"/>
          </a:xfrm>
          <a:prstGeom prst="roundRect">
            <a:avLst>
              <a:gd name="adj" fmla="val 6667"/>
            </a:avLst>
          </a:prstGeom>
          <a:solidFill>
            <a:srgbClr val="FFFFFF">
              <a:alpha val="8000"/>
            </a:srgbClr>
          </a:solidFill>
          <a:ln w="9525">
            <a:solidFill>
              <a:srgbClr val="C9D3F0">
                <a:alpha val="25000"/>
              </a:srgbClr>
            </a:solidFill>
            <a:prstDash val="solid"/>
          </a:ln>
        </p:spPr>
      </p:sp>
      <p:sp>
        <p:nvSpPr>
          <p:cNvPr id="15" name="LuBot circle"/>
          <p:cNvSpPr/>
          <p:nvPr/>
        </p:nvSpPr>
        <p:spPr>
          <a:xfrm>
            <a:off x="822960" y="3813048"/>
            <a:ext cx="585216" cy="585216"/>
          </a:xfrm>
          <a:prstGeom prst="ellipse">
            <a:avLst/>
          </a:prstGeom>
          <a:solidFill>
            <a:srgbClr val="F5A623"/>
          </a:solidFill>
          <a:ln/>
        </p:spPr>
      </p:sp>
      <p:pic>
        <p:nvPicPr>
          <p:cNvPr id="16" name="LuBot icon" descr="preencoded.png">    </p:cNvPr>
          <p:cNvPicPr>
            <a:picLocks noChangeAspect="1"/>
          </p:cNvPicPr>
          <p:nvPr/>
        </p:nvPicPr>
        <p:blipFill>
          <a:blip r:embed="rId3"/>
          <a:stretch>
            <a:fillRect/>
          </a:stretch>
        </p:blipFill>
        <p:spPr>
          <a:xfrm>
            <a:off x="969264" y="3959352"/>
            <a:ext cx="292608" cy="292608"/>
          </a:xfrm>
          <a:prstGeom prst="rect">
            <a:avLst/>
          </a:prstGeom>
        </p:spPr>
      </p:pic>
      <p:sp>
        <p:nvSpPr>
          <p:cNvPr id="17" name="Text 12"/>
          <p:cNvSpPr txBox="1"/>
          <p:nvPr/>
        </p:nvSpPr>
        <p:spPr>
          <a:xfrm>
            <a:off x="1600200" y="3794760"/>
            <a:ext cx="420624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Brokers are going agent-native</a:t>
            </a:r>
            <a:endParaRPr lang="en-US" sz="1800" dirty="0"/>
          </a:p>
        </p:txBody>
      </p:sp>
      <p:sp>
        <p:nvSpPr>
          <p:cNvPr id="18" name="Text 13"/>
          <p:cNvSpPr txBox="1"/>
          <p:nvPr/>
        </p:nvSpPr>
        <p:spPr>
          <a:xfrm>
            <a:off x="1600200" y="4206240"/>
            <a:ext cx="4206240" cy="896112"/>
          </a:xfrm>
          <a:prstGeom prst="rect">
            <a:avLst/>
          </a:prstGeom>
          <a:noFill/>
          <a:ln/>
        </p:spPr>
        <p:txBody>
          <a:bodyPr wrap="square" lIns="0" tIns="0" rIns="0" bIns="0" rtlCol="0" anchor="t"/>
          <a:lstStyle/>
          <a:p>
            <a:pPr indent="0" marL="0">
              <a:buNone/>
            </a:pPr>
            <a:r>
              <a:rPr lang="en-US" sz="1300" dirty="0">
                <a:solidFill>
                  <a:srgbClr val="C9D3F0"/>
                </a:solidFill>
              </a:rPr>
              <a:t>Zerodha's Kite MCP and peers now expose accounts to AI agents. Those agents need a grounded research brain behind them.</a:t>
            </a:r>
            <a:endParaRPr lang="en-US" sz="1300" dirty="0"/>
          </a:p>
        </p:txBody>
      </p:sp>
      <p:sp>
        <p:nvSpPr>
          <p:cNvPr id="19" name="why-now card 4"/>
          <p:cNvSpPr/>
          <p:nvPr/>
        </p:nvSpPr>
        <p:spPr>
          <a:xfrm>
            <a:off x="6217920" y="3520440"/>
            <a:ext cx="5440680" cy="1645920"/>
          </a:xfrm>
          <a:prstGeom prst="roundRect">
            <a:avLst>
              <a:gd name="adj" fmla="val 6667"/>
            </a:avLst>
          </a:prstGeom>
          <a:solidFill>
            <a:srgbClr val="FFFFFF">
              <a:alpha val="8000"/>
            </a:srgbClr>
          </a:solidFill>
          <a:ln w="9525">
            <a:solidFill>
              <a:srgbClr val="C9D3F0">
                <a:alpha val="25000"/>
              </a:srgbClr>
            </a:solidFill>
            <a:prstDash val="solid"/>
          </a:ln>
        </p:spPr>
      </p:sp>
      <p:sp>
        <p:nvSpPr>
          <p:cNvPr id="20" name="LuUsers circle"/>
          <p:cNvSpPr/>
          <p:nvPr/>
        </p:nvSpPr>
        <p:spPr>
          <a:xfrm>
            <a:off x="6492240" y="3813048"/>
            <a:ext cx="585216" cy="585216"/>
          </a:xfrm>
          <a:prstGeom prst="ellipse">
            <a:avLst/>
          </a:prstGeom>
          <a:solidFill>
            <a:srgbClr val="F5A623"/>
          </a:solidFill>
          <a:ln/>
        </p:spPr>
      </p:sp>
      <p:pic>
        <p:nvPicPr>
          <p:cNvPr id="21" name="LuUsers icon" descr="preencoded.png">    </p:cNvPr>
          <p:cNvPicPr>
            <a:picLocks noChangeAspect="1"/>
          </p:cNvPicPr>
          <p:nvPr/>
        </p:nvPicPr>
        <p:blipFill>
          <a:blip r:embed="rId4"/>
          <a:stretch>
            <a:fillRect/>
          </a:stretch>
        </p:blipFill>
        <p:spPr>
          <a:xfrm>
            <a:off x="6638544" y="3959352"/>
            <a:ext cx="292608" cy="292608"/>
          </a:xfrm>
          <a:prstGeom prst="rect">
            <a:avLst/>
          </a:prstGeom>
        </p:spPr>
      </p:pic>
      <p:sp>
        <p:nvSpPr>
          <p:cNvPr id="22" name="Text 16"/>
          <p:cNvSpPr txBox="1"/>
          <p:nvPr/>
        </p:nvSpPr>
        <p:spPr>
          <a:xfrm>
            <a:off x="7269480" y="3794760"/>
            <a:ext cx="420624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A new generation of investors</a:t>
            </a:r>
            <a:endParaRPr lang="en-US" sz="1800" dirty="0"/>
          </a:p>
        </p:txBody>
      </p:sp>
      <p:sp>
        <p:nvSpPr>
          <p:cNvPr id="23" name="Text 17"/>
          <p:cNvSpPr txBox="1"/>
          <p:nvPr/>
        </p:nvSpPr>
        <p:spPr>
          <a:xfrm>
            <a:off x="7269480" y="4206240"/>
            <a:ext cx="4206240" cy="896112"/>
          </a:xfrm>
          <a:prstGeom prst="rect">
            <a:avLst/>
          </a:prstGeom>
          <a:noFill/>
          <a:ln/>
        </p:spPr>
        <p:txBody>
          <a:bodyPr wrap="square" lIns="0" tIns="0" rIns="0" bIns="0" rtlCol="0" anchor="t"/>
          <a:lstStyle/>
          <a:p>
            <a:pPr indent="0" marL="0">
              <a:buNone/>
            </a:pPr>
            <a:r>
              <a:rPr lang="en-US" sz="1300" dirty="0">
                <a:solidFill>
                  <a:srgbClr val="C9D3F0"/>
                </a:solidFill>
              </a:rPr>
              <a:t>13.4 crore unique investors are registered with NSE, while regulators push for explained, accountable research.</a:t>
            </a:r>
            <a:endParaRPr lang="en-US" sz="1300" dirty="0"/>
          </a:p>
        </p:txBody>
      </p:sp>
      <p:sp>
        <p:nvSpPr>
          <p:cNvPr id="24" name="alphasense band"/>
          <p:cNvSpPr/>
          <p:nvPr/>
        </p:nvSpPr>
        <p:spPr>
          <a:xfrm>
            <a:off x="548640" y="5349240"/>
            <a:ext cx="11094415" cy="566928"/>
          </a:xfrm>
          <a:prstGeom prst="roundRect">
            <a:avLst>
              <a:gd name="adj" fmla="val 19355"/>
            </a:avLst>
          </a:prstGeom>
          <a:solidFill>
            <a:srgbClr val="FFFFFF">
              <a:alpha val="15000"/>
            </a:srgbClr>
          </a:solidFill>
          <a:ln w="9525">
            <a:solidFill>
              <a:srgbClr val="F5A623"/>
            </a:solidFill>
            <a:prstDash val="solid"/>
          </a:ln>
        </p:spPr>
      </p:sp>
      <p:sp>
        <p:nvSpPr>
          <p:cNvPr id="25" name="Text 19"/>
          <p:cNvSpPr txBox="1"/>
          <p:nvPr/>
        </p:nvSpPr>
        <p:spPr>
          <a:xfrm>
            <a:off x="822960" y="5349240"/>
            <a:ext cx="10545775" cy="566928"/>
          </a:xfrm>
          <a:prstGeom prst="rect">
            <a:avLst/>
          </a:prstGeom>
          <a:noFill/>
          <a:ln/>
        </p:spPr>
        <p:txBody>
          <a:bodyPr wrap="square" lIns="0" tIns="0" rIns="0" bIns="0" rtlCol="0" anchor="ctr"/>
          <a:lstStyle/>
          <a:p>
            <a:pPr indent="0" marL="0">
              <a:buNone/>
            </a:pPr>
            <a:r>
              <a:rPr lang="en-US" sz="1250" b="1" dirty="0">
                <a:solidFill>
                  <a:srgbClr val="F5A623"/>
                </a:solidFill>
              </a:rPr>
              <a:t>Investors already pay for source-cited AI research:  </a:t>
            </a:r>
            <a:pPr indent="0" marL="0">
              <a:buNone/>
            </a:pPr>
            <a:r>
              <a:rPr lang="en-US" sz="1250" dirty="0">
                <a:solidFill>
                  <a:srgbClr val="FFFFFF"/>
                </a:solidFill>
              </a:rPr>
              <a:t>AlphaSense reached $600M+ ARR at a $7.5B valuation (Jun 2026) on enterprise seats. Anvest Desk brings it to Indian desks at ₹2,999 a seat a month (~$380 a year).</a:t>
            </a:r>
            <a:endParaRPr lang="en-US" sz="1250" dirty="0"/>
          </a:p>
        </p:txBody>
      </p:sp>
      <p:sp>
        <p:nvSpPr>
          <p:cNvPr id="26" name="Text 20"/>
          <p:cNvSpPr txBox="1"/>
          <p:nvPr/>
        </p:nvSpPr>
        <p:spPr>
          <a:xfrm>
            <a:off x="548640" y="6108192"/>
            <a:ext cx="10362895" cy="274320"/>
          </a:xfrm>
          <a:prstGeom prst="rect">
            <a:avLst/>
          </a:prstGeom>
          <a:noFill/>
          <a:ln/>
        </p:spPr>
        <p:txBody>
          <a:bodyPr wrap="square" lIns="0" tIns="0" rIns="0" bIns="0" rtlCol="0" anchor="t"/>
          <a:lstStyle/>
          <a:p>
            <a:pPr indent="0" marL="0">
              <a:buNone/>
            </a:pPr>
            <a:r>
              <a:rPr lang="en-US" sz="1000" i="1" dirty="0">
                <a:solidFill>
                  <a:srgbClr val="C9D3F0"/>
                </a:solidFill>
              </a:rPr>
              <a:t>SEBI circulars of 4 Feb 2025 and 30 Sep 2025 · Zerodha Kite MCP · NSE Market Pulse, Jul 2026 · fintech.global, Jun 2026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MARKET</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A $1.3B market, starting with professional teams</a:t>
            </a:r>
            <a:endParaRPr lang="en-US" sz="3200" dirty="0"/>
          </a:p>
        </p:txBody>
      </p:sp>
      <p:sp>
        <p:nvSpPr>
          <p:cNvPr id="4" name="TAM circle"/>
          <p:cNvSpPr/>
          <p:nvPr/>
        </p:nvSpPr>
        <p:spPr>
          <a:xfrm>
            <a:off x="868680" y="1691640"/>
            <a:ext cx="4297680" cy="4297680"/>
          </a:xfrm>
          <a:prstGeom prst="ellipse">
            <a:avLst/>
          </a:prstGeom>
          <a:solidFill>
            <a:srgbClr val="E4E0F5"/>
          </a:solidFill>
          <a:ln w="19050">
            <a:solidFill>
              <a:srgbClr val="FFFFFF"/>
            </a:solidFill>
            <a:prstDash val="solid"/>
          </a:ln>
        </p:spPr>
      </p:sp>
      <p:sp>
        <p:nvSpPr>
          <p:cNvPr id="5" name="SAM circle"/>
          <p:cNvSpPr/>
          <p:nvPr/>
        </p:nvSpPr>
        <p:spPr>
          <a:xfrm>
            <a:off x="1554480" y="3063240"/>
            <a:ext cx="2926080" cy="2926080"/>
          </a:xfrm>
          <a:prstGeom prst="ellipse">
            <a:avLst/>
          </a:prstGeom>
          <a:solidFill>
            <a:srgbClr val="B7ABE6"/>
          </a:solidFill>
          <a:ln w="19050">
            <a:solidFill>
              <a:srgbClr val="FFFFFF"/>
            </a:solidFill>
            <a:prstDash val="solid"/>
          </a:ln>
        </p:spPr>
      </p:sp>
      <p:sp>
        <p:nvSpPr>
          <p:cNvPr id="6" name="SOM circle"/>
          <p:cNvSpPr/>
          <p:nvPr/>
        </p:nvSpPr>
        <p:spPr>
          <a:xfrm>
            <a:off x="2286000" y="4526280"/>
            <a:ext cx="1463040" cy="1463040"/>
          </a:xfrm>
          <a:prstGeom prst="ellipse">
            <a:avLst/>
          </a:prstGeom>
          <a:solidFill>
            <a:srgbClr val="F5A623"/>
          </a:solidFill>
          <a:ln w="19050">
            <a:solidFill>
              <a:srgbClr val="FFFFFF"/>
            </a:solidFill>
            <a:prstDash val="solid"/>
          </a:ln>
        </p:spPr>
      </p:sp>
      <p:sp>
        <p:nvSpPr>
          <p:cNvPr id="7" name="Text 5"/>
          <p:cNvSpPr txBox="1"/>
          <p:nvPr/>
        </p:nvSpPr>
        <p:spPr>
          <a:xfrm>
            <a:off x="2468880" y="1965960"/>
            <a:ext cx="1097280" cy="274320"/>
          </a:xfrm>
          <a:prstGeom prst="rect">
            <a:avLst/>
          </a:prstGeom>
          <a:noFill/>
          <a:ln/>
        </p:spPr>
        <p:txBody>
          <a:bodyPr wrap="square" lIns="0" tIns="0" rIns="0" bIns="0" rtlCol="0" anchor="t"/>
          <a:lstStyle/>
          <a:p>
            <a:pPr algn="ctr" indent="0" marL="0">
              <a:buNone/>
            </a:pPr>
            <a:r>
              <a:rPr lang="en-US" sz="1300" b="1" dirty="0">
                <a:solidFill>
                  <a:srgbClr val="4A3699"/>
                </a:solidFill>
              </a:rPr>
              <a:t>TAM</a:t>
            </a:r>
            <a:endParaRPr lang="en-US" sz="1300" dirty="0"/>
          </a:p>
        </p:txBody>
      </p:sp>
      <p:sp>
        <p:nvSpPr>
          <p:cNvPr id="8" name="Text 6"/>
          <p:cNvSpPr txBox="1"/>
          <p:nvPr/>
        </p:nvSpPr>
        <p:spPr>
          <a:xfrm>
            <a:off x="2468880" y="3337560"/>
            <a:ext cx="1097280" cy="274320"/>
          </a:xfrm>
          <a:prstGeom prst="rect">
            <a:avLst/>
          </a:prstGeom>
          <a:noFill/>
          <a:ln/>
        </p:spPr>
        <p:txBody>
          <a:bodyPr wrap="square" lIns="0" tIns="0" rIns="0" bIns="0" rtlCol="0" anchor="t"/>
          <a:lstStyle/>
          <a:p>
            <a:pPr algn="ctr" indent="0" marL="0">
              <a:buNone/>
            </a:pPr>
            <a:r>
              <a:rPr lang="en-US" sz="1300" b="1" dirty="0">
                <a:solidFill>
                  <a:srgbClr val="0B0E26"/>
                </a:solidFill>
              </a:rPr>
              <a:t>SAM</a:t>
            </a:r>
            <a:endParaRPr lang="en-US" sz="1300" dirty="0"/>
          </a:p>
        </p:txBody>
      </p:sp>
      <p:sp>
        <p:nvSpPr>
          <p:cNvPr id="9" name="Text 7"/>
          <p:cNvSpPr txBox="1"/>
          <p:nvPr/>
        </p:nvSpPr>
        <p:spPr>
          <a:xfrm>
            <a:off x="2468880" y="4983480"/>
            <a:ext cx="1097280" cy="274320"/>
          </a:xfrm>
          <a:prstGeom prst="rect">
            <a:avLst/>
          </a:prstGeom>
          <a:noFill/>
          <a:ln/>
        </p:spPr>
        <p:txBody>
          <a:bodyPr wrap="square" lIns="0" tIns="0" rIns="0" bIns="0" rtlCol="0" anchor="t"/>
          <a:lstStyle/>
          <a:p>
            <a:pPr algn="ctr" indent="0" marL="0">
              <a:buNone/>
            </a:pPr>
            <a:r>
              <a:rPr lang="en-US" sz="1300" b="1" dirty="0">
                <a:solidFill>
                  <a:srgbClr val="0B0E26"/>
                </a:solidFill>
              </a:rPr>
              <a:t>SOM</a:t>
            </a:r>
            <a:endParaRPr lang="en-US" sz="1300" dirty="0"/>
          </a:p>
        </p:txBody>
      </p:sp>
      <p:sp>
        <p:nvSpPr>
          <p:cNvPr id="10" name="legend dot 1"/>
          <p:cNvSpPr/>
          <p:nvPr/>
        </p:nvSpPr>
        <p:spPr>
          <a:xfrm>
            <a:off x="5806440" y="1847088"/>
            <a:ext cx="201168" cy="201168"/>
          </a:xfrm>
          <a:prstGeom prst="ellipse">
            <a:avLst/>
          </a:prstGeom>
          <a:solidFill>
            <a:srgbClr val="E4E0F5"/>
          </a:solidFill>
          <a:ln w="9525">
            <a:solidFill>
              <a:srgbClr val="4A3699"/>
            </a:solidFill>
            <a:prstDash val="solid"/>
          </a:ln>
        </p:spPr>
      </p:sp>
      <p:sp>
        <p:nvSpPr>
          <p:cNvPr id="11" name="Text 9"/>
          <p:cNvSpPr txBox="1"/>
          <p:nvPr/>
        </p:nvSpPr>
        <p:spPr>
          <a:xfrm>
            <a:off x="6172200" y="1755648"/>
            <a:ext cx="5486400" cy="365760"/>
          </a:xfrm>
          <a:prstGeom prst="rect">
            <a:avLst/>
          </a:prstGeom>
          <a:noFill/>
          <a:ln/>
        </p:spPr>
        <p:txBody>
          <a:bodyPr wrap="square" lIns="0" tIns="0" rIns="0" bIns="0" rtlCol="0" anchor="t"/>
          <a:lstStyle/>
          <a:p>
            <a:pPr indent="0" marL="0">
              <a:buNone/>
            </a:pPr>
            <a:r>
              <a:rPr lang="en-US" sz="2000" b="1" dirty="0">
                <a:solidFill>
                  <a:srgbClr val="0B0E26"/>
                </a:solidFill>
                <a:latin typeface="Arial" pitchFamily="34" charset="0"/>
                <a:ea typeface="Arial" pitchFamily="34" charset="-122"/>
                <a:cs typeface="Arial" pitchFamily="34" charset="-120"/>
              </a:rPr>
              <a:t>₹12,269 Cr  ·  $1.3B / yr</a:t>
            </a:r>
            <a:endParaRPr lang="en-US" sz="2000" dirty="0"/>
          </a:p>
        </p:txBody>
      </p:sp>
      <p:sp>
        <p:nvSpPr>
          <p:cNvPr id="12" name="Text 10"/>
          <p:cNvSpPr txBox="1"/>
          <p:nvPr/>
        </p:nvSpPr>
        <p:spPr>
          <a:xfrm>
            <a:off x="6172200" y="2139696"/>
            <a:ext cx="5486400" cy="548640"/>
          </a:xfrm>
          <a:prstGeom prst="rect">
            <a:avLst/>
          </a:prstGeom>
          <a:noFill/>
          <a:ln/>
        </p:spPr>
        <p:txBody>
          <a:bodyPr wrap="square" lIns="0" tIns="0" rIns="0" bIns="0" rtlCol="0" anchor="t"/>
          <a:lstStyle/>
          <a:p>
            <a:pPr indent="0" marL="0">
              <a:buNone/>
            </a:pPr>
            <a:r>
              <a:rPr lang="en-US" sz="1200" dirty="0">
                <a:solidFill>
                  <a:srgbClr val="434B6B"/>
                </a:solidFill>
              </a:rPr>
              <a:t>Investors ₹10,985 Cr (4.6 Cr active NSE clients on Plus) + professionals ₹1,284 Cr (3.55 lakh SEBI firms and distributors on Desk)</a:t>
            </a:r>
            <a:endParaRPr lang="en-US" sz="1200" dirty="0"/>
          </a:p>
        </p:txBody>
      </p:sp>
      <p:sp>
        <p:nvSpPr>
          <p:cNvPr id="13" name="legend dot 2"/>
          <p:cNvSpPr/>
          <p:nvPr/>
        </p:nvSpPr>
        <p:spPr>
          <a:xfrm>
            <a:off x="5806440" y="2871216"/>
            <a:ext cx="201168" cy="201168"/>
          </a:xfrm>
          <a:prstGeom prst="ellipse">
            <a:avLst/>
          </a:prstGeom>
          <a:solidFill>
            <a:srgbClr val="B7ABE6"/>
          </a:solidFill>
          <a:ln w="9525">
            <a:solidFill>
              <a:srgbClr val="4A3699"/>
            </a:solidFill>
            <a:prstDash val="solid"/>
          </a:ln>
        </p:spPr>
      </p:sp>
      <p:sp>
        <p:nvSpPr>
          <p:cNvPr id="14" name="Text 12"/>
          <p:cNvSpPr txBox="1"/>
          <p:nvPr/>
        </p:nvSpPr>
        <p:spPr>
          <a:xfrm>
            <a:off x="6172200" y="2779776"/>
            <a:ext cx="5486400" cy="365760"/>
          </a:xfrm>
          <a:prstGeom prst="rect">
            <a:avLst/>
          </a:prstGeom>
          <a:noFill/>
          <a:ln/>
        </p:spPr>
        <p:txBody>
          <a:bodyPr wrap="square" lIns="0" tIns="0" rIns="0" bIns="0" rtlCol="0" anchor="t"/>
          <a:lstStyle/>
          <a:p>
            <a:pPr indent="0" marL="0">
              <a:buNone/>
            </a:pPr>
            <a:r>
              <a:rPr lang="en-US" sz="2000" b="1" dirty="0">
                <a:solidFill>
                  <a:srgbClr val="0B0E26"/>
                </a:solidFill>
                <a:latin typeface="Arial" pitchFamily="34" charset="0"/>
                <a:ea typeface="Arial" pitchFamily="34" charset="-122"/>
                <a:cs typeface="Arial" pitchFamily="34" charset="-120"/>
              </a:rPr>
              <a:t>₹2,371 Cr  ·  $250M / yr</a:t>
            </a:r>
            <a:endParaRPr lang="en-US" sz="2000" dirty="0"/>
          </a:p>
        </p:txBody>
      </p:sp>
      <p:sp>
        <p:nvSpPr>
          <p:cNvPr id="15" name="Text 13"/>
          <p:cNvSpPr txBox="1"/>
          <p:nvPr/>
        </p:nvSpPr>
        <p:spPr>
          <a:xfrm>
            <a:off x="6172200" y="3163824"/>
            <a:ext cx="5486400" cy="548640"/>
          </a:xfrm>
          <a:prstGeom prst="rect">
            <a:avLst/>
          </a:prstGeom>
          <a:noFill/>
          <a:ln/>
        </p:spPr>
        <p:txBody>
          <a:bodyPr wrap="square" lIns="0" tIns="0" rIns="0" bIns="0" rtlCol="0" anchor="t"/>
          <a:lstStyle/>
          <a:p>
            <a:pPr indent="0" marL="0">
              <a:buNone/>
            </a:pPr>
            <a:r>
              <a:rPr lang="en-US" sz="1200" dirty="0">
                <a:solidFill>
                  <a:srgbClr val="434B6B"/>
                </a:solidFill>
              </a:rPr>
              <a:t>Active investors ₹2,292 Cr (~96 lakh active traders) + professionals ₹78 Cr (3,900 SEBI firms and 3,350 top distributors, 3 seats each)</a:t>
            </a:r>
            <a:endParaRPr lang="en-US" sz="1200" dirty="0"/>
          </a:p>
        </p:txBody>
      </p:sp>
      <p:sp>
        <p:nvSpPr>
          <p:cNvPr id="16" name="legend dot 3"/>
          <p:cNvSpPr/>
          <p:nvPr/>
        </p:nvSpPr>
        <p:spPr>
          <a:xfrm>
            <a:off x="5806440" y="3895344"/>
            <a:ext cx="201168" cy="201168"/>
          </a:xfrm>
          <a:prstGeom prst="ellipse">
            <a:avLst/>
          </a:prstGeom>
          <a:solidFill>
            <a:srgbClr val="F5A623"/>
          </a:solidFill>
          <a:ln w="9525">
            <a:solidFill>
              <a:srgbClr val="4A3699"/>
            </a:solidFill>
            <a:prstDash val="solid"/>
          </a:ln>
        </p:spPr>
      </p:sp>
      <p:sp>
        <p:nvSpPr>
          <p:cNvPr id="17" name="Text 15"/>
          <p:cNvSpPr txBox="1"/>
          <p:nvPr/>
        </p:nvSpPr>
        <p:spPr>
          <a:xfrm>
            <a:off x="6172200" y="3803904"/>
            <a:ext cx="5486400" cy="365760"/>
          </a:xfrm>
          <a:prstGeom prst="rect">
            <a:avLst/>
          </a:prstGeom>
          <a:noFill/>
          <a:ln/>
        </p:spPr>
        <p:txBody>
          <a:bodyPr wrap="square" lIns="0" tIns="0" rIns="0" bIns="0" rtlCol="0" anchor="t"/>
          <a:lstStyle/>
          <a:p>
            <a:pPr indent="0" marL="0">
              <a:buNone/>
            </a:pPr>
            <a:r>
              <a:rPr lang="en-US" sz="2000" b="1" dirty="0">
                <a:solidFill>
                  <a:srgbClr val="0B0E26"/>
                </a:solidFill>
                <a:latin typeface="Arial" pitchFamily="34" charset="0"/>
                <a:ea typeface="Arial" pitchFamily="34" charset="-122"/>
                <a:cs typeface="Arial" pitchFamily="34" charset="-120"/>
              </a:rPr>
              <a:t>₹23 Cr  ·  $2.4M ARR</a:t>
            </a:r>
            <a:endParaRPr lang="en-US" sz="2000" dirty="0"/>
          </a:p>
        </p:txBody>
      </p:sp>
      <p:sp>
        <p:nvSpPr>
          <p:cNvPr id="18" name="Text 16"/>
          <p:cNvSpPr txBox="1"/>
          <p:nvPr/>
        </p:nvSpPr>
        <p:spPr>
          <a:xfrm>
            <a:off x="6172200" y="4187952"/>
            <a:ext cx="5486400" cy="548640"/>
          </a:xfrm>
          <a:prstGeom prst="rect">
            <a:avLst/>
          </a:prstGeom>
          <a:noFill/>
          <a:ln/>
        </p:spPr>
        <p:txBody>
          <a:bodyPr wrap="square" lIns="0" tIns="0" rIns="0" bIns="0" rtlCol="0" anchor="t"/>
          <a:lstStyle/>
          <a:p>
            <a:pPr indent="0" marL="0">
              <a:buNone/>
            </a:pPr>
            <a:r>
              <a:rPr lang="en-US" sz="1200" dirty="0">
                <a:solidFill>
                  <a:srgbClr val="434B6B"/>
                </a:solidFill>
              </a:rPr>
              <a:t>Year-5 scenario across all engines: ~1% of SAM. Desk expands beyond the initial professional segment.</a:t>
            </a:r>
            <a:endParaRPr lang="en-US" sz="1200" dirty="0"/>
          </a:p>
        </p:txBody>
      </p:sp>
      <p:sp>
        <p:nvSpPr>
          <p:cNvPr id="19" name="entry vs scale card"/>
          <p:cNvSpPr/>
          <p:nvPr/>
        </p:nvSpPr>
        <p:spPr>
          <a:xfrm>
            <a:off x="5806440" y="4846320"/>
            <a:ext cx="5833872" cy="1143000"/>
          </a:xfrm>
          <a:prstGeom prst="roundRect">
            <a:avLst>
              <a:gd name="adj" fmla="val 9600"/>
            </a:avLst>
          </a:prstGeom>
          <a:solidFill>
            <a:srgbClr val="1E2761"/>
          </a:solidFill>
          <a:ln/>
          <a:effectLst>
            <a:outerShdw sx="100000" sy="100000" kx="0" ky="0" algn="bl" rotWithShape="0" blurRad="127000" dist="38100" dir="5400000">
              <a:srgbClr val="0B0E26">
                <a:alpha val="10000"/>
              </a:srgbClr>
            </a:outerShdw>
          </a:effectLst>
        </p:spPr>
      </p:sp>
      <p:sp>
        <p:nvSpPr>
          <p:cNvPr id="20" name="Text 18"/>
          <p:cNvSpPr txBox="1"/>
          <p:nvPr/>
        </p:nvSpPr>
        <p:spPr>
          <a:xfrm>
            <a:off x="6035040" y="4846320"/>
            <a:ext cx="5440680" cy="1143000"/>
          </a:xfrm>
          <a:prstGeom prst="rect">
            <a:avLst/>
          </a:prstGeom>
          <a:noFill/>
          <a:ln/>
        </p:spPr>
        <p:txBody>
          <a:bodyPr wrap="square" lIns="0" tIns="0" rIns="0" bIns="0" rtlCol="0" anchor="ctr"/>
          <a:lstStyle/>
          <a:p>
            <a:pPr indent="0" marL="0">
              <a:buNone/>
            </a:pPr>
            <a:r>
              <a:rPr lang="en-US" sz="1250" b="1" dirty="0">
                <a:solidFill>
                  <a:srgbClr val="F5A623"/>
                </a:solidFill>
              </a:rPr>
              <a:t>Why professionals first:  </a:t>
            </a:r>
            <a:pPr indent="0" marL="0">
              <a:buNone/>
            </a:pPr>
            <a:r>
              <a:rPr lang="en-US" sz="1250" dirty="0">
                <a:solidFill>
                  <a:srgbClr val="FFFFFF"/>
                </a:solidFill>
              </a:rPr>
              <a:t>a small, high-intent SAM (₹78 Cr) we can reach with two sellers, paying from month 3, who make the product credible. Scale then comes from active investors and partner distribution.</a:t>
            </a:r>
            <a:endParaRPr lang="en-US" sz="1250" dirty="0"/>
          </a:p>
        </p:txBody>
      </p:sp>
      <p:sp>
        <p:nvSpPr>
          <p:cNvPr id="21" name="Text 19"/>
          <p:cNvSpPr txBox="1"/>
          <p:nvPr/>
        </p:nvSpPr>
        <p:spPr>
          <a:xfrm>
            <a:off x="548640" y="6108192"/>
            <a:ext cx="10362895" cy="274320"/>
          </a:xfrm>
          <a:prstGeom prst="rect">
            <a:avLst/>
          </a:prstGeom>
          <a:noFill/>
          <a:ln/>
        </p:spPr>
        <p:txBody>
          <a:bodyPr wrap="square" lIns="0" tIns="0" rIns="0" bIns="0" rtlCol="0" anchor="t"/>
          <a:lstStyle/>
          <a:p>
            <a:pPr indent="0" marL="0">
              <a:buNone/>
            </a:pPr>
            <a:r>
              <a:rPr lang="en-US" sz="1000" i="1" dirty="0">
                <a:solidFill>
                  <a:srgbClr val="7C88B0"/>
                </a:solidFill>
              </a:rPr>
              <a:t>List prices: Plus ₹2,388/yr, Desk ₹35,988/seat-yr. NSE Market Pulse (Aug 2026) · SEBI FY25 trader study · SEBI directory (Oct 2026) · ARN+EUIN holders and FY26 top MFDs (Cafemutual)</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COMPETITION</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Others own a slice. Anvest connects the whole task</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737360"/>
                <a:gridCol w="1600200"/>
                <a:gridCol w="1572768"/>
                <a:gridCol w="1572768"/>
                <a:gridCol w="1280160"/>
                <a:gridCol w="1682496"/>
                <a:gridCol w="1645920"/>
              </a:tblGrid>
              <a:tr h="384048">
                <a:tc>
                  <a:txBody>
                    <a:bodyPr/>
                    <a:lstStyle/>
                    <a:p>
                      <a:pPr algn="l" indent="0" marL="0">
                        <a:buNone/>
                      </a:pPr>
                      <a:endParaRPr lang="en-US" sz="10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0E26"/>
                          </a:solidFill>
                          <a:latin typeface="Calibri" pitchFamily="34" charset="0"/>
                          <a:ea typeface="Calibri" pitchFamily="34" charset="-122"/>
                          <a:cs typeface="Calibri" pitchFamily="34" charset="-120"/>
                        </a:rPr>
                        <a:t>Cited filing answers</a:t>
                      </a:r>
                      <a:endParaRPr lang="en-US" sz="10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0E26"/>
                          </a:solidFill>
                          <a:latin typeface="Calibri" pitchFamily="34" charset="0"/>
                          <a:ea typeface="Calibri" pitchFamily="34" charset="-122"/>
                          <a:cs typeface="Calibri" pitchFamily="34" charset="-120"/>
                        </a:rPr>
                        <a:t>Plain English → screen</a:t>
                      </a:r>
                      <a:endParaRPr lang="en-US" sz="10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0E26"/>
                          </a:solidFill>
                          <a:latin typeface="Calibri" pitchFamily="34" charset="0"/>
                          <a:ea typeface="Calibri" pitchFamily="34" charset="-122"/>
                          <a:cs typeface="Calibri" pitchFamily="34" charset="-120"/>
                        </a:rPr>
                        <a:t>Backtest with costs</a:t>
                      </a:r>
                      <a:endParaRPr lang="en-US" sz="10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0E26"/>
                          </a:solidFill>
                          <a:latin typeface="Calibri" pitchFamily="34" charset="0"/>
                          <a:ea typeface="Calibri" pitchFamily="34" charset="-122"/>
                          <a:cs typeface="Calibri" pitchFamily="34" charset="-120"/>
                        </a:rPr>
                        <a:t>Paper trading</a:t>
                      </a:r>
                      <a:endParaRPr lang="en-US" sz="10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0E26"/>
                          </a:solidFill>
                          <a:latin typeface="Calibri" pitchFamily="34" charset="0"/>
                          <a:ea typeface="Calibri" pitchFamily="34" charset="-122"/>
                          <a:cs typeface="Calibri" pitchFamily="34" charset="-120"/>
                        </a:rPr>
                        <a:t>Portfolio &amp; planning</a:t>
                      </a:r>
                      <a:endParaRPr lang="en-US" sz="10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0E26"/>
                          </a:solidFill>
                          <a:latin typeface="Calibri" pitchFamily="34" charset="0"/>
                          <a:ea typeface="Calibri" pitchFamily="34" charset="-122"/>
                          <a:cs typeface="Calibri" pitchFamily="34" charset="-120"/>
                        </a:rPr>
                        <a:t>Live execution</a:t>
                      </a:r>
                      <a:endParaRPr lang="en-US" sz="10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Anvest</a:t>
                      </a:r>
                      <a:endParaRPr lang="en-US" sz="13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3DC"/>
                    </a:solidFill>
                  </a:tcPr>
                </a:tc>
                <a:tc>
                  <a:txBody>
                    <a:bodyPr/>
                    <a:lstStyle/>
                    <a:p>
                      <a:pPr algn="ctr" indent="0" marL="0">
                        <a:buNone/>
                      </a:pPr>
                      <a:r>
                        <a:rPr lang="en-US" sz="1000" b="1" dirty="0">
                          <a:solidFill>
                            <a:srgbClr val="4A3699"/>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3DC"/>
                    </a:solidFill>
                  </a:tcPr>
                </a:tc>
                <a:tc>
                  <a:txBody>
                    <a:bodyPr/>
                    <a:lstStyle/>
                    <a:p>
                      <a:pPr algn="ctr" indent="0" marL="0">
                        <a:buNone/>
                      </a:pPr>
                      <a:r>
                        <a:rPr lang="en-US" sz="1000" b="1" dirty="0">
                          <a:solidFill>
                            <a:srgbClr val="4A3699"/>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3DC"/>
                    </a:solidFill>
                  </a:tcPr>
                </a:tc>
                <a:tc>
                  <a:txBody>
                    <a:bodyPr/>
                    <a:lstStyle/>
                    <a:p>
                      <a:pPr algn="ctr" indent="0" marL="0">
                        <a:buNone/>
                      </a:pPr>
                      <a:r>
                        <a:rPr lang="en-US" sz="1000" b="1" dirty="0">
                          <a:solidFill>
                            <a:srgbClr val="4A3699"/>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3DC"/>
                    </a:solidFill>
                  </a:tcPr>
                </a:tc>
                <a:tc>
                  <a:txBody>
                    <a:bodyPr/>
                    <a:lstStyle/>
                    <a:p>
                      <a:pPr algn="ctr" indent="0" marL="0">
                        <a:buNone/>
                      </a:pPr>
                      <a:r>
                        <a:rPr lang="en-US" sz="1000" b="1" dirty="0">
                          <a:solidFill>
                            <a:srgbClr val="4A3699"/>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3DC"/>
                    </a:solidFill>
                  </a:tcPr>
                </a:tc>
                <a:tc>
                  <a:txBody>
                    <a:bodyPr/>
                    <a:lstStyle/>
                    <a:p>
                      <a:pPr algn="ctr" indent="0" marL="0">
                        <a:buNone/>
                      </a:pPr>
                      <a:r>
                        <a:rPr lang="en-US" sz="1000" b="1" dirty="0">
                          <a:solidFill>
                            <a:srgbClr val="4A3699"/>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3DC"/>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Next: after approvals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3DC"/>
                    </a:solidFill>
                  </a:tcPr>
                </a:tc>
              </a:tr>
              <a:tr h="420624">
                <a:tc>
                  <a:txBody>
                    <a:bodyPr/>
                    <a:lstStyle/>
                    <a:p>
                      <a:pPr indent="0" marL="0">
                        <a:buNone/>
                      </a:pPr>
                      <a:r>
                        <a:rPr lang="en-US" sz="1150" b="1" dirty="0">
                          <a:solidFill>
                            <a:srgbClr val="0B0E26"/>
                          </a:solidFill>
                          <a:latin typeface="Calibri" pitchFamily="34" charset="0"/>
                          <a:ea typeface="Calibri" pitchFamily="34" charset="-122"/>
                          <a:cs typeface="Calibri" pitchFamily="34" charset="-120"/>
                        </a:rPr>
                        <a:t>Screener.in</a:t>
                      </a:r>
                      <a:endParaRPr lang="en-US" sz="11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metered AI credits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query language</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rgbClr val="0B0E26"/>
                          </a:solidFill>
                          <a:latin typeface="Calibri" pitchFamily="34" charset="0"/>
                          <a:ea typeface="Calibri" pitchFamily="34" charset="-122"/>
                          <a:cs typeface="Calibri" pitchFamily="34" charset="-120"/>
                        </a:rPr>
                        <a:t>Tijori</a:t>
                      </a:r>
                      <a:endParaRPr lang="en-US" sz="11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filing timeline</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4A3699"/>
                          </a:solidFill>
                          <a:latin typeface="Calibri" pitchFamily="34" charset="0"/>
                          <a:ea typeface="Calibri" pitchFamily="34" charset="-122"/>
                          <a:cs typeface="Calibri" pitchFamily="34" charset="-120"/>
                        </a:rPr>
                        <a:t>Yes: natural language</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stock &amp; MF tracking</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rgbClr val="0B0E26"/>
                          </a:solidFill>
                          <a:latin typeface="Calibri" pitchFamily="34" charset="0"/>
                          <a:ea typeface="Calibri" pitchFamily="34" charset="-122"/>
                          <a:cs typeface="Calibri" pitchFamily="34" charset="-120"/>
                        </a:rPr>
                        <a:t>Trendlyne</a:t>
                      </a:r>
                      <a:endParaRPr lang="en-US" sz="11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AI concall summaries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4A3699"/>
                          </a:solidFill>
                          <a:latin typeface="Calibri" pitchFamily="34" charset="0"/>
                          <a:ea typeface="Calibri" pitchFamily="34" charset="-122"/>
                          <a:cs typeface="Calibri" pitchFamily="34" charset="-120"/>
                        </a:rPr>
                        <a:t>Yes: AI screener</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screener backtests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portfolio report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baskets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rgbClr val="0B0E26"/>
                          </a:solidFill>
                          <a:latin typeface="Calibri" pitchFamily="34" charset="0"/>
                          <a:ea typeface="Calibri" pitchFamily="34" charset="-122"/>
                          <a:cs typeface="Calibri" pitchFamily="34" charset="-120"/>
                        </a:rPr>
                        <a:t>Tickertape</a:t>
                      </a:r>
                      <a:endParaRPr lang="en-US" sz="11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filter screeners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MF tools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rgbClr val="0B0E26"/>
                          </a:solidFill>
                          <a:latin typeface="Calibri" pitchFamily="34" charset="0"/>
                          <a:ea typeface="Calibri" pitchFamily="34" charset="-122"/>
                          <a:cs typeface="Calibri" pitchFamily="34" charset="-120"/>
                        </a:rPr>
                        <a:t>StockGro (Stoxo)</a:t>
                      </a:r>
                      <a:endParaRPr lang="en-US" sz="11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AI research</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strategy builder</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rgbClr val="0B0E26"/>
                          </a:solidFill>
                          <a:latin typeface="Calibri" pitchFamily="34" charset="0"/>
                          <a:ea typeface="Calibri" pitchFamily="34" charset="-122"/>
                          <a:cs typeface="Calibri" pitchFamily="34" charset="-120"/>
                        </a:rPr>
                        <a:t>Streak</a:t>
                      </a:r>
                      <a:endParaRPr lang="en-US" sz="11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technical scanners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4A3699"/>
                          </a:solidFill>
                          <a:latin typeface="Calibri" pitchFamily="34" charset="0"/>
                          <a:ea typeface="Calibri" pitchFamily="34" charset="-122"/>
                          <a:cs typeface="Calibri" pitchFamily="34" charset="-120"/>
                        </a:rPr>
                        <a:t>Yes: technical rules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4A3699"/>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4A3699"/>
                          </a:solidFill>
                          <a:latin typeface="Calibri" pitchFamily="34" charset="0"/>
                          <a:ea typeface="Calibri" pitchFamily="34" charset="-122"/>
                          <a:cs typeface="Calibri" pitchFamily="34" charset="-120"/>
                        </a:rPr>
                        <a:t>Yes: via Zerodha</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rgbClr val="0B0E26"/>
                          </a:solidFill>
                          <a:latin typeface="Calibri" pitchFamily="34" charset="0"/>
                          <a:ea typeface="Calibri" pitchFamily="34" charset="-122"/>
                          <a:cs typeface="Calibri" pitchFamily="34" charset="-120"/>
                        </a:rPr>
                        <a:t>General AI chat</a:t>
                      </a:r>
                      <a:endParaRPr lang="en-US" sz="115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34B6B"/>
                          </a:solidFill>
                          <a:latin typeface="Calibri" pitchFamily="34" charset="0"/>
                          <a:ea typeface="Calibri" pitchFamily="34" charset="-122"/>
                          <a:cs typeface="Calibri" pitchFamily="34" charset="-120"/>
                        </a:rPr>
                        <a:t>Partial: no verified Indian data</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9B0C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bl>
          </a:graphicData>
        </a:graphic>
      </p:graphicFrame>
      <p:sp>
        <p:nvSpPr>
          <p:cNvPr id="5" name="competition takeaway"/>
          <p:cNvSpPr/>
          <p:nvPr/>
        </p:nvSpPr>
        <p:spPr>
          <a:xfrm>
            <a:off x="548640" y="5486400"/>
            <a:ext cx="11094415" cy="502920"/>
          </a:xfrm>
          <a:prstGeom prst="roundRect">
            <a:avLst>
              <a:gd name="adj" fmla="val 21818"/>
            </a:avLst>
          </a:prstGeom>
          <a:solidFill>
            <a:srgbClr val="F4F7FC"/>
          </a:solidFill>
          <a:ln/>
        </p:spPr>
      </p:sp>
      <p:sp>
        <p:nvSpPr>
          <p:cNvPr id="6" name="Text 3"/>
          <p:cNvSpPr txBox="1"/>
          <p:nvPr/>
        </p:nvSpPr>
        <p:spPr>
          <a:xfrm>
            <a:off x="822960" y="5486400"/>
            <a:ext cx="10545775" cy="502920"/>
          </a:xfrm>
          <a:prstGeom prst="rect">
            <a:avLst/>
          </a:prstGeom>
          <a:noFill/>
          <a:ln/>
        </p:spPr>
        <p:txBody>
          <a:bodyPr wrap="square" lIns="0" tIns="0" rIns="0" bIns="0" rtlCol="0" anchor="ctr"/>
          <a:lstStyle/>
          <a:p>
            <a:pPr indent="0" marL="0">
              <a:buNone/>
            </a:pPr>
            <a:r>
              <a:rPr lang="en-US" sz="1250" b="1" dirty="0">
                <a:solidFill>
                  <a:srgbClr val="4A3699"/>
                </a:solidFill>
              </a:rPr>
              <a:t>Anvest </a:t>
            </a:r>
            <a:pPr indent="0" marL="0">
              <a:buNone/>
            </a:pPr>
            <a:r>
              <a:rPr lang="en-US" sz="1250" dirty="0">
                <a:solidFill>
                  <a:srgbClr val="0B0E26"/>
                </a:solidFill>
              </a:rPr>
              <a:t>carries one question from cited filing evidence to an editable screen, a costed backtest and a paper trade, with fund, bond and retirement planning in the same account.</a:t>
            </a:r>
            <a:endParaRPr lang="en-US" sz="1250" dirty="0"/>
          </a:p>
        </p:txBody>
      </p:sp>
      <p:sp>
        <p:nvSpPr>
          <p:cNvPr id="7" name="Text 4"/>
          <p:cNvSpPr txBox="1"/>
          <p:nvPr/>
        </p:nvSpPr>
        <p:spPr>
          <a:xfrm>
            <a:off x="548640" y="6108192"/>
            <a:ext cx="10362895" cy="274320"/>
          </a:xfrm>
          <a:prstGeom prst="rect">
            <a:avLst/>
          </a:prstGeom>
          <a:noFill/>
          <a:ln/>
        </p:spPr>
        <p:txBody>
          <a:bodyPr wrap="square" lIns="0" tIns="0" rIns="0" bIns="0" rtlCol="0" anchor="t"/>
          <a:lstStyle/>
          <a:p>
            <a:pPr indent="0" marL="0">
              <a:buNone/>
            </a:pPr>
            <a:r>
              <a:rPr lang="en-US" sz="1000" i="1" dirty="0">
                <a:solidFill>
                  <a:srgbClr val="7C88B0"/>
                </a:solidFill>
              </a:rPr>
              <a:t>Yes = core feature · Partial = limited or adjacent · — = not found on the vendor's public product pages, checked 19 Oct 2026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THE MOAT</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bg1"/>
                </a:solidFill>
              </a:rPr>
              <a:t>The moat is the data engine beneath the AI</a:t>
            </a:r>
            <a:endParaRPr lang="en-US" sz="3200" dirty="0"/>
          </a:p>
        </p:txBody>
      </p:sp>
      <p:sp>
        <p:nvSpPr>
          <p:cNvPr id="4" name="pipeline step 1"/>
          <p:cNvSpPr/>
          <p:nvPr/>
        </p:nvSpPr>
        <p:spPr>
          <a:xfrm>
            <a:off x="548640" y="1737360"/>
            <a:ext cx="2057400" cy="1463040"/>
          </a:xfrm>
          <a:prstGeom prst="roundRect">
            <a:avLst>
              <a:gd name="adj" fmla="val 7500"/>
            </a:avLst>
          </a:prstGeom>
          <a:solidFill>
            <a:srgbClr val="FFFFFF">
              <a:alpha val="8000"/>
            </a:srgbClr>
          </a:solidFill>
          <a:ln w="9525">
            <a:solidFill>
              <a:srgbClr val="C9D3F0">
                <a:alpha val="25000"/>
              </a:srgbClr>
            </a:solidFill>
            <a:prstDash val="solid"/>
          </a:ln>
        </p:spPr>
      </p:sp>
      <p:sp>
        <p:nvSpPr>
          <p:cNvPr id="5" name="LuDatabase circle"/>
          <p:cNvSpPr/>
          <p:nvPr/>
        </p:nvSpPr>
        <p:spPr>
          <a:xfrm>
            <a:off x="749808" y="1883664"/>
            <a:ext cx="457200" cy="457200"/>
          </a:xfrm>
          <a:prstGeom prst="ellipse">
            <a:avLst/>
          </a:prstGeom>
          <a:solidFill>
            <a:srgbClr val="F5A623"/>
          </a:solidFill>
          <a:ln/>
        </p:spPr>
      </p:sp>
      <p:pic>
        <p:nvPicPr>
          <p:cNvPr id="6" name="LuDatabase icon" descr="preencoded.png">    </p:cNvPr>
          <p:cNvPicPr>
            <a:picLocks noChangeAspect="1"/>
          </p:cNvPicPr>
          <p:nvPr/>
        </p:nvPicPr>
        <p:blipFill>
          <a:blip r:embed="rId1"/>
          <a:stretch>
            <a:fillRect/>
          </a:stretch>
        </p:blipFill>
        <p:spPr>
          <a:xfrm>
            <a:off x="864108" y="1997964"/>
            <a:ext cx="228600" cy="228600"/>
          </a:xfrm>
          <a:prstGeom prst="rect">
            <a:avLst/>
          </a:prstGeom>
        </p:spPr>
      </p:pic>
      <p:sp>
        <p:nvSpPr>
          <p:cNvPr id="7" name="Text 4"/>
          <p:cNvSpPr txBox="1"/>
          <p:nvPr/>
        </p:nvSpPr>
        <p:spPr>
          <a:xfrm>
            <a:off x="749808" y="2414016"/>
            <a:ext cx="1737360" cy="292608"/>
          </a:xfrm>
          <a:prstGeom prst="rect">
            <a:avLst/>
          </a:prstGeom>
          <a:noFill/>
          <a:ln/>
        </p:spPr>
        <p:txBody>
          <a:bodyPr wrap="square" lIns="0" tIns="0" rIns="0" bIns="0" rtlCol="0" anchor="t"/>
          <a:lstStyle/>
          <a:p>
            <a:pPr indent="0" marL="0">
              <a:buNone/>
            </a:pPr>
            <a:r>
              <a:rPr lang="en-US" sz="1500" b="1" dirty="0">
                <a:solidFill>
                  <a:srgbClr val="FFFFFF"/>
                </a:solidFill>
              </a:rPr>
              <a:t>Ingest</a:t>
            </a:r>
            <a:endParaRPr lang="en-US" sz="1500" dirty="0"/>
          </a:p>
        </p:txBody>
      </p:sp>
      <p:sp>
        <p:nvSpPr>
          <p:cNvPr id="8" name="Text 5"/>
          <p:cNvSpPr txBox="1"/>
          <p:nvPr/>
        </p:nvSpPr>
        <p:spPr>
          <a:xfrm>
            <a:off x="749808" y="2706624"/>
            <a:ext cx="1737360" cy="475488"/>
          </a:xfrm>
          <a:prstGeom prst="rect">
            <a:avLst/>
          </a:prstGeom>
          <a:noFill/>
          <a:ln/>
        </p:spPr>
        <p:txBody>
          <a:bodyPr wrap="square" lIns="0" tIns="0" rIns="0" bIns="0" rtlCol="0" anchor="t"/>
          <a:lstStyle/>
          <a:p>
            <a:pPr indent="0" marL="0">
              <a:buNone/>
            </a:pPr>
            <a:r>
              <a:rPr lang="en-US" sz="1100" dirty="0">
                <a:solidFill>
                  <a:srgbClr val="C9D3F0"/>
                </a:solidFill>
              </a:rPr>
              <a:t>Prices, filings, XBRL, NAVs and prospectuses, every night</a:t>
            </a:r>
            <a:endParaRPr lang="en-US" sz="1100" dirty="0"/>
          </a:p>
        </p:txBody>
      </p:sp>
      <p:sp>
        <p:nvSpPr>
          <p:cNvPr id="9" name="pipeline arrow 1 circle"/>
          <p:cNvSpPr/>
          <p:nvPr/>
        </p:nvSpPr>
        <p:spPr>
          <a:xfrm>
            <a:off x="2468880" y="2331720"/>
            <a:ext cx="274320" cy="274320"/>
          </a:xfrm>
          <a:prstGeom prst="ellipse">
            <a:avLst/>
          </a:prstGeom>
          <a:solidFill>
            <a:srgbClr val="F5A623"/>
          </a:solidFill>
          <a:ln/>
        </p:spPr>
      </p:sp>
      <p:pic>
        <p:nvPicPr>
          <p:cNvPr id="10" name="pipeline arrow 1 icon" descr="preencoded.png">    </p:cNvPr>
          <p:cNvPicPr>
            <a:picLocks noChangeAspect="1"/>
          </p:cNvPicPr>
          <p:nvPr/>
        </p:nvPicPr>
        <p:blipFill>
          <a:blip r:embed="rId2"/>
          <a:stretch>
            <a:fillRect/>
          </a:stretch>
        </p:blipFill>
        <p:spPr>
          <a:xfrm>
            <a:off x="2537460" y="2400300"/>
            <a:ext cx="137160" cy="137160"/>
          </a:xfrm>
          <a:prstGeom prst="rect">
            <a:avLst/>
          </a:prstGeom>
        </p:spPr>
      </p:pic>
      <p:sp>
        <p:nvSpPr>
          <p:cNvPr id="11" name="pipeline step 2"/>
          <p:cNvSpPr/>
          <p:nvPr/>
        </p:nvSpPr>
        <p:spPr>
          <a:xfrm>
            <a:off x="2788920" y="1737360"/>
            <a:ext cx="2057400" cy="1463040"/>
          </a:xfrm>
          <a:prstGeom prst="roundRect">
            <a:avLst>
              <a:gd name="adj" fmla="val 7500"/>
            </a:avLst>
          </a:prstGeom>
          <a:solidFill>
            <a:srgbClr val="FFFFFF">
              <a:alpha val="8000"/>
            </a:srgbClr>
          </a:solidFill>
          <a:ln w="9525">
            <a:solidFill>
              <a:srgbClr val="C9D3F0">
                <a:alpha val="25000"/>
              </a:srgbClr>
            </a:solidFill>
            <a:prstDash val="solid"/>
          </a:ln>
        </p:spPr>
      </p:sp>
      <p:sp>
        <p:nvSpPr>
          <p:cNvPr id="12" name="LuScanText circle"/>
          <p:cNvSpPr/>
          <p:nvPr/>
        </p:nvSpPr>
        <p:spPr>
          <a:xfrm>
            <a:off x="2990088" y="1883664"/>
            <a:ext cx="457200" cy="457200"/>
          </a:xfrm>
          <a:prstGeom prst="ellipse">
            <a:avLst/>
          </a:prstGeom>
          <a:solidFill>
            <a:srgbClr val="F5A623"/>
          </a:solidFill>
          <a:ln/>
        </p:spPr>
      </p:sp>
      <p:pic>
        <p:nvPicPr>
          <p:cNvPr id="13" name="LuScanText icon" descr="preencoded.png">    </p:cNvPr>
          <p:cNvPicPr>
            <a:picLocks noChangeAspect="1"/>
          </p:cNvPicPr>
          <p:nvPr/>
        </p:nvPicPr>
        <p:blipFill>
          <a:blip r:embed="rId3"/>
          <a:stretch>
            <a:fillRect/>
          </a:stretch>
        </p:blipFill>
        <p:spPr>
          <a:xfrm>
            <a:off x="3104388" y="1997964"/>
            <a:ext cx="228600" cy="228600"/>
          </a:xfrm>
          <a:prstGeom prst="rect">
            <a:avLst/>
          </a:prstGeom>
        </p:spPr>
      </p:pic>
      <p:sp>
        <p:nvSpPr>
          <p:cNvPr id="14" name="Text 9"/>
          <p:cNvSpPr txBox="1"/>
          <p:nvPr/>
        </p:nvSpPr>
        <p:spPr>
          <a:xfrm>
            <a:off x="2990088" y="2414016"/>
            <a:ext cx="1737360" cy="292608"/>
          </a:xfrm>
          <a:prstGeom prst="rect">
            <a:avLst/>
          </a:prstGeom>
          <a:noFill/>
          <a:ln/>
        </p:spPr>
        <p:txBody>
          <a:bodyPr wrap="square" lIns="0" tIns="0" rIns="0" bIns="0" rtlCol="0" anchor="t"/>
          <a:lstStyle/>
          <a:p>
            <a:pPr indent="0" marL="0">
              <a:buNone/>
            </a:pPr>
            <a:r>
              <a:rPr lang="en-US" sz="1500" b="1" dirty="0">
                <a:solidFill>
                  <a:srgbClr val="FFFFFF"/>
                </a:solidFill>
              </a:rPr>
              <a:t>Repair and OCR</a:t>
            </a:r>
            <a:endParaRPr lang="en-US" sz="1500" dirty="0"/>
          </a:p>
        </p:txBody>
      </p:sp>
      <p:sp>
        <p:nvSpPr>
          <p:cNvPr id="15" name="Text 10"/>
          <p:cNvSpPr txBox="1"/>
          <p:nvPr/>
        </p:nvSpPr>
        <p:spPr>
          <a:xfrm>
            <a:off x="2990088" y="2706624"/>
            <a:ext cx="1737360" cy="475488"/>
          </a:xfrm>
          <a:prstGeom prst="rect">
            <a:avLst/>
          </a:prstGeom>
          <a:noFill/>
          <a:ln/>
        </p:spPr>
        <p:txBody>
          <a:bodyPr wrap="square" lIns="0" tIns="0" rIns="0" bIns="0" rtlCol="0" anchor="t"/>
          <a:lstStyle/>
          <a:p>
            <a:pPr indent="0" marL="0">
              <a:buNone/>
            </a:pPr>
            <a:r>
              <a:rPr lang="en-US" sz="1100" dirty="0">
                <a:solidFill>
                  <a:srgbClr val="C9D3F0"/>
                </a:solidFill>
              </a:rPr>
              <a:t>Fixes malformed exchange filings; reads scanned PDFs</a:t>
            </a:r>
            <a:endParaRPr lang="en-US" sz="1100" dirty="0"/>
          </a:p>
        </p:txBody>
      </p:sp>
      <p:sp>
        <p:nvSpPr>
          <p:cNvPr id="16" name="pipeline arrow 2 circle"/>
          <p:cNvSpPr/>
          <p:nvPr/>
        </p:nvSpPr>
        <p:spPr>
          <a:xfrm>
            <a:off x="4709160" y="2331720"/>
            <a:ext cx="274320" cy="274320"/>
          </a:xfrm>
          <a:prstGeom prst="ellipse">
            <a:avLst/>
          </a:prstGeom>
          <a:solidFill>
            <a:srgbClr val="F5A623"/>
          </a:solidFill>
          <a:ln/>
        </p:spPr>
      </p:sp>
      <p:pic>
        <p:nvPicPr>
          <p:cNvPr id="17" name="pipeline arrow 2 icon" descr="preencoded.png">    </p:cNvPr>
          <p:cNvPicPr>
            <a:picLocks noChangeAspect="1"/>
          </p:cNvPicPr>
          <p:nvPr/>
        </p:nvPicPr>
        <p:blipFill>
          <a:blip r:embed="rId4"/>
          <a:stretch>
            <a:fillRect/>
          </a:stretch>
        </p:blipFill>
        <p:spPr>
          <a:xfrm>
            <a:off x="4777740" y="2400300"/>
            <a:ext cx="137160" cy="137160"/>
          </a:xfrm>
          <a:prstGeom prst="rect">
            <a:avLst/>
          </a:prstGeom>
        </p:spPr>
      </p:pic>
      <p:sp>
        <p:nvSpPr>
          <p:cNvPr id="18" name="pipeline step 3"/>
          <p:cNvSpPr/>
          <p:nvPr/>
        </p:nvSpPr>
        <p:spPr>
          <a:xfrm>
            <a:off x="5029200" y="1737360"/>
            <a:ext cx="2057400" cy="1463040"/>
          </a:xfrm>
          <a:prstGeom prst="roundRect">
            <a:avLst>
              <a:gd name="adj" fmla="val 7500"/>
            </a:avLst>
          </a:prstGeom>
          <a:solidFill>
            <a:srgbClr val="FFFFFF">
              <a:alpha val="8000"/>
            </a:srgbClr>
          </a:solidFill>
          <a:ln w="9525">
            <a:solidFill>
              <a:srgbClr val="C9D3F0">
                <a:alpha val="25000"/>
              </a:srgbClr>
            </a:solidFill>
            <a:prstDash val="solid"/>
          </a:ln>
        </p:spPr>
      </p:sp>
      <p:sp>
        <p:nvSpPr>
          <p:cNvPr id="19" name="LuBadgeCheck circle"/>
          <p:cNvSpPr/>
          <p:nvPr/>
        </p:nvSpPr>
        <p:spPr>
          <a:xfrm>
            <a:off x="5230368" y="1883664"/>
            <a:ext cx="457200" cy="457200"/>
          </a:xfrm>
          <a:prstGeom prst="ellipse">
            <a:avLst/>
          </a:prstGeom>
          <a:solidFill>
            <a:srgbClr val="F5A623"/>
          </a:solidFill>
          <a:ln/>
        </p:spPr>
      </p:sp>
      <p:pic>
        <p:nvPicPr>
          <p:cNvPr id="20" name="LuBadgeCheck icon" descr="preencoded.png">    </p:cNvPr>
          <p:cNvPicPr>
            <a:picLocks noChangeAspect="1"/>
          </p:cNvPicPr>
          <p:nvPr/>
        </p:nvPicPr>
        <p:blipFill>
          <a:blip r:embed="rId5"/>
          <a:stretch>
            <a:fillRect/>
          </a:stretch>
        </p:blipFill>
        <p:spPr>
          <a:xfrm>
            <a:off x="5344668" y="1997964"/>
            <a:ext cx="228600" cy="228600"/>
          </a:xfrm>
          <a:prstGeom prst="rect">
            <a:avLst/>
          </a:prstGeom>
        </p:spPr>
      </p:pic>
      <p:sp>
        <p:nvSpPr>
          <p:cNvPr id="21" name="Text 14"/>
          <p:cNvSpPr txBox="1"/>
          <p:nvPr/>
        </p:nvSpPr>
        <p:spPr>
          <a:xfrm>
            <a:off x="5230368" y="2414016"/>
            <a:ext cx="1737360" cy="292608"/>
          </a:xfrm>
          <a:prstGeom prst="rect">
            <a:avLst/>
          </a:prstGeom>
          <a:noFill/>
          <a:ln/>
        </p:spPr>
        <p:txBody>
          <a:bodyPr wrap="square" lIns="0" tIns="0" rIns="0" bIns="0" rtlCol="0" anchor="t"/>
          <a:lstStyle/>
          <a:p>
            <a:pPr indent="0" marL="0">
              <a:buNone/>
            </a:pPr>
            <a:r>
              <a:rPr lang="en-US" sz="1500" b="1" dirty="0">
                <a:solidFill>
                  <a:srgbClr val="FFFFFF"/>
                </a:solidFill>
              </a:rPr>
              <a:t>Verify</a:t>
            </a:r>
            <a:endParaRPr lang="en-US" sz="1500" dirty="0"/>
          </a:p>
        </p:txBody>
      </p:sp>
      <p:sp>
        <p:nvSpPr>
          <p:cNvPr id="22" name="Text 15"/>
          <p:cNvSpPr txBox="1"/>
          <p:nvPr/>
        </p:nvSpPr>
        <p:spPr>
          <a:xfrm>
            <a:off x="5230368" y="2706624"/>
            <a:ext cx="1737360" cy="475488"/>
          </a:xfrm>
          <a:prstGeom prst="rect">
            <a:avLst/>
          </a:prstGeom>
          <a:noFill/>
          <a:ln/>
        </p:spPr>
        <p:txBody>
          <a:bodyPr wrap="square" lIns="0" tIns="0" rIns="0" bIns="0" rtlCol="0" anchor="t"/>
          <a:lstStyle/>
          <a:p>
            <a:pPr indent="0" marL="0">
              <a:buNone/>
            </a:pPr>
            <a:r>
              <a:rPr lang="en-US" sz="1100" dirty="0">
                <a:solidFill>
                  <a:srgbClr val="C9D3F0"/>
                </a:solidFill>
              </a:rPr>
              <a:t>Identity checks, cross-validation, sector-aware rules</a:t>
            </a:r>
            <a:endParaRPr lang="en-US" sz="1100" dirty="0"/>
          </a:p>
        </p:txBody>
      </p:sp>
      <p:sp>
        <p:nvSpPr>
          <p:cNvPr id="23" name="pipeline arrow 3 circle"/>
          <p:cNvSpPr/>
          <p:nvPr/>
        </p:nvSpPr>
        <p:spPr>
          <a:xfrm>
            <a:off x="6949440" y="2331720"/>
            <a:ext cx="274320" cy="274320"/>
          </a:xfrm>
          <a:prstGeom prst="ellipse">
            <a:avLst/>
          </a:prstGeom>
          <a:solidFill>
            <a:srgbClr val="F5A623"/>
          </a:solidFill>
          <a:ln/>
        </p:spPr>
      </p:sp>
      <p:pic>
        <p:nvPicPr>
          <p:cNvPr id="24" name="pipeline arrow 3 icon" descr="preencoded.png">    </p:cNvPr>
          <p:cNvPicPr>
            <a:picLocks noChangeAspect="1"/>
          </p:cNvPicPr>
          <p:nvPr/>
        </p:nvPicPr>
        <p:blipFill>
          <a:blip r:embed="rId6"/>
          <a:stretch>
            <a:fillRect/>
          </a:stretch>
        </p:blipFill>
        <p:spPr>
          <a:xfrm>
            <a:off x="7018020" y="2400300"/>
            <a:ext cx="137160" cy="137160"/>
          </a:xfrm>
          <a:prstGeom prst="rect">
            <a:avLst/>
          </a:prstGeom>
        </p:spPr>
      </p:pic>
      <p:sp>
        <p:nvSpPr>
          <p:cNvPr id="25" name="pipeline step 4"/>
          <p:cNvSpPr/>
          <p:nvPr/>
        </p:nvSpPr>
        <p:spPr>
          <a:xfrm>
            <a:off x="7269480" y="1737360"/>
            <a:ext cx="2057400" cy="1463040"/>
          </a:xfrm>
          <a:prstGeom prst="roundRect">
            <a:avLst>
              <a:gd name="adj" fmla="val 7500"/>
            </a:avLst>
          </a:prstGeom>
          <a:solidFill>
            <a:srgbClr val="FFFFFF">
              <a:alpha val="8000"/>
            </a:srgbClr>
          </a:solidFill>
          <a:ln w="9525">
            <a:solidFill>
              <a:srgbClr val="C9D3F0">
                <a:alpha val="25000"/>
              </a:srgbClr>
            </a:solidFill>
            <a:prstDash val="solid"/>
          </a:ln>
        </p:spPr>
      </p:sp>
      <p:sp>
        <p:nvSpPr>
          <p:cNvPr id="26" name="LuShieldCheck circle"/>
          <p:cNvSpPr/>
          <p:nvPr/>
        </p:nvSpPr>
        <p:spPr>
          <a:xfrm>
            <a:off x="7470648" y="1883664"/>
            <a:ext cx="457200" cy="457200"/>
          </a:xfrm>
          <a:prstGeom prst="ellipse">
            <a:avLst/>
          </a:prstGeom>
          <a:solidFill>
            <a:srgbClr val="F5A623"/>
          </a:solidFill>
          <a:ln/>
        </p:spPr>
      </p:sp>
      <p:pic>
        <p:nvPicPr>
          <p:cNvPr id="27" name="LuShieldCheck icon" descr="preencoded.png">    </p:cNvPr>
          <p:cNvPicPr>
            <a:picLocks noChangeAspect="1"/>
          </p:cNvPicPr>
          <p:nvPr/>
        </p:nvPicPr>
        <p:blipFill>
          <a:blip r:embed="rId7"/>
          <a:stretch>
            <a:fillRect/>
          </a:stretch>
        </p:blipFill>
        <p:spPr>
          <a:xfrm>
            <a:off x="7584948" y="1997964"/>
            <a:ext cx="228600" cy="228600"/>
          </a:xfrm>
          <a:prstGeom prst="rect">
            <a:avLst/>
          </a:prstGeom>
        </p:spPr>
      </p:pic>
      <p:sp>
        <p:nvSpPr>
          <p:cNvPr id="28" name="Text 19"/>
          <p:cNvSpPr txBox="1"/>
          <p:nvPr/>
        </p:nvSpPr>
        <p:spPr>
          <a:xfrm>
            <a:off x="7470648" y="2414016"/>
            <a:ext cx="1737360" cy="292608"/>
          </a:xfrm>
          <a:prstGeom prst="rect">
            <a:avLst/>
          </a:prstGeom>
          <a:noFill/>
          <a:ln/>
        </p:spPr>
        <p:txBody>
          <a:bodyPr wrap="square" lIns="0" tIns="0" rIns="0" bIns="0" rtlCol="0" anchor="t"/>
          <a:lstStyle/>
          <a:p>
            <a:pPr indent="0" marL="0">
              <a:buNone/>
            </a:pPr>
            <a:r>
              <a:rPr lang="en-US" sz="1500" b="1" dirty="0">
                <a:solidFill>
                  <a:srgbClr val="FFFFFF"/>
                </a:solidFill>
              </a:rPr>
              <a:t>Ground</a:t>
            </a:r>
            <a:endParaRPr lang="en-US" sz="1500" dirty="0"/>
          </a:p>
        </p:txBody>
      </p:sp>
      <p:sp>
        <p:nvSpPr>
          <p:cNvPr id="29" name="Text 20"/>
          <p:cNvSpPr txBox="1"/>
          <p:nvPr/>
        </p:nvSpPr>
        <p:spPr>
          <a:xfrm>
            <a:off x="7470648" y="2706624"/>
            <a:ext cx="1737360" cy="475488"/>
          </a:xfrm>
          <a:prstGeom prst="rect">
            <a:avLst/>
          </a:prstGeom>
          <a:noFill/>
          <a:ln/>
        </p:spPr>
        <p:txBody>
          <a:bodyPr wrap="square" lIns="0" tIns="0" rIns="0" bIns="0" rtlCol="0" anchor="t"/>
          <a:lstStyle/>
          <a:p>
            <a:pPr indent="0" marL="0">
              <a:buNone/>
            </a:pPr>
            <a:r>
              <a:rPr lang="en-US" sz="1100" dirty="0">
                <a:solidFill>
                  <a:srgbClr val="C9D3F0"/>
                </a:solidFill>
              </a:rPr>
              <a:t>Cite the filing, or say the data isn't there</a:t>
            </a:r>
            <a:endParaRPr lang="en-US" sz="1100" dirty="0"/>
          </a:p>
        </p:txBody>
      </p:sp>
      <p:sp>
        <p:nvSpPr>
          <p:cNvPr id="30" name="pipeline arrow 4 circle"/>
          <p:cNvSpPr/>
          <p:nvPr/>
        </p:nvSpPr>
        <p:spPr>
          <a:xfrm>
            <a:off x="9189720" y="2331720"/>
            <a:ext cx="274320" cy="274320"/>
          </a:xfrm>
          <a:prstGeom prst="ellipse">
            <a:avLst/>
          </a:prstGeom>
          <a:solidFill>
            <a:srgbClr val="F5A623"/>
          </a:solidFill>
          <a:ln/>
        </p:spPr>
      </p:sp>
      <p:pic>
        <p:nvPicPr>
          <p:cNvPr id="31" name="pipeline arrow 4 icon" descr="preencoded.png">    </p:cNvPr>
          <p:cNvPicPr>
            <a:picLocks noChangeAspect="1"/>
          </p:cNvPicPr>
          <p:nvPr/>
        </p:nvPicPr>
        <p:blipFill>
          <a:blip r:embed="rId8"/>
          <a:stretch>
            <a:fillRect/>
          </a:stretch>
        </p:blipFill>
        <p:spPr>
          <a:xfrm>
            <a:off x="9258300" y="2400300"/>
            <a:ext cx="137160" cy="137160"/>
          </a:xfrm>
          <a:prstGeom prst="rect">
            <a:avLst/>
          </a:prstGeom>
        </p:spPr>
      </p:pic>
      <p:sp>
        <p:nvSpPr>
          <p:cNvPr id="32" name="pipeline step 5"/>
          <p:cNvSpPr/>
          <p:nvPr/>
        </p:nvSpPr>
        <p:spPr>
          <a:xfrm>
            <a:off x="9509760" y="1737360"/>
            <a:ext cx="2057400" cy="1463040"/>
          </a:xfrm>
          <a:prstGeom prst="roundRect">
            <a:avLst>
              <a:gd name="adj" fmla="val 7500"/>
            </a:avLst>
          </a:prstGeom>
          <a:solidFill>
            <a:srgbClr val="FFFFFF">
              <a:alpha val="8000"/>
            </a:srgbClr>
          </a:solidFill>
          <a:ln w="9525">
            <a:solidFill>
              <a:srgbClr val="C9D3F0">
                <a:alpha val="25000"/>
              </a:srgbClr>
            </a:solidFill>
            <a:prstDash val="solid"/>
          </a:ln>
        </p:spPr>
      </p:sp>
      <p:sp>
        <p:nvSpPr>
          <p:cNvPr id="33" name="LuSparkles circle"/>
          <p:cNvSpPr/>
          <p:nvPr/>
        </p:nvSpPr>
        <p:spPr>
          <a:xfrm>
            <a:off x="9710928" y="1883664"/>
            <a:ext cx="457200" cy="457200"/>
          </a:xfrm>
          <a:prstGeom prst="ellipse">
            <a:avLst/>
          </a:prstGeom>
          <a:solidFill>
            <a:srgbClr val="F5A623"/>
          </a:solidFill>
          <a:ln/>
        </p:spPr>
      </p:sp>
      <p:pic>
        <p:nvPicPr>
          <p:cNvPr id="34" name="LuSparkles icon" descr="preencoded.png">    </p:cNvPr>
          <p:cNvPicPr>
            <a:picLocks noChangeAspect="1"/>
          </p:cNvPicPr>
          <p:nvPr/>
        </p:nvPicPr>
        <p:blipFill>
          <a:blip r:embed="rId9"/>
          <a:stretch>
            <a:fillRect/>
          </a:stretch>
        </p:blipFill>
        <p:spPr>
          <a:xfrm>
            <a:off x="9825228" y="1997964"/>
            <a:ext cx="228600" cy="228600"/>
          </a:xfrm>
          <a:prstGeom prst="rect">
            <a:avLst/>
          </a:prstGeom>
        </p:spPr>
      </p:pic>
      <p:sp>
        <p:nvSpPr>
          <p:cNvPr id="35" name="Text 24"/>
          <p:cNvSpPr txBox="1"/>
          <p:nvPr/>
        </p:nvSpPr>
        <p:spPr>
          <a:xfrm>
            <a:off x="9710928" y="2414016"/>
            <a:ext cx="1737360" cy="292608"/>
          </a:xfrm>
          <a:prstGeom prst="rect">
            <a:avLst/>
          </a:prstGeom>
          <a:noFill/>
          <a:ln/>
        </p:spPr>
        <p:txBody>
          <a:bodyPr wrap="square" lIns="0" tIns="0" rIns="0" bIns="0" rtlCol="0" anchor="t"/>
          <a:lstStyle/>
          <a:p>
            <a:pPr indent="0" marL="0">
              <a:buNone/>
            </a:pPr>
            <a:r>
              <a:rPr lang="en-US" sz="1500" b="1" dirty="0">
                <a:solidFill>
                  <a:srgbClr val="FFFFFF"/>
                </a:solidFill>
              </a:rPr>
              <a:t>Serve</a:t>
            </a:r>
            <a:endParaRPr lang="en-US" sz="1500" dirty="0"/>
          </a:p>
        </p:txBody>
      </p:sp>
      <p:sp>
        <p:nvSpPr>
          <p:cNvPr id="36" name="Text 25"/>
          <p:cNvSpPr txBox="1"/>
          <p:nvPr/>
        </p:nvSpPr>
        <p:spPr>
          <a:xfrm>
            <a:off x="9710928" y="2706624"/>
            <a:ext cx="1737360" cy="475488"/>
          </a:xfrm>
          <a:prstGeom prst="rect">
            <a:avLst/>
          </a:prstGeom>
          <a:noFill/>
          <a:ln/>
        </p:spPr>
        <p:txBody>
          <a:bodyPr wrap="square" lIns="0" tIns="0" rIns="0" bIns="0" rtlCol="0" anchor="t"/>
          <a:lstStyle/>
          <a:p>
            <a:pPr indent="0" marL="0">
              <a:buNone/>
            </a:pPr>
            <a:r>
              <a:rPr lang="en-US" sz="1100" dirty="0">
                <a:solidFill>
                  <a:srgbClr val="C9D3F0"/>
                </a:solidFill>
              </a:rPr>
              <a:t>One AI across research, screens, backtests and plans</a:t>
            </a:r>
            <a:endParaRPr lang="en-US" sz="1100" dirty="0"/>
          </a:p>
        </p:txBody>
      </p:sp>
      <p:sp>
        <p:nvSpPr>
          <p:cNvPr id="37" name="Text 26"/>
          <p:cNvSpPr txBox="1"/>
          <p:nvPr/>
        </p:nvSpPr>
        <p:spPr>
          <a:xfrm>
            <a:off x="548640" y="3429000"/>
            <a:ext cx="2103120" cy="502920"/>
          </a:xfrm>
          <a:prstGeom prst="rect">
            <a:avLst/>
          </a:prstGeom>
          <a:noFill/>
          <a:ln/>
        </p:spPr>
        <p:txBody>
          <a:bodyPr wrap="square" lIns="0" tIns="0" rIns="0" bIns="0" rtlCol="0" anchor="t"/>
          <a:lstStyle/>
          <a:p>
            <a:pPr indent="0" marL="0">
              <a:buNone/>
            </a:pPr>
            <a:r>
              <a:rPr lang="en-US" sz="2800" b="1" dirty="0">
                <a:solidFill>
                  <a:srgbClr val="F5A623"/>
                </a:solidFill>
                <a:latin typeface="Arial" pitchFamily="34" charset="0"/>
                <a:ea typeface="Arial" pitchFamily="34" charset="-122"/>
                <a:cs typeface="Arial" pitchFamily="34" charset="-120"/>
              </a:rPr>
              <a:t>15,899</a:t>
            </a:r>
            <a:endParaRPr lang="en-US" sz="2800" dirty="0"/>
          </a:p>
        </p:txBody>
      </p:sp>
      <p:sp>
        <p:nvSpPr>
          <p:cNvPr id="38" name="Text 27"/>
          <p:cNvSpPr txBox="1"/>
          <p:nvPr/>
        </p:nvSpPr>
        <p:spPr>
          <a:xfrm>
            <a:off x="548640" y="3931920"/>
            <a:ext cx="2011680" cy="566928"/>
          </a:xfrm>
          <a:prstGeom prst="rect">
            <a:avLst/>
          </a:prstGeom>
          <a:noFill/>
          <a:ln/>
        </p:spPr>
        <p:txBody>
          <a:bodyPr wrap="square" lIns="0" tIns="0" rIns="0" bIns="0" rtlCol="0" anchor="t"/>
          <a:lstStyle/>
          <a:p>
            <a:pPr indent="0" marL="0">
              <a:buNone/>
            </a:pPr>
            <a:r>
              <a:rPr lang="en-US" sz="1150" dirty="0">
                <a:solidFill>
                  <a:srgbClr val="C9D3F0"/>
                </a:solidFill>
              </a:rPr>
              <a:t>cash-flow rows recovered from malformed XBRL</a:t>
            </a:r>
            <a:endParaRPr lang="en-US" sz="1150" dirty="0"/>
          </a:p>
        </p:txBody>
      </p:sp>
      <p:sp>
        <p:nvSpPr>
          <p:cNvPr id="39" name="Text 28"/>
          <p:cNvSpPr txBox="1"/>
          <p:nvPr/>
        </p:nvSpPr>
        <p:spPr>
          <a:xfrm>
            <a:off x="2788920" y="3429000"/>
            <a:ext cx="2103120" cy="502920"/>
          </a:xfrm>
          <a:prstGeom prst="rect">
            <a:avLst/>
          </a:prstGeom>
          <a:noFill/>
          <a:ln/>
        </p:spPr>
        <p:txBody>
          <a:bodyPr wrap="square" lIns="0" tIns="0" rIns="0" bIns="0" rtlCol="0" anchor="t"/>
          <a:lstStyle/>
          <a:p>
            <a:pPr indent="0" marL="0">
              <a:buNone/>
            </a:pPr>
            <a:r>
              <a:rPr lang="en-US" sz="2800" b="1" dirty="0">
                <a:solidFill>
                  <a:srgbClr val="F5A623"/>
                </a:solidFill>
                <a:latin typeface="Arial" pitchFamily="34" charset="0"/>
                <a:ea typeface="Arial" pitchFamily="34" charset="-122"/>
                <a:cs typeface="Arial" pitchFamily="34" charset="-120"/>
              </a:rPr>
              <a:t>3,608</a:t>
            </a:r>
            <a:endParaRPr lang="en-US" sz="2800" dirty="0"/>
          </a:p>
        </p:txBody>
      </p:sp>
      <p:sp>
        <p:nvSpPr>
          <p:cNvPr id="40" name="Text 29"/>
          <p:cNvSpPr txBox="1"/>
          <p:nvPr/>
        </p:nvSpPr>
        <p:spPr>
          <a:xfrm>
            <a:off x="2788920" y="3931920"/>
            <a:ext cx="2011680" cy="566928"/>
          </a:xfrm>
          <a:prstGeom prst="rect">
            <a:avLst/>
          </a:prstGeom>
          <a:noFill/>
          <a:ln/>
        </p:spPr>
        <p:txBody>
          <a:bodyPr wrap="square" lIns="0" tIns="0" rIns="0" bIns="0" rtlCol="0" anchor="t"/>
          <a:lstStyle/>
          <a:p>
            <a:pPr indent="0" marL="0">
              <a:buNone/>
            </a:pPr>
            <a:r>
              <a:rPr lang="en-US" sz="1150" dirty="0">
                <a:solidFill>
                  <a:srgbClr val="C9D3F0"/>
                </a:solidFill>
              </a:rPr>
              <a:t>conflicting source figures flagged across 1,022 companies</a:t>
            </a:r>
            <a:endParaRPr lang="en-US" sz="1150" dirty="0"/>
          </a:p>
        </p:txBody>
      </p:sp>
      <p:sp>
        <p:nvSpPr>
          <p:cNvPr id="41" name="Text 30"/>
          <p:cNvSpPr txBox="1"/>
          <p:nvPr/>
        </p:nvSpPr>
        <p:spPr>
          <a:xfrm>
            <a:off x="5029200" y="3429000"/>
            <a:ext cx="2103120" cy="502920"/>
          </a:xfrm>
          <a:prstGeom prst="rect">
            <a:avLst/>
          </a:prstGeom>
          <a:noFill/>
          <a:ln/>
        </p:spPr>
        <p:txBody>
          <a:bodyPr wrap="square" lIns="0" tIns="0" rIns="0" bIns="0" rtlCol="0" anchor="t"/>
          <a:lstStyle/>
          <a:p>
            <a:pPr indent="0" marL="0">
              <a:buNone/>
            </a:pPr>
            <a:r>
              <a:rPr lang="en-US" sz="2800" b="1" dirty="0">
                <a:solidFill>
                  <a:srgbClr val="F5A623"/>
                </a:solidFill>
                <a:latin typeface="Arial" pitchFamily="34" charset="0"/>
                <a:ea typeface="Arial" pitchFamily="34" charset="-122"/>
                <a:cs typeface="Arial" pitchFamily="34" charset="-120"/>
              </a:rPr>
              <a:t>10 of 10</a:t>
            </a:r>
            <a:endParaRPr lang="en-US" sz="2800" dirty="0"/>
          </a:p>
        </p:txBody>
      </p:sp>
      <p:sp>
        <p:nvSpPr>
          <p:cNvPr id="42" name="Text 31"/>
          <p:cNvSpPr txBox="1"/>
          <p:nvPr/>
        </p:nvSpPr>
        <p:spPr>
          <a:xfrm>
            <a:off x="5029200" y="3931920"/>
            <a:ext cx="2011680" cy="566928"/>
          </a:xfrm>
          <a:prstGeom prst="rect">
            <a:avLst/>
          </a:prstGeom>
          <a:noFill/>
          <a:ln/>
        </p:spPr>
        <p:txBody>
          <a:bodyPr wrap="square" lIns="0" tIns="0" rIns="0" bIns="0" rtlCol="0" anchor="t"/>
          <a:lstStyle/>
          <a:p>
            <a:pPr indent="0" marL="0">
              <a:buNone/>
            </a:pPr>
            <a:r>
              <a:rPr lang="en-US" sz="1150" dirty="0">
                <a:solidFill>
                  <a:srgbClr val="C9D3F0"/>
                </a:solidFill>
              </a:rPr>
              <a:t>tier-1 bank results in a Q1 FY27 sample were scans</a:t>
            </a:r>
            <a:endParaRPr lang="en-US" sz="1150" dirty="0"/>
          </a:p>
        </p:txBody>
      </p:sp>
      <p:sp>
        <p:nvSpPr>
          <p:cNvPr id="43" name="Text 32"/>
          <p:cNvSpPr txBox="1"/>
          <p:nvPr/>
        </p:nvSpPr>
        <p:spPr>
          <a:xfrm>
            <a:off x="7269480" y="3429000"/>
            <a:ext cx="2103120" cy="502920"/>
          </a:xfrm>
          <a:prstGeom prst="rect">
            <a:avLst/>
          </a:prstGeom>
          <a:noFill/>
          <a:ln/>
        </p:spPr>
        <p:txBody>
          <a:bodyPr wrap="square" lIns="0" tIns="0" rIns="0" bIns="0" rtlCol="0" anchor="t"/>
          <a:lstStyle/>
          <a:p>
            <a:pPr indent="0" marL="0">
              <a:buNone/>
            </a:pPr>
            <a:r>
              <a:rPr lang="en-US" sz="2800" b="1" dirty="0">
                <a:solidFill>
                  <a:srgbClr val="F5A623"/>
                </a:solidFill>
                <a:latin typeface="Arial" pitchFamily="34" charset="0"/>
                <a:ea typeface="Arial" pitchFamily="34" charset="-122"/>
                <a:cs typeface="Arial" pitchFamily="34" charset="-120"/>
              </a:rPr>
              <a:t>2.94M</a:t>
            </a:r>
            <a:endParaRPr lang="en-US" sz="2800" dirty="0"/>
          </a:p>
        </p:txBody>
      </p:sp>
      <p:sp>
        <p:nvSpPr>
          <p:cNvPr id="44" name="Text 33"/>
          <p:cNvSpPr txBox="1"/>
          <p:nvPr/>
        </p:nvSpPr>
        <p:spPr>
          <a:xfrm>
            <a:off x="7269480" y="3931920"/>
            <a:ext cx="2011680" cy="566928"/>
          </a:xfrm>
          <a:prstGeom prst="rect">
            <a:avLst/>
          </a:prstGeom>
          <a:noFill/>
          <a:ln/>
        </p:spPr>
        <p:txBody>
          <a:bodyPr wrap="square" lIns="0" tIns="0" rIns="0" bIns="0" rtlCol="0" anchor="t"/>
          <a:lstStyle/>
          <a:p>
            <a:pPr indent="0" marL="0">
              <a:buNone/>
            </a:pPr>
            <a:r>
              <a:rPr lang="en-US" sz="1150" dirty="0">
                <a:solidFill>
                  <a:srgbClr val="C9D3F0"/>
                </a:solidFill>
              </a:rPr>
              <a:t>corporate announcements in the warehouse</a:t>
            </a:r>
            <a:endParaRPr lang="en-US" sz="1150" dirty="0"/>
          </a:p>
        </p:txBody>
      </p:sp>
      <p:sp>
        <p:nvSpPr>
          <p:cNvPr id="45" name="Text 34"/>
          <p:cNvSpPr txBox="1"/>
          <p:nvPr/>
        </p:nvSpPr>
        <p:spPr>
          <a:xfrm>
            <a:off x="9509760" y="3429000"/>
            <a:ext cx="2103120" cy="502920"/>
          </a:xfrm>
          <a:prstGeom prst="rect">
            <a:avLst/>
          </a:prstGeom>
          <a:noFill/>
          <a:ln/>
        </p:spPr>
        <p:txBody>
          <a:bodyPr wrap="square" lIns="0" tIns="0" rIns="0" bIns="0" rtlCol="0" anchor="t"/>
          <a:lstStyle/>
          <a:p>
            <a:pPr indent="0" marL="0">
              <a:buNone/>
            </a:pPr>
            <a:r>
              <a:rPr lang="en-US" sz="2800" b="1" dirty="0">
                <a:solidFill>
                  <a:srgbClr val="F5A623"/>
                </a:solidFill>
                <a:latin typeface="Arial" pitchFamily="34" charset="0"/>
                <a:ea typeface="Arial" pitchFamily="34" charset="-122"/>
                <a:cs typeface="Arial" pitchFamily="34" charset="-120"/>
              </a:rPr>
              <a:t>1.35M</a:t>
            </a:r>
            <a:endParaRPr lang="en-US" sz="2800" dirty="0"/>
          </a:p>
        </p:txBody>
      </p:sp>
      <p:sp>
        <p:nvSpPr>
          <p:cNvPr id="46" name="Text 35"/>
          <p:cNvSpPr txBox="1"/>
          <p:nvPr/>
        </p:nvSpPr>
        <p:spPr>
          <a:xfrm>
            <a:off x="9509760" y="3931920"/>
            <a:ext cx="2011680" cy="566928"/>
          </a:xfrm>
          <a:prstGeom prst="rect">
            <a:avLst/>
          </a:prstGeom>
          <a:noFill/>
          <a:ln/>
        </p:spPr>
        <p:txBody>
          <a:bodyPr wrap="square" lIns="0" tIns="0" rIns="0" bIns="0" rtlCol="0" anchor="t"/>
          <a:lstStyle/>
          <a:p>
            <a:pPr indent="0" marL="0">
              <a:buNone/>
            </a:pPr>
            <a:r>
              <a:rPr lang="en-US" sz="1150" dirty="0">
                <a:solidFill>
                  <a:srgbClr val="C9D3F0"/>
                </a:solidFill>
              </a:rPr>
              <a:t>indexed passages, refreshed daily</a:t>
            </a:r>
            <a:endParaRPr lang="en-US" sz="1150" dirty="0"/>
          </a:p>
        </p:txBody>
      </p:sp>
      <p:sp>
        <p:nvSpPr>
          <p:cNvPr id="47" name="replication card"/>
          <p:cNvSpPr/>
          <p:nvPr/>
        </p:nvSpPr>
        <p:spPr>
          <a:xfrm>
            <a:off x="548640" y="4709160"/>
            <a:ext cx="11094415" cy="1188720"/>
          </a:xfrm>
          <a:prstGeom prst="roundRect">
            <a:avLst>
              <a:gd name="adj" fmla="val 9231"/>
            </a:avLst>
          </a:prstGeom>
          <a:solidFill>
            <a:srgbClr val="FFFFFF"/>
          </a:solidFill>
          <a:ln/>
          <a:effectLst>
            <a:outerShdw sx="100000" sy="100000" kx="0" ky="0" algn="bl" rotWithShape="0" blurRad="127000" dist="38100" dir="5400000">
              <a:srgbClr val="0B0E26">
                <a:alpha val="10000"/>
              </a:srgbClr>
            </a:outerShdw>
          </a:effectLst>
        </p:spPr>
      </p:sp>
      <p:sp>
        <p:nvSpPr>
          <p:cNvPr id="48" name="LuQuote circle"/>
          <p:cNvSpPr/>
          <p:nvPr/>
        </p:nvSpPr>
        <p:spPr>
          <a:xfrm>
            <a:off x="822960" y="5010912"/>
            <a:ext cx="566928" cy="566928"/>
          </a:xfrm>
          <a:prstGeom prst="ellipse">
            <a:avLst/>
          </a:prstGeom>
          <a:solidFill>
            <a:srgbClr val="4A3699"/>
          </a:solidFill>
          <a:ln/>
        </p:spPr>
      </p:sp>
      <p:pic>
        <p:nvPicPr>
          <p:cNvPr id="49" name="LuQuote icon" descr="preencoded.png">    </p:cNvPr>
          <p:cNvPicPr>
            <a:picLocks noChangeAspect="1"/>
          </p:cNvPicPr>
          <p:nvPr/>
        </p:nvPicPr>
        <p:blipFill>
          <a:blip r:embed="rId10"/>
          <a:stretch>
            <a:fillRect/>
          </a:stretch>
        </p:blipFill>
        <p:spPr>
          <a:xfrm>
            <a:off x="964692" y="5152644"/>
            <a:ext cx="283464" cy="283464"/>
          </a:xfrm>
          <a:prstGeom prst="rect">
            <a:avLst/>
          </a:prstGeom>
        </p:spPr>
      </p:pic>
      <p:sp>
        <p:nvSpPr>
          <p:cNvPr id="50" name="Text 38"/>
          <p:cNvSpPr txBox="1"/>
          <p:nvPr/>
        </p:nvSpPr>
        <p:spPr>
          <a:xfrm>
            <a:off x="1645920" y="4709160"/>
            <a:ext cx="9722815" cy="1188720"/>
          </a:xfrm>
          <a:prstGeom prst="rect">
            <a:avLst/>
          </a:prstGeom>
          <a:noFill/>
          <a:ln/>
        </p:spPr>
        <p:txBody>
          <a:bodyPr wrap="square" lIns="0" tIns="0" rIns="0" bIns="0" rtlCol="0" anchor="ctr"/>
          <a:lstStyle/>
          <a:p>
            <a:pPr indent="0" marL="0">
              <a:buNone/>
            </a:pPr>
            <a:r>
              <a:rPr lang="en-US" sz="1250" b="1" dirty="0">
                <a:solidFill>
                  <a:srgbClr val="0B0E26"/>
                </a:solidFill>
              </a:rPr>
              <a:t>Why incumbents can't simply bolt this on: </a:t>
            </a:r>
            <a:pPr indent="0" marL="0">
              <a:buNone/>
            </a:pPr>
            <a:r>
              <a:rPr lang="en-US" sz="1250" dirty="0">
                <a:solidFill>
                  <a:srgbClr val="434B6B"/>
                </a:solidFill>
              </a:rPr>
              <a:t>a screener built on structured data feeds would have to re-ingest, OCR and repair the raw filing corpus to cite at passage level. NSE's post-FY23 XBRL mislabels its periods, annual figures hide inside Q4 filings, and many filings are scans; each fix took production queries to find.</a:t>
            </a:r>
            <a:endParaRPr lang="en-US" sz="1250" dirty="0"/>
          </a:p>
        </p:txBody>
      </p:sp>
      <p:sp>
        <p:nvSpPr>
          <p:cNvPr id="51" name="Text 39"/>
          <p:cNvSpPr txBox="1"/>
          <p:nvPr/>
        </p:nvSpPr>
        <p:spPr>
          <a:xfrm>
            <a:off x="548640" y="6108192"/>
            <a:ext cx="10362895" cy="274320"/>
          </a:xfrm>
          <a:prstGeom prst="rect">
            <a:avLst/>
          </a:prstGeom>
          <a:noFill/>
          <a:ln/>
        </p:spPr>
        <p:txBody>
          <a:bodyPr wrap="square" lIns="0" tIns="0" rIns="0" bIns="0" rtlCol="0" anchor="t"/>
          <a:lstStyle/>
          <a:p>
            <a:pPr indent="0" marL="0">
              <a:buNone/>
            </a:pPr>
            <a:r>
              <a:rPr lang="en-US" sz="1000" i="1" dirty="0">
                <a:solidFill>
                  <a:srgbClr val="C9D3F0"/>
                </a:solidFill>
              </a:rPr>
              <a:t>Internal data-quality audits, Jul–Sep 2026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BUSINESS MODEL</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Two engines fund the seed stage; two more scale it</a:t>
            </a:r>
            <a:endParaRPr lang="en-US" sz="3200" dirty="0"/>
          </a:p>
        </p:txBody>
      </p:sp>
      <p:sp>
        <p:nvSpPr>
          <p:cNvPr id="4" name="Text 2"/>
          <p:cNvSpPr txBox="1"/>
          <p:nvPr/>
        </p:nvSpPr>
        <p:spPr>
          <a:xfrm>
            <a:off x="548640" y="1481328"/>
            <a:ext cx="5486400" cy="274320"/>
          </a:xfrm>
          <a:prstGeom prst="rect">
            <a:avLst/>
          </a:prstGeom>
          <a:noFill/>
          <a:ln/>
        </p:spPr>
        <p:txBody>
          <a:bodyPr wrap="square" lIns="0" tIns="0" rIns="0" bIns="0" rtlCol="0" anchor="t"/>
          <a:lstStyle/>
          <a:p>
            <a:pPr indent="0" marL="0">
              <a:buNone/>
            </a:pPr>
            <a:r>
              <a:rPr lang="en-US" sz="1100" b="1" spc="200" kern="0" dirty="0">
                <a:solidFill>
                  <a:srgbClr val="4A3699"/>
                </a:solidFill>
              </a:rPr>
              <a:t>THIS ROUND</a:t>
            </a:r>
            <a:endParaRPr lang="en-US" sz="1100" dirty="0"/>
          </a:p>
        </p:txBody>
      </p:sp>
      <p:sp>
        <p:nvSpPr>
          <p:cNvPr id="5" name="Text 3"/>
          <p:cNvSpPr txBox="1"/>
          <p:nvPr/>
        </p:nvSpPr>
        <p:spPr>
          <a:xfrm>
            <a:off x="6400800" y="1481328"/>
            <a:ext cx="4572000" cy="274320"/>
          </a:xfrm>
          <a:prstGeom prst="rect">
            <a:avLst/>
          </a:prstGeom>
          <a:noFill/>
          <a:ln/>
        </p:spPr>
        <p:txBody>
          <a:bodyPr wrap="square" lIns="0" tIns="0" rIns="0" bIns="0" rtlCol="0" anchor="t"/>
          <a:lstStyle/>
          <a:p>
            <a:pPr indent="0" marL="0">
              <a:buNone/>
            </a:pPr>
            <a:r>
              <a:rPr lang="en-US" sz="1100" b="1" spc="200" kern="0" dirty="0">
                <a:solidFill>
                  <a:srgbClr val="7C88B0"/>
                </a:solidFill>
              </a:rPr>
              <a:t>SELF-SERVE AND LATER</a:t>
            </a:r>
            <a:endParaRPr lang="en-US" sz="1100" dirty="0"/>
          </a:p>
        </p:txBody>
      </p:sp>
      <p:sp>
        <p:nvSpPr>
          <p:cNvPr id="6" name="primary engine 1"/>
          <p:cNvSpPr/>
          <p:nvPr/>
        </p:nvSpPr>
        <p:spPr>
          <a:xfrm>
            <a:off x="548640" y="1810512"/>
            <a:ext cx="2743200" cy="3611880"/>
          </a:xfrm>
          <a:prstGeom prst="roundRect">
            <a:avLst>
              <a:gd name="adj" fmla="val 4000"/>
            </a:avLst>
          </a:prstGeom>
          <a:solidFill>
            <a:srgbClr val="FFFFFF"/>
          </a:solidFill>
          <a:ln/>
          <a:effectLst>
            <a:outerShdw sx="100000" sy="100000" kx="0" ky="0" algn="bl" rotWithShape="0" blurRad="127000" dist="38100" dir="5400000">
              <a:srgbClr val="0B0E26">
                <a:alpha val="10000"/>
              </a:srgbClr>
            </a:outerShdw>
          </a:effectLst>
        </p:spPr>
      </p:sp>
      <p:sp>
        <p:nvSpPr>
          <p:cNvPr id="7" name="LuBriefcase circle"/>
          <p:cNvSpPr/>
          <p:nvPr/>
        </p:nvSpPr>
        <p:spPr>
          <a:xfrm>
            <a:off x="804672" y="2029968"/>
            <a:ext cx="566928" cy="566928"/>
          </a:xfrm>
          <a:prstGeom prst="ellipse">
            <a:avLst/>
          </a:prstGeom>
          <a:solidFill>
            <a:srgbClr val="4A3699"/>
          </a:solidFill>
          <a:ln/>
        </p:spPr>
      </p:sp>
      <p:pic>
        <p:nvPicPr>
          <p:cNvPr id="8" name="LuBriefcase icon" descr="preencoded.png">    </p:cNvPr>
          <p:cNvPicPr>
            <a:picLocks noChangeAspect="1"/>
          </p:cNvPicPr>
          <p:nvPr/>
        </p:nvPicPr>
        <p:blipFill>
          <a:blip r:embed="rId1"/>
          <a:stretch>
            <a:fillRect/>
          </a:stretch>
        </p:blipFill>
        <p:spPr>
          <a:xfrm>
            <a:off x="946404" y="2171700"/>
            <a:ext cx="283464" cy="283464"/>
          </a:xfrm>
          <a:prstGeom prst="rect">
            <a:avLst/>
          </a:prstGeom>
        </p:spPr>
      </p:pic>
      <p:sp>
        <p:nvSpPr>
          <p:cNvPr id="9" name="Text 6"/>
          <p:cNvSpPr txBox="1"/>
          <p:nvPr/>
        </p:nvSpPr>
        <p:spPr>
          <a:xfrm>
            <a:off x="804672" y="2743200"/>
            <a:ext cx="2286000" cy="566928"/>
          </a:xfrm>
          <a:prstGeom prst="rect">
            <a:avLst/>
          </a:prstGeom>
          <a:noFill/>
          <a:ln/>
        </p:spPr>
        <p:txBody>
          <a:bodyPr wrap="square" lIns="0" tIns="0" rIns="0" bIns="0" rtlCol="0" anchor="t"/>
          <a:lstStyle/>
          <a:p>
            <a:pPr indent="0" marL="0">
              <a:buNone/>
            </a:pPr>
            <a:r>
              <a:rPr lang="en-US" sz="1700" b="1" dirty="0">
                <a:solidFill>
                  <a:srgbClr val="0B0E26"/>
                </a:solidFill>
                <a:latin typeface="Arial" pitchFamily="34" charset="0"/>
                <a:ea typeface="Arial" pitchFamily="34" charset="-122"/>
                <a:cs typeface="Arial" pitchFamily="34" charset="-120"/>
              </a:rPr>
              <a:t>Anvest Desk</a:t>
            </a:r>
            <a:endParaRPr lang="en-US" sz="1700" dirty="0"/>
          </a:p>
        </p:txBody>
      </p:sp>
      <p:sp>
        <p:nvSpPr>
          <p:cNvPr id="10" name="Text 7"/>
          <p:cNvSpPr txBox="1"/>
          <p:nvPr/>
        </p:nvSpPr>
        <p:spPr>
          <a:xfrm>
            <a:off x="804672" y="3291840"/>
            <a:ext cx="2331720" cy="457200"/>
          </a:xfrm>
          <a:prstGeom prst="rect">
            <a:avLst/>
          </a:prstGeom>
          <a:noFill/>
          <a:ln/>
        </p:spPr>
        <p:txBody>
          <a:bodyPr wrap="square" lIns="0" tIns="0" rIns="0" bIns="0" rtlCol="0" anchor="t"/>
          <a:lstStyle/>
          <a:p>
            <a:pPr indent="0" marL="0">
              <a:buNone/>
            </a:pPr>
            <a:r>
              <a:rPr lang="en-US" sz="1250" b="1" dirty="0">
                <a:solidFill>
                  <a:srgbClr val="4A3699"/>
                </a:solidFill>
              </a:rPr>
              <a:t>₹2,999 / seat / month · 1–5+ seats</a:t>
            </a:r>
            <a:endParaRPr lang="en-US" sz="1250" dirty="0"/>
          </a:p>
        </p:txBody>
      </p:sp>
      <p:sp>
        <p:nvSpPr>
          <p:cNvPr id="11" name="Text 8"/>
          <p:cNvSpPr txBox="1"/>
          <p:nvPr/>
        </p:nvSpPr>
        <p:spPr>
          <a:xfrm>
            <a:off x="804672" y="3767328"/>
            <a:ext cx="2286000" cy="1188720"/>
          </a:xfrm>
          <a:prstGeom prst="rect">
            <a:avLst/>
          </a:prstGeom>
          <a:noFill/>
          <a:ln/>
        </p:spPr>
        <p:txBody>
          <a:bodyPr wrap="square" lIns="0" tIns="0" rIns="0" bIns="0" rtlCol="0" anchor="t"/>
          <a:lstStyle/>
          <a:p>
            <a:pPr indent="0" marL="0">
              <a:buNone/>
            </a:pPr>
            <a:r>
              <a:rPr lang="en-US" sz="1200" dirty="0">
                <a:solidFill>
                  <a:srgbClr val="434B6B"/>
                </a:solidFill>
              </a:rPr>
              <a:t>For RAs, IAs, PMS desks and distributors: coverage-list filing digests, cited research and shared workspaces. Paying from month 3.</a:t>
            </a:r>
            <a:endParaRPr lang="en-US" sz="1200" dirty="0"/>
          </a:p>
        </p:txBody>
      </p:sp>
      <p:sp>
        <p:nvSpPr>
          <p:cNvPr id="12" name="chip FIRST REVENUE"/>
          <p:cNvSpPr/>
          <p:nvPr/>
        </p:nvSpPr>
        <p:spPr>
          <a:xfrm>
            <a:off x="804672" y="5029200"/>
            <a:ext cx="1211580" cy="256032"/>
          </a:xfrm>
          <a:prstGeom prst="roundRect">
            <a:avLst>
              <a:gd name="adj" fmla="val 50000"/>
            </a:avLst>
          </a:prstGeom>
          <a:solidFill>
            <a:srgbClr val="F5A623"/>
          </a:solidFill>
          <a:ln/>
        </p:spPr>
      </p:sp>
      <p:sp>
        <p:nvSpPr>
          <p:cNvPr id="13" name="chip text FIRST REVENUE"/>
          <p:cNvSpPr txBox="1"/>
          <p:nvPr/>
        </p:nvSpPr>
        <p:spPr>
          <a:xfrm>
            <a:off x="804672" y="5029200"/>
            <a:ext cx="1211580" cy="256032"/>
          </a:xfrm>
          <a:prstGeom prst="rect">
            <a:avLst/>
          </a:prstGeom>
          <a:noFill/>
          <a:ln/>
        </p:spPr>
        <p:txBody>
          <a:bodyPr wrap="square" lIns="0" tIns="0" rIns="0" bIns="0" rtlCol="0" anchor="ctr"/>
          <a:lstStyle/>
          <a:p>
            <a:pPr algn="ctr" indent="0" marL="0">
              <a:buNone/>
            </a:pPr>
            <a:r>
              <a:rPr lang="en-US" sz="1000" b="1" spc="100" kern="0" dirty="0">
                <a:solidFill>
                  <a:srgbClr val="0B0E26"/>
                </a:solidFill>
              </a:rPr>
              <a:t>FIRST REVENUE</a:t>
            </a:r>
            <a:endParaRPr lang="en-US" sz="1000" dirty="0"/>
          </a:p>
        </p:txBody>
      </p:sp>
      <p:sp>
        <p:nvSpPr>
          <p:cNvPr id="14" name="primary engine 2"/>
          <p:cNvSpPr/>
          <p:nvPr/>
        </p:nvSpPr>
        <p:spPr>
          <a:xfrm>
            <a:off x="3429000" y="1810512"/>
            <a:ext cx="2743200" cy="3611880"/>
          </a:xfrm>
          <a:prstGeom prst="roundRect">
            <a:avLst>
              <a:gd name="adj" fmla="val 4000"/>
            </a:avLst>
          </a:prstGeom>
          <a:solidFill>
            <a:srgbClr val="FFFFFF"/>
          </a:solidFill>
          <a:ln/>
          <a:effectLst>
            <a:outerShdw sx="100000" sy="100000" kx="0" ky="0" algn="bl" rotWithShape="0" blurRad="127000" dist="38100" dir="5400000">
              <a:srgbClr val="0B0E26">
                <a:alpha val="10000"/>
              </a:srgbClr>
            </a:outerShdw>
          </a:effectLst>
        </p:spPr>
      </p:sp>
      <p:sp>
        <p:nvSpPr>
          <p:cNvPr id="15" name="LuPlug circle"/>
          <p:cNvSpPr/>
          <p:nvPr/>
        </p:nvSpPr>
        <p:spPr>
          <a:xfrm>
            <a:off x="3685032" y="2029968"/>
            <a:ext cx="566928" cy="566928"/>
          </a:xfrm>
          <a:prstGeom prst="ellipse">
            <a:avLst/>
          </a:prstGeom>
          <a:solidFill>
            <a:srgbClr val="4A3699"/>
          </a:solidFill>
          <a:ln/>
        </p:spPr>
      </p:sp>
      <p:pic>
        <p:nvPicPr>
          <p:cNvPr id="16" name="LuPlug icon" descr="preencoded.png">    </p:cNvPr>
          <p:cNvPicPr>
            <a:picLocks noChangeAspect="1"/>
          </p:cNvPicPr>
          <p:nvPr/>
        </p:nvPicPr>
        <p:blipFill>
          <a:blip r:embed="rId2"/>
          <a:stretch>
            <a:fillRect/>
          </a:stretch>
        </p:blipFill>
        <p:spPr>
          <a:xfrm>
            <a:off x="3826764" y="2171700"/>
            <a:ext cx="283464" cy="283464"/>
          </a:xfrm>
          <a:prstGeom prst="rect">
            <a:avLst/>
          </a:prstGeom>
        </p:spPr>
      </p:pic>
      <p:sp>
        <p:nvSpPr>
          <p:cNvPr id="17" name="Text 13"/>
          <p:cNvSpPr txBox="1"/>
          <p:nvPr/>
        </p:nvSpPr>
        <p:spPr>
          <a:xfrm>
            <a:off x="3685032" y="2743200"/>
            <a:ext cx="2286000" cy="566928"/>
          </a:xfrm>
          <a:prstGeom prst="rect">
            <a:avLst/>
          </a:prstGeom>
          <a:noFill/>
          <a:ln/>
        </p:spPr>
        <p:txBody>
          <a:bodyPr wrap="square" lIns="0" tIns="0" rIns="0" bIns="0" rtlCol="0" anchor="t"/>
          <a:lstStyle/>
          <a:p>
            <a:pPr indent="0" marL="0">
              <a:buNone/>
            </a:pPr>
            <a:r>
              <a:rPr lang="en-US" sz="1700" b="1" dirty="0">
                <a:solidFill>
                  <a:srgbClr val="0B0E26"/>
                </a:solidFill>
                <a:latin typeface="Arial" pitchFamily="34" charset="0"/>
                <a:ea typeface="Arial" pitchFamily="34" charset="-122"/>
                <a:cs typeface="Arial" pitchFamily="34" charset="-120"/>
              </a:rPr>
              <a:t>Intelligence API and MCP</a:t>
            </a:r>
            <a:endParaRPr lang="en-US" sz="1700" dirty="0"/>
          </a:p>
        </p:txBody>
      </p:sp>
      <p:sp>
        <p:nvSpPr>
          <p:cNvPr id="18" name="Text 14"/>
          <p:cNvSpPr txBox="1"/>
          <p:nvPr/>
        </p:nvSpPr>
        <p:spPr>
          <a:xfrm>
            <a:off x="3685032" y="3291840"/>
            <a:ext cx="2331720" cy="457200"/>
          </a:xfrm>
          <a:prstGeom prst="rect">
            <a:avLst/>
          </a:prstGeom>
          <a:noFill/>
          <a:ln/>
        </p:spPr>
        <p:txBody>
          <a:bodyPr wrap="square" lIns="0" tIns="0" rIns="0" bIns="0" rtlCol="0" anchor="t"/>
          <a:lstStyle/>
          <a:p>
            <a:pPr indent="0" marL="0">
              <a:buNone/>
            </a:pPr>
            <a:r>
              <a:rPr lang="en-US" sz="1250" b="1" dirty="0">
                <a:solidFill>
                  <a:srgbClr val="4A3699"/>
                </a:solidFill>
              </a:rPr>
              <a:t>Licence, tiered per active user</a:t>
            </a:r>
            <a:endParaRPr lang="en-US" sz="1250" dirty="0"/>
          </a:p>
        </p:txBody>
      </p:sp>
      <p:sp>
        <p:nvSpPr>
          <p:cNvPr id="19" name="Text 15"/>
          <p:cNvSpPr txBox="1"/>
          <p:nvPr/>
        </p:nvSpPr>
        <p:spPr>
          <a:xfrm>
            <a:off x="3685032" y="3767328"/>
            <a:ext cx="2286000" cy="1188720"/>
          </a:xfrm>
          <a:prstGeom prst="rect">
            <a:avLst/>
          </a:prstGeom>
          <a:noFill/>
          <a:ln/>
        </p:spPr>
        <p:txBody>
          <a:bodyPr wrap="square" lIns="0" tIns="0" rIns="0" bIns="0" rtlCol="0" anchor="t"/>
          <a:lstStyle/>
          <a:p>
            <a:pPr indent="0" marL="0">
              <a:buNone/>
            </a:pPr>
            <a:r>
              <a:rPr lang="en-US" sz="1200" dirty="0">
                <a:solidFill>
                  <a:srgbClr val="434B6B"/>
                </a:solidFill>
              </a:rPr>
              <a:t>Brokers, wealth apps and AI agents embed Anvest's grounded answers. Pilot in weeks; first paid partner at month 10.</a:t>
            </a:r>
            <a:endParaRPr lang="en-US" sz="1200" dirty="0"/>
          </a:p>
        </p:txBody>
      </p:sp>
      <p:sp>
        <p:nvSpPr>
          <p:cNvPr id="20" name="chip PILOT-READY"/>
          <p:cNvSpPr/>
          <p:nvPr/>
        </p:nvSpPr>
        <p:spPr>
          <a:xfrm>
            <a:off x="3685032" y="5029200"/>
            <a:ext cx="1056132" cy="256032"/>
          </a:xfrm>
          <a:prstGeom prst="roundRect">
            <a:avLst>
              <a:gd name="adj" fmla="val 50000"/>
            </a:avLst>
          </a:prstGeom>
          <a:solidFill>
            <a:srgbClr val="E4E0F5"/>
          </a:solidFill>
          <a:ln/>
        </p:spPr>
      </p:sp>
      <p:sp>
        <p:nvSpPr>
          <p:cNvPr id="21" name="chip text PILOT-READY"/>
          <p:cNvSpPr txBox="1"/>
          <p:nvPr/>
        </p:nvSpPr>
        <p:spPr>
          <a:xfrm>
            <a:off x="3685032" y="5029200"/>
            <a:ext cx="1056132" cy="256032"/>
          </a:xfrm>
          <a:prstGeom prst="rect">
            <a:avLst/>
          </a:prstGeom>
          <a:noFill/>
          <a:ln/>
        </p:spPr>
        <p:txBody>
          <a:bodyPr wrap="square" lIns="0" tIns="0" rIns="0" bIns="0" rtlCol="0" anchor="ctr"/>
          <a:lstStyle/>
          <a:p>
            <a:pPr algn="ctr" indent="0" marL="0">
              <a:buNone/>
            </a:pPr>
            <a:r>
              <a:rPr lang="en-US" sz="1000" b="1" spc="100" kern="0" dirty="0">
                <a:solidFill>
                  <a:srgbClr val="0B0E26"/>
                </a:solidFill>
              </a:rPr>
              <a:t>PILOT-READY</a:t>
            </a:r>
            <a:endParaRPr lang="en-US" sz="1000" dirty="0"/>
          </a:p>
        </p:txBody>
      </p:sp>
      <p:sp>
        <p:nvSpPr>
          <p:cNvPr id="22" name="later engine 1"/>
          <p:cNvSpPr/>
          <p:nvPr/>
        </p:nvSpPr>
        <p:spPr>
          <a:xfrm>
            <a:off x="6400800" y="1810512"/>
            <a:ext cx="5239512" cy="1737360"/>
          </a:xfrm>
          <a:prstGeom prst="roundRect">
            <a:avLst>
              <a:gd name="adj" fmla="val 6316"/>
            </a:avLst>
          </a:prstGeom>
          <a:solidFill>
            <a:srgbClr val="F4F7FC"/>
          </a:solidFill>
          <a:ln/>
        </p:spPr>
      </p:sp>
      <p:sp>
        <p:nvSpPr>
          <p:cNvPr id="23" name="LuSparkles circle"/>
          <p:cNvSpPr/>
          <p:nvPr/>
        </p:nvSpPr>
        <p:spPr>
          <a:xfrm>
            <a:off x="6629400" y="2039112"/>
            <a:ext cx="475488" cy="475488"/>
          </a:xfrm>
          <a:prstGeom prst="ellipse">
            <a:avLst/>
          </a:prstGeom>
          <a:solidFill>
            <a:srgbClr val="7C88B0"/>
          </a:solidFill>
          <a:ln/>
        </p:spPr>
      </p:sp>
      <p:pic>
        <p:nvPicPr>
          <p:cNvPr id="24" name="LuSparkles icon" descr="preencoded.png">    </p:cNvPr>
          <p:cNvPicPr>
            <a:picLocks noChangeAspect="1"/>
          </p:cNvPicPr>
          <p:nvPr/>
        </p:nvPicPr>
        <p:blipFill>
          <a:blip r:embed="rId3"/>
          <a:stretch>
            <a:fillRect/>
          </a:stretch>
        </p:blipFill>
        <p:spPr>
          <a:xfrm>
            <a:off x="6748272" y="2157984"/>
            <a:ext cx="237744" cy="237744"/>
          </a:xfrm>
          <a:prstGeom prst="rect">
            <a:avLst/>
          </a:prstGeom>
        </p:spPr>
      </p:pic>
      <p:sp>
        <p:nvSpPr>
          <p:cNvPr id="25" name="Text 20"/>
          <p:cNvSpPr txBox="1"/>
          <p:nvPr/>
        </p:nvSpPr>
        <p:spPr>
          <a:xfrm>
            <a:off x="7269480" y="1975104"/>
            <a:ext cx="2834640" cy="310896"/>
          </a:xfrm>
          <a:prstGeom prst="rect">
            <a:avLst/>
          </a:prstGeom>
          <a:noFill/>
          <a:ln/>
        </p:spPr>
        <p:txBody>
          <a:bodyPr wrap="square" lIns="0" tIns="0" rIns="0" bIns="0" rtlCol="0" anchor="t"/>
          <a:lstStyle/>
          <a:p>
            <a:pPr indent="0" marL="0">
              <a:buNone/>
            </a:pPr>
            <a:r>
              <a:rPr lang="en-US" sz="1500" b="1" dirty="0">
                <a:solidFill>
                  <a:srgbClr val="0B0E26"/>
                </a:solidFill>
              </a:rPr>
              <a:t>Anvest Plus and Pro</a:t>
            </a:r>
            <a:endParaRPr lang="en-US" sz="1500" dirty="0"/>
          </a:p>
        </p:txBody>
      </p:sp>
      <p:sp>
        <p:nvSpPr>
          <p:cNvPr id="26" name="chip LAUNCH PRICING"/>
          <p:cNvSpPr/>
          <p:nvPr/>
        </p:nvSpPr>
        <p:spPr>
          <a:xfrm>
            <a:off x="10058400" y="2011680"/>
            <a:ext cx="1371600" cy="256032"/>
          </a:xfrm>
          <a:prstGeom prst="roundRect">
            <a:avLst>
              <a:gd name="adj" fmla="val 50000"/>
            </a:avLst>
          </a:prstGeom>
          <a:solidFill>
            <a:srgbClr val="E4E0F5"/>
          </a:solidFill>
          <a:ln/>
        </p:spPr>
      </p:sp>
      <p:sp>
        <p:nvSpPr>
          <p:cNvPr id="27" name="chip text LAUNCH PRICING"/>
          <p:cNvSpPr txBox="1"/>
          <p:nvPr/>
        </p:nvSpPr>
        <p:spPr>
          <a:xfrm>
            <a:off x="10058400" y="2011680"/>
            <a:ext cx="1371600" cy="256032"/>
          </a:xfrm>
          <a:prstGeom prst="rect">
            <a:avLst/>
          </a:prstGeom>
          <a:noFill/>
          <a:ln/>
        </p:spPr>
        <p:txBody>
          <a:bodyPr wrap="square" lIns="0" tIns="0" rIns="0" bIns="0" rtlCol="0" anchor="ctr"/>
          <a:lstStyle/>
          <a:p>
            <a:pPr algn="ctr" indent="0" marL="0">
              <a:buNone/>
            </a:pPr>
            <a:r>
              <a:rPr lang="en-US" sz="1000" b="1" spc="100" kern="0" dirty="0">
                <a:solidFill>
                  <a:srgbClr val="0B0E26"/>
                </a:solidFill>
              </a:rPr>
              <a:t>LAUNCH PRICING</a:t>
            </a:r>
            <a:endParaRPr lang="en-US" sz="1000" dirty="0"/>
          </a:p>
        </p:txBody>
      </p:sp>
      <p:sp>
        <p:nvSpPr>
          <p:cNvPr id="28" name="Text 23"/>
          <p:cNvSpPr txBox="1"/>
          <p:nvPr/>
        </p:nvSpPr>
        <p:spPr>
          <a:xfrm>
            <a:off x="7269480" y="2313432"/>
            <a:ext cx="4206240" cy="274320"/>
          </a:xfrm>
          <a:prstGeom prst="rect">
            <a:avLst/>
          </a:prstGeom>
          <a:noFill/>
          <a:ln/>
        </p:spPr>
        <p:txBody>
          <a:bodyPr wrap="square" lIns="0" tIns="0" rIns="0" bIns="0" rtlCol="0" anchor="t"/>
          <a:lstStyle/>
          <a:p>
            <a:pPr indent="0" marL="0">
              <a:buNone/>
            </a:pPr>
            <a:r>
              <a:rPr lang="en-US" sz="1200" b="1" dirty="0">
                <a:solidFill>
                  <a:srgbClr val="4A3699"/>
                </a:solidFill>
              </a:rPr>
              <a:t>₹199–₹599 / month (Pro ₹4,999 / year)</a:t>
            </a:r>
            <a:endParaRPr lang="en-US" sz="1200" dirty="0"/>
          </a:p>
        </p:txBody>
      </p:sp>
      <p:sp>
        <p:nvSpPr>
          <p:cNvPr id="29" name="Text 24"/>
          <p:cNvSpPr txBox="1"/>
          <p:nvPr/>
        </p:nvSpPr>
        <p:spPr>
          <a:xfrm>
            <a:off x="7269480" y="2615184"/>
            <a:ext cx="4206240" cy="868680"/>
          </a:xfrm>
          <a:prstGeom prst="rect">
            <a:avLst/>
          </a:prstGeom>
          <a:noFill/>
          <a:ln/>
        </p:spPr>
        <p:txBody>
          <a:bodyPr wrap="square" lIns="0" tIns="0" rIns="0" bIns="0" rtlCol="0" anchor="t"/>
          <a:lstStyle/>
          <a:p>
            <a:pPr indent="0" marL="0">
              <a:buNone/>
            </a:pPr>
            <a:r>
              <a:rPr lang="en-US" sz="1150" dirty="0">
                <a:solidFill>
                  <a:srgbClr val="434B6B"/>
                </a:solidFill>
              </a:rPr>
              <a:t>Self-serve upside from free pages and tools: 150–600 AI questions a month included, plus backtests, alerts and portfolio X-ray.</a:t>
            </a:r>
            <a:endParaRPr lang="en-US" sz="1150" dirty="0"/>
          </a:p>
        </p:txBody>
      </p:sp>
      <p:sp>
        <p:nvSpPr>
          <p:cNvPr id="30" name="later engine 2"/>
          <p:cNvSpPr/>
          <p:nvPr/>
        </p:nvSpPr>
        <p:spPr>
          <a:xfrm>
            <a:off x="6400800" y="3657600"/>
            <a:ext cx="5239512" cy="1737360"/>
          </a:xfrm>
          <a:prstGeom prst="roundRect">
            <a:avLst>
              <a:gd name="adj" fmla="val 6316"/>
            </a:avLst>
          </a:prstGeom>
          <a:solidFill>
            <a:srgbClr val="F4F7FC"/>
          </a:solidFill>
          <a:ln/>
        </p:spPr>
      </p:sp>
      <p:sp>
        <p:nvSpPr>
          <p:cNvPr id="31" name="LuRocket circle"/>
          <p:cNvSpPr/>
          <p:nvPr/>
        </p:nvSpPr>
        <p:spPr>
          <a:xfrm>
            <a:off x="6629400" y="3886200"/>
            <a:ext cx="475488" cy="475488"/>
          </a:xfrm>
          <a:prstGeom prst="ellipse">
            <a:avLst/>
          </a:prstGeom>
          <a:solidFill>
            <a:srgbClr val="F5A623"/>
          </a:solidFill>
          <a:ln/>
        </p:spPr>
      </p:sp>
      <p:pic>
        <p:nvPicPr>
          <p:cNvPr id="32" name="LuRocket icon" descr="preencoded.png">    </p:cNvPr>
          <p:cNvPicPr>
            <a:picLocks noChangeAspect="1"/>
          </p:cNvPicPr>
          <p:nvPr/>
        </p:nvPicPr>
        <p:blipFill>
          <a:blip r:embed="rId4"/>
          <a:stretch>
            <a:fillRect/>
          </a:stretch>
        </p:blipFill>
        <p:spPr>
          <a:xfrm>
            <a:off x="6748272" y="4005072"/>
            <a:ext cx="237744" cy="237744"/>
          </a:xfrm>
          <a:prstGeom prst="rect">
            <a:avLst/>
          </a:prstGeom>
        </p:spPr>
      </p:pic>
      <p:sp>
        <p:nvSpPr>
          <p:cNvPr id="33" name="Text 27"/>
          <p:cNvSpPr txBox="1"/>
          <p:nvPr/>
        </p:nvSpPr>
        <p:spPr>
          <a:xfrm>
            <a:off x="7269480" y="3822192"/>
            <a:ext cx="2834640" cy="310896"/>
          </a:xfrm>
          <a:prstGeom prst="rect">
            <a:avLst/>
          </a:prstGeom>
          <a:noFill/>
          <a:ln/>
        </p:spPr>
        <p:txBody>
          <a:bodyPr wrap="square" lIns="0" tIns="0" rIns="0" bIns="0" rtlCol="0" anchor="t"/>
          <a:lstStyle/>
          <a:p>
            <a:pPr indent="0" marL="0">
              <a:buNone/>
            </a:pPr>
            <a:r>
              <a:rPr lang="en-US" sz="1500" b="1" dirty="0">
                <a:solidFill>
                  <a:srgbClr val="0B0E26"/>
                </a:solidFill>
              </a:rPr>
              <a:t>Strategies, baskets and algo</a:t>
            </a:r>
            <a:endParaRPr lang="en-US" sz="1500" dirty="0"/>
          </a:p>
        </p:txBody>
      </p:sp>
      <p:sp>
        <p:nvSpPr>
          <p:cNvPr id="34" name="chip AFTER APPROVALS"/>
          <p:cNvSpPr/>
          <p:nvPr/>
        </p:nvSpPr>
        <p:spPr>
          <a:xfrm>
            <a:off x="10058400" y="3858768"/>
            <a:ext cx="1371600" cy="256032"/>
          </a:xfrm>
          <a:prstGeom prst="roundRect">
            <a:avLst>
              <a:gd name="adj" fmla="val 50000"/>
            </a:avLst>
          </a:prstGeom>
          <a:solidFill>
            <a:srgbClr val="E4E0F5"/>
          </a:solidFill>
          <a:ln/>
        </p:spPr>
      </p:sp>
      <p:sp>
        <p:nvSpPr>
          <p:cNvPr id="35" name="chip text AFTER APPROVALS"/>
          <p:cNvSpPr txBox="1"/>
          <p:nvPr/>
        </p:nvSpPr>
        <p:spPr>
          <a:xfrm>
            <a:off x="10058400" y="3858768"/>
            <a:ext cx="1371600" cy="256032"/>
          </a:xfrm>
          <a:prstGeom prst="rect">
            <a:avLst/>
          </a:prstGeom>
          <a:noFill/>
          <a:ln/>
        </p:spPr>
        <p:txBody>
          <a:bodyPr wrap="square" lIns="0" tIns="0" rIns="0" bIns="0" rtlCol="0" anchor="ctr"/>
          <a:lstStyle/>
          <a:p>
            <a:pPr algn="ctr" indent="0" marL="0">
              <a:buNone/>
            </a:pPr>
            <a:r>
              <a:rPr lang="en-US" sz="1000" b="1" spc="100" kern="0" dirty="0">
                <a:solidFill>
                  <a:srgbClr val="0B0E26"/>
                </a:solidFill>
              </a:rPr>
              <a:t>AFTER APPROVALS</a:t>
            </a:r>
            <a:endParaRPr lang="en-US" sz="1000" dirty="0"/>
          </a:p>
        </p:txBody>
      </p:sp>
      <p:sp>
        <p:nvSpPr>
          <p:cNvPr id="36" name="Text 30"/>
          <p:cNvSpPr txBox="1"/>
          <p:nvPr/>
        </p:nvSpPr>
        <p:spPr>
          <a:xfrm>
            <a:off x="7269480" y="4160520"/>
            <a:ext cx="4206240" cy="274320"/>
          </a:xfrm>
          <a:prstGeom prst="rect">
            <a:avLst/>
          </a:prstGeom>
          <a:noFill/>
          <a:ln/>
        </p:spPr>
        <p:txBody>
          <a:bodyPr wrap="square" lIns="0" tIns="0" rIns="0" bIns="0" rtlCol="0" anchor="t"/>
          <a:lstStyle/>
          <a:p>
            <a:pPr indent="0" marL="0">
              <a:buNone/>
            </a:pPr>
            <a:r>
              <a:rPr lang="en-US" sz="1200" b="1" dirty="0">
                <a:solidFill>
                  <a:srgbClr val="4A3699"/>
                </a:solidFill>
              </a:rPr>
              <a:t>Subscription + revenue share</a:t>
            </a:r>
            <a:endParaRPr lang="en-US" sz="1200" dirty="0"/>
          </a:p>
        </p:txBody>
      </p:sp>
      <p:sp>
        <p:nvSpPr>
          <p:cNvPr id="37" name="Text 31"/>
          <p:cNvSpPr txBox="1"/>
          <p:nvPr/>
        </p:nvSpPr>
        <p:spPr>
          <a:xfrm>
            <a:off x="7269480" y="4462272"/>
            <a:ext cx="4206240" cy="868680"/>
          </a:xfrm>
          <a:prstGeom prst="rect">
            <a:avLst/>
          </a:prstGeom>
          <a:noFill/>
          <a:ln/>
        </p:spPr>
        <p:txBody>
          <a:bodyPr wrap="square" lIns="0" tIns="0" rIns="0" bIns="0" rtlCol="0" anchor="t"/>
          <a:lstStyle/>
          <a:p>
            <a:pPr indent="0" marL="0">
              <a:buNone/>
            </a:pPr>
            <a:r>
              <a:rPr lang="en-US" sz="1150" dirty="0">
                <a:solidFill>
                  <a:srgbClr val="434B6B"/>
                </a:solidFill>
              </a:rPr>
              <a:t>RA-backed model baskets and exchange-registered strategies through partner brokers, after RA registration and empanelment (post-Series A).</a:t>
            </a:r>
            <a:endParaRPr lang="en-US" sz="1150" dirty="0"/>
          </a:p>
        </p:txBody>
      </p:sp>
      <p:sp>
        <p:nvSpPr>
          <p:cNvPr id="38" name="Text 32"/>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350" b="1" dirty="0">
                <a:solidFill>
                  <a:srgbClr val="0B0E26"/>
                </a:solidFill>
              </a:rPr>
              <a:t>Month-15 revenue mix at $500K: Desk 75%, partners 20%, self-serve 5%. Checkout goes live in the first 90 days.</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GO-TO-MARKET</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Land with professionals. Compound through partners</a:t>
            </a:r>
            <a:endParaRPr lang="en-US" sz="3200" dirty="0"/>
          </a:p>
        </p:txBody>
      </p:sp>
      <p:sp>
        <p:nvSpPr>
          <p:cNvPr id="4" name="channel 1"/>
          <p:cNvSpPr/>
          <p:nvPr/>
        </p:nvSpPr>
        <p:spPr>
          <a:xfrm>
            <a:off x="548640" y="1737360"/>
            <a:ext cx="6675120" cy="896112"/>
          </a:xfrm>
          <a:prstGeom prst="roundRect">
            <a:avLst>
              <a:gd name="adj" fmla="val 12245"/>
            </a:avLst>
          </a:prstGeom>
          <a:solidFill>
            <a:srgbClr val="FFFFFF"/>
          </a:solidFill>
          <a:ln/>
          <a:effectLst>
            <a:outerShdw sx="100000" sy="100000" kx="0" ky="0" algn="bl" rotWithShape="0" blurRad="127000" dist="38100" dir="5400000">
              <a:srgbClr val="0B0E26">
                <a:alpha val="10000"/>
              </a:srgbClr>
            </a:outerShdw>
          </a:effectLst>
        </p:spPr>
      </p:sp>
      <p:sp>
        <p:nvSpPr>
          <p:cNvPr id="5" name="LuBriefcase circle"/>
          <p:cNvSpPr/>
          <p:nvPr/>
        </p:nvSpPr>
        <p:spPr>
          <a:xfrm>
            <a:off x="749808" y="1920240"/>
            <a:ext cx="530352" cy="530352"/>
          </a:xfrm>
          <a:prstGeom prst="ellipse">
            <a:avLst/>
          </a:prstGeom>
          <a:solidFill>
            <a:srgbClr val="4A3699"/>
          </a:solidFill>
          <a:ln/>
        </p:spPr>
      </p:sp>
      <p:pic>
        <p:nvPicPr>
          <p:cNvPr id="6" name="LuBriefcase icon" descr="preencoded.png">    </p:cNvPr>
          <p:cNvPicPr>
            <a:picLocks noChangeAspect="1"/>
          </p:cNvPicPr>
          <p:nvPr/>
        </p:nvPicPr>
        <p:blipFill>
          <a:blip r:embed="rId1"/>
          <a:stretch>
            <a:fillRect/>
          </a:stretch>
        </p:blipFill>
        <p:spPr>
          <a:xfrm>
            <a:off x="882396" y="2052828"/>
            <a:ext cx="265176" cy="265176"/>
          </a:xfrm>
          <a:prstGeom prst="rect">
            <a:avLst/>
          </a:prstGeom>
        </p:spPr>
      </p:pic>
      <p:sp>
        <p:nvSpPr>
          <p:cNvPr id="7" name="Text 4"/>
          <p:cNvSpPr txBox="1"/>
          <p:nvPr/>
        </p:nvSpPr>
        <p:spPr>
          <a:xfrm>
            <a:off x="1463040" y="1810512"/>
            <a:ext cx="5577840" cy="292608"/>
          </a:xfrm>
          <a:prstGeom prst="rect">
            <a:avLst/>
          </a:prstGeom>
          <a:noFill/>
          <a:ln/>
        </p:spPr>
        <p:txBody>
          <a:bodyPr wrap="square" lIns="0" tIns="0" rIns="0" bIns="0" rtlCol="0" anchor="t"/>
          <a:lstStyle/>
          <a:p>
            <a:pPr indent="0" marL="0">
              <a:buNone/>
            </a:pPr>
            <a:r>
              <a:rPr lang="en-US" sz="1500" b="1" dirty="0">
                <a:solidFill>
                  <a:srgbClr val="0B0E26"/>
                </a:solidFill>
              </a:rPr>
              <a:t>Professional seats</a:t>
            </a:r>
            <a:endParaRPr lang="en-US" sz="1500" dirty="0"/>
          </a:p>
        </p:txBody>
      </p:sp>
      <p:sp>
        <p:nvSpPr>
          <p:cNvPr id="8" name="Text 5"/>
          <p:cNvSpPr txBox="1"/>
          <p:nvPr/>
        </p:nvSpPr>
        <p:spPr>
          <a:xfrm>
            <a:off x="1463040" y="2103120"/>
            <a:ext cx="5577840" cy="512064"/>
          </a:xfrm>
          <a:prstGeom prst="rect">
            <a:avLst/>
          </a:prstGeom>
          <a:noFill/>
          <a:ln/>
        </p:spPr>
        <p:txBody>
          <a:bodyPr wrap="square" lIns="0" tIns="0" rIns="0" bIns="0" rtlCol="0" anchor="t"/>
          <a:lstStyle/>
          <a:p>
            <a:pPr indent="0" marL="0">
              <a:buNone/>
            </a:pPr>
            <a:r>
              <a:rPr lang="en-US" sz="1150" dirty="0">
                <a:solidFill>
                  <a:srgbClr val="434B6B"/>
                </a:solidFill>
              </a:rPr>
              <a:t>Founder-led sales to 3,900 SEBI-registered firms, starting with 1–5 seat boutiques, then distribution professionals.</a:t>
            </a:r>
            <a:endParaRPr lang="en-US" sz="1150" dirty="0"/>
          </a:p>
        </p:txBody>
      </p:sp>
      <p:sp>
        <p:nvSpPr>
          <p:cNvPr id="9" name="channel 2"/>
          <p:cNvSpPr/>
          <p:nvPr/>
        </p:nvSpPr>
        <p:spPr>
          <a:xfrm>
            <a:off x="548640" y="2761488"/>
            <a:ext cx="6675120" cy="896112"/>
          </a:xfrm>
          <a:prstGeom prst="roundRect">
            <a:avLst>
              <a:gd name="adj" fmla="val 12245"/>
            </a:avLst>
          </a:prstGeom>
          <a:solidFill>
            <a:srgbClr val="FFFFFF"/>
          </a:solidFill>
          <a:ln/>
          <a:effectLst>
            <a:outerShdw sx="100000" sy="100000" kx="0" ky="0" algn="bl" rotWithShape="0" blurRad="127000" dist="38100" dir="5400000">
              <a:srgbClr val="0B0E26">
                <a:alpha val="10000"/>
              </a:srgbClr>
            </a:outerShdw>
          </a:effectLst>
        </p:spPr>
      </p:sp>
      <p:sp>
        <p:nvSpPr>
          <p:cNvPr id="10" name="LuSearch circle"/>
          <p:cNvSpPr/>
          <p:nvPr/>
        </p:nvSpPr>
        <p:spPr>
          <a:xfrm>
            <a:off x="749808" y="2944368"/>
            <a:ext cx="530352" cy="530352"/>
          </a:xfrm>
          <a:prstGeom prst="ellipse">
            <a:avLst/>
          </a:prstGeom>
          <a:solidFill>
            <a:srgbClr val="4A3699"/>
          </a:solidFill>
          <a:ln/>
        </p:spPr>
      </p:sp>
      <p:pic>
        <p:nvPicPr>
          <p:cNvPr id="11" name="LuSearch icon" descr="preencoded.png">    </p:cNvPr>
          <p:cNvPicPr>
            <a:picLocks noChangeAspect="1"/>
          </p:cNvPicPr>
          <p:nvPr/>
        </p:nvPicPr>
        <p:blipFill>
          <a:blip r:embed="rId2"/>
          <a:stretch>
            <a:fillRect/>
          </a:stretch>
        </p:blipFill>
        <p:spPr>
          <a:xfrm>
            <a:off x="882396" y="3076956"/>
            <a:ext cx="265176" cy="265176"/>
          </a:xfrm>
          <a:prstGeom prst="rect">
            <a:avLst/>
          </a:prstGeom>
        </p:spPr>
      </p:pic>
      <p:sp>
        <p:nvSpPr>
          <p:cNvPr id="12" name="Text 8"/>
          <p:cNvSpPr txBox="1"/>
          <p:nvPr/>
        </p:nvSpPr>
        <p:spPr>
          <a:xfrm>
            <a:off x="1463040" y="2834640"/>
            <a:ext cx="5577840" cy="292608"/>
          </a:xfrm>
          <a:prstGeom prst="rect">
            <a:avLst/>
          </a:prstGeom>
          <a:noFill/>
          <a:ln/>
        </p:spPr>
        <p:txBody>
          <a:bodyPr wrap="square" lIns="0" tIns="0" rIns="0" bIns="0" rtlCol="0" anchor="t"/>
          <a:lstStyle/>
          <a:p>
            <a:pPr indent="0" marL="0">
              <a:buNone/>
            </a:pPr>
            <a:r>
              <a:rPr lang="en-US" sz="1500" b="1" dirty="0">
                <a:solidFill>
                  <a:srgbClr val="0B0E26"/>
                </a:solidFill>
              </a:rPr>
              <a:t>Search built from source data</a:t>
            </a:r>
            <a:endParaRPr lang="en-US" sz="1500" dirty="0"/>
          </a:p>
        </p:txBody>
      </p:sp>
      <p:sp>
        <p:nvSpPr>
          <p:cNvPr id="13" name="Text 9"/>
          <p:cNvSpPr txBox="1"/>
          <p:nvPr/>
        </p:nvSpPr>
        <p:spPr>
          <a:xfrm>
            <a:off x="1463040" y="3127248"/>
            <a:ext cx="5577840" cy="512064"/>
          </a:xfrm>
          <a:prstGeom prst="rect">
            <a:avLst/>
          </a:prstGeom>
          <a:noFill/>
          <a:ln/>
        </p:spPr>
        <p:txBody>
          <a:bodyPr wrap="square" lIns="0" tIns="0" rIns="0" bIns="0" rtlCol="0" anchor="t"/>
          <a:lstStyle/>
          <a:p>
            <a:pPr indent="0" marL="0">
              <a:buNone/>
            </a:pPr>
            <a:r>
              <a:rPr lang="en-US" sz="1150" dirty="0">
                <a:solidFill>
                  <a:srgbClr val="434B6B"/>
                </a:solidFill>
              </a:rPr>
              <a:t>6K+ stock, 991 fund, IPO and bond pages answer long-tail filing queries; the full sitemap ships in the first 90 days.</a:t>
            </a:r>
            <a:endParaRPr lang="en-US" sz="1150" dirty="0"/>
          </a:p>
        </p:txBody>
      </p:sp>
      <p:sp>
        <p:nvSpPr>
          <p:cNvPr id="14" name="channel 3"/>
          <p:cNvSpPr/>
          <p:nvPr/>
        </p:nvSpPr>
        <p:spPr>
          <a:xfrm>
            <a:off x="548640" y="3785616"/>
            <a:ext cx="6675120" cy="896112"/>
          </a:xfrm>
          <a:prstGeom prst="roundRect">
            <a:avLst>
              <a:gd name="adj" fmla="val 12245"/>
            </a:avLst>
          </a:prstGeom>
          <a:solidFill>
            <a:srgbClr val="FFFFFF"/>
          </a:solidFill>
          <a:ln/>
          <a:effectLst>
            <a:outerShdw sx="100000" sy="100000" kx="0" ky="0" algn="bl" rotWithShape="0" blurRad="127000" dist="38100" dir="5400000">
              <a:srgbClr val="0B0E26">
                <a:alpha val="10000"/>
              </a:srgbClr>
            </a:outerShdw>
          </a:effectLst>
        </p:spPr>
      </p:sp>
      <p:sp>
        <p:nvSpPr>
          <p:cNvPr id="15" name="LuPlug circle"/>
          <p:cNvSpPr/>
          <p:nvPr/>
        </p:nvSpPr>
        <p:spPr>
          <a:xfrm>
            <a:off x="749808" y="3968496"/>
            <a:ext cx="530352" cy="530352"/>
          </a:xfrm>
          <a:prstGeom prst="ellipse">
            <a:avLst/>
          </a:prstGeom>
          <a:solidFill>
            <a:srgbClr val="4A3699"/>
          </a:solidFill>
          <a:ln/>
        </p:spPr>
      </p:sp>
      <p:pic>
        <p:nvPicPr>
          <p:cNvPr id="16" name="LuPlug icon" descr="preencoded.png">    </p:cNvPr>
          <p:cNvPicPr>
            <a:picLocks noChangeAspect="1"/>
          </p:cNvPicPr>
          <p:nvPr/>
        </p:nvPicPr>
        <p:blipFill>
          <a:blip r:embed="rId3"/>
          <a:stretch>
            <a:fillRect/>
          </a:stretch>
        </p:blipFill>
        <p:spPr>
          <a:xfrm>
            <a:off x="882396" y="4101084"/>
            <a:ext cx="265176" cy="265176"/>
          </a:xfrm>
          <a:prstGeom prst="rect">
            <a:avLst/>
          </a:prstGeom>
        </p:spPr>
      </p:pic>
      <p:sp>
        <p:nvSpPr>
          <p:cNvPr id="17" name="Text 12"/>
          <p:cNvSpPr txBox="1"/>
          <p:nvPr/>
        </p:nvSpPr>
        <p:spPr>
          <a:xfrm>
            <a:off x="1463040" y="3858768"/>
            <a:ext cx="5577840" cy="292608"/>
          </a:xfrm>
          <a:prstGeom prst="rect">
            <a:avLst/>
          </a:prstGeom>
          <a:noFill/>
          <a:ln/>
        </p:spPr>
        <p:txBody>
          <a:bodyPr wrap="square" lIns="0" tIns="0" rIns="0" bIns="0" rtlCol="0" anchor="t"/>
          <a:lstStyle/>
          <a:p>
            <a:pPr indent="0" marL="0">
              <a:buNone/>
            </a:pPr>
            <a:r>
              <a:rPr lang="en-US" sz="1500" b="1" dirty="0">
                <a:solidFill>
                  <a:srgbClr val="0B0E26"/>
                </a:solidFill>
              </a:rPr>
              <a:t>Partners and AI agents</a:t>
            </a:r>
            <a:endParaRPr lang="en-US" sz="1500" dirty="0"/>
          </a:p>
        </p:txBody>
      </p:sp>
      <p:sp>
        <p:nvSpPr>
          <p:cNvPr id="18" name="Text 13"/>
          <p:cNvSpPr txBox="1"/>
          <p:nvPr/>
        </p:nvSpPr>
        <p:spPr>
          <a:xfrm>
            <a:off x="1463040" y="4151376"/>
            <a:ext cx="5577840" cy="512064"/>
          </a:xfrm>
          <a:prstGeom prst="rect">
            <a:avLst/>
          </a:prstGeom>
          <a:noFill/>
          <a:ln/>
        </p:spPr>
        <p:txBody>
          <a:bodyPr wrap="square" lIns="0" tIns="0" rIns="0" bIns="0" rtlCol="0" anchor="t"/>
          <a:lstStyle/>
          <a:p>
            <a:pPr indent="0" marL="0">
              <a:buNone/>
            </a:pPr>
            <a:r>
              <a:rPr lang="en-US" sz="1150" dirty="0">
                <a:solidFill>
                  <a:srgbClr val="434B6B"/>
                </a:solidFill>
              </a:rPr>
              <a:t>Broker and wealth-app integrations through API and MCP reach investors without paid acquisition.</a:t>
            </a:r>
            <a:endParaRPr lang="en-US" sz="1150" dirty="0"/>
          </a:p>
        </p:txBody>
      </p:sp>
      <p:sp>
        <p:nvSpPr>
          <p:cNvPr id="19" name="channel 4"/>
          <p:cNvSpPr/>
          <p:nvPr/>
        </p:nvSpPr>
        <p:spPr>
          <a:xfrm>
            <a:off x="548640" y="4809744"/>
            <a:ext cx="6675120" cy="896112"/>
          </a:xfrm>
          <a:prstGeom prst="roundRect">
            <a:avLst>
              <a:gd name="adj" fmla="val 12245"/>
            </a:avLst>
          </a:prstGeom>
          <a:solidFill>
            <a:srgbClr val="FFFFFF"/>
          </a:solidFill>
          <a:ln/>
          <a:effectLst>
            <a:outerShdw sx="100000" sy="100000" kx="0" ky="0" algn="bl" rotWithShape="0" blurRad="127000" dist="38100" dir="5400000">
              <a:srgbClr val="0B0E26">
                <a:alpha val="10000"/>
              </a:srgbClr>
            </a:outerShdw>
          </a:effectLst>
        </p:spPr>
      </p:sp>
      <p:sp>
        <p:nvSpPr>
          <p:cNvPr id="20" name="LuShare2 circle"/>
          <p:cNvSpPr/>
          <p:nvPr/>
        </p:nvSpPr>
        <p:spPr>
          <a:xfrm>
            <a:off x="749808" y="4992624"/>
            <a:ext cx="530352" cy="530352"/>
          </a:xfrm>
          <a:prstGeom prst="ellipse">
            <a:avLst/>
          </a:prstGeom>
          <a:solidFill>
            <a:srgbClr val="4A3699"/>
          </a:solidFill>
          <a:ln/>
        </p:spPr>
      </p:sp>
      <p:pic>
        <p:nvPicPr>
          <p:cNvPr id="21" name="LuShare2 icon" descr="preencoded.png">    </p:cNvPr>
          <p:cNvPicPr>
            <a:picLocks noChangeAspect="1"/>
          </p:cNvPicPr>
          <p:nvPr/>
        </p:nvPicPr>
        <p:blipFill>
          <a:blip r:embed="rId4"/>
          <a:stretch>
            <a:fillRect/>
          </a:stretch>
        </p:blipFill>
        <p:spPr>
          <a:xfrm>
            <a:off x="882396" y="5125212"/>
            <a:ext cx="265176" cy="265176"/>
          </a:xfrm>
          <a:prstGeom prst="rect">
            <a:avLst/>
          </a:prstGeom>
        </p:spPr>
      </p:pic>
      <p:sp>
        <p:nvSpPr>
          <p:cNvPr id="22" name="Text 16"/>
          <p:cNvSpPr txBox="1"/>
          <p:nvPr/>
        </p:nvSpPr>
        <p:spPr>
          <a:xfrm>
            <a:off x="1463040" y="4882896"/>
            <a:ext cx="5577840" cy="292608"/>
          </a:xfrm>
          <a:prstGeom prst="rect">
            <a:avLst/>
          </a:prstGeom>
          <a:noFill/>
          <a:ln/>
        </p:spPr>
        <p:txBody>
          <a:bodyPr wrap="square" lIns="0" tIns="0" rIns="0" bIns="0" rtlCol="0" anchor="t"/>
          <a:lstStyle/>
          <a:p>
            <a:pPr indent="0" marL="0">
              <a:buNone/>
            </a:pPr>
            <a:r>
              <a:rPr lang="en-US" sz="1500" b="1" dirty="0">
                <a:solidFill>
                  <a:srgbClr val="0B0E26"/>
                </a:solidFill>
              </a:rPr>
              <a:t>Shareable answers and creators</a:t>
            </a:r>
            <a:endParaRPr lang="en-US" sz="1500" dirty="0"/>
          </a:p>
        </p:txBody>
      </p:sp>
      <p:sp>
        <p:nvSpPr>
          <p:cNvPr id="23" name="Text 17"/>
          <p:cNvSpPr txBox="1"/>
          <p:nvPr/>
        </p:nvSpPr>
        <p:spPr>
          <a:xfrm>
            <a:off x="1463040" y="5175504"/>
            <a:ext cx="5577840" cy="512064"/>
          </a:xfrm>
          <a:prstGeom prst="rect">
            <a:avLst/>
          </a:prstGeom>
          <a:noFill/>
          <a:ln/>
        </p:spPr>
        <p:txBody>
          <a:bodyPr wrap="square" lIns="0" tIns="0" rIns="0" bIns="0" rtlCol="0" anchor="t"/>
          <a:lstStyle/>
          <a:p>
            <a:pPr indent="0" marL="0">
              <a:buNone/>
            </a:pPr>
            <a:r>
              <a:rPr lang="en-US" sz="1150" dirty="0">
                <a:solidFill>
                  <a:srgbClr val="434B6B"/>
                </a:solidFill>
              </a:rPr>
              <a:t>Every cited answer, screen and backtest is a shareable link; education creators join on referral terms within SEBI's rules.</a:t>
            </a:r>
            <a:endParaRPr lang="en-US" sz="1150" dirty="0"/>
          </a:p>
        </p:txBody>
      </p:sp>
      <p:sp>
        <p:nvSpPr>
          <p:cNvPr id="24" name="90-day funnel"/>
          <p:cNvSpPr/>
          <p:nvPr/>
        </p:nvSpPr>
        <p:spPr>
          <a:xfrm>
            <a:off x="7543800" y="1737360"/>
            <a:ext cx="4096512" cy="3968496"/>
          </a:xfrm>
          <a:prstGeom prst="roundRect">
            <a:avLst>
              <a:gd name="adj" fmla="val 2765"/>
            </a:avLst>
          </a:prstGeom>
          <a:solidFill>
            <a:srgbClr val="1E2761"/>
          </a:solidFill>
          <a:ln/>
          <a:effectLst>
            <a:outerShdw sx="100000" sy="100000" kx="0" ky="0" algn="bl" rotWithShape="0" blurRad="127000" dist="38100" dir="5400000">
              <a:srgbClr val="0B0E26">
                <a:alpha val="10000"/>
              </a:srgbClr>
            </a:outerShdw>
          </a:effectLst>
        </p:spPr>
      </p:sp>
      <p:sp>
        <p:nvSpPr>
          <p:cNvPr id="25" name="Text 19"/>
          <p:cNvSpPr txBox="1"/>
          <p:nvPr/>
        </p:nvSpPr>
        <p:spPr>
          <a:xfrm>
            <a:off x="7772400" y="1901952"/>
            <a:ext cx="3657600" cy="274320"/>
          </a:xfrm>
          <a:prstGeom prst="rect">
            <a:avLst/>
          </a:prstGeom>
          <a:noFill/>
          <a:ln/>
        </p:spPr>
        <p:txBody>
          <a:bodyPr wrap="square" lIns="0" tIns="0" rIns="0" bIns="0" rtlCol="0" anchor="t"/>
          <a:lstStyle/>
          <a:p>
            <a:pPr indent="0" marL="0">
              <a:buNone/>
            </a:pPr>
            <a:r>
              <a:rPr lang="en-US" sz="1100" b="1" spc="200" kern="0" dirty="0">
                <a:solidFill>
                  <a:srgbClr val="F5A623"/>
                </a:solidFill>
              </a:rPr>
              <a:t>FIRST 90 DAYS AFTER CLOSE</a:t>
            </a:r>
            <a:endParaRPr lang="en-US" sz="1100" dirty="0"/>
          </a:p>
        </p:txBody>
      </p:sp>
      <p:sp>
        <p:nvSpPr>
          <p:cNvPr id="26" name="funnel step 1"/>
          <p:cNvSpPr/>
          <p:nvPr/>
        </p:nvSpPr>
        <p:spPr>
          <a:xfrm>
            <a:off x="7772400" y="2331720"/>
            <a:ext cx="3566160" cy="640080"/>
          </a:xfrm>
          <a:prstGeom prst="roundRect">
            <a:avLst>
              <a:gd name="adj" fmla="val 14286"/>
            </a:avLst>
          </a:prstGeom>
          <a:solidFill>
            <a:srgbClr val="4A3699"/>
          </a:solidFill>
          <a:ln/>
        </p:spPr>
      </p:sp>
      <p:sp>
        <p:nvSpPr>
          <p:cNvPr id="27" name="Text 21"/>
          <p:cNvSpPr txBox="1"/>
          <p:nvPr/>
        </p:nvSpPr>
        <p:spPr>
          <a:xfrm>
            <a:off x="7772400" y="2331720"/>
            <a:ext cx="3566160" cy="384048"/>
          </a:xfrm>
          <a:prstGeom prst="rect">
            <a:avLst/>
          </a:prstGeom>
          <a:noFill/>
          <a:ln/>
        </p:spPr>
        <p:txBody>
          <a:bodyPr wrap="square" lIns="0" tIns="0" rIns="0" bIns="0" rtlCol="0" anchor="b"/>
          <a:lstStyle/>
          <a:p>
            <a:pPr algn="ctr" indent="0" marL="0">
              <a:buNone/>
            </a:pPr>
            <a:r>
              <a:rPr lang="en-US" sz="2000" b="1" dirty="0">
                <a:solidFill>
                  <a:srgbClr val="FFFFFF"/>
                </a:solidFill>
                <a:latin typeface="Arial" pitchFamily="34" charset="0"/>
                <a:ea typeface="Arial" pitchFamily="34" charset="-122"/>
                <a:cs typeface="Arial" pitchFamily="34" charset="-120"/>
              </a:rPr>
              <a:t>200</a:t>
            </a:r>
            <a:endParaRPr lang="en-US" sz="2000" dirty="0"/>
          </a:p>
        </p:txBody>
      </p:sp>
      <p:sp>
        <p:nvSpPr>
          <p:cNvPr id="28" name="Text 22"/>
          <p:cNvSpPr txBox="1"/>
          <p:nvPr/>
        </p:nvSpPr>
        <p:spPr>
          <a:xfrm>
            <a:off x="7406640" y="2697480"/>
            <a:ext cx="4297680" cy="274320"/>
          </a:xfrm>
          <a:prstGeom prst="rect">
            <a:avLst/>
          </a:prstGeom>
          <a:noFill/>
          <a:ln/>
        </p:spPr>
        <p:txBody>
          <a:bodyPr wrap="square" lIns="0" tIns="0" rIns="0" bIns="0" rtlCol="0" anchor="t"/>
          <a:lstStyle/>
          <a:p>
            <a:pPr algn="ctr" indent="0" marL="0">
              <a:buNone/>
            </a:pPr>
            <a:r>
              <a:rPr lang="en-US" sz="1050" dirty="0">
                <a:solidFill>
                  <a:srgbClr val="C9D3F0"/>
                </a:solidFill>
              </a:rPr>
              <a:t>target RA, IA and PMS firms</a:t>
            </a:r>
            <a:endParaRPr lang="en-US" sz="1050" dirty="0"/>
          </a:p>
        </p:txBody>
      </p:sp>
      <p:sp>
        <p:nvSpPr>
          <p:cNvPr id="29" name="funnel step 2"/>
          <p:cNvSpPr/>
          <p:nvPr/>
        </p:nvSpPr>
        <p:spPr>
          <a:xfrm>
            <a:off x="8229600" y="3118104"/>
            <a:ext cx="2651760" cy="640080"/>
          </a:xfrm>
          <a:prstGeom prst="roundRect">
            <a:avLst>
              <a:gd name="adj" fmla="val 14286"/>
            </a:avLst>
          </a:prstGeom>
          <a:solidFill>
            <a:srgbClr val="6A57C2"/>
          </a:solidFill>
          <a:ln/>
        </p:spPr>
      </p:sp>
      <p:sp>
        <p:nvSpPr>
          <p:cNvPr id="30" name="Text 24"/>
          <p:cNvSpPr txBox="1"/>
          <p:nvPr/>
        </p:nvSpPr>
        <p:spPr>
          <a:xfrm>
            <a:off x="8229600" y="3118104"/>
            <a:ext cx="2651760" cy="384048"/>
          </a:xfrm>
          <a:prstGeom prst="rect">
            <a:avLst/>
          </a:prstGeom>
          <a:noFill/>
          <a:ln/>
        </p:spPr>
        <p:txBody>
          <a:bodyPr wrap="square" lIns="0" tIns="0" rIns="0" bIns="0" rtlCol="0" anchor="b"/>
          <a:lstStyle/>
          <a:p>
            <a:pPr algn="ctr" indent="0" marL="0">
              <a:buNone/>
            </a:pPr>
            <a:r>
              <a:rPr lang="en-US" sz="2000" b="1" dirty="0">
                <a:solidFill>
                  <a:srgbClr val="FFFFFF"/>
                </a:solidFill>
                <a:latin typeface="Arial" pitchFamily="34" charset="0"/>
                <a:ea typeface="Arial" pitchFamily="34" charset="-122"/>
                <a:cs typeface="Arial" pitchFamily="34" charset="-120"/>
              </a:rPr>
              <a:t>40</a:t>
            </a:r>
            <a:endParaRPr lang="en-US" sz="2000" dirty="0"/>
          </a:p>
        </p:txBody>
      </p:sp>
      <p:sp>
        <p:nvSpPr>
          <p:cNvPr id="31" name="Text 25"/>
          <p:cNvSpPr txBox="1"/>
          <p:nvPr/>
        </p:nvSpPr>
        <p:spPr>
          <a:xfrm>
            <a:off x="7863840" y="3483864"/>
            <a:ext cx="3383280" cy="274320"/>
          </a:xfrm>
          <a:prstGeom prst="rect">
            <a:avLst/>
          </a:prstGeom>
          <a:noFill/>
          <a:ln/>
        </p:spPr>
        <p:txBody>
          <a:bodyPr wrap="square" lIns="0" tIns="0" rIns="0" bIns="0" rtlCol="0" anchor="t"/>
          <a:lstStyle/>
          <a:p>
            <a:pPr algn="ctr" indent="0" marL="0">
              <a:buNone/>
            </a:pPr>
            <a:r>
              <a:rPr lang="en-US" sz="1050" dirty="0">
                <a:solidFill>
                  <a:srgbClr val="C9D3F0"/>
                </a:solidFill>
              </a:rPr>
              <a:t>live demos</a:t>
            </a:r>
            <a:endParaRPr lang="en-US" sz="1050" dirty="0"/>
          </a:p>
        </p:txBody>
      </p:sp>
      <p:sp>
        <p:nvSpPr>
          <p:cNvPr id="32" name="funnel step 3"/>
          <p:cNvSpPr/>
          <p:nvPr/>
        </p:nvSpPr>
        <p:spPr>
          <a:xfrm>
            <a:off x="8686800" y="3904488"/>
            <a:ext cx="1737360" cy="640080"/>
          </a:xfrm>
          <a:prstGeom prst="roundRect">
            <a:avLst>
              <a:gd name="adj" fmla="val 14286"/>
            </a:avLst>
          </a:prstGeom>
          <a:solidFill>
            <a:srgbClr val="F5A623"/>
          </a:solidFill>
          <a:ln/>
        </p:spPr>
      </p:sp>
      <p:sp>
        <p:nvSpPr>
          <p:cNvPr id="33" name="Text 27"/>
          <p:cNvSpPr txBox="1"/>
          <p:nvPr/>
        </p:nvSpPr>
        <p:spPr>
          <a:xfrm>
            <a:off x="8686800" y="3904488"/>
            <a:ext cx="1737360" cy="384048"/>
          </a:xfrm>
          <a:prstGeom prst="rect">
            <a:avLst/>
          </a:prstGeom>
          <a:noFill/>
          <a:ln/>
        </p:spPr>
        <p:txBody>
          <a:bodyPr wrap="square" lIns="0" tIns="0" rIns="0" bIns="0" rtlCol="0" anchor="b"/>
          <a:lstStyle/>
          <a:p>
            <a:pPr algn="ctr" indent="0" marL="0">
              <a:buNone/>
            </a:pPr>
            <a:r>
              <a:rPr lang="en-US" sz="2000" b="1" dirty="0">
                <a:solidFill>
                  <a:srgbClr val="0B0E26"/>
                </a:solidFill>
                <a:latin typeface="Arial" pitchFamily="34" charset="0"/>
                <a:ea typeface="Arial" pitchFamily="34" charset="-122"/>
                <a:cs typeface="Arial" pitchFamily="34" charset="-120"/>
              </a:rPr>
              <a:t>10</a:t>
            </a:r>
            <a:endParaRPr lang="en-US" sz="2000" dirty="0"/>
          </a:p>
        </p:txBody>
      </p:sp>
      <p:sp>
        <p:nvSpPr>
          <p:cNvPr id="34" name="Text 28"/>
          <p:cNvSpPr txBox="1"/>
          <p:nvPr/>
        </p:nvSpPr>
        <p:spPr>
          <a:xfrm>
            <a:off x="8321040" y="4270248"/>
            <a:ext cx="2468880" cy="274320"/>
          </a:xfrm>
          <a:prstGeom prst="rect">
            <a:avLst/>
          </a:prstGeom>
          <a:noFill/>
          <a:ln/>
        </p:spPr>
        <p:txBody>
          <a:bodyPr wrap="square" lIns="0" tIns="0" rIns="0" bIns="0" rtlCol="0" anchor="t"/>
          <a:lstStyle/>
          <a:p>
            <a:pPr algn="ctr" indent="0" marL="0">
              <a:buNone/>
            </a:pPr>
            <a:r>
              <a:rPr lang="en-US" sz="1050" dirty="0">
                <a:solidFill>
                  <a:srgbClr val="0B0E26"/>
                </a:solidFill>
              </a:rPr>
              <a:t>paid Desk pilots</a:t>
            </a:r>
            <a:endParaRPr lang="en-US" sz="1050" dirty="0"/>
          </a:p>
        </p:txBody>
      </p:sp>
      <p:sp>
        <p:nvSpPr>
          <p:cNvPr id="35" name="Text 29"/>
          <p:cNvSpPr txBox="1"/>
          <p:nvPr/>
        </p:nvSpPr>
        <p:spPr>
          <a:xfrm>
            <a:off x="7772400" y="4800600"/>
            <a:ext cx="3657600" cy="731520"/>
          </a:xfrm>
          <a:prstGeom prst="rect">
            <a:avLst/>
          </a:prstGeom>
          <a:noFill/>
          <a:ln/>
        </p:spPr>
        <p:txBody>
          <a:bodyPr wrap="square" lIns="0" tIns="0" rIns="0" bIns="0" rtlCol="0" anchor="t"/>
          <a:lstStyle/>
          <a:p>
            <a:pPr indent="0" marL="0">
              <a:buNone/>
            </a:pPr>
            <a:r>
              <a:rPr lang="en-US" sz="1200" dirty="0">
                <a:solidFill>
                  <a:srgbClr val="C9D3F0"/>
                </a:solidFill>
              </a:rPr>
              <a:t>Also: checkout live · full sitemap submitted · first broker MCP pilot</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WHERE THIS GOES</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bg1"/>
                </a:solidFill>
              </a:rPr>
              <a:t>Retail trading is going algorithmic. Anvest is the on-ramp</a:t>
            </a:r>
            <a:endParaRPr lang="en-US" sz="3200" dirty="0"/>
          </a:p>
        </p:txBody>
      </p:sp>
      <p:sp>
        <p:nvSpPr>
          <p:cNvPr id="4" name="Text 2"/>
          <p:cNvSpPr txBox="1"/>
          <p:nvPr/>
        </p:nvSpPr>
        <p:spPr>
          <a:xfrm>
            <a:off x="548640" y="1783080"/>
            <a:ext cx="3931920" cy="621792"/>
          </a:xfrm>
          <a:prstGeom prst="rect">
            <a:avLst/>
          </a:prstGeom>
          <a:noFill/>
          <a:ln/>
        </p:spPr>
        <p:txBody>
          <a:bodyPr wrap="square" lIns="0" tIns="0" rIns="0" bIns="0" rtlCol="0" anchor="b"/>
          <a:lstStyle/>
          <a:p>
            <a:pPr indent="0" marL="0">
              <a:buNone/>
            </a:pPr>
            <a:r>
              <a:rPr lang="en-US" sz="4200" b="1" dirty="0">
                <a:solidFill>
                  <a:srgbClr val="F5A623"/>
                </a:solidFill>
                <a:latin typeface="Arial" pitchFamily="34" charset="0"/>
                <a:ea typeface="Arial" pitchFamily="34" charset="-122"/>
                <a:cs typeface="Arial" pitchFamily="34" charset="-120"/>
              </a:rPr>
              <a:t>54%</a:t>
            </a:r>
            <a:endParaRPr lang="en-US" sz="4200" dirty="0"/>
          </a:p>
        </p:txBody>
      </p:sp>
      <p:sp>
        <p:nvSpPr>
          <p:cNvPr id="5" name="Text 3"/>
          <p:cNvSpPr txBox="1"/>
          <p:nvPr/>
        </p:nvSpPr>
        <p:spPr>
          <a:xfrm>
            <a:off x="548640" y="2423160"/>
            <a:ext cx="3931920" cy="365760"/>
          </a:xfrm>
          <a:prstGeom prst="rect">
            <a:avLst/>
          </a:prstGeom>
          <a:noFill/>
          <a:ln/>
        </p:spPr>
        <p:txBody>
          <a:bodyPr wrap="square" lIns="0" tIns="0" rIns="0" bIns="0" rtlCol="0" anchor="t"/>
          <a:lstStyle/>
          <a:p>
            <a:pPr indent="0" marL="0">
              <a:buNone/>
            </a:pPr>
            <a:r>
              <a:rPr lang="en-US" sz="1350" dirty="0">
                <a:solidFill>
                  <a:srgbClr val="C9D3F0"/>
                </a:solidFill>
              </a:rPr>
              <a:t>of NSE cash-market turnover is algorithmic</a:t>
            </a:r>
            <a:endParaRPr lang="en-US" sz="1350" dirty="0"/>
          </a:p>
        </p:txBody>
      </p:sp>
      <p:sp>
        <p:nvSpPr>
          <p:cNvPr id="6" name="Text 4"/>
          <p:cNvSpPr txBox="1"/>
          <p:nvPr/>
        </p:nvSpPr>
        <p:spPr>
          <a:xfrm>
            <a:off x="548640" y="2926080"/>
            <a:ext cx="3931920" cy="621792"/>
          </a:xfrm>
          <a:prstGeom prst="rect">
            <a:avLst/>
          </a:prstGeom>
          <a:noFill/>
          <a:ln/>
        </p:spPr>
        <p:txBody>
          <a:bodyPr wrap="square" lIns="0" tIns="0" rIns="0" bIns="0" rtlCol="0" anchor="b"/>
          <a:lstStyle/>
          <a:p>
            <a:pPr indent="0" marL="0">
              <a:buNone/>
            </a:pPr>
            <a:r>
              <a:rPr lang="en-US" sz="4200" b="1" dirty="0">
                <a:solidFill>
                  <a:srgbClr val="F5A623"/>
                </a:solidFill>
                <a:latin typeface="Arial" pitchFamily="34" charset="0"/>
                <a:ea typeface="Arial" pitchFamily="34" charset="-122"/>
                <a:cs typeface="Arial" pitchFamily="34" charset="-120"/>
              </a:rPr>
              <a:t>67%</a:t>
            </a:r>
            <a:endParaRPr lang="en-US" sz="4200" dirty="0"/>
          </a:p>
        </p:txBody>
      </p:sp>
      <p:sp>
        <p:nvSpPr>
          <p:cNvPr id="7" name="Text 5"/>
          <p:cNvSpPr txBox="1"/>
          <p:nvPr/>
        </p:nvSpPr>
        <p:spPr>
          <a:xfrm>
            <a:off x="548640" y="3566160"/>
            <a:ext cx="3931920" cy="365760"/>
          </a:xfrm>
          <a:prstGeom prst="rect">
            <a:avLst/>
          </a:prstGeom>
          <a:noFill/>
          <a:ln/>
        </p:spPr>
        <p:txBody>
          <a:bodyPr wrap="square" lIns="0" tIns="0" rIns="0" bIns="0" rtlCol="0" anchor="t"/>
          <a:lstStyle/>
          <a:p>
            <a:pPr indent="0" marL="0">
              <a:buNone/>
            </a:pPr>
            <a:r>
              <a:rPr lang="en-US" sz="1350" dirty="0">
                <a:solidFill>
                  <a:srgbClr val="C9D3F0"/>
                </a:solidFill>
              </a:rPr>
              <a:t>of equity-derivatives turnover (73% in stock futures)</a:t>
            </a:r>
            <a:endParaRPr lang="en-US" sz="1350" dirty="0"/>
          </a:p>
        </p:txBody>
      </p:sp>
      <p:sp>
        <p:nvSpPr>
          <p:cNvPr id="8" name="Text 6"/>
          <p:cNvSpPr txBox="1"/>
          <p:nvPr/>
        </p:nvSpPr>
        <p:spPr>
          <a:xfrm>
            <a:off x="548640" y="4069080"/>
            <a:ext cx="3931920" cy="621792"/>
          </a:xfrm>
          <a:prstGeom prst="rect">
            <a:avLst/>
          </a:prstGeom>
          <a:noFill/>
          <a:ln/>
        </p:spPr>
        <p:txBody>
          <a:bodyPr wrap="square" lIns="0" tIns="0" rIns="0" bIns="0" rtlCol="0" anchor="b"/>
          <a:lstStyle/>
          <a:p>
            <a:pPr indent="0" marL="0">
              <a:buNone/>
            </a:pPr>
            <a:r>
              <a:rPr lang="en-US" sz="3000" b="1" dirty="0">
                <a:solidFill>
                  <a:srgbClr val="F5A623"/>
                </a:solidFill>
                <a:latin typeface="Arial" pitchFamily="34" charset="0"/>
                <a:ea typeface="Arial" pitchFamily="34" charset="-122"/>
                <a:cs typeface="Arial" pitchFamily="34" charset="-120"/>
              </a:rPr>
              <a:t>1 Apr 2026</a:t>
            </a:r>
            <a:endParaRPr lang="en-US" sz="3000" dirty="0"/>
          </a:p>
        </p:txBody>
      </p:sp>
      <p:sp>
        <p:nvSpPr>
          <p:cNvPr id="9" name="Text 7"/>
          <p:cNvSpPr txBox="1"/>
          <p:nvPr/>
        </p:nvSpPr>
        <p:spPr>
          <a:xfrm>
            <a:off x="548640" y="4709160"/>
            <a:ext cx="3931920" cy="365760"/>
          </a:xfrm>
          <a:prstGeom prst="rect">
            <a:avLst/>
          </a:prstGeom>
          <a:noFill/>
          <a:ln/>
        </p:spPr>
        <p:txBody>
          <a:bodyPr wrap="square" lIns="0" tIns="0" rIns="0" bIns="0" rtlCol="0" anchor="t"/>
          <a:lstStyle/>
          <a:p>
            <a:pPr indent="0" marL="0">
              <a:buNone/>
            </a:pPr>
            <a:r>
              <a:rPr lang="en-US" sz="1350" dirty="0">
                <a:solidFill>
                  <a:srgbClr val="C9D3F0"/>
                </a:solidFill>
              </a:rPr>
              <a:t>SEBI's retail algo framework applies to all brokers</a:t>
            </a:r>
            <a:endParaRPr lang="en-US" sz="1350" dirty="0"/>
          </a:p>
        </p:txBody>
      </p:sp>
      <p:sp>
        <p:nvSpPr>
          <p:cNvPr id="10" name="Text 8"/>
          <p:cNvSpPr txBox="1"/>
          <p:nvPr/>
        </p:nvSpPr>
        <p:spPr>
          <a:xfrm>
            <a:off x="548640" y="5120640"/>
            <a:ext cx="4114800" cy="502920"/>
          </a:xfrm>
          <a:prstGeom prst="rect">
            <a:avLst/>
          </a:prstGeom>
          <a:noFill/>
          <a:ln/>
        </p:spPr>
        <p:txBody>
          <a:bodyPr wrap="square" lIns="0" tIns="0" rIns="0" bIns="0" rtlCol="0" anchor="t"/>
          <a:lstStyle/>
          <a:p>
            <a:pPr indent="0" marL="0">
              <a:buNone/>
            </a:pPr>
            <a:r>
              <a:rPr lang="en-US" sz="1200" i="1" dirty="0">
                <a:solidFill>
                  <a:srgbClr val="C9D3F0"/>
                </a:solidFill>
              </a:rPr>
              <a:t>Execution is automated and regulated; pre-trade research and testing is the open space.</a:t>
            </a:r>
            <a:endParaRPr lang="en-US" sz="1200" dirty="0"/>
          </a:p>
        </p:txBody>
      </p:sp>
      <p:sp>
        <p:nvSpPr>
          <p:cNvPr id="11" name="algo step 1"/>
          <p:cNvSpPr/>
          <p:nvPr/>
        </p:nvSpPr>
        <p:spPr>
          <a:xfrm>
            <a:off x="4846320" y="1691640"/>
            <a:ext cx="6793992" cy="640080"/>
          </a:xfrm>
          <a:prstGeom prst="roundRect">
            <a:avLst>
              <a:gd name="adj" fmla="val 17143"/>
            </a:avLst>
          </a:prstGeom>
          <a:solidFill>
            <a:srgbClr val="FFFFFF">
              <a:alpha val="10000"/>
            </a:srgbClr>
          </a:solidFill>
          <a:ln w="9525">
            <a:solidFill>
              <a:srgbClr val="C9D3F0">
                <a:alpha val="25000"/>
              </a:srgbClr>
            </a:solidFill>
            <a:prstDash val="solid"/>
          </a:ln>
        </p:spPr>
      </p:sp>
      <p:sp>
        <p:nvSpPr>
          <p:cNvPr id="12" name="LuMessageSquareText circle"/>
          <p:cNvSpPr/>
          <p:nvPr/>
        </p:nvSpPr>
        <p:spPr>
          <a:xfrm>
            <a:off x="4983480" y="1792224"/>
            <a:ext cx="438912" cy="438912"/>
          </a:xfrm>
          <a:prstGeom prst="ellipse">
            <a:avLst/>
          </a:prstGeom>
          <a:solidFill>
            <a:srgbClr val="4A3699"/>
          </a:solidFill>
          <a:ln/>
        </p:spPr>
      </p:sp>
      <p:pic>
        <p:nvPicPr>
          <p:cNvPr id="13" name="LuMessageSquareText icon" descr="preencoded.png">    </p:cNvPr>
          <p:cNvPicPr>
            <a:picLocks noChangeAspect="1"/>
          </p:cNvPicPr>
          <p:nvPr/>
        </p:nvPicPr>
        <p:blipFill>
          <a:blip r:embed="rId1"/>
          <a:stretch>
            <a:fillRect/>
          </a:stretch>
        </p:blipFill>
        <p:spPr>
          <a:xfrm>
            <a:off x="5093208" y="1901952"/>
            <a:ext cx="219456" cy="219456"/>
          </a:xfrm>
          <a:prstGeom prst="rect">
            <a:avLst/>
          </a:prstGeom>
        </p:spPr>
      </p:pic>
      <p:sp>
        <p:nvSpPr>
          <p:cNvPr id="14" name="Text 11"/>
          <p:cNvSpPr txBox="1"/>
          <p:nvPr/>
        </p:nvSpPr>
        <p:spPr>
          <a:xfrm>
            <a:off x="5577840" y="1691640"/>
            <a:ext cx="1188720" cy="640080"/>
          </a:xfrm>
          <a:prstGeom prst="rect">
            <a:avLst/>
          </a:prstGeom>
          <a:noFill/>
          <a:ln/>
        </p:spPr>
        <p:txBody>
          <a:bodyPr wrap="square" lIns="0" tIns="0" rIns="0" bIns="0" rtlCol="0" anchor="ctr"/>
          <a:lstStyle/>
          <a:p>
            <a:pPr indent="0" marL="0">
              <a:buNone/>
            </a:pPr>
            <a:r>
              <a:rPr lang="en-US" sz="1500" b="1" dirty="0">
                <a:solidFill>
                  <a:srgbClr val="FFFFFF"/>
                </a:solidFill>
              </a:rPr>
              <a:t>Idea</a:t>
            </a:r>
            <a:endParaRPr lang="en-US" sz="1500" dirty="0"/>
          </a:p>
        </p:txBody>
      </p:sp>
      <p:sp>
        <p:nvSpPr>
          <p:cNvPr id="15" name="Text 12"/>
          <p:cNvSpPr txBox="1"/>
          <p:nvPr/>
        </p:nvSpPr>
        <p:spPr>
          <a:xfrm>
            <a:off x="6766560" y="1691640"/>
            <a:ext cx="3931920" cy="640080"/>
          </a:xfrm>
          <a:prstGeom prst="rect">
            <a:avLst/>
          </a:prstGeom>
          <a:noFill/>
          <a:ln/>
        </p:spPr>
        <p:txBody>
          <a:bodyPr wrap="square" lIns="0" tIns="0" rIns="0" bIns="0" rtlCol="0" anchor="ctr"/>
          <a:lstStyle/>
          <a:p>
            <a:pPr indent="0" marL="0">
              <a:buNone/>
            </a:pPr>
            <a:r>
              <a:rPr lang="en-US" sz="1250" dirty="0">
                <a:solidFill>
                  <a:srgbClr val="C9D3F0"/>
                </a:solidFill>
              </a:rPr>
              <a:t>Ask in plain English</a:t>
            </a:r>
            <a:endParaRPr lang="en-US" sz="1250" dirty="0"/>
          </a:p>
        </p:txBody>
      </p:sp>
      <p:sp>
        <p:nvSpPr>
          <p:cNvPr id="16" name="chip LIVE"/>
          <p:cNvSpPr/>
          <p:nvPr/>
        </p:nvSpPr>
        <p:spPr>
          <a:xfrm>
            <a:off x="10789920" y="1883664"/>
            <a:ext cx="685800" cy="256032"/>
          </a:xfrm>
          <a:prstGeom prst="roundRect">
            <a:avLst>
              <a:gd name="adj" fmla="val 50000"/>
            </a:avLst>
          </a:prstGeom>
          <a:solidFill>
            <a:srgbClr val="1FA971"/>
          </a:solidFill>
          <a:ln/>
        </p:spPr>
      </p:sp>
      <p:sp>
        <p:nvSpPr>
          <p:cNvPr id="17" name="chip text LIVE"/>
          <p:cNvSpPr txBox="1"/>
          <p:nvPr/>
        </p:nvSpPr>
        <p:spPr>
          <a:xfrm>
            <a:off x="10789920" y="1883664"/>
            <a:ext cx="68580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LIVE</a:t>
            </a:r>
            <a:endParaRPr lang="en-US" sz="1000" dirty="0"/>
          </a:p>
        </p:txBody>
      </p:sp>
      <p:sp>
        <p:nvSpPr>
          <p:cNvPr id="18" name="algo step 2"/>
          <p:cNvSpPr/>
          <p:nvPr/>
        </p:nvSpPr>
        <p:spPr>
          <a:xfrm>
            <a:off x="4846320" y="2450592"/>
            <a:ext cx="6793992" cy="640080"/>
          </a:xfrm>
          <a:prstGeom prst="roundRect">
            <a:avLst>
              <a:gd name="adj" fmla="val 17143"/>
            </a:avLst>
          </a:prstGeom>
          <a:solidFill>
            <a:srgbClr val="FFFFFF">
              <a:alpha val="10000"/>
            </a:srgbClr>
          </a:solidFill>
          <a:ln w="9525">
            <a:solidFill>
              <a:srgbClr val="C9D3F0">
                <a:alpha val="25000"/>
              </a:srgbClr>
            </a:solidFill>
            <a:prstDash val="solid"/>
          </a:ln>
        </p:spPr>
      </p:sp>
      <p:sp>
        <p:nvSpPr>
          <p:cNvPr id="19" name="LuCode circle"/>
          <p:cNvSpPr/>
          <p:nvPr/>
        </p:nvSpPr>
        <p:spPr>
          <a:xfrm>
            <a:off x="4983480" y="2551176"/>
            <a:ext cx="438912" cy="438912"/>
          </a:xfrm>
          <a:prstGeom prst="ellipse">
            <a:avLst/>
          </a:prstGeom>
          <a:solidFill>
            <a:srgbClr val="4A3699"/>
          </a:solidFill>
          <a:ln/>
        </p:spPr>
      </p:sp>
      <p:pic>
        <p:nvPicPr>
          <p:cNvPr id="20" name="LuCode icon" descr="preencoded.png">    </p:cNvPr>
          <p:cNvPicPr>
            <a:picLocks noChangeAspect="1"/>
          </p:cNvPicPr>
          <p:nvPr/>
        </p:nvPicPr>
        <p:blipFill>
          <a:blip r:embed="rId2"/>
          <a:stretch>
            <a:fillRect/>
          </a:stretch>
        </p:blipFill>
        <p:spPr>
          <a:xfrm>
            <a:off x="5093208" y="2660904"/>
            <a:ext cx="219456" cy="219456"/>
          </a:xfrm>
          <a:prstGeom prst="rect">
            <a:avLst/>
          </a:prstGeom>
        </p:spPr>
      </p:pic>
      <p:sp>
        <p:nvSpPr>
          <p:cNvPr id="21" name="Text 17"/>
          <p:cNvSpPr txBox="1"/>
          <p:nvPr/>
        </p:nvSpPr>
        <p:spPr>
          <a:xfrm>
            <a:off x="5577840" y="2450592"/>
            <a:ext cx="1188720" cy="640080"/>
          </a:xfrm>
          <a:prstGeom prst="rect">
            <a:avLst/>
          </a:prstGeom>
          <a:noFill/>
          <a:ln/>
        </p:spPr>
        <p:txBody>
          <a:bodyPr wrap="square" lIns="0" tIns="0" rIns="0" bIns="0" rtlCol="0" anchor="ctr"/>
          <a:lstStyle/>
          <a:p>
            <a:pPr indent="0" marL="0">
              <a:buNone/>
            </a:pPr>
            <a:r>
              <a:rPr lang="en-US" sz="1500" b="1" dirty="0">
                <a:solidFill>
                  <a:srgbClr val="FFFFFF"/>
                </a:solidFill>
              </a:rPr>
              <a:t>Rules</a:t>
            </a:r>
            <a:endParaRPr lang="en-US" sz="1500" dirty="0"/>
          </a:p>
        </p:txBody>
      </p:sp>
      <p:sp>
        <p:nvSpPr>
          <p:cNvPr id="22" name="Text 18"/>
          <p:cNvSpPr txBox="1"/>
          <p:nvPr/>
        </p:nvSpPr>
        <p:spPr>
          <a:xfrm>
            <a:off x="6766560" y="2450592"/>
            <a:ext cx="3931920" cy="640080"/>
          </a:xfrm>
          <a:prstGeom prst="rect">
            <a:avLst/>
          </a:prstGeom>
          <a:noFill/>
          <a:ln/>
        </p:spPr>
        <p:txBody>
          <a:bodyPr wrap="square" lIns="0" tIns="0" rIns="0" bIns="0" rtlCol="0" anchor="ctr"/>
          <a:lstStyle/>
          <a:p>
            <a:pPr indent="0" marL="0">
              <a:buNone/>
            </a:pPr>
            <a:r>
              <a:rPr lang="en-US" sz="1250" dirty="0">
                <a:solidFill>
                  <a:srgbClr val="C9D3F0"/>
                </a:solidFill>
              </a:rPr>
              <a:t>Transparent rules on fundamentals and technicals (P/E, ROE, RSI, SMA)</a:t>
            </a:r>
            <a:endParaRPr lang="en-US" sz="1250" dirty="0"/>
          </a:p>
        </p:txBody>
      </p:sp>
      <p:sp>
        <p:nvSpPr>
          <p:cNvPr id="23" name="chip LIVE"/>
          <p:cNvSpPr/>
          <p:nvPr/>
        </p:nvSpPr>
        <p:spPr>
          <a:xfrm>
            <a:off x="10789920" y="2642616"/>
            <a:ext cx="685800" cy="256032"/>
          </a:xfrm>
          <a:prstGeom prst="roundRect">
            <a:avLst>
              <a:gd name="adj" fmla="val 50000"/>
            </a:avLst>
          </a:prstGeom>
          <a:solidFill>
            <a:srgbClr val="1FA971"/>
          </a:solidFill>
          <a:ln/>
        </p:spPr>
      </p:sp>
      <p:sp>
        <p:nvSpPr>
          <p:cNvPr id="24" name="chip text LIVE"/>
          <p:cNvSpPr txBox="1"/>
          <p:nvPr/>
        </p:nvSpPr>
        <p:spPr>
          <a:xfrm>
            <a:off x="10789920" y="2642616"/>
            <a:ext cx="68580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LIVE</a:t>
            </a:r>
            <a:endParaRPr lang="en-US" sz="1000" dirty="0"/>
          </a:p>
        </p:txBody>
      </p:sp>
      <p:sp>
        <p:nvSpPr>
          <p:cNvPr id="25" name="algo step 3"/>
          <p:cNvSpPr/>
          <p:nvPr/>
        </p:nvSpPr>
        <p:spPr>
          <a:xfrm>
            <a:off x="4846320" y="3209544"/>
            <a:ext cx="6793992" cy="640080"/>
          </a:xfrm>
          <a:prstGeom prst="roundRect">
            <a:avLst>
              <a:gd name="adj" fmla="val 17143"/>
            </a:avLst>
          </a:prstGeom>
          <a:solidFill>
            <a:srgbClr val="FFFFFF">
              <a:alpha val="10000"/>
            </a:srgbClr>
          </a:solidFill>
          <a:ln w="9525">
            <a:solidFill>
              <a:srgbClr val="C9D3F0">
                <a:alpha val="25000"/>
              </a:srgbClr>
            </a:solidFill>
            <a:prstDash val="solid"/>
          </a:ln>
        </p:spPr>
      </p:sp>
      <p:sp>
        <p:nvSpPr>
          <p:cNvPr id="26" name="LuHistory circle"/>
          <p:cNvSpPr/>
          <p:nvPr/>
        </p:nvSpPr>
        <p:spPr>
          <a:xfrm>
            <a:off x="4983480" y="3310128"/>
            <a:ext cx="438912" cy="438912"/>
          </a:xfrm>
          <a:prstGeom prst="ellipse">
            <a:avLst/>
          </a:prstGeom>
          <a:solidFill>
            <a:srgbClr val="4A3699"/>
          </a:solidFill>
          <a:ln/>
        </p:spPr>
      </p:sp>
      <p:pic>
        <p:nvPicPr>
          <p:cNvPr id="27" name="LuHistory icon" descr="preencoded.png">    </p:cNvPr>
          <p:cNvPicPr>
            <a:picLocks noChangeAspect="1"/>
          </p:cNvPicPr>
          <p:nvPr/>
        </p:nvPicPr>
        <p:blipFill>
          <a:blip r:embed="rId3"/>
          <a:stretch>
            <a:fillRect/>
          </a:stretch>
        </p:blipFill>
        <p:spPr>
          <a:xfrm>
            <a:off x="5093208" y="3419856"/>
            <a:ext cx="219456" cy="219456"/>
          </a:xfrm>
          <a:prstGeom prst="rect">
            <a:avLst/>
          </a:prstGeom>
        </p:spPr>
      </p:pic>
      <p:sp>
        <p:nvSpPr>
          <p:cNvPr id="28" name="Text 23"/>
          <p:cNvSpPr txBox="1"/>
          <p:nvPr/>
        </p:nvSpPr>
        <p:spPr>
          <a:xfrm>
            <a:off x="5577840" y="3209544"/>
            <a:ext cx="1188720" cy="640080"/>
          </a:xfrm>
          <a:prstGeom prst="rect">
            <a:avLst/>
          </a:prstGeom>
          <a:noFill/>
          <a:ln/>
        </p:spPr>
        <p:txBody>
          <a:bodyPr wrap="square" lIns="0" tIns="0" rIns="0" bIns="0" rtlCol="0" anchor="ctr"/>
          <a:lstStyle/>
          <a:p>
            <a:pPr indent="0" marL="0">
              <a:buNone/>
            </a:pPr>
            <a:r>
              <a:rPr lang="en-US" sz="1500" b="1" dirty="0">
                <a:solidFill>
                  <a:srgbClr val="FFFFFF"/>
                </a:solidFill>
              </a:rPr>
              <a:t>Evidence</a:t>
            </a:r>
            <a:endParaRPr lang="en-US" sz="1500" dirty="0"/>
          </a:p>
        </p:txBody>
      </p:sp>
      <p:sp>
        <p:nvSpPr>
          <p:cNvPr id="29" name="Text 24"/>
          <p:cNvSpPr txBox="1"/>
          <p:nvPr/>
        </p:nvSpPr>
        <p:spPr>
          <a:xfrm>
            <a:off x="6766560" y="3209544"/>
            <a:ext cx="3931920" cy="640080"/>
          </a:xfrm>
          <a:prstGeom prst="rect">
            <a:avLst/>
          </a:prstGeom>
          <a:noFill/>
          <a:ln/>
        </p:spPr>
        <p:txBody>
          <a:bodyPr wrap="square" lIns="0" tIns="0" rIns="0" bIns="0" rtlCol="0" anchor="ctr"/>
          <a:lstStyle/>
          <a:p>
            <a:pPr indent="0" marL="0">
              <a:buNone/>
            </a:pPr>
            <a:r>
              <a:rPr lang="en-US" sz="1250" dirty="0">
                <a:solidFill>
                  <a:srgbClr val="C9D3F0"/>
                </a:solidFill>
              </a:rPr>
              <a:t>Costed backtests with periodic rebalancing, not intraday</a:t>
            </a:r>
            <a:endParaRPr lang="en-US" sz="1250" dirty="0"/>
          </a:p>
        </p:txBody>
      </p:sp>
      <p:sp>
        <p:nvSpPr>
          <p:cNvPr id="30" name="chip LIVE"/>
          <p:cNvSpPr/>
          <p:nvPr/>
        </p:nvSpPr>
        <p:spPr>
          <a:xfrm>
            <a:off x="10789920" y="3401568"/>
            <a:ext cx="685800" cy="256032"/>
          </a:xfrm>
          <a:prstGeom prst="roundRect">
            <a:avLst>
              <a:gd name="adj" fmla="val 50000"/>
            </a:avLst>
          </a:prstGeom>
          <a:solidFill>
            <a:srgbClr val="1FA971"/>
          </a:solidFill>
          <a:ln/>
        </p:spPr>
      </p:sp>
      <p:sp>
        <p:nvSpPr>
          <p:cNvPr id="31" name="chip text LIVE"/>
          <p:cNvSpPr txBox="1"/>
          <p:nvPr/>
        </p:nvSpPr>
        <p:spPr>
          <a:xfrm>
            <a:off x="10789920" y="3401568"/>
            <a:ext cx="68580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LIVE</a:t>
            </a:r>
            <a:endParaRPr lang="en-US" sz="1000" dirty="0"/>
          </a:p>
        </p:txBody>
      </p:sp>
      <p:sp>
        <p:nvSpPr>
          <p:cNvPr id="32" name="algo step 4"/>
          <p:cNvSpPr/>
          <p:nvPr/>
        </p:nvSpPr>
        <p:spPr>
          <a:xfrm>
            <a:off x="4846320" y="3968496"/>
            <a:ext cx="6793992" cy="640080"/>
          </a:xfrm>
          <a:prstGeom prst="roundRect">
            <a:avLst>
              <a:gd name="adj" fmla="val 17143"/>
            </a:avLst>
          </a:prstGeom>
          <a:solidFill>
            <a:srgbClr val="FFFFFF">
              <a:alpha val="10000"/>
            </a:srgbClr>
          </a:solidFill>
          <a:ln w="9525">
            <a:solidFill>
              <a:srgbClr val="C9D3F0">
                <a:alpha val="25000"/>
              </a:srgbClr>
            </a:solidFill>
            <a:prstDash val="solid"/>
          </a:ln>
        </p:spPr>
      </p:sp>
      <p:sp>
        <p:nvSpPr>
          <p:cNvPr id="33" name="LuTarget circle"/>
          <p:cNvSpPr/>
          <p:nvPr/>
        </p:nvSpPr>
        <p:spPr>
          <a:xfrm>
            <a:off x="4983480" y="4069080"/>
            <a:ext cx="438912" cy="438912"/>
          </a:xfrm>
          <a:prstGeom prst="ellipse">
            <a:avLst/>
          </a:prstGeom>
          <a:solidFill>
            <a:srgbClr val="4A3699"/>
          </a:solidFill>
          <a:ln/>
        </p:spPr>
      </p:sp>
      <p:pic>
        <p:nvPicPr>
          <p:cNvPr id="34" name="LuTarget icon" descr="preencoded.png">    </p:cNvPr>
          <p:cNvPicPr>
            <a:picLocks noChangeAspect="1"/>
          </p:cNvPicPr>
          <p:nvPr/>
        </p:nvPicPr>
        <p:blipFill>
          <a:blip r:embed="rId4"/>
          <a:stretch>
            <a:fillRect/>
          </a:stretch>
        </p:blipFill>
        <p:spPr>
          <a:xfrm>
            <a:off x="5093208" y="4178808"/>
            <a:ext cx="219456" cy="219456"/>
          </a:xfrm>
          <a:prstGeom prst="rect">
            <a:avLst/>
          </a:prstGeom>
        </p:spPr>
      </p:pic>
      <p:sp>
        <p:nvSpPr>
          <p:cNvPr id="35" name="Text 29"/>
          <p:cNvSpPr txBox="1"/>
          <p:nvPr/>
        </p:nvSpPr>
        <p:spPr>
          <a:xfrm>
            <a:off x="5577840" y="3968496"/>
            <a:ext cx="1188720" cy="640080"/>
          </a:xfrm>
          <a:prstGeom prst="rect">
            <a:avLst/>
          </a:prstGeom>
          <a:noFill/>
          <a:ln/>
        </p:spPr>
        <p:txBody>
          <a:bodyPr wrap="square" lIns="0" tIns="0" rIns="0" bIns="0" rtlCol="0" anchor="ctr"/>
          <a:lstStyle/>
          <a:p>
            <a:pPr indent="0" marL="0">
              <a:buNone/>
            </a:pPr>
            <a:r>
              <a:rPr lang="en-US" sz="1500" b="1" dirty="0">
                <a:solidFill>
                  <a:srgbClr val="FFFFFF"/>
                </a:solidFill>
              </a:rPr>
              <a:t>Practice</a:t>
            </a:r>
            <a:endParaRPr lang="en-US" sz="1500" dirty="0"/>
          </a:p>
        </p:txBody>
      </p:sp>
      <p:sp>
        <p:nvSpPr>
          <p:cNvPr id="36" name="Text 30"/>
          <p:cNvSpPr txBox="1"/>
          <p:nvPr/>
        </p:nvSpPr>
        <p:spPr>
          <a:xfrm>
            <a:off x="6766560" y="3968496"/>
            <a:ext cx="3931920" cy="640080"/>
          </a:xfrm>
          <a:prstGeom prst="rect">
            <a:avLst/>
          </a:prstGeom>
          <a:noFill/>
          <a:ln/>
        </p:spPr>
        <p:txBody>
          <a:bodyPr wrap="square" lIns="0" tIns="0" rIns="0" bIns="0" rtlCol="0" anchor="ctr"/>
          <a:lstStyle/>
          <a:p>
            <a:pPr indent="0" marL="0">
              <a:buNone/>
            </a:pPr>
            <a:r>
              <a:rPr lang="en-US" sz="1250" dirty="0">
                <a:solidFill>
                  <a:srgbClr val="C9D3F0"/>
                </a:solidFill>
              </a:rPr>
              <a:t>Paper-trade with virtual cash</a:t>
            </a:r>
            <a:endParaRPr lang="en-US" sz="1250" dirty="0"/>
          </a:p>
        </p:txBody>
      </p:sp>
      <p:sp>
        <p:nvSpPr>
          <p:cNvPr id="37" name="chip LIVE"/>
          <p:cNvSpPr/>
          <p:nvPr/>
        </p:nvSpPr>
        <p:spPr>
          <a:xfrm>
            <a:off x="10789920" y="4160520"/>
            <a:ext cx="685800" cy="256032"/>
          </a:xfrm>
          <a:prstGeom prst="roundRect">
            <a:avLst>
              <a:gd name="adj" fmla="val 50000"/>
            </a:avLst>
          </a:prstGeom>
          <a:solidFill>
            <a:srgbClr val="1FA971"/>
          </a:solidFill>
          <a:ln/>
        </p:spPr>
      </p:sp>
      <p:sp>
        <p:nvSpPr>
          <p:cNvPr id="38" name="chip text LIVE"/>
          <p:cNvSpPr txBox="1"/>
          <p:nvPr/>
        </p:nvSpPr>
        <p:spPr>
          <a:xfrm>
            <a:off x="10789920" y="4160520"/>
            <a:ext cx="68580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LIVE</a:t>
            </a:r>
            <a:endParaRPr lang="en-US" sz="1000" dirty="0"/>
          </a:p>
        </p:txBody>
      </p:sp>
      <p:sp>
        <p:nvSpPr>
          <p:cNvPr id="39" name="algo step 5"/>
          <p:cNvSpPr/>
          <p:nvPr/>
        </p:nvSpPr>
        <p:spPr>
          <a:xfrm>
            <a:off x="4846320" y="4727448"/>
            <a:ext cx="6793992" cy="640080"/>
          </a:xfrm>
          <a:prstGeom prst="roundRect">
            <a:avLst>
              <a:gd name="adj" fmla="val 17143"/>
            </a:avLst>
          </a:prstGeom>
          <a:solidFill>
            <a:srgbClr val="FFFFFF">
              <a:alpha val="20000"/>
            </a:srgbClr>
          </a:solidFill>
          <a:ln w="9525">
            <a:solidFill>
              <a:srgbClr val="F5A623"/>
            </a:solidFill>
            <a:prstDash val="solid"/>
          </a:ln>
        </p:spPr>
      </p:sp>
      <p:sp>
        <p:nvSpPr>
          <p:cNvPr id="40" name="LuRocket circle"/>
          <p:cNvSpPr/>
          <p:nvPr/>
        </p:nvSpPr>
        <p:spPr>
          <a:xfrm>
            <a:off x="4983480" y="4828032"/>
            <a:ext cx="438912" cy="438912"/>
          </a:xfrm>
          <a:prstGeom prst="ellipse">
            <a:avLst/>
          </a:prstGeom>
          <a:solidFill>
            <a:srgbClr val="F5A623"/>
          </a:solidFill>
          <a:ln/>
        </p:spPr>
      </p:sp>
      <p:pic>
        <p:nvPicPr>
          <p:cNvPr id="41" name="LuRocket icon" descr="preencoded.png">    </p:cNvPr>
          <p:cNvPicPr>
            <a:picLocks noChangeAspect="1"/>
          </p:cNvPicPr>
          <p:nvPr/>
        </p:nvPicPr>
        <p:blipFill>
          <a:blip r:embed="rId5"/>
          <a:stretch>
            <a:fillRect/>
          </a:stretch>
        </p:blipFill>
        <p:spPr>
          <a:xfrm>
            <a:off x="5093208" y="4937760"/>
            <a:ext cx="219456" cy="219456"/>
          </a:xfrm>
          <a:prstGeom prst="rect">
            <a:avLst/>
          </a:prstGeom>
        </p:spPr>
      </p:pic>
      <p:sp>
        <p:nvSpPr>
          <p:cNvPr id="42" name="Text 35"/>
          <p:cNvSpPr txBox="1"/>
          <p:nvPr/>
        </p:nvSpPr>
        <p:spPr>
          <a:xfrm>
            <a:off x="5577840" y="4727448"/>
            <a:ext cx="1188720" cy="640080"/>
          </a:xfrm>
          <a:prstGeom prst="rect">
            <a:avLst/>
          </a:prstGeom>
          <a:noFill/>
          <a:ln/>
        </p:spPr>
        <p:txBody>
          <a:bodyPr wrap="square" lIns="0" tIns="0" rIns="0" bIns="0" rtlCol="0" anchor="ctr"/>
          <a:lstStyle/>
          <a:p>
            <a:pPr indent="0" marL="0">
              <a:buNone/>
            </a:pPr>
            <a:r>
              <a:rPr lang="en-US" sz="1500" b="1" dirty="0">
                <a:solidFill>
                  <a:srgbClr val="FFFFFF"/>
                </a:solidFill>
              </a:rPr>
              <a:t>Live</a:t>
            </a:r>
            <a:endParaRPr lang="en-US" sz="1500" dirty="0"/>
          </a:p>
        </p:txBody>
      </p:sp>
      <p:sp>
        <p:nvSpPr>
          <p:cNvPr id="43" name="Text 36"/>
          <p:cNvSpPr txBox="1"/>
          <p:nvPr/>
        </p:nvSpPr>
        <p:spPr>
          <a:xfrm>
            <a:off x="6766560" y="4727448"/>
            <a:ext cx="3931920" cy="640080"/>
          </a:xfrm>
          <a:prstGeom prst="rect">
            <a:avLst/>
          </a:prstGeom>
          <a:noFill/>
          <a:ln/>
        </p:spPr>
        <p:txBody>
          <a:bodyPr wrap="square" lIns="0" tIns="0" rIns="0" bIns="0" rtlCol="0" anchor="ctr"/>
          <a:lstStyle/>
          <a:p>
            <a:pPr indent="0" marL="0">
              <a:buNone/>
            </a:pPr>
            <a:r>
              <a:rPr lang="en-US" sz="1250" dirty="0">
                <a:solidFill>
                  <a:srgbClr val="C9D3F0"/>
                </a:solidFill>
              </a:rPr>
              <a:t>Deploy through partner brokers after RA registration and empanelment</a:t>
            </a:r>
            <a:endParaRPr lang="en-US" sz="1250" dirty="0"/>
          </a:p>
        </p:txBody>
      </p:sp>
      <p:sp>
        <p:nvSpPr>
          <p:cNvPr id="44" name="chip NEXT"/>
          <p:cNvSpPr/>
          <p:nvPr/>
        </p:nvSpPr>
        <p:spPr>
          <a:xfrm>
            <a:off x="10789920" y="4919472"/>
            <a:ext cx="685800" cy="256032"/>
          </a:xfrm>
          <a:prstGeom prst="roundRect">
            <a:avLst>
              <a:gd name="adj" fmla="val 50000"/>
            </a:avLst>
          </a:prstGeom>
          <a:solidFill>
            <a:srgbClr val="F5A623"/>
          </a:solidFill>
          <a:ln/>
        </p:spPr>
      </p:sp>
      <p:sp>
        <p:nvSpPr>
          <p:cNvPr id="45" name="chip text NEXT"/>
          <p:cNvSpPr txBox="1"/>
          <p:nvPr/>
        </p:nvSpPr>
        <p:spPr>
          <a:xfrm>
            <a:off x="10789920" y="4919472"/>
            <a:ext cx="685800" cy="256032"/>
          </a:xfrm>
          <a:prstGeom prst="rect">
            <a:avLst/>
          </a:prstGeom>
          <a:noFill/>
          <a:ln/>
        </p:spPr>
        <p:txBody>
          <a:bodyPr wrap="square" lIns="0" tIns="0" rIns="0" bIns="0" rtlCol="0" anchor="ctr"/>
          <a:lstStyle/>
          <a:p>
            <a:pPr algn="ctr" indent="0" marL="0">
              <a:buNone/>
            </a:pPr>
            <a:r>
              <a:rPr lang="en-US" sz="1000" b="1" spc="100" kern="0" dirty="0">
                <a:solidFill>
                  <a:srgbClr val="0B0E26"/>
                </a:solidFill>
              </a:rPr>
              <a:t>NEXT</a:t>
            </a:r>
            <a:endParaRPr lang="en-US" sz="1000" dirty="0"/>
          </a:p>
        </p:txBody>
      </p:sp>
      <p:sp>
        <p:nvSpPr>
          <p:cNvPr id="46" name="algo lane band"/>
          <p:cNvSpPr/>
          <p:nvPr/>
        </p:nvSpPr>
        <p:spPr>
          <a:xfrm>
            <a:off x="548640" y="5669280"/>
            <a:ext cx="11094415" cy="621792"/>
          </a:xfrm>
          <a:prstGeom prst="roundRect">
            <a:avLst>
              <a:gd name="adj" fmla="val 17647"/>
            </a:avLst>
          </a:prstGeom>
          <a:solidFill>
            <a:srgbClr val="FFFFFF"/>
          </a:solidFill>
          <a:ln/>
          <a:effectLst>
            <a:outerShdw sx="100000" sy="100000" kx="0" ky="0" algn="bl" rotWithShape="0" blurRad="127000" dist="38100" dir="5400000">
              <a:srgbClr val="0B0E26">
                <a:alpha val="10000"/>
              </a:srgbClr>
            </a:outerShdw>
          </a:effectLst>
        </p:spPr>
      </p:sp>
      <p:sp>
        <p:nvSpPr>
          <p:cNvPr id="47" name="Text 40"/>
          <p:cNvSpPr txBox="1"/>
          <p:nvPr/>
        </p:nvSpPr>
        <p:spPr>
          <a:xfrm>
            <a:off x="822960" y="5669280"/>
            <a:ext cx="10545775" cy="621792"/>
          </a:xfrm>
          <a:prstGeom prst="rect">
            <a:avLst/>
          </a:prstGeom>
          <a:noFill/>
          <a:ln/>
        </p:spPr>
        <p:txBody>
          <a:bodyPr wrap="square" lIns="0" tIns="0" rIns="0" bIns="0" rtlCol="0" anchor="ctr"/>
          <a:lstStyle/>
          <a:p>
            <a:pPr indent="0" marL="0">
              <a:buNone/>
            </a:pPr>
            <a:r>
              <a:rPr lang="en-US" sz="1250" b="1" dirty="0">
                <a:solidFill>
                  <a:srgbClr val="0B0E26"/>
                </a:solidFill>
              </a:rPr>
              <a:t>Anvest's lane: </a:t>
            </a:r>
            <a:pPr indent="0" marL="0">
              <a:buNone/>
            </a:pPr>
            <a:r>
              <a:rPr lang="en-US" sz="1250" dirty="0">
                <a:solidFill>
                  <a:srgbClr val="434B6B"/>
                </a:solidFill>
              </a:rPr>
              <a:t>fundamental and filing-driven rules, rebalanced periodically, built and tested in the open. Exchange algo volumes are mostly intraday and high-frequency; this is the investor-grade layer before them.</a:t>
            </a:r>
            <a:endParaRPr lang="en-US" sz="1250" dirty="0"/>
          </a:p>
        </p:txBody>
      </p:sp>
      <p:sp>
        <p:nvSpPr>
          <p:cNvPr id="48" name="Text 41"/>
          <p:cNvSpPr txBox="1"/>
          <p:nvPr/>
        </p:nvSpPr>
        <p:spPr>
          <a:xfrm>
            <a:off x="548640" y="6419088"/>
            <a:ext cx="8229600" cy="256032"/>
          </a:xfrm>
          <a:prstGeom prst="rect">
            <a:avLst/>
          </a:prstGeom>
          <a:noFill/>
          <a:ln/>
        </p:spPr>
        <p:txBody>
          <a:bodyPr wrap="square" lIns="0" tIns="0" rIns="0" bIns="0" rtlCol="0" anchor="t"/>
          <a:lstStyle/>
          <a:p>
            <a:pPr indent="0" marL="0">
              <a:buNone/>
            </a:pPr>
            <a:r>
              <a:rPr lang="en-US" sz="1000" i="1" dirty="0">
                <a:solidFill>
                  <a:srgbClr val="C9D3F0"/>
                </a:solidFill>
              </a:rPr>
              <a:t>NSE Market Pulse, Dec 2025 (turnover share, FY26 to Nov) · SEBI retail algo circulars, 4 Feb 2025 and 30 Sep 2025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FINANCIAL PLAN</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Default-alive on $500K, Series A path to ~₹23 Cr ARR</a:t>
            </a:r>
            <a:endParaRPr lang="en-US" sz="3200" dirty="0"/>
          </a:p>
        </p:txBody>
      </p:sp>
      <p:sp>
        <p:nvSpPr>
          <p:cNvPr id="4" name="operating model card"/>
          <p:cNvSpPr/>
          <p:nvPr/>
        </p:nvSpPr>
        <p:spPr>
          <a:xfrm>
            <a:off x="7635240" y="1691640"/>
            <a:ext cx="4005072" cy="4370832"/>
          </a:xfrm>
          <a:prstGeom prst="roundRect">
            <a:avLst>
              <a:gd name="adj" fmla="val 2740"/>
            </a:avLst>
          </a:prstGeom>
          <a:solidFill>
            <a:srgbClr val="FFFFFF"/>
          </a:solidFill>
          <a:ln/>
          <a:effectLst>
            <a:outerShdw sx="100000" sy="100000" kx="0" ky="0" algn="bl" rotWithShape="0" blurRad="127000" dist="38100" dir="5400000">
              <a:srgbClr val="0B0E26">
                <a:alpha val="10000"/>
              </a:srgbClr>
            </a:outerShdw>
          </a:effectLst>
        </p:spPr>
      </p:sp>
      <p:sp>
        <p:nvSpPr>
          <p:cNvPr id="5" name="Text 3"/>
          <p:cNvSpPr txBox="1"/>
          <p:nvPr/>
        </p:nvSpPr>
        <p:spPr>
          <a:xfrm>
            <a:off x="7863840" y="1828800"/>
            <a:ext cx="3657600" cy="274320"/>
          </a:xfrm>
          <a:prstGeom prst="rect">
            <a:avLst/>
          </a:prstGeom>
          <a:noFill/>
          <a:ln/>
        </p:spPr>
        <p:txBody>
          <a:bodyPr wrap="square" lIns="0" tIns="0" rIns="0" bIns="0" rtlCol="0" anchor="t"/>
          <a:lstStyle/>
          <a:p>
            <a:pPr indent="0" marL="0">
              <a:buNone/>
            </a:pPr>
            <a:r>
              <a:rPr lang="en-US" sz="1100" b="1" spc="200" kern="0" dirty="0">
                <a:solidFill>
                  <a:srgbClr val="4A3699"/>
                </a:solidFill>
              </a:rPr>
              <a:t>THIS ROUND · MONTH 15</a:t>
            </a:r>
            <a:endParaRPr lang="en-US" sz="1100" dirty="0"/>
          </a:p>
        </p:txBody>
      </p:sp>
      <p:sp>
        <p:nvSpPr>
          <p:cNvPr id="6" name="Text 4"/>
          <p:cNvSpPr txBox="1"/>
          <p:nvPr/>
        </p:nvSpPr>
        <p:spPr>
          <a:xfrm>
            <a:off x="7863840" y="2176272"/>
            <a:ext cx="1325880" cy="329184"/>
          </a:xfrm>
          <a:prstGeom prst="rect">
            <a:avLst/>
          </a:prstGeom>
          <a:noFill/>
          <a:ln/>
        </p:spPr>
        <p:txBody>
          <a:bodyPr wrap="square" lIns="0" tIns="0" rIns="0" bIns="0" rtlCol="0" anchor="ctr"/>
          <a:lstStyle/>
          <a:p>
            <a:pPr indent="0" marL="0">
              <a:buNone/>
            </a:pPr>
            <a:endParaRPr lang="en-US" sz="1050" dirty="0"/>
          </a:p>
        </p:txBody>
      </p:sp>
      <p:sp>
        <p:nvSpPr>
          <p:cNvPr id="7" name="Text 5"/>
          <p:cNvSpPr txBox="1"/>
          <p:nvPr/>
        </p:nvSpPr>
        <p:spPr>
          <a:xfrm>
            <a:off x="9189720" y="2176272"/>
            <a:ext cx="822960" cy="329184"/>
          </a:xfrm>
          <a:prstGeom prst="rect">
            <a:avLst/>
          </a:prstGeom>
          <a:noFill/>
          <a:ln/>
        </p:spPr>
        <p:txBody>
          <a:bodyPr wrap="square" lIns="0" tIns="0" rIns="0" bIns="0" rtlCol="0" anchor="ctr"/>
          <a:lstStyle/>
          <a:p>
            <a:pPr indent="0" marL="0">
              <a:buNone/>
            </a:pPr>
            <a:r>
              <a:rPr lang="en-US" sz="1050" dirty="0">
                <a:solidFill>
                  <a:srgbClr val="7C88B0"/>
                </a:solidFill>
              </a:rPr>
              <a:t>$400K</a:t>
            </a:r>
            <a:endParaRPr lang="en-US" sz="1050" dirty="0"/>
          </a:p>
        </p:txBody>
      </p:sp>
      <p:sp>
        <p:nvSpPr>
          <p:cNvPr id="8" name="Text 6"/>
          <p:cNvSpPr txBox="1"/>
          <p:nvPr/>
        </p:nvSpPr>
        <p:spPr>
          <a:xfrm>
            <a:off x="9994392" y="2176272"/>
            <a:ext cx="822960" cy="329184"/>
          </a:xfrm>
          <a:prstGeom prst="rect">
            <a:avLst/>
          </a:prstGeom>
          <a:noFill/>
          <a:ln/>
        </p:spPr>
        <p:txBody>
          <a:bodyPr wrap="square" lIns="0" tIns="0" rIns="0" bIns="0" rtlCol="0" anchor="ctr"/>
          <a:lstStyle/>
          <a:p>
            <a:pPr indent="0" marL="0">
              <a:buNone/>
            </a:pPr>
            <a:r>
              <a:rPr lang="en-US" sz="1050" dirty="0">
                <a:solidFill>
                  <a:srgbClr val="7C88B0"/>
                </a:solidFill>
              </a:rPr>
              <a:t>$500K</a:t>
            </a:r>
            <a:endParaRPr lang="en-US" sz="1050" dirty="0"/>
          </a:p>
        </p:txBody>
      </p:sp>
      <p:sp>
        <p:nvSpPr>
          <p:cNvPr id="9" name="Text 7"/>
          <p:cNvSpPr txBox="1"/>
          <p:nvPr/>
        </p:nvSpPr>
        <p:spPr>
          <a:xfrm>
            <a:off x="10799064" y="2176272"/>
            <a:ext cx="822960" cy="329184"/>
          </a:xfrm>
          <a:prstGeom prst="rect">
            <a:avLst/>
          </a:prstGeom>
          <a:noFill/>
          <a:ln/>
        </p:spPr>
        <p:txBody>
          <a:bodyPr wrap="square" lIns="0" tIns="0" rIns="0" bIns="0" rtlCol="0" anchor="ctr"/>
          <a:lstStyle/>
          <a:p>
            <a:pPr indent="0" marL="0">
              <a:buNone/>
            </a:pPr>
            <a:r>
              <a:rPr lang="en-US" sz="1050" dirty="0">
                <a:solidFill>
                  <a:srgbClr val="7C88B0"/>
                </a:solidFill>
              </a:rPr>
              <a:t>$700K</a:t>
            </a:r>
            <a:endParaRPr lang="en-US" sz="1050" dirty="0"/>
          </a:p>
        </p:txBody>
      </p:sp>
      <p:sp>
        <p:nvSpPr>
          <p:cNvPr id="10" name="Text 8"/>
          <p:cNvSpPr txBox="1"/>
          <p:nvPr/>
        </p:nvSpPr>
        <p:spPr>
          <a:xfrm>
            <a:off x="7863840" y="2542032"/>
            <a:ext cx="1325880" cy="329184"/>
          </a:xfrm>
          <a:prstGeom prst="rect">
            <a:avLst/>
          </a:prstGeom>
          <a:noFill/>
          <a:ln/>
        </p:spPr>
        <p:txBody>
          <a:bodyPr wrap="square" lIns="0" tIns="0" rIns="0" bIns="0" rtlCol="0" anchor="ctr"/>
          <a:lstStyle/>
          <a:p>
            <a:pPr indent="0" marL="0">
              <a:buNone/>
            </a:pPr>
            <a:r>
              <a:rPr lang="en-US" sz="1150" dirty="0">
                <a:solidFill>
                  <a:srgbClr val="434B6B"/>
                </a:solidFill>
              </a:rPr>
              <a:t>ARR run-rate</a:t>
            </a:r>
            <a:endParaRPr lang="en-US" sz="1150" dirty="0"/>
          </a:p>
        </p:txBody>
      </p:sp>
      <p:sp>
        <p:nvSpPr>
          <p:cNvPr id="11" name="Text 9"/>
          <p:cNvSpPr txBox="1"/>
          <p:nvPr/>
        </p:nvSpPr>
        <p:spPr>
          <a:xfrm>
            <a:off x="9189720" y="2542032"/>
            <a:ext cx="822960" cy="329184"/>
          </a:xfrm>
          <a:prstGeom prst="rect">
            <a:avLst/>
          </a:prstGeom>
          <a:noFill/>
          <a:ln/>
        </p:spPr>
        <p:txBody>
          <a:bodyPr wrap="square" lIns="0" tIns="0" rIns="0" bIns="0" rtlCol="0" anchor="ctr"/>
          <a:lstStyle/>
          <a:p>
            <a:pPr indent="0" marL="0">
              <a:buNone/>
            </a:pPr>
            <a:r>
              <a:rPr lang="en-US" sz="1150" b="1" dirty="0">
                <a:solidFill>
                  <a:srgbClr val="0B0E26"/>
                </a:solidFill>
              </a:rPr>
              <a:t>₹68 L</a:t>
            </a:r>
            <a:endParaRPr lang="en-US" sz="1150" dirty="0"/>
          </a:p>
        </p:txBody>
      </p:sp>
      <p:sp>
        <p:nvSpPr>
          <p:cNvPr id="12" name="Text 10"/>
          <p:cNvSpPr txBox="1"/>
          <p:nvPr/>
        </p:nvSpPr>
        <p:spPr>
          <a:xfrm>
            <a:off x="9994392" y="2542032"/>
            <a:ext cx="822960" cy="329184"/>
          </a:xfrm>
          <a:prstGeom prst="rect">
            <a:avLst/>
          </a:prstGeom>
          <a:noFill/>
          <a:ln/>
        </p:spPr>
        <p:txBody>
          <a:bodyPr wrap="square" lIns="0" tIns="0" rIns="0" bIns="0" rtlCol="0" anchor="ctr"/>
          <a:lstStyle/>
          <a:p>
            <a:pPr indent="0" marL="0">
              <a:buNone/>
            </a:pPr>
            <a:r>
              <a:rPr lang="en-US" sz="1150" b="1" dirty="0">
                <a:solidFill>
                  <a:srgbClr val="4A3699"/>
                </a:solidFill>
              </a:rPr>
              <a:t>₹87 L</a:t>
            </a:r>
            <a:endParaRPr lang="en-US" sz="1150" dirty="0"/>
          </a:p>
        </p:txBody>
      </p:sp>
      <p:sp>
        <p:nvSpPr>
          <p:cNvPr id="13" name="Text 11"/>
          <p:cNvSpPr txBox="1"/>
          <p:nvPr/>
        </p:nvSpPr>
        <p:spPr>
          <a:xfrm>
            <a:off x="10799064" y="2542032"/>
            <a:ext cx="822960" cy="329184"/>
          </a:xfrm>
          <a:prstGeom prst="rect">
            <a:avLst/>
          </a:prstGeom>
          <a:noFill/>
          <a:ln/>
        </p:spPr>
        <p:txBody>
          <a:bodyPr wrap="square" lIns="0" tIns="0" rIns="0" bIns="0" rtlCol="0" anchor="ctr"/>
          <a:lstStyle/>
          <a:p>
            <a:pPr indent="0" marL="0">
              <a:buNone/>
            </a:pPr>
            <a:r>
              <a:rPr lang="en-US" sz="1150" b="1" dirty="0">
                <a:solidFill>
                  <a:srgbClr val="0B0E26"/>
                </a:solidFill>
              </a:rPr>
              <a:t>₹1.06 Cr</a:t>
            </a:r>
            <a:endParaRPr lang="en-US" sz="1150" dirty="0"/>
          </a:p>
        </p:txBody>
      </p:sp>
      <p:sp>
        <p:nvSpPr>
          <p:cNvPr id="14" name="Text 12"/>
          <p:cNvSpPr txBox="1"/>
          <p:nvPr/>
        </p:nvSpPr>
        <p:spPr>
          <a:xfrm>
            <a:off x="7863840" y="2907792"/>
            <a:ext cx="1325880" cy="329184"/>
          </a:xfrm>
          <a:prstGeom prst="rect">
            <a:avLst/>
          </a:prstGeom>
          <a:noFill/>
          <a:ln/>
        </p:spPr>
        <p:txBody>
          <a:bodyPr wrap="square" lIns="0" tIns="0" rIns="0" bIns="0" rtlCol="0" anchor="ctr"/>
          <a:lstStyle/>
          <a:p>
            <a:pPr indent="0" marL="0">
              <a:buNone/>
            </a:pPr>
            <a:r>
              <a:rPr lang="en-US" sz="1150" dirty="0">
                <a:solidFill>
                  <a:srgbClr val="434B6B"/>
                </a:solidFill>
              </a:rPr>
              <a:t>Desk teams</a:t>
            </a:r>
            <a:endParaRPr lang="en-US" sz="1150" dirty="0"/>
          </a:p>
        </p:txBody>
      </p:sp>
      <p:sp>
        <p:nvSpPr>
          <p:cNvPr id="15" name="Text 13"/>
          <p:cNvSpPr txBox="1"/>
          <p:nvPr/>
        </p:nvSpPr>
        <p:spPr>
          <a:xfrm>
            <a:off x="9189720" y="2907792"/>
            <a:ext cx="822960" cy="329184"/>
          </a:xfrm>
          <a:prstGeom prst="rect">
            <a:avLst/>
          </a:prstGeom>
          <a:noFill/>
          <a:ln/>
        </p:spPr>
        <p:txBody>
          <a:bodyPr wrap="square" lIns="0" tIns="0" rIns="0" bIns="0" rtlCol="0" anchor="ctr"/>
          <a:lstStyle/>
          <a:p>
            <a:pPr indent="0" marL="0">
              <a:buNone/>
            </a:pPr>
            <a:r>
              <a:rPr lang="en-US" sz="1150" b="1" dirty="0">
                <a:solidFill>
                  <a:srgbClr val="0B0E26"/>
                </a:solidFill>
              </a:rPr>
              <a:t>55</a:t>
            </a:r>
            <a:endParaRPr lang="en-US" sz="1150" dirty="0"/>
          </a:p>
        </p:txBody>
      </p:sp>
      <p:sp>
        <p:nvSpPr>
          <p:cNvPr id="16" name="Text 14"/>
          <p:cNvSpPr txBox="1"/>
          <p:nvPr/>
        </p:nvSpPr>
        <p:spPr>
          <a:xfrm>
            <a:off x="9994392" y="2907792"/>
            <a:ext cx="822960" cy="329184"/>
          </a:xfrm>
          <a:prstGeom prst="rect">
            <a:avLst/>
          </a:prstGeom>
          <a:noFill/>
          <a:ln/>
        </p:spPr>
        <p:txBody>
          <a:bodyPr wrap="square" lIns="0" tIns="0" rIns="0" bIns="0" rtlCol="0" anchor="ctr"/>
          <a:lstStyle/>
          <a:p>
            <a:pPr indent="0" marL="0">
              <a:buNone/>
            </a:pPr>
            <a:r>
              <a:rPr lang="en-US" sz="1150" b="1" dirty="0">
                <a:solidFill>
                  <a:srgbClr val="4A3699"/>
                </a:solidFill>
              </a:rPr>
              <a:t>77</a:t>
            </a:r>
            <a:endParaRPr lang="en-US" sz="1150" dirty="0"/>
          </a:p>
        </p:txBody>
      </p:sp>
      <p:sp>
        <p:nvSpPr>
          <p:cNvPr id="17" name="Text 15"/>
          <p:cNvSpPr txBox="1"/>
          <p:nvPr/>
        </p:nvSpPr>
        <p:spPr>
          <a:xfrm>
            <a:off x="10799064" y="2907792"/>
            <a:ext cx="822960" cy="329184"/>
          </a:xfrm>
          <a:prstGeom prst="rect">
            <a:avLst/>
          </a:prstGeom>
          <a:noFill/>
          <a:ln/>
        </p:spPr>
        <p:txBody>
          <a:bodyPr wrap="square" lIns="0" tIns="0" rIns="0" bIns="0" rtlCol="0" anchor="ctr"/>
          <a:lstStyle/>
          <a:p>
            <a:pPr indent="0" marL="0">
              <a:buNone/>
            </a:pPr>
            <a:r>
              <a:rPr lang="en-US" sz="1150" b="1" dirty="0">
                <a:solidFill>
                  <a:srgbClr val="0B0E26"/>
                </a:solidFill>
              </a:rPr>
              <a:t>88</a:t>
            </a:r>
            <a:endParaRPr lang="en-US" sz="1150" dirty="0"/>
          </a:p>
        </p:txBody>
      </p:sp>
      <p:sp>
        <p:nvSpPr>
          <p:cNvPr id="18" name="Text 16"/>
          <p:cNvSpPr txBox="1"/>
          <p:nvPr/>
        </p:nvSpPr>
        <p:spPr>
          <a:xfrm>
            <a:off x="7863840" y="3273552"/>
            <a:ext cx="1325880" cy="329184"/>
          </a:xfrm>
          <a:prstGeom prst="rect">
            <a:avLst/>
          </a:prstGeom>
          <a:noFill/>
          <a:ln/>
        </p:spPr>
        <p:txBody>
          <a:bodyPr wrap="square" lIns="0" tIns="0" rIns="0" bIns="0" rtlCol="0" anchor="ctr"/>
          <a:lstStyle/>
          <a:p>
            <a:pPr indent="0" marL="0">
              <a:buNone/>
            </a:pPr>
            <a:r>
              <a:rPr lang="en-US" sz="1150" dirty="0">
                <a:solidFill>
                  <a:srgbClr val="434B6B"/>
                </a:solidFill>
              </a:rPr>
              <a:t>Paying partners</a:t>
            </a:r>
            <a:endParaRPr lang="en-US" sz="1150" dirty="0"/>
          </a:p>
        </p:txBody>
      </p:sp>
      <p:sp>
        <p:nvSpPr>
          <p:cNvPr id="19" name="Text 17"/>
          <p:cNvSpPr txBox="1"/>
          <p:nvPr/>
        </p:nvSpPr>
        <p:spPr>
          <a:xfrm>
            <a:off x="9189720" y="3273552"/>
            <a:ext cx="822960" cy="329184"/>
          </a:xfrm>
          <a:prstGeom prst="rect">
            <a:avLst/>
          </a:prstGeom>
          <a:noFill/>
          <a:ln/>
        </p:spPr>
        <p:txBody>
          <a:bodyPr wrap="square" lIns="0" tIns="0" rIns="0" bIns="0" rtlCol="0" anchor="ctr"/>
          <a:lstStyle/>
          <a:p>
            <a:pPr indent="0" marL="0">
              <a:buNone/>
            </a:pPr>
            <a:r>
              <a:rPr lang="en-US" sz="1150" b="1" dirty="0">
                <a:solidFill>
                  <a:srgbClr val="0B0E26"/>
                </a:solidFill>
              </a:rPr>
              <a:t>2</a:t>
            </a:r>
            <a:endParaRPr lang="en-US" sz="1150" dirty="0"/>
          </a:p>
        </p:txBody>
      </p:sp>
      <p:sp>
        <p:nvSpPr>
          <p:cNvPr id="20" name="Text 18"/>
          <p:cNvSpPr txBox="1"/>
          <p:nvPr/>
        </p:nvSpPr>
        <p:spPr>
          <a:xfrm>
            <a:off x="9994392" y="3273552"/>
            <a:ext cx="822960" cy="329184"/>
          </a:xfrm>
          <a:prstGeom prst="rect">
            <a:avLst/>
          </a:prstGeom>
          <a:noFill/>
          <a:ln/>
        </p:spPr>
        <p:txBody>
          <a:bodyPr wrap="square" lIns="0" tIns="0" rIns="0" bIns="0" rtlCol="0" anchor="ctr"/>
          <a:lstStyle/>
          <a:p>
            <a:pPr indent="0" marL="0">
              <a:buNone/>
            </a:pPr>
            <a:r>
              <a:rPr lang="en-US" sz="1150" b="1" dirty="0">
                <a:solidFill>
                  <a:srgbClr val="4A3699"/>
                </a:solidFill>
              </a:rPr>
              <a:t>2</a:t>
            </a:r>
            <a:endParaRPr lang="en-US" sz="1150" dirty="0"/>
          </a:p>
        </p:txBody>
      </p:sp>
      <p:sp>
        <p:nvSpPr>
          <p:cNvPr id="21" name="Text 19"/>
          <p:cNvSpPr txBox="1"/>
          <p:nvPr/>
        </p:nvSpPr>
        <p:spPr>
          <a:xfrm>
            <a:off x="10799064" y="3273552"/>
            <a:ext cx="822960" cy="329184"/>
          </a:xfrm>
          <a:prstGeom prst="rect">
            <a:avLst/>
          </a:prstGeom>
          <a:noFill/>
          <a:ln/>
        </p:spPr>
        <p:txBody>
          <a:bodyPr wrap="square" lIns="0" tIns="0" rIns="0" bIns="0" rtlCol="0" anchor="ctr"/>
          <a:lstStyle/>
          <a:p>
            <a:pPr indent="0" marL="0">
              <a:buNone/>
            </a:pPr>
            <a:r>
              <a:rPr lang="en-US" sz="1150" b="1" dirty="0">
                <a:solidFill>
                  <a:srgbClr val="0B0E26"/>
                </a:solidFill>
              </a:rPr>
              <a:t>3</a:t>
            </a:r>
            <a:endParaRPr lang="en-US" sz="1150" dirty="0"/>
          </a:p>
        </p:txBody>
      </p:sp>
      <p:sp>
        <p:nvSpPr>
          <p:cNvPr id="22" name="Text 20"/>
          <p:cNvSpPr txBox="1"/>
          <p:nvPr/>
        </p:nvSpPr>
        <p:spPr>
          <a:xfrm>
            <a:off x="7863840" y="3639312"/>
            <a:ext cx="1325880" cy="329184"/>
          </a:xfrm>
          <a:prstGeom prst="rect">
            <a:avLst/>
          </a:prstGeom>
          <a:noFill/>
          <a:ln/>
        </p:spPr>
        <p:txBody>
          <a:bodyPr wrap="square" lIns="0" tIns="0" rIns="0" bIns="0" rtlCol="0" anchor="ctr"/>
          <a:lstStyle/>
          <a:p>
            <a:pPr indent="0" marL="0">
              <a:buNone/>
            </a:pPr>
            <a:r>
              <a:rPr lang="en-US" sz="1150" dirty="0">
                <a:solidFill>
                  <a:srgbClr val="434B6B"/>
                </a:solidFill>
              </a:rPr>
              <a:t>Net burn / month</a:t>
            </a:r>
            <a:endParaRPr lang="en-US" sz="1150" dirty="0"/>
          </a:p>
        </p:txBody>
      </p:sp>
      <p:sp>
        <p:nvSpPr>
          <p:cNvPr id="23" name="Text 21"/>
          <p:cNvSpPr txBox="1"/>
          <p:nvPr/>
        </p:nvSpPr>
        <p:spPr>
          <a:xfrm>
            <a:off x="9189720" y="3639312"/>
            <a:ext cx="822960" cy="329184"/>
          </a:xfrm>
          <a:prstGeom prst="rect">
            <a:avLst/>
          </a:prstGeom>
          <a:noFill/>
          <a:ln/>
        </p:spPr>
        <p:txBody>
          <a:bodyPr wrap="square" lIns="0" tIns="0" rIns="0" bIns="0" rtlCol="0" anchor="ctr"/>
          <a:lstStyle/>
          <a:p>
            <a:pPr indent="0" marL="0">
              <a:buNone/>
            </a:pPr>
            <a:r>
              <a:rPr lang="en-US" sz="1150" b="1" dirty="0">
                <a:solidFill>
                  <a:srgbClr val="0B0E26"/>
                </a:solidFill>
              </a:rPr>
              <a:t>₹13.9 L</a:t>
            </a:r>
            <a:endParaRPr lang="en-US" sz="1150" dirty="0"/>
          </a:p>
        </p:txBody>
      </p:sp>
      <p:sp>
        <p:nvSpPr>
          <p:cNvPr id="24" name="Text 22"/>
          <p:cNvSpPr txBox="1"/>
          <p:nvPr/>
        </p:nvSpPr>
        <p:spPr>
          <a:xfrm>
            <a:off x="9994392" y="3639312"/>
            <a:ext cx="822960" cy="329184"/>
          </a:xfrm>
          <a:prstGeom prst="rect">
            <a:avLst/>
          </a:prstGeom>
          <a:noFill/>
          <a:ln/>
        </p:spPr>
        <p:txBody>
          <a:bodyPr wrap="square" lIns="0" tIns="0" rIns="0" bIns="0" rtlCol="0" anchor="ctr"/>
          <a:lstStyle/>
          <a:p>
            <a:pPr indent="0" marL="0">
              <a:buNone/>
            </a:pPr>
            <a:r>
              <a:rPr lang="en-US" sz="1150" b="1" dirty="0">
                <a:solidFill>
                  <a:srgbClr val="4A3699"/>
                </a:solidFill>
              </a:rPr>
              <a:t>₹15.4 L</a:t>
            </a:r>
            <a:endParaRPr lang="en-US" sz="1150" dirty="0"/>
          </a:p>
        </p:txBody>
      </p:sp>
      <p:sp>
        <p:nvSpPr>
          <p:cNvPr id="25" name="Text 23"/>
          <p:cNvSpPr txBox="1"/>
          <p:nvPr/>
        </p:nvSpPr>
        <p:spPr>
          <a:xfrm>
            <a:off x="10799064" y="3639312"/>
            <a:ext cx="822960" cy="329184"/>
          </a:xfrm>
          <a:prstGeom prst="rect">
            <a:avLst/>
          </a:prstGeom>
          <a:noFill/>
          <a:ln/>
        </p:spPr>
        <p:txBody>
          <a:bodyPr wrap="square" lIns="0" tIns="0" rIns="0" bIns="0" rtlCol="0" anchor="ctr"/>
          <a:lstStyle/>
          <a:p>
            <a:pPr indent="0" marL="0">
              <a:buNone/>
            </a:pPr>
            <a:r>
              <a:rPr lang="en-US" sz="1150" b="1" dirty="0">
                <a:solidFill>
                  <a:srgbClr val="0B0E26"/>
                </a:solidFill>
              </a:rPr>
              <a:t>₹15.6 L</a:t>
            </a:r>
            <a:endParaRPr lang="en-US" sz="1150" dirty="0"/>
          </a:p>
        </p:txBody>
      </p:sp>
      <p:sp>
        <p:nvSpPr>
          <p:cNvPr id="26" name="Text 24"/>
          <p:cNvSpPr txBox="1"/>
          <p:nvPr/>
        </p:nvSpPr>
        <p:spPr>
          <a:xfrm>
            <a:off x="7863840" y="4005072"/>
            <a:ext cx="1325880" cy="329184"/>
          </a:xfrm>
          <a:prstGeom prst="rect">
            <a:avLst/>
          </a:prstGeom>
          <a:noFill/>
          <a:ln/>
        </p:spPr>
        <p:txBody>
          <a:bodyPr wrap="square" lIns="0" tIns="0" rIns="0" bIns="0" rtlCol="0" anchor="ctr"/>
          <a:lstStyle/>
          <a:p>
            <a:pPr indent="0" marL="0">
              <a:buNone/>
            </a:pPr>
            <a:r>
              <a:rPr lang="en-US" sz="1150" dirty="0">
                <a:solidFill>
                  <a:srgbClr val="434B6B"/>
                </a:solidFill>
              </a:rPr>
              <a:t>Break-even month</a:t>
            </a:r>
            <a:endParaRPr lang="en-US" sz="1150" dirty="0"/>
          </a:p>
        </p:txBody>
      </p:sp>
      <p:sp>
        <p:nvSpPr>
          <p:cNvPr id="27" name="Text 25"/>
          <p:cNvSpPr txBox="1"/>
          <p:nvPr/>
        </p:nvSpPr>
        <p:spPr>
          <a:xfrm>
            <a:off x="9189720" y="4005072"/>
            <a:ext cx="822960" cy="329184"/>
          </a:xfrm>
          <a:prstGeom prst="rect">
            <a:avLst/>
          </a:prstGeom>
          <a:noFill/>
          <a:ln/>
        </p:spPr>
        <p:txBody>
          <a:bodyPr wrap="square" lIns="0" tIns="0" rIns="0" bIns="0" rtlCol="0" anchor="ctr"/>
          <a:lstStyle/>
          <a:p>
            <a:pPr indent="0" marL="0">
              <a:buNone/>
            </a:pPr>
            <a:r>
              <a:rPr lang="en-US" sz="1150" b="1" dirty="0">
                <a:solidFill>
                  <a:srgbClr val="0B0E26"/>
                </a:solidFill>
              </a:rPr>
              <a:t>M48*</a:t>
            </a:r>
            <a:endParaRPr lang="en-US" sz="1150" dirty="0"/>
          </a:p>
        </p:txBody>
      </p:sp>
      <p:sp>
        <p:nvSpPr>
          <p:cNvPr id="28" name="Text 26"/>
          <p:cNvSpPr txBox="1"/>
          <p:nvPr/>
        </p:nvSpPr>
        <p:spPr>
          <a:xfrm>
            <a:off x="9994392" y="4005072"/>
            <a:ext cx="822960" cy="329184"/>
          </a:xfrm>
          <a:prstGeom prst="rect">
            <a:avLst/>
          </a:prstGeom>
          <a:noFill/>
          <a:ln/>
        </p:spPr>
        <p:txBody>
          <a:bodyPr wrap="square" lIns="0" tIns="0" rIns="0" bIns="0" rtlCol="0" anchor="ctr"/>
          <a:lstStyle/>
          <a:p>
            <a:pPr indent="0" marL="0">
              <a:buNone/>
            </a:pPr>
            <a:r>
              <a:rPr lang="en-US" sz="1150" b="1" dirty="0">
                <a:solidFill>
                  <a:srgbClr val="4A3699"/>
                </a:solidFill>
              </a:rPr>
              <a:t>M42</a:t>
            </a:r>
            <a:endParaRPr lang="en-US" sz="1150" dirty="0"/>
          </a:p>
        </p:txBody>
      </p:sp>
      <p:sp>
        <p:nvSpPr>
          <p:cNvPr id="29" name="Text 27"/>
          <p:cNvSpPr txBox="1"/>
          <p:nvPr/>
        </p:nvSpPr>
        <p:spPr>
          <a:xfrm>
            <a:off x="10799064" y="4005072"/>
            <a:ext cx="822960" cy="329184"/>
          </a:xfrm>
          <a:prstGeom prst="rect">
            <a:avLst/>
          </a:prstGeom>
          <a:noFill/>
          <a:ln/>
        </p:spPr>
        <p:txBody>
          <a:bodyPr wrap="square" lIns="0" tIns="0" rIns="0" bIns="0" rtlCol="0" anchor="ctr"/>
          <a:lstStyle/>
          <a:p>
            <a:pPr indent="0" marL="0">
              <a:buNone/>
            </a:pPr>
            <a:r>
              <a:rPr lang="en-US" sz="1150" b="1" dirty="0">
                <a:solidFill>
                  <a:srgbClr val="0B0E26"/>
                </a:solidFill>
              </a:rPr>
              <a:t>M40</a:t>
            </a:r>
            <a:endParaRPr lang="en-US" sz="1150" dirty="0"/>
          </a:p>
        </p:txBody>
      </p:sp>
      <p:sp>
        <p:nvSpPr>
          <p:cNvPr id="30" name="Text 28"/>
          <p:cNvSpPr txBox="1"/>
          <p:nvPr/>
        </p:nvSpPr>
        <p:spPr>
          <a:xfrm>
            <a:off x="7863840" y="4370832"/>
            <a:ext cx="3657600" cy="384048"/>
          </a:xfrm>
          <a:prstGeom prst="rect">
            <a:avLst/>
          </a:prstGeom>
          <a:noFill/>
          <a:ln/>
        </p:spPr>
        <p:txBody>
          <a:bodyPr wrap="square" lIns="0" tIns="0" rIns="0" bIns="0" rtlCol="0" anchor="t"/>
          <a:lstStyle/>
          <a:p>
            <a:pPr indent="0" marL="0">
              <a:buNone/>
            </a:pPr>
            <a:r>
              <a:rPr lang="en-US" sz="1000" i="1" dirty="0">
                <a:solidFill>
                  <a:srgbClr val="7C88B0"/>
                </a:solidFill>
              </a:rPr>
              <a:t>*$400K funds months 1–31; break-even then needs a top-up. $500K and $700K need no new funding.</a:t>
            </a:r>
            <a:endParaRPr lang="en-US" sz="1000" dirty="0"/>
          </a:p>
        </p:txBody>
      </p:sp>
      <p:sp>
        <p:nvSpPr>
          <p:cNvPr id="31" name="Text 29"/>
          <p:cNvSpPr txBox="1"/>
          <p:nvPr/>
        </p:nvSpPr>
        <p:spPr>
          <a:xfrm>
            <a:off x="7863840" y="4800600"/>
            <a:ext cx="3657600" cy="274320"/>
          </a:xfrm>
          <a:prstGeom prst="rect">
            <a:avLst/>
          </a:prstGeom>
          <a:noFill/>
          <a:ln/>
        </p:spPr>
        <p:txBody>
          <a:bodyPr wrap="square" lIns="0" tIns="0" rIns="0" bIns="0" rtlCol="0" anchor="t"/>
          <a:lstStyle/>
          <a:p>
            <a:pPr indent="0" marL="0">
              <a:buNone/>
            </a:pPr>
            <a:r>
              <a:rPr lang="en-US" sz="1100" b="1" spc="200" kern="0" dirty="0">
                <a:solidFill>
                  <a:srgbClr val="4A3699"/>
                </a:solidFill>
              </a:rPr>
              <a:t>SERIES A SCENARIO</a:t>
            </a:r>
            <a:endParaRPr lang="en-US" sz="1100" dirty="0"/>
          </a:p>
        </p:txBody>
      </p:sp>
      <p:sp>
        <p:nvSpPr>
          <p:cNvPr id="32" name="Text 30"/>
          <p:cNvSpPr txBox="1"/>
          <p:nvPr/>
        </p:nvSpPr>
        <p:spPr>
          <a:xfrm>
            <a:off x="7863840" y="5056632"/>
            <a:ext cx="3657600" cy="96012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434B6B"/>
                </a:solidFill>
              </a:rPr>
              <a:t>Series A near month 18 adds sellers (15 incl. founder by year 5)</a:t>
            </a:r>
            <a:endParaRPr lang="en-US" sz="1100" dirty="0"/>
          </a:p>
          <a:p>
            <a:pPr marL="342900" indent="-342900">
              <a:spcAft>
                <a:spcPts val="200"/>
              </a:spcAft>
              <a:buSzPct val="100000"/>
              <a:buChar char="•"/>
            </a:pPr>
            <a:r>
              <a:rPr lang="en-US" sz="1100" dirty="0">
                <a:solidFill>
                  <a:srgbClr val="434B6B"/>
                </a:solidFill>
              </a:rPr>
              <a:t>Strategies only after RA registration and empanelment</a:t>
            </a:r>
            <a:endParaRPr lang="en-US" sz="1100" dirty="0"/>
          </a:p>
          <a:p>
            <a:pPr marL="342900" indent="-342900">
              <a:spcAft>
                <a:spcPts val="200"/>
              </a:spcAft>
              <a:buSzPct val="100000"/>
              <a:buChar char="•"/>
            </a:pPr>
            <a:r>
              <a:rPr lang="en-US" sz="1100" dirty="0">
                <a:solidFill>
                  <a:srgbClr val="434B6B"/>
                </a:solidFill>
              </a:rPr>
              <a:t>Partner licences tiered: ₹15 → ₹10 → ₹6 per user</a:t>
            </a:r>
            <a:endParaRPr lang="en-US" sz="1100" dirty="0"/>
          </a:p>
        </p:txBody>
      </p:sp>
      <p:sp>
        <p:nvSpPr>
          <p:cNvPr id="33" name="Text 31"/>
          <p:cNvSpPr txBox="1"/>
          <p:nvPr/>
        </p:nvSpPr>
        <p:spPr>
          <a:xfrm>
            <a:off x="548640" y="6108192"/>
            <a:ext cx="10362895" cy="274320"/>
          </a:xfrm>
          <a:prstGeom prst="rect">
            <a:avLst/>
          </a:prstGeom>
          <a:noFill/>
          <a:ln/>
        </p:spPr>
        <p:txBody>
          <a:bodyPr wrap="square" lIns="0" tIns="0" rIns="0" bIns="0" rtlCol="0" anchor="t"/>
          <a:lstStyle/>
          <a:p>
            <a:pPr indent="0" marL="0">
              <a:buNone/>
            </a:pPr>
            <a:r>
              <a:rPr lang="en-US" sz="1000" i="1" dirty="0">
                <a:solidFill>
                  <a:srgbClr val="7C88B0"/>
                </a:solidFill>
              </a:rPr>
              <a:t>No-new-funding path: M42 break-even on $500K. Series A scenario: ₹13.4 Cr Desk/retail + ₹9.7 Cr partners/strategies ≈ ₹23.1 Cr Year-5 ARR. ₹95 = $1.</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graphicFrame>
        <p:nvGraphicFramePr>
          <p:cNvPr id="34" name="ARR by revenue engine chart"/>
          <p:cNvGraphicFramePr>
            <a:graphicFrameLocks noGrp="1"/>
          </p:cNvGraphicFramePr>
          <p:nvPr/>
        </p:nvGraphicFramePr>
        <p:xfrm>
          <a:off x="548640" y="1691640"/>
          <a:ext cx="7086600" cy="4343400"/>
        </p:xfrm>
        <a:graphic>
          <a:graphicData uri="http://schemas.openxmlformats.org/drawingml/2006/chart">
            <c:chart xmlns:c="http://schemas.openxmlformats.org/drawingml/2006/chart"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TEAM</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A founder who has already built the hard part</a:t>
            </a:r>
            <a:endParaRPr lang="en-US" sz="3200" dirty="0"/>
          </a:p>
        </p:txBody>
      </p:sp>
      <p:sp>
        <p:nvSpPr>
          <p:cNvPr id="4" name="founder card"/>
          <p:cNvSpPr/>
          <p:nvPr/>
        </p:nvSpPr>
        <p:spPr>
          <a:xfrm>
            <a:off x="548640" y="1783080"/>
            <a:ext cx="6035040" cy="4160520"/>
          </a:xfrm>
          <a:prstGeom prst="roundRect">
            <a:avLst>
              <a:gd name="adj" fmla="val 2637"/>
            </a:avLst>
          </a:prstGeom>
          <a:solidFill>
            <a:srgbClr val="FFFFFF"/>
          </a:solidFill>
          <a:ln/>
          <a:effectLst>
            <a:outerShdw sx="100000" sy="100000" kx="0" ky="0" algn="bl" rotWithShape="0" blurRad="127000" dist="38100" dir="5400000">
              <a:srgbClr val="0B0E26">
                <a:alpha val="10000"/>
              </a:srgbClr>
            </a:outerShdw>
          </a:effectLst>
        </p:spPr>
      </p:sp>
      <p:sp>
        <p:nvSpPr>
          <p:cNvPr id="5" name="Text 3"/>
          <p:cNvSpPr txBox="1"/>
          <p:nvPr/>
        </p:nvSpPr>
        <p:spPr>
          <a:xfrm>
            <a:off x="868680" y="1965960"/>
            <a:ext cx="5486400" cy="502920"/>
          </a:xfrm>
          <a:prstGeom prst="rect">
            <a:avLst/>
          </a:prstGeom>
          <a:noFill/>
          <a:ln/>
        </p:spPr>
        <p:txBody>
          <a:bodyPr wrap="square" lIns="0" tIns="0" rIns="0" bIns="0" rtlCol="0" anchor="t"/>
          <a:lstStyle/>
          <a:p>
            <a:pPr indent="0" marL="0">
              <a:buNone/>
            </a:pPr>
            <a:r>
              <a:rPr lang="en-US" sz="2600" b="1" dirty="0">
                <a:solidFill>
                  <a:srgbClr val="0B0E26"/>
                </a:solidFill>
                <a:latin typeface="Arial" pitchFamily="34" charset="0"/>
                <a:ea typeface="Arial" pitchFamily="34" charset="-122"/>
                <a:cs typeface="Arial" pitchFamily="34" charset="-120"/>
              </a:rPr>
              <a:t>Harsh Bhardwaj</a:t>
            </a:r>
            <a:endParaRPr lang="en-US" sz="2600" dirty="0"/>
          </a:p>
        </p:txBody>
      </p:sp>
      <p:sp>
        <p:nvSpPr>
          <p:cNvPr id="6" name="Text 4"/>
          <p:cNvSpPr txBox="1"/>
          <p:nvPr/>
        </p:nvSpPr>
        <p:spPr>
          <a:xfrm>
            <a:off x="868680" y="2468880"/>
            <a:ext cx="5486400" cy="292608"/>
          </a:xfrm>
          <a:prstGeom prst="rect">
            <a:avLst/>
          </a:prstGeom>
          <a:noFill/>
          <a:ln/>
        </p:spPr>
        <p:txBody>
          <a:bodyPr wrap="square" lIns="0" tIns="0" rIns="0" bIns="0" rtlCol="0" anchor="t"/>
          <a:lstStyle/>
          <a:p>
            <a:pPr indent="0" marL="0">
              <a:buNone/>
            </a:pPr>
            <a:r>
              <a:rPr lang="en-US" sz="1350" b="1" dirty="0">
                <a:solidFill>
                  <a:srgbClr val="4A3699"/>
                </a:solidFill>
              </a:rPr>
              <a:t>Founder  ·  full-time on Anvest from the close of this round</a:t>
            </a:r>
            <a:endParaRPr lang="en-US" sz="1350" dirty="0"/>
          </a:p>
        </p:txBody>
      </p:sp>
      <p:pic>
        <p:nvPicPr>
          <p:cNvPr id="7" name="bio check 1" descr="preencoded.png">    </p:cNvPr>
          <p:cNvPicPr>
            <a:picLocks noChangeAspect="1"/>
          </p:cNvPicPr>
          <p:nvPr/>
        </p:nvPicPr>
        <p:blipFill>
          <a:blip r:embed="rId1"/>
          <a:stretch>
            <a:fillRect/>
          </a:stretch>
        </p:blipFill>
        <p:spPr>
          <a:xfrm>
            <a:off x="868680" y="2953512"/>
            <a:ext cx="237744" cy="237744"/>
          </a:xfrm>
          <a:prstGeom prst="rect">
            <a:avLst/>
          </a:prstGeom>
        </p:spPr>
      </p:pic>
      <p:sp>
        <p:nvSpPr>
          <p:cNvPr id="8" name="Text 5"/>
          <p:cNvSpPr txBox="1"/>
          <p:nvPr/>
        </p:nvSpPr>
        <p:spPr>
          <a:xfrm>
            <a:off x="1234440" y="2926080"/>
            <a:ext cx="5120640" cy="640080"/>
          </a:xfrm>
          <a:prstGeom prst="rect">
            <a:avLst/>
          </a:prstGeom>
          <a:noFill/>
          <a:ln/>
        </p:spPr>
        <p:txBody>
          <a:bodyPr wrap="square" lIns="0" tIns="0" rIns="0" bIns="0" rtlCol="0" anchor="t"/>
          <a:lstStyle/>
          <a:p>
            <a:pPr indent="0" marL="0">
              <a:buNone/>
            </a:pPr>
            <a:r>
              <a:rPr lang="en-US" sz="1300" dirty="0">
                <a:solidFill>
                  <a:srgbClr val="434B6B"/>
                </a:solidFill>
              </a:rPr>
              <a:t>B.Tech, Electronics and Communication, IIT Guwahati (2015–19)</a:t>
            </a:r>
            <a:endParaRPr lang="en-US" sz="1300" dirty="0"/>
          </a:p>
        </p:txBody>
      </p:sp>
      <p:pic>
        <p:nvPicPr>
          <p:cNvPr id="9" name="bio check 2" descr="preencoded.png">    </p:cNvPr>
          <p:cNvPicPr>
            <a:picLocks noChangeAspect="1"/>
          </p:cNvPicPr>
          <p:nvPr/>
        </p:nvPicPr>
        <p:blipFill>
          <a:blip r:embed="rId2"/>
          <a:stretch>
            <a:fillRect/>
          </a:stretch>
        </p:blipFill>
        <p:spPr>
          <a:xfrm>
            <a:off x="868680" y="3666744"/>
            <a:ext cx="237744" cy="237744"/>
          </a:xfrm>
          <a:prstGeom prst="rect">
            <a:avLst/>
          </a:prstGeom>
        </p:spPr>
      </p:pic>
      <p:sp>
        <p:nvSpPr>
          <p:cNvPr id="10" name="Text 6"/>
          <p:cNvSpPr txBox="1"/>
          <p:nvPr/>
        </p:nvSpPr>
        <p:spPr>
          <a:xfrm>
            <a:off x="1234440" y="3639312"/>
            <a:ext cx="5120640" cy="640080"/>
          </a:xfrm>
          <a:prstGeom prst="rect">
            <a:avLst/>
          </a:prstGeom>
          <a:noFill/>
          <a:ln/>
        </p:spPr>
        <p:txBody>
          <a:bodyPr wrap="square" lIns="0" tIns="0" rIns="0" bIns="0" rtlCol="0" anchor="t"/>
          <a:lstStyle/>
          <a:p>
            <a:pPr indent="0" marL="0">
              <a:buNone/>
            </a:pPr>
            <a:r>
              <a:rPr lang="en-US" sz="1300" dirty="0">
                <a:solidFill>
                  <a:srgbClr val="434B6B"/>
                </a:solidFill>
              </a:rPr>
              <a:t>Senior Engineering Lead building production agentic LLM systems</a:t>
            </a:r>
            <a:endParaRPr lang="en-US" sz="1300" dirty="0"/>
          </a:p>
        </p:txBody>
      </p:sp>
      <p:pic>
        <p:nvPicPr>
          <p:cNvPr id="11" name="bio check 3" descr="preencoded.png">    </p:cNvPr>
          <p:cNvPicPr>
            <a:picLocks noChangeAspect="1"/>
          </p:cNvPicPr>
          <p:nvPr/>
        </p:nvPicPr>
        <p:blipFill>
          <a:blip r:embed="rId3"/>
          <a:stretch>
            <a:fillRect/>
          </a:stretch>
        </p:blipFill>
        <p:spPr>
          <a:xfrm>
            <a:off x="868680" y="4379976"/>
            <a:ext cx="237744" cy="237744"/>
          </a:xfrm>
          <a:prstGeom prst="rect">
            <a:avLst/>
          </a:prstGeom>
        </p:spPr>
      </p:pic>
      <p:sp>
        <p:nvSpPr>
          <p:cNvPr id="12" name="Text 7"/>
          <p:cNvSpPr txBox="1"/>
          <p:nvPr/>
        </p:nvSpPr>
        <p:spPr>
          <a:xfrm>
            <a:off x="1234440" y="4352544"/>
            <a:ext cx="5120640" cy="640080"/>
          </a:xfrm>
          <a:prstGeom prst="rect">
            <a:avLst/>
          </a:prstGeom>
          <a:noFill/>
          <a:ln/>
        </p:spPr>
        <p:txBody>
          <a:bodyPr wrap="square" lIns="0" tIns="0" rIns="0" bIns="0" rtlCol="0" anchor="t"/>
          <a:lstStyle/>
          <a:p>
            <a:pPr indent="0" marL="0">
              <a:buNone/>
            </a:pPr>
            <a:r>
              <a:rPr lang="en-US" sz="1300" dirty="0">
                <a:solidFill>
                  <a:srgbClr val="434B6B"/>
                </a:solidFill>
              </a:rPr>
              <a:t>Seven years building high-throughput backend and distributed systems at New Relic, Shiprocket, Weave and Jaguar Land Rover</a:t>
            </a:r>
            <a:endParaRPr lang="en-US" sz="1300" dirty="0"/>
          </a:p>
        </p:txBody>
      </p:sp>
      <p:pic>
        <p:nvPicPr>
          <p:cNvPr id="13" name="bio check 4" descr="preencoded.png">    </p:cNvPr>
          <p:cNvPicPr>
            <a:picLocks noChangeAspect="1"/>
          </p:cNvPicPr>
          <p:nvPr/>
        </p:nvPicPr>
        <p:blipFill>
          <a:blip r:embed="rId4"/>
          <a:stretch>
            <a:fillRect/>
          </a:stretch>
        </p:blipFill>
        <p:spPr>
          <a:xfrm>
            <a:off x="868680" y="5093208"/>
            <a:ext cx="237744" cy="237744"/>
          </a:xfrm>
          <a:prstGeom prst="rect">
            <a:avLst/>
          </a:prstGeom>
        </p:spPr>
      </p:pic>
      <p:sp>
        <p:nvSpPr>
          <p:cNvPr id="14" name="Text 8"/>
          <p:cNvSpPr txBox="1"/>
          <p:nvPr/>
        </p:nvSpPr>
        <p:spPr>
          <a:xfrm>
            <a:off x="1234440" y="5065776"/>
            <a:ext cx="5120640" cy="640080"/>
          </a:xfrm>
          <a:prstGeom prst="rect">
            <a:avLst/>
          </a:prstGeom>
          <a:noFill/>
          <a:ln/>
        </p:spPr>
        <p:txBody>
          <a:bodyPr wrap="square" lIns="0" tIns="0" rIns="0" bIns="0" rtlCol="0" anchor="t"/>
          <a:lstStyle/>
          <a:p>
            <a:pPr indent="0" marL="0">
              <a:buNone/>
            </a:pPr>
            <a:r>
              <a:rPr lang="en-US" sz="1300" dirty="0">
                <a:solidFill>
                  <a:srgbClr val="434B6B"/>
                </a:solidFill>
              </a:rPr>
              <a:t>Solo-built Anvest's XBRL repair pipeline, verification engine and nine-module platform in 12 months, with no outside capital</a:t>
            </a:r>
            <a:endParaRPr lang="en-US" sz="1300" dirty="0"/>
          </a:p>
        </p:txBody>
      </p:sp>
      <p:sp>
        <p:nvSpPr>
          <p:cNvPr id="15" name="hiring card"/>
          <p:cNvSpPr/>
          <p:nvPr/>
        </p:nvSpPr>
        <p:spPr>
          <a:xfrm>
            <a:off x="6812280" y="1783080"/>
            <a:ext cx="4828032" cy="4160520"/>
          </a:xfrm>
          <a:prstGeom prst="roundRect">
            <a:avLst>
              <a:gd name="adj" fmla="val 2637"/>
            </a:avLst>
          </a:prstGeom>
          <a:solidFill>
            <a:srgbClr val="1E2761"/>
          </a:solidFill>
          <a:ln/>
          <a:effectLst>
            <a:outerShdw sx="100000" sy="100000" kx="0" ky="0" algn="bl" rotWithShape="0" blurRad="127000" dist="38100" dir="5400000">
              <a:srgbClr val="0B0E26">
                <a:alpha val="10000"/>
              </a:srgbClr>
            </a:outerShdw>
          </a:effectLst>
        </p:spPr>
      </p:sp>
      <p:sp>
        <p:nvSpPr>
          <p:cNvPr id="16" name="Text 10"/>
          <p:cNvSpPr txBox="1"/>
          <p:nvPr/>
        </p:nvSpPr>
        <p:spPr>
          <a:xfrm>
            <a:off x="7086600" y="1965960"/>
            <a:ext cx="4389120" cy="274320"/>
          </a:xfrm>
          <a:prstGeom prst="rect">
            <a:avLst/>
          </a:prstGeom>
          <a:noFill/>
          <a:ln/>
        </p:spPr>
        <p:txBody>
          <a:bodyPr wrap="square" lIns="0" tIns="0" rIns="0" bIns="0" rtlCol="0" anchor="t"/>
          <a:lstStyle/>
          <a:p>
            <a:pPr indent="0" marL="0">
              <a:buNone/>
            </a:pPr>
            <a:r>
              <a:rPr lang="en-US" sz="1100" b="1" spc="200" kern="0" dirty="0">
                <a:solidFill>
                  <a:srgbClr val="F5A623"/>
                </a:solidFill>
              </a:rPr>
              <a:t>FIRST HIRES FROM THIS ROUND</a:t>
            </a:r>
            <a:endParaRPr lang="en-US" sz="1100" dirty="0"/>
          </a:p>
        </p:txBody>
      </p:sp>
      <p:sp>
        <p:nvSpPr>
          <p:cNvPr id="17" name="Text 11"/>
          <p:cNvSpPr txBox="1"/>
          <p:nvPr/>
        </p:nvSpPr>
        <p:spPr>
          <a:xfrm>
            <a:off x="7086600" y="2359152"/>
            <a:ext cx="365760" cy="502920"/>
          </a:xfrm>
          <a:prstGeom prst="rect">
            <a:avLst/>
          </a:prstGeom>
          <a:noFill/>
          <a:ln/>
        </p:spPr>
        <p:txBody>
          <a:bodyPr wrap="square" lIns="0" tIns="0" rIns="0" bIns="0" rtlCol="0" anchor="t"/>
          <a:lstStyle/>
          <a:p>
            <a:pPr indent="0" marL="0">
              <a:buNone/>
            </a:pPr>
            <a:r>
              <a:rPr lang="en-US" sz="2200" b="1" dirty="0">
                <a:solidFill>
                  <a:srgbClr val="F5A623"/>
                </a:solidFill>
                <a:latin typeface="Arial" pitchFamily="34" charset="0"/>
                <a:ea typeface="Arial" pitchFamily="34" charset="-122"/>
                <a:cs typeface="Arial" pitchFamily="34" charset="-120"/>
              </a:rPr>
              <a:t>1</a:t>
            </a:r>
            <a:endParaRPr lang="en-US" sz="2200" dirty="0"/>
          </a:p>
        </p:txBody>
      </p:sp>
      <p:sp>
        <p:nvSpPr>
          <p:cNvPr id="18" name="Text 12"/>
          <p:cNvSpPr txBox="1"/>
          <p:nvPr/>
        </p:nvSpPr>
        <p:spPr>
          <a:xfrm>
            <a:off x="7543800" y="2359152"/>
            <a:ext cx="3931920" cy="292608"/>
          </a:xfrm>
          <a:prstGeom prst="rect">
            <a:avLst/>
          </a:prstGeom>
          <a:noFill/>
          <a:ln/>
        </p:spPr>
        <p:txBody>
          <a:bodyPr wrap="square" lIns="0" tIns="0" rIns="0" bIns="0" rtlCol="0" anchor="t"/>
          <a:lstStyle/>
          <a:p>
            <a:pPr indent="0" marL="0">
              <a:buNone/>
            </a:pPr>
            <a:r>
              <a:rPr lang="en-US" sz="1400" b="1" dirty="0">
                <a:solidFill>
                  <a:srgbClr val="FFFFFF"/>
                </a:solidFill>
              </a:rPr>
              <a:t>Growth and partnerships lead</a:t>
            </a:r>
            <a:endParaRPr lang="en-US" sz="1400" dirty="0"/>
          </a:p>
        </p:txBody>
      </p:sp>
      <p:sp>
        <p:nvSpPr>
          <p:cNvPr id="19" name="Text 13"/>
          <p:cNvSpPr txBox="1"/>
          <p:nvPr/>
        </p:nvSpPr>
        <p:spPr>
          <a:xfrm>
            <a:off x="7543800" y="2651760"/>
            <a:ext cx="3931920" cy="274320"/>
          </a:xfrm>
          <a:prstGeom prst="rect">
            <a:avLst/>
          </a:prstGeom>
          <a:noFill/>
          <a:ln/>
        </p:spPr>
        <p:txBody>
          <a:bodyPr wrap="square" lIns="0" tIns="0" rIns="0" bIns="0" rtlCol="0" anchor="t"/>
          <a:lstStyle/>
          <a:p>
            <a:pPr indent="0" marL="0">
              <a:buNone/>
            </a:pPr>
            <a:r>
              <a:rPr lang="en-US" sz="1150" dirty="0">
                <a:solidFill>
                  <a:srgbClr val="C9D3F0"/>
                </a:solidFill>
              </a:rPr>
              <a:t>Sells Desk pilots and broker integrations</a:t>
            </a:r>
            <a:endParaRPr lang="en-US" sz="1150" dirty="0"/>
          </a:p>
        </p:txBody>
      </p:sp>
      <p:sp>
        <p:nvSpPr>
          <p:cNvPr id="20" name="Text 14"/>
          <p:cNvSpPr txBox="1"/>
          <p:nvPr/>
        </p:nvSpPr>
        <p:spPr>
          <a:xfrm>
            <a:off x="7086600" y="3090672"/>
            <a:ext cx="365760" cy="502920"/>
          </a:xfrm>
          <a:prstGeom prst="rect">
            <a:avLst/>
          </a:prstGeom>
          <a:noFill/>
          <a:ln/>
        </p:spPr>
        <p:txBody>
          <a:bodyPr wrap="square" lIns="0" tIns="0" rIns="0" bIns="0" rtlCol="0" anchor="t"/>
          <a:lstStyle/>
          <a:p>
            <a:pPr indent="0" marL="0">
              <a:buNone/>
            </a:pPr>
            <a:r>
              <a:rPr lang="en-US" sz="2200" b="1" dirty="0">
                <a:solidFill>
                  <a:srgbClr val="F5A623"/>
                </a:solidFill>
                <a:latin typeface="Arial" pitchFamily="34" charset="0"/>
                <a:ea typeface="Arial" pitchFamily="34" charset="-122"/>
                <a:cs typeface="Arial" pitchFamily="34" charset="-120"/>
              </a:rPr>
              <a:t>2</a:t>
            </a:r>
            <a:endParaRPr lang="en-US" sz="2200" dirty="0"/>
          </a:p>
        </p:txBody>
      </p:sp>
      <p:sp>
        <p:nvSpPr>
          <p:cNvPr id="21" name="Text 15"/>
          <p:cNvSpPr txBox="1"/>
          <p:nvPr/>
        </p:nvSpPr>
        <p:spPr>
          <a:xfrm>
            <a:off x="7543800" y="3090672"/>
            <a:ext cx="3931920" cy="292608"/>
          </a:xfrm>
          <a:prstGeom prst="rect">
            <a:avLst/>
          </a:prstGeom>
          <a:noFill/>
          <a:ln/>
        </p:spPr>
        <p:txBody>
          <a:bodyPr wrap="square" lIns="0" tIns="0" rIns="0" bIns="0" rtlCol="0" anchor="t"/>
          <a:lstStyle/>
          <a:p>
            <a:pPr indent="0" marL="0">
              <a:buNone/>
            </a:pPr>
            <a:r>
              <a:rPr lang="en-US" sz="1400" b="1" dirty="0">
                <a:solidFill>
                  <a:srgbClr val="FFFFFF"/>
                </a:solidFill>
              </a:rPr>
              <a:t>Data engineer</a:t>
            </a:r>
            <a:endParaRPr lang="en-US" sz="1400" dirty="0"/>
          </a:p>
        </p:txBody>
      </p:sp>
      <p:sp>
        <p:nvSpPr>
          <p:cNvPr id="22" name="Text 16"/>
          <p:cNvSpPr txBox="1"/>
          <p:nvPr/>
        </p:nvSpPr>
        <p:spPr>
          <a:xfrm>
            <a:off x="7543800" y="3383280"/>
            <a:ext cx="3931920" cy="274320"/>
          </a:xfrm>
          <a:prstGeom prst="rect">
            <a:avLst/>
          </a:prstGeom>
          <a:noFill/>
          <a:ln/>
        </p:spPr>
        <p:txBody>
          <a:bodyPr wrap="square" lIns="0" tIns="0" rIns="0" bIns="0" rtlCol="0" anchor="t"/>
          <a:lstStyle/>
          <a:p>
            <a:pPr indent="0" marL="0">
              <a:buNone/>
            </a:pPr>
            <a:r>
              <a:rPr lang="en-US" sz="1150" dirty="0">
                <a:solidFill>
                  <a:srgbClr val="C9D3F0"/>
                </a:solidFill>
              </a:rPr>
              <a:t>Owns ingestion, coverage and data quality</a:t>
            </a:r>
            <a:endParaRPr lang="en-US" sz="1150" dirty="0"/>
          </a:p>
        </p:txBody>
      </p:sp>
      <p:sp>
        <p:nvSpPr>
          <p:cNvPr id="23" name="Text 17"/>
          <p:cNvSpPr txBox="1"/>
          <p:nvPr/>
        </p:nvSpPr>
        <p:spPr>
          <a:xfrm>
            <a:off x="7086600" y="3822192"/>
            <a:ext cx="365760" cy="502920"/>
          </a:xfrm>
          <a:prstGeom prst="rect">
            <a:avLst/>
          </a:prstGeom>
          <a:noFill/>
          <a:ln/>
        </p:spPr>
        <p:txBody>
          <a:bodyPr wrap="square" lIns="0" tIns="0" rIns="0" bIns="0" rtlCol="0" anchor="t"/>
          <a:lstStyle/>
          <a:p>
            <a:pPr indent="0" marL="0">
              <a:buNone/>
            </a:pPr>
            <a:r>
              <a:rPr lang="en-US" sz="2200" b="1" dirty="0">
                <a:solidFill>
                  <a:srgbClr val="F5A623"/>
                </a:solidFill>
                <a:latin typeface="Arial" pitchFamily="34" charset="0"/>
                <a:ea typeface="Arial" pitchFamily="34" charset="-122"/>
                <a:cs typeface="Arial" pitchFamily="34" charset="-120"/>
              </a:rPr>
              <a:t>3</a:t>
            </a:r>
            <a:endParaRPr lang="en-US" sz="2200" dirty="0"/>
          </a:p>
        </p:txBody>
      </p:sp>
      <p:sp>
        <p:nvSpPr>
          <p:cNvPr id="24" name="Text 18"/>
          <p:cNvSpPr txBox="1"/>
          <p:nvPr/>
        </p:nvSpPr>
        <p:spPr>
          <a:xfrm>
            <a:off x="7543800" y="3822192"/>
            <a:ext cx="3931920" cy="292608"/>
          </a:xfrm>
          <a:prstGeom prst="rect">
            <a:avLst/>
          </a:prstGeom>
          <a:noFill/>
          <a:ln/>
        </p:spPr>
        <p:txBody>
          <a:bodyPr wrap="square" lIns="0" tIns="0" rIns="0" bIns="0" rtlCol="0" anchor="t"/>
          <a:lstStyle/>
          <a:p>
            <a:pPr indent="0" marL="0">
              <a:buNone/>
            </a:pPr>
            <a:r>
              <a:rPr lang="en-US" sz="1400" b="1" dirty="0">
                <a:solidFill>
                  <a:srgbClr val="FFFFFF"/>
                </a:solidFill>
              </a:rPr>
              <a:t>Full-stack and quant engineer</a:t>
            </a:r>
            <a:endParaRPr lang="en-US" sz="1400" dirty="0"/>
          </a:p>
        </p:txBody>
      </p:sp>
      <p:sp>
        <p:nvSpPr>
          <p:cNvPr id="25" name="Text 19"/>
          <p:cNvSpPr txBox="1"/>
          <p:nvPr/>
        </p:nvSpPr>
        <p:spPr>
          <a:xfrm>
            <a:off x="7543800" y="4114800"/>
            <a:ext cx="3931920" cy="274320"/>
          </a:xfrm>
          <a:prstGeom prst="rect">
            <a:avLst/>
          </a:prstGeom>
          <a:noFill/>
          <a:ln/>
        </p:spPr>
        <p:txBody>
          <a:bodyPr wrap="square" lIns="0" tIns="0" rIns="0" bIns="0" rtlCol="0" anchor="t"/>
          <a:lstStyle/>
          <a:p>
            <a:pPr indent="0" marL="0">
              <a:buNone/>
            </a:pPr>
            <a:r>
              <a:rPr lang="en-US" sz="1150" dirty="0">
                <a:solidFill>
                  <a:srgbClr val="C9D3F0"/>
                </a:solidFill>
              </a:rPr>
              <a:t>Strategies, alerts and the path to live algos</a:t>
            </a:r>
            <a:endParaRPr lang="en-US" sz="1150" dirty="0"/>
          </a:p>
        </p:txBody>
      </p:sp>
      <p:sp>
        <p:nvSpPr>
          <p:cNvPr id="26" name="Text 20"/>
          <p:cNvSpPr txBox="1"/>
          <p:nvPr/>
        </p:nvSpPr>
        <p:spPr>
          <a:xfrm>
            <a:off x="7086600" y="4553712"/>
            <a:ext cx="365760" cy="502920"/>
          </a:xfrm>
          <a:prstGeom prst="rect">
            <a:avLst/>
          </a:prstGeom>
          <a:noFill/>
          <a:ln/>
        </p:spPr>
        <p:txBody>
          <a:bodyPr wrap="square" lIns="0" tIns="0" rIns="0" bIns="0" rtlCol="0" anchor="t"/>
          <a:lstStyle/>
          <a:p>
            <a:pPr indent="0" marL="0">
              <a:buNone/>
            </a:pPr>
            <a:r>
              <a:rPr lang="en-US" sz="2200" b="1" dirty="0">
                <a:solidFill>
                  <a:srgbClr val="F5A623"/>
                </a:solidFill>
                <a:latin typeface="Arial" pitchFamily="34" charset="0"/>
                <a:ea typeface="Arial" pitchFamily="34" charset="-122"/>
                <a:cs typeface="Arial" pitchFamily="34" charset="-120"/>
              </a:rPr>
              <a:t>4</a:t>
            </a:r>
            <a:endParaRPr lang="en-US" sz="2200" dirty="0"/>
          </a:p>
        </p:txBody>
      </p:sp>
      <p:sp>
        <p:nvSpPr>
          <p:cNvPr id="27" name="Text 21"/>
          <p:cNvSpPr txBox="1"/>
          <p:nvPr/>
        </p:nvSpPr>
        <p:spPr>
          <a:xfrm>
            <a:off x="7543800" y="4553712"/>
            <a:ext cx="3931920" cy="292608"/>
          </a:xfrm>
          <a:prstGeom prst="rect">
            <a:avLst/>
          </a:prstGeom>
          <a:noFill/>
          <a:ln/>
        </p:spPr>
        <p:txBody>
          <a:bodyPr wrap="square" lIns="0" tIns="0" rIns="0" bIns="0" rtlCol="0" anchor="t"/>
          <a:lstStyle/>
          <a:p>
            <a:pPr indent="0" marL="0">
              <a:buNone/>
            </a:pPr>
            <a:r>
              <a:rPr lang="en-US" sz="1400" b="1" dirty="0">
                <a:solidFill>
                  <a:srgbClr val="FFFFFF"/>
                </a:solidFill>
              </a:rPr>
              <a:t>Second seller (with $500K)</a:t>
            </a:r>
            <a:endParaRPr lang="en-US" sz="1400" dirty="0"/>
          </a:p>
        </p:txBody>
      </p:sp>
      <p:sp>
        <p:nvSpPr>
          <p:cNvPr id="28" name="Text 22"/>
          <p:cNvSpPr txBox="1"/>
          <p:nvPr/>
        </p:nvSpPr>
        <p:spPr>
          <a:xfrm>
            <a:off x="7543800" y="4846320"/>
            <a:ext cx="3931920" cy="274320"/>
          </a:xfrm>
          <a:prstGeom prst="rect">
            <a:avLst/>
          </a:prstGeom>
          <a:noFill/>
          <a:ln/>
        </p:spPr>
        <p:txBody>
          <a:bodyPr wrap="square" lIns="0" tIns="0" rIns="0" bIns="0" rtlCol="0" anchor="t"/>
          <a:lstStyle/>
          <a:p>
            <a:pPr indent="0" marL="0">
              <a:buNone/>
            </a:pPr>
            <a:r>
              <a:rPr lang="en-US" sz="1150" dirty="0">
                <a:solidFill>
                  <a:srgbClr val="C9D3F0"/>
                </a:solidFill>
              </a:rPr>
              <a:t>Joins in month 9 to scale Desk sales</a:t>
            </a:r>
            <a:endParaRPr lang="en-US" sz="1150" dirty="0"/>
          </a:p>
        </p:txBody>
      </p:sp>
      <p:sp>
        <p:nvSpPr>
          <p:cNvPr id="29" name="Text 23"/>
          <p:cNvSpPr txBox="1"/>
          <p:nvPr/>
        </p:nvSpPr>
        <p:spPr>
          <a:xfrm>
            <a:off x="7086600" y="5349240"/>
            <a:ext cx="4389120" cy="457200"/>
          </a:xfrm>
          <a:prstGeom prst="rect">
            <a:avLst/>
          </a:prstGeom>
          <a:noFill/>
          <a:ln/>
        </p:spPr>
        <p:txBody>
          <a:bodyPr wrap="square" lIns="0" tIns="0" rIns="0" bIns="0" rtlCol="0" anchor="t"/>
          <a:lstStyle/>
          <a:p>
            <a:pPr indent="0" marL="0">
              <a:buNone/>
            </a:pPr>
            <a:r>
              <a:rPr lang="en-US" sz="1150" i="1" dirty="0">
                <a:solidFill>
                  <a:srgbClr val="C9D3F0"/>
                </a:solidFill>
              </a:rPr>
              <a:t>Adviser bench in SEBI compliance and capital markets: being built this round.</a:t>
            </a:r>
            <a:endParaRPr lang="en-US" sz="1150" dirty="0"/>
          </a:p>
        </p:txBody>
      </p:sp>
      <p:sp>
        <p:nvSpPr>
          <p:cNvPr id="30" name="Text 24"/>
          <p:cNvSpPr txBox="1"/>
          <p:nvPr/>
        </p:nvSpPr>
        <p:spPr>
          <a:xfrm>
            <a:off x="548640" y="6053328"/>
            <a:ext cx="10362895" cy="292608"/>
          </a:xfrm>
          <a:prstGeom prst="rect">
            <a:avLst/>
          </a:prstGeom>
          <a:noFill/>
          <a:ln/>
        </p:spPr>
        <p:txBody>
          <a:bodyPr wrap="square" lIns="0" tIns="0" rIns="0" bIns="0" rtlCol="0" anchor="t"/>
          <a:lstStyle/>
          <a:p>
            <a:pPr indent="0" marL="0">
              <a:buNone/>
            </a:pPr>
            <a:r>
              <a:rPr lang="en-US" sz="1200" i="1" dirty="0">
                <a:solidFill>
                  <a:srgbClr val="434B6B"/>
                </a:solidFill>
              </a:rPr>
              <a:t>Domain edge already earned in production: malformed XBRL periods, Q4-only annual figures and scanned PDFs, all solved.</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THE ASK</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bg1"/>
                </a:solidFill>
              </a:rPr>
              <a:t>Raising $500K to prove Desk demand and partner reach</a:t>
            </a:r>
            <a:endParaRPr lang="en-US" sz="3200" dirty="0"/>
          </a:p>
        </p:txBody>
      </p:sp>
      <p:sp>
        <p:nvSpPr>
          <p:cNvPr id="4" name="Text 2"/>
          <p:cNvSpPr txBox="1"/>
          <p:nvPr/>
        </p:nvSpPr>
        <p:spPr>
          <a:xfrm>
            <a:off x="548640" y="1481328"/>
            <a:ext cx="10058400" cy="320040"/>
          </a:xfrm>
          <a:prstGeom prst="rect">
            <a:avLst/>
          </a:prstGeom>
          <a:noFill/>
          <a:ln/>
        </p:spPr>
        <p:txBody>
          <a:bodyPr wrap="square" lIns="0" tIns="0" rIns="0" bIns="0" rtlCol="0" anchor="t"/>
          <a:lstStyle/>
          <a:p>
            <a:pPr indent="0" marL="0">
              <a:buNone/>
            </a:pPr>
            <a:r>
              <a:rPr lang="en-US" sz="1500" dirty="0">
                <a:solidFill>
                  <a:srgbClr val="C9D3F0"/>
                </a:solidFill>
              </a:rPr>
              <a:t>$3.5M post-money cap  ·  CCD/CCPS  ·  identical terms  ·  first close at $400K, room to $700K</a:t>
            </a:r>
            <a:endParaRPr lang="en-US" sz="1500" dirty="0"/>
          </a:p>
        </p:txBody>
      </p:sp>
      <p:sp>
        <p:nvSpPr>
          <p:cNvPr id="5" name="use of funds 1"/>
          <p:cNvSpPr/>
          <p:nvPr/>
        </p:nvSpPr>
        <p:spPr>
          <a:xfrm>
            <a:off x="548640" y="1965960"/>
            <a:ext cx="5257800" cy="786384"/>
          </a:xfrm>
          <a:prstGeom prst="roundRect">
            <a:avLst>
              <a:gd name="adj" fmla="val 13953"/>
            </a:avLst>
          </a:prstGeom>
          <a:solidFill>
            <a:srgbClr val="FFFFFF">
              <a:alpha val="8000"/>
            </a:srgbClr>
          </a:solidFill>
          <a:ln w="9525">
            <a:solidFill>
              <a:srgbClr val="C9D3F0">
                <a:alpha val="25000"/>
              </a:srgbClr>
            </a:solidFill>
            <a:prstDash val="solid"/>
          </a:ln>
        </p:spPr>
      </p:sp>
      <p:sp>
        <p:nvSpPr>
          <p:cNvPr id="6" name="Text 4"/>
          <p:cNvSpPr txBox="1"/>
          <p:nvPr/>
        </p:nvSpPr>
        <p:spPr>
          <a:xfrm>
            <a:off x="749808" y="2039112"/>
            <a:ext cx="1188720" cy="411480"/>
          </a:xfrm>
          <a:prstGeom prst="rect">
            <a:avLst/>
          </a:prstGeom>
          <a:noFill/>
          <a:ln/>
        </p:spPr>
        <p:txBody>
          <a:bodyPr wrap="square" lIns="0" tIns="0" rIns="0" bIns="0" rtlCol="0" anchor="t"/>
          <a:lstStyle/>
          <a:p>
            <a:pPr indent="0" marL="0">
              <a:buNone/>
            </a:pPr>
            <a:r>
              <a:rPr lang="en-US" sz="2100" b="1" dirty="0">
                <a:solidFill>
                  <a:srgbClr val="F5A623"/>
                </a:solidFill>
                <a:latin typeface="Arial" pitchFamily="34" charset="0"/>
                <a:ea typeface="Arial" pitchFamily="34" charset="-122"/>
                <a:cs typeface="Arial" pitchFamily="34" charset="-120"/>
              </a:rPr>
              <a:t>$185K</a:t>
            </a:r>
            <a:endParaRPr lang="en-US" sz="2100" dirty="0"/>
          </a:p>
        </p:txBody>
      </p:sp>
      <p:sp>
        <p:nvSpPr>
          <p:cNvPr id="7" name="Text 5"/>
          <p:cNvSpPr txBox="1"/>
          <p:nvPr/>
        </p:nvSpPr>
        <p:spPr>
          <a:xfrm>
            <a:off x="749808" y="2441448"/>
            <a:ext cx="1188720" cy="256032"/>
          </a:xfrm>
          <a:prstGeom prst="rect">
            <a:avLst/>
          </a:prstGeom>
          <a:noFill/>
          <a:ln/>
        </p:spPr>
        <p:txBody>
          <a:bodyPr wrap="square" lIns="0" tIns="0" rIns="0" bIns="0" rtlCol="0" anchor="t"/>
          <a:lstStyle/>
          <a:p>
            <a:pPr indent="0" marL="0">
              <a:buNone/>
            </a:pPr>
            <a:r>
              <a:rPr lang="en-US" sz="1050" dirty="0">
                <a:solidFill>
                  <a:srgbClr val="C9D3F0"/>
                </a:solidFill>
              </a:rPr>
              <a:t>37%</a:t>
            </a:r>
            <a:endParaRPr lang="en-US" sz="1050" dirty="0"/>
          </a:p>
        </p:txBody>
      </p:sp>
      <p:sp>
        <p:nvSpPr>
          <p:cNvPr id="8" name="Text 6"/>
          <p:cNvSpPr txBox="1"/>
          <p:nvPr/>
        </p:nvSpPr>
        <p:spPr>
          <a:xfrm>
            <a:off x="1920240" y="2029968"/>
            <a:ext cx="3749040" cy="274320"/>
          </a:xfrm>
          <a:prstGeom prst="rect">
            <a:avLst/>
          </a:prstGeom>
          <a:noFill/>
          <a:ln/>
        </p:spPr>
        <p:txBody>
          <a:bodyPr wrap="square" lIns="0" tIns="0" rIns="0" bIns="0" rtlCol="0" anchor="t"/>
          <a:lstStyle/>
          <a:p>
            <a:pPr indent="0" marL="0">
              <a:buNone/>
            </a:pPr>
            <a:r>
              <a:rPr lang="en-US" sz="1400" b="1" dirty="0">
                <a:solidFill>
                  <a:srgbClr val="FFFFFF"/>
                </a:solidFill>
              </a:rPr>
              <a:t>Team</a:t>
            </a:r>
            <a:endParaRPr lang="en-US" sz="1400" dirty="0"/>
          </a:p>
        </p:txBody>
      </p:sp>
      <p:sp>
        <p:nvSpPr>
          <p:cNvPr id="9" name="Text 7"/>
          <p:cNvSpPr txBox="1"/>
          <p:nvPr/>
        </p:nvSpPr>
        <p:spPr>
          <a:xfrm>
            <a:off x="1920240" y="2313432"/>
            <a:ext cx="3749040" cy="420624"/>
          </a:xfrm>
          <a:prstGeom prst="rect">
            <a:avLst/>
          </a:prstGeom>
          <a:noFill/>
          <a:ln/>
        </p:spPr>
        <p:txBody>
          <a:bodyPr wrap="square" lIns="0" tIns="0" rIns="0" bIns="0" rtlCol="0" anchor="t"/>
          <a:lstStyle/>
          <a:p>
            <a:pPr indent="0" marL="0">
              <a:buNone/>
            </a:pPr>
            <a:r>
              <a:rPr lang="en-US" sz="1100" dirty="0">
                <a:solidFill>
                  <a:srgbClr val="C9D3F0"/>
                </a:solidFill>
              </a:rPr>
              <a:t>Growth lead, data engineer, full-stack and quant engineer, second seller from month 9</a:t>
            </a:r>
            <a:endParaRPr lang="en-US" sz="1100" dirty="0"/>
          </a:p>
        </p:txBody>
      </p:sp>
      <p:sp>
        <p:nvSpPr>
          <p:cNvPr id="10" name="use of funds 2"/>
          <p:cNvSpPr/>
          <p:nvPr/>
        </p:nvSpPr>
        <p:spPr>
          <a:xfrm>
            <a:off x="548640" y="2862072"/>
            <a:ext cx="5257800" cy="786384"/>
          </a:xfrm>
          <a:prstGeom prst="roundRect">
            <a:avLst>
              <a:gd name="adj" fmla="val 13953"/>
            </a:avLst>
          </a:prstGeom>
          <a:solidFill>
            <a:srgbClr val="FFFFFF">
              <a:alpha val="8000"/>
            </a:srgbClr>
          </a:solidFill>
          <a:ln w="9525">
            <a:solidFill>
              <a:srgbClr val="C9D3F0">
                <a:alpha val="25000"/>
              </a:srgbClr>
            </a:solidFill>
            <a:prstDash val="solid"/>
          </a:ln>
        </p:spPr>
      </p:sp>
      <p:sp>
        <p:nvSpPr>
          <p:cNvPr id="11" name="Text 9"/>
          <p:cNvSpPr txBox="1"/>
          <p:nvPr/>
        </p:nvSpPr>
        <p:spPr>
          <a:xfrm>
            <a:off x="749808" y="2935224"/>
            <a:ext cx="1188720" cy="411480"/>
          </a:xfrm>
          <a:prstGeom prst="rect">
            <a:avLst/>
          </a:prstGeom>
          <a:noFill/>
          <a:ln/>
        </p:spPr>
        <p:txBody>
          <a:bodyPr wrap="square" lIns="0" tIns="0" rIns="0" bIns="0" rtlCol="0" anchor="t"/>
          <a:lstStyle/>
          <a:p>
            <a:pPr indent="0" marL="0">
              <a:buNone/>
            </a:pPr>
            <a:r>
              <a:rPr lang="en-US" sz="2100" b="1" dirty="0">
                <a:solidFill>
                  <a:srgbClr val="F5A623"/>
                </a:solidFill>
                <a:latin typeface="Arial" pitchFamily="34" charset="0"/>
                <a:ea typeface="Arial" pitchFamily="34" charset="-122"/>
                <a:cs typeface="Arial" pitchFamily="34" charset="-120"/>
              </a:rPr>
              <a:t>$65K</a:t>
            </a:r>
            <a:endParaRPr lang="en-US" sz="2100" dirty="0"/>
          </a:p>
        </p:txBody>
      </p:sp>
      <p:sp>
        <p:nvSpPr>
          <p:cNvPr id="12" name="Text 10"/>
          <p:cNvSpPr txBox="1"/>
          <p:nvPr/>
        </p:nvSpPr>
        <p:spPr>
          <a:xfrm>
            <a:off x="749808" y="3337560"/>
            <a:ext cx="1188720" cy="256032"/>
          </a:xfrm>
          <a:prstGeom prst="rect">
            <a:avLst/>
          </a:prstGeom>
          <a:noFill/>
          <a:ln/>
        </p:spPr>
        <p:txBody>
          <a:bodyPr wrap="square" lIns="0" tIns="0" rIns="0" bIns="0" rtlCol="0" anchor="t"/>
          <a:lstStyle/>
          <a:p>
            <a:pPr indent="0" marL="0">
              <a:buNone/>
            </a:pPr>
            <a:r>
              <a:rPr lang="en-US" sz="1050" dirty="0">
                <a:solidFill>
                  <a:srgbClr val="C9D3F0"/>
                </a:solidFill>
              </a:rPr>
              <a:t>13%</a:t>
            </a:r>
            <a:endParaRPr lang="en-US" sz="1050" dirty="0"/>
          </a:p>
        </p:txBody>
      </p:sp>
      <p:sp>
        <p:nvSpPr>
          <p:cNvPr id="13" name="Text 11"/>
          <p:cNvSpPr txBox="1"/>
          <p:nvPr/>
        </p:nvSpPr>
        <p:spPr>
          <a:xfrm>
            <a:off x="1920240" y="2926080"/>
            <a:ext cx="3749040" cy="274320"/>
          </a:xfrm>
          <a:prstGeom prst="rect">
            <a:avLst/>
          </a:prstGeom>
          <a:noFill/>
          <a:ln/>
        </p:spPr>
        <p:txBody>
          <a:bodyPr wrap="square" lIns="0" tIns="0" rIns="0" bIns="0" rtlCol="0" anchor="t"/>
          <a:lstStyle/>
          <a:p>
            <a:pPr indent="0" marL="0">
              <a:buNone/>
            </a:pPr>
            <a:r>
              <a:rPr lang="en-US" sz="1400" b="1" dirty="0">
                <a:solidFill>
                  <a:srgbClr val="FFFFFF"/>
                </a:solidFill>
              </a:rPr>
              <a:t>Compliance and infrastructure</a:t>
            </a:r>
            <a:endParaRPr lang="en-US" sz="1400" dirty="0"/>
          </a:p>
        </p:txBody>
      </p:sp>
      <p:sp>
        <p:nvSpPr>
          <p:cNvPr id="14" name="Text 12"/>
          <p:cNvSpPr txBox="1"/>
          <p:nvPr/>
        </p:nvSpPr>
        <p:spPr>
          <a:xfrm>
            <a:off x="1920240" y="3209544"/>
            <a:ext cx="3749040" cy="420624"/>
          </a:xfrm>
          <a:prstGeom prst="rect">
            <a:avLst/>
          </a:prstGeom>
          <a:noFill/>
          <a:ln/>
        </p:spPr>
        <p:txBody>
          <a:bodyPr wrap="square" lIns="0" tIns="0" rIns="0" bIns="0" rtlCol="0" anchor="t"/>
          <a:lstStyle/>
          <a:p>
            <a:pPr indent="0" marL="0">
              <a:buNone/>
            </a:pPr>
            <a:r>
              <a:rPr lang="en-US" sz="1100" dirty="0">
                <a:solidFill>
                  <a:srgbClr val="C9D3F0"/>
                </a:solidFill>
              </a:rPr>
              <a:t>SEBI RA registration, exchange data licence, serving and inference</a:t>
            </a:r>
            <a:endParaRPr lang="en-US" sz="1100" dirty="0"/>
          </a:p>
        </p:txBody>
      </p:sp>
      <p:sp>
        <p:nvSpPr>
          <p:cNvPr id="15" name="use of funds 3"/>
          <p:cNvSpPr/>
          <p:nvPr/>
        </p:nvSpPr>
        <p:spPr>
          <a:xfrm>
            <a:off x="548640" y="3758184"/>
            <a:ext cx="5257800" cy="786384"/>
          </a:xfrm>
          <a:prstGeom prst="roundRect">
            <a:avLst>
              <a:gd name="adj" fmla="val 13953"/>
            </a:avLst>
          </a:prstGeom>
          <a:solidFill>
            <a:srgbClr val="FFFFFF">
              <a:alpha val="8000"/>
            </a:srgbClr>
          </a:solidFill>
          <a:ln w="9525">
            <a:solidFill>
              <a:srgbClr val="C9D3F0">
                <a:alpha val="25000"/>
              </a:srgbClr>
            </a:solidFill>
            <a:prstDash val="solid"/>
          </a:ln>
        </p:spPr>
      </p:sp>
      <p:sp>
        <p:nvSpPr>
          <p:cNvPr id="16" name="Text 14"/>
          <p:cNvSpPr txBox="1"/>
          <p:nvPr/>
        </p:nvSpPr>
        <p:spPr>
          <a:xfrm>
            <a:off x="749808" y="3831336"/>
            <a:ext cx="1188720" cy="411480"/>
          </a:xfrm>
          <a:prstGeom prst="rect">
            <a:avLst/>
          </a:prstGeom>
          <a:noFill/>
          <a:ln/>
        </p:spPr>
        <p:txBody>
          <a:bodyPr wrap="square" lIns="0" tIns="0" rIns="0" bIns="0" rtlCol="0" anchor="t"/>
          <a:lstStyle/>
          <a:p>
            <a:pPr indent="0" marL="0">
              <a:buNone/>
            </a:pPr>
            <a:r>
              <a:rPr lang="en-US" sz="2100" b="1" dirty="0">
                <a:solidFill>
                  <a:srgbClr val="F5A623"/>
                </a:solidFill>
                <a:latin typeface="Arial" pitchFamily="34" charset="0"/>
                <a:ea typeface="Arial" pitchFamily="34" charset="-122"/>
                <a:cs typeface="Arial" pitchFamily="34" charset="-120"/>
              </a:rPr>
              <a:t>$100K</a:t>
            </a:r>
            <a:endParaRPr lang="en-US" sz="2100" dirty="0"/>
          </a:p>
        </p:txBody>
      </p:sp>
      <p:sp>
        <p:nvSpPr>
          <p:cNvPr id="17" name="Text 15"/>
          <p:cNvSpPr txBox="1"/>
          <p:nvPr/>
        </p:nvSpPr>
        <p:spPr>
          <a:xfrm>
            <a:off x="749808" y="4233672"/>
            <a:ext cx="1188720" cy="256032"/>
          </a:xfrm>
          <a:prstGeom prst="rect">
            <a:avLst/>
          </a:prstGeom>
          <a:noFill/>
          <a:ln/>
        </p:spPr>
        <p:txBody>
          <a:bodyPr wrap="square" lIns="0" tIns="0" rIns="0" bIns="0" rtlCol="0" anchor="t"/>
          <a:lstStyle/>
          <a:p>
            <a:pPr indent="0" marL="0">
              <a:buNone/>
            </a:pPr>
            <a:r>
              <a:rPr lang="en-US" sz="1050" dirty="0">
                <a:solidFill>
                  <a:srgbClr val="C9D3F0"/>
                </a:solidFill>
              </a:rPr>
              <a:t>20%</a:t>
            </a:r>
            <a:endParaRPr lang="en-US" sz="1050" dirty="0"/>
          </a:p>
        </p:txBody>
      </p:sp>
      <p:sp>
        <p:nvSpPr>
          <p:cNvPr id="18" name="Text 16"/>
          <p:cNvSpPr txBox="1"/>
          <p:nvPr/>
        </p:nvSpPr>
        <p:spPr>
          <a:xfrm>
            <a:off x="1920240" y="3822192"/>
            <a:ext cx="3749040" cy="274320"/>
          </a:xfrm>
          <a:prstGeom prst="rect">
            <a:avLst/>
          </a:prstGeom>
          <a:noFill/>
          <a:ln/>
        </p:spPr>
        <p:txBody>
          <a:bodyPr wrap="square" lIns="0" tIns="0" rIns="0" bIns="0" rtlCol="0" anchor="t"/>
          <a:lstStyle/>
          <a:p>
            <a:pPr indent="0" marL="0">
              <a:buNone/>
            </a:pPr>
            <a:r>
              <a:rPr lang="en-US" sz="1400" b="1" dirty="0">
                <a:solidFill>
                  <a:srgbClr val="FFFFFF"/>
                </a:solidFill>
              </a:rPr>
              <a:t>Growth and founder</a:t>
            </a:r>
            <a:endParaRPr lang="en-US" sz="1400" dirty="0"/>
          </a:p>
        </p:txBody>
      </p:sp>
      <p:sp>
        <p:nvSpPr>
          <p:cNvPr id="19" name="Text 17"/>
          <p:cNvSpPr txBox="1"/>
          <p:nvPr/>
        </p:nvSpPr>
        <p:spPr>
          <a:xfrm>
            <a:off x="1920240" y="4105656"/>
            <a:ext cx="3749040" cy="420624"/>
          </a:xfrm>
          <a:prstGeom prst="rect">
            <a:avLst/>
          </a:prstGeom>
          <a:noFill/>
          <a:ln/>
        </p:spPr>
        <p:txBody>
          <a:bodyPr wrap="square" lIns="0" tIns="0" rIns="0" bIns="0" rtlCol="0" anchor="t"/>
          <a:lstStyle/>
          <a:p>
            <a:pPr indent="0" marL="0">
              <a:buNone/>
            </a:pPr>
            <a:r>
              <a:rPr lang="en-US" sz="1100" dirty="0">
                <a:solidFill>
                  <a:srgbClr val="C9D3F0"/>
                </a:solidFill>
              </a:rPr>
              <a:t>Desk pilots, launch, CAC tests and founder salary</a:t>
            </a:r>
            <a:endParaRPr lang="en-US" sz="1100" dirty="0"/>
          </a:p>
        </p:txBody>
      </p:sp>
      <p:sp>
        <p:nvSpPr>
          <p:cNvPr id="20" name="use of funds 4"/>
          <p:cNvSpPr/>
          <p:nvPr/>
        </p:nvSpPr>
        <p:spPr>
          <a:xfrm>
            <a:off x="548640" y="4654296"/>
            <a:ext cx="5257800" cy="786384"/>
          </a:xfrm>
          <a:prstGeom prst="roundRect">
            <a:avLst>
              <a:gd name="adj" fmla="val 13953"/>
            </a:avLst>
          </a:prstGeom>
          <a:solidFill>
            <a:srgbClr val="FFFFFF">
              <a:alpha val="8000"/>
            </a:srgbClr>
          </a:solidFill>
          <a:ln w="9525">
            <a:solidFill>
              <a:srgbClr val="C9D3F0">
                <a:alpha val="25000"/>
              </a:srgbClr>
            </a:solidFill>
            <a:prstDash val="solid"/>
          </a:ln>
        </p:spPr>
      </p:sp>
      <p:sp>
        <p:nvSpPr>
          <p:cNvPr id="21" name="Text 19"/>
          <p:cNvSpPr txBox="1"/>
          <p:nvPr/>
        </p:nvSpPr>
        <p:spPr>
          <a:xfrm>
            <a:off x="749808" y="4727448"/>
            <a:ext cx="1188720" cy="411480"/>
          </a:xfrm>
          <a:prstGeom prst="rect">
            <a:avLst/>
          </a:prstGeom>
          <a:noFill/>
          <a:ln/>
        </p:spPr>
        <p:txBody>
          <a:bodyPr wrap="square" lIns="0" tIns="0" rIns="0" bIns="0" rtlCol="0" anchor="t"/>
          <a:lstStyle/>
          <a:p>
            <a:pPr indent="0" marL="0">
              <a:buNone/>
            </a:pPr>
            <a:r>
              <a:rPr lang="en-US" sz="2100" b="1" dirty="0">
                <a:solidFill>
                  <a:srgbClr val="F5A623"/>
                </a:solidFill>
                <a:latin typeface="Arial" pitchFamily="34" charset="0"/>
                <a:ea typeface="Arial" pitchFamily="34" charset="-122"/>
                <a:cs typeface="Arial" pitchFamily="34" charset="-120"/>
              </a:rPr>
              <a:t>$150K</a:t>
            </a:r>
            <a:endParaRPr lang="en-US" sz="2100" dirty="0"/>
          </a:p>
        </p:txBody>
      </p:sp>
      <p:sp>
        <p:nvSpPr>
          <p:cNvPr id="22" name="Text 20"/>
          <p:cNvSpPr txBox="1"/>
          <p:nvPr/>
        </p:nvSpPr>
        <p:spPr>
          <a:xfrm>
            <a:off x="749808" y="5129784"/>
            <a:ext cx="1188720" cy="256032"/>
          </a:xfrm>
          <a:prstGeom prst="rect">
            <a:avLst/>
          </a:prstGeom>
          <a:noFill/>
          <a:ln/>
        </p:spPr>
        <p:txBody>
          <a:bodyPr wrap="square" lIns="0" tIns="0" rIns="0" bIns="0" rtlCol="0" anchor="t"/>
          <a:lstStyle/>
          <a:p>
            <a:pPr indent="0" marL="0">
              <a:buNone/>
            </a:pPr>
            <a:r>
              <a:rPr lang="en-US" sz="1050" dirty="0">
                <a:solidFill>
                  <a:srgbClr val="C9D3F0"/>
                </a:solidFill>
              </a:rPr>
              <a:t>30%</a:t>
            </a:r>
            <a:endParaRPr lang="en-US" sz="1050" dirty="0"/>
          </a:p>
        </p:txBody>
      </p:sp>
      <p:sp>
        <p:nvSpPr>
          <p:cNvPr id="23" name="Text 21"/>
          <p:cNvSpPr txBox="1"/>
          <p:nvPr/>
        </p:nvSpPr>
        <p:spPr>
          <a:xfrm>
            <a:off x="1920240" y="4718304"/>
            <a:ext cx="3749040" cy="274320"/>
          </a:xfrm>
          <a:prstGeom prst="rect">
            <a:avLst/>
          </a:prstGeom>
          <a:noFill/>
          <a:ln/>
        </p:spPr>
        <p:txBody>
          <a:bodyPr wrap="square" lIns="0" tIns="0" rIns="0" bIns="0" rtlCol="0" anchor="t"/>
          <a:lstStyle/>
          <a:p>
            <a:pPr indent="0" marL="0">
              <a:buNone/>
            </a:pPr>
            <a:r>
              <a:rPr lang="en-US" sz="1400" b="1" dirty="0">
                <a:solidFill>
                  <a:srgbClr val="FFFFFF"/>
                </a:solidFill>
              </a:rPr>
              <a:t>Reserve and runway</a:t>
            </a:r>
            <a:endParaRPr lang="en-US" sz="1400" dirty="0"/>
          </a:p>
        </p:txBody>
      </p:sp>
      <p:sp>
        <p:nvSpPr>
          <p:cNvPr id="24" name="Text 22"/>
          <p:cNvSpPr txBox="1"/>
          <p:nvPr/>
        </p:nvSpPr>
        <p:spPr>
          <a:xfrm>
            <a:off x="1920240" y="5001768"/>
            <a:ext cx="3749040" cy="420624"/>
          </a:xfrm>
          <a:prstGeom prst="rect">
            <a:avLst/>
          </a:prstGeom>
          <a:noFill/>
          <a:ln/>
        </p:spPr>
        <p:txBody>
          <a:bodyPr wrap="square" lIns="0" tIns="0" rIns="0" bIns="0" rtlCol="0" anchor="t"/>
          <a:lstStyle/>
          <a:p>
            <a:pPr indent="0" marL="0">
              <a:buNone/>
            </a:pPr>
            <a:r>
              <a:rPr lang="en-US" sz="1100" dirty="0">
                <a:solidFill>
                  <a:srgbClr val="C9D3F0"/>
                </a:solidFill>
              </a:rPr>
              <a:t>Keeps cash above ₹51 L on the path to break-even</a:t>
            </a:r>
            <a:endParaRPr lang="en-US" sz="1100" dirty="0"/>
          </a:p>
        </p:txBody>
      </p:sp>
      <p:sp>
        <p:nvSpPr>
          <p:cNvPr id="25" name="milestones card"/>
          <p:cNvSpPr/>
          <p:nvPr/>
        </p:nvSpPr>
        <p:spPr>
          <a:xfrm>
            <a:off x="6035040" y="1965960"/>
            <a:ext cx="5605272" cy="3493008"/>
          </a:xfrm>
          <a:prstGeom prst="roundRect">
            <a:avLst>
              <a:gd name="adj" fmla="val 3141"/>
            </a:avLst>
          </a:prstGeom>
          <a:solidFill>
            <a:srgbClr val="FFFFFF"/>
          </a:solidFill>
          <a:ln/>
          <a:effectLst>
            <a:outerShdw sx="100000" sy="100000" kx="0" ky="0" algn="bl" rotWithShape="0" blurRad="127000" dist="38100" dir="5400000">
              <a:srgbClr val="0B0E26">
                <a:alpha val="10000"/>
              </a:srgbClr>
            </a:outerShdw>
          </a:effectLst>
        </p:spPr>
      </p:sp>
      <p:sp>
        <p:nvSpPr>
          <p:cNvPr id="26" name="Text 24"/>
          <p:cNvSpPr txBox="1"/>
          <p:nvPr/>
        </p:nvSpPr>
        <p:spPr>
          <a:xfrm>
            <a:off x="6291072" y="2121408"/>
            <a:ext cx="5029200" cy="274320"/>
          </a:xfrm>
          <a:prstGeom prst="rect">
            <a:avLst/>
          </a:prstGeom>
          <a:noFill/>
          <a:ln/>
        </p:spPr>
        <p:txBody>
          <a:bodyPr wrap="square" lIns="0" tIns="0" rIns="0" bIns="0" rtlCol="0" anchor="t"/>
          <a:lstStyle/>
          <a:p>
            <a:pPr indent="0" marL="0">
              <a:buNone/>
            </a:pPr>
            <a:r>
              <a:rPr lang="en-US" sz="1100" b="1" spc="150" kern="0" dirty="0">
                <a:solidFill>
                  <a:srgbClr val="4A3699"/>
                </a:solidFill>
              </a:rPr>
              <a:t>$500K DELIVERS BY MONTH 15</a:t>
            </a:r>
            <a:endParaRPr lang="en-US" sz="1100" dirty="0"/>
          </a:p>
        </p:txBody>
      </p:sp>
      <p:sp>
        <p:nvSpPr>
          <p:cNvPr id="27" name="Text 25"/>
          <p:cNvSpPr txBox="1"/>
          <p:nvPr/>
        </p:nvSpPr>
        <p:spPr>
          <a:xfrm>
            <a:off x="6291072" y="2487168"/>
            <a:ext cx="2560320" cy="411480"/>
          </a:xfrm>
          <a:prstGeom prst="rect">
            <a:avLst/>
          </a:prstGeom>
          <a:noFill/>
          <a:ln/>
        </p:spPr>
        <p:txBody>
          <a:bodyPr wrap="square" lIns="0" tIns="0" rIns="0" bIns="0" rtlCol="0" anchor="t"/>
          <a:lstStyle/>
          <a:p>
            <a:pPr indent="0" marL="0">
              <a:buNone/>
            </a:pPr>
            <a:r>
              <a:rPr lang="en-US" sz="2200" b="1" dirty="0">
                <a:solidFill>
                  <a:srgbClr val="0B0E26"/>
                </a:solidFill>
                <a:latin typeface="Arial" pitchFamily="34" charset="0"/>
                <a:ea typeface="Arial" pitchFamily="34" charset="-122"/>
                <a:cs typeface="Arial" pitchFamily="34" charset="-120"/>
              </a:rPr>
              <a:t>₹87 L</a:t>
            </a:r>
            <a:endParaRPr lang="en-US" sz="2200" dirty="0"/>
          </a:p>
        </p:txBody>
      </p:sp>
      <p:sp>
        <p:nvSpPr>
          <p:cNvPr id="28" name="Text 26"/>
          <p:cNvSpPr txBox="1"/>
          <p:nvPr/>
        </p:nvSpPr>
        <p:spPr>
          <a:xfrm>
            <a:off x="6291072" y="2898648"/>
            <a:ext cx="2560320" cy="365760"/>
          </a:xfrm>
          <a:prstGeom prst="rect">
            <a:avLst/>
          </a:prstGeom>
          <a:noFill/>
          <a:ln/>
        </p:spPr>
        <p:txBody>
          <a:bodyPr wrap="square" lIns="0" tIns="0" rIns="0" bIns="0" rtlCol="0" anchor="t"/>
          <a:lstStyle/>
          <a:p>
            <a:pPr indent="0" marL="0">
              <a:buNone/>
            </a:pPr>
            <a:r>
              <a:rPr lang="en-US" sz="1150" dirty="0">
                <a:solidFill>
                  <a:srgbClr val="434B6B"/>
                </a:solidFill>
              </a:rPr>
              <a:t>ARR run-rate (~$92K)</a:t>
            </a:r>
            <a:endParaRPr lang="en-US" sz="1150" dirty="0"/>
          </a:p>
        </p:txBody>
      </p:sp>
      <p:sp>
        <p:nvSpPr>
          <p:cNvPr id="29" name="Text 27"/>
          <p:cNvSpPr txBox="1"/>
          <p:nvPr/>
        </p:nvSpPr>
        <p:spPr>
          <a:xfrm>
            <a:off x="8988552" y="2487168"/>
            <a:ext cx="2560320" cy="411480"/>
          </a:xfrm>
          <a:prstGeom prst="rect">
            <a:avLst/>
          </a:prstGeom>
          <a:noFill/>
          <a:ln/>
        </p:spPr>
        <p:txBody>
          <a:bodyPr wrap="square" lIns="0" tIns="0" rIns="0" bIns="0" rtlCol="0" anchor="t"/>
          <a:lstStyle/>
          <a:p>
            <a:pPr indent="0" marL="0">
              <a:buNone/>
            </a:pPr>
            <a:r>
              <a:rPr lang="en-US" sz="2200" b="1" dirty="0">
                <a:solidFill>
                  <a:srgbClr val="0B0E26"/>
                </a:solidFill>
                <a:latin typeface="Arial" pitchFamily="34" charset="0"/>
                <a:ea typeface="Arial" pitchFamily="34" charset="-122"/>
                <a:cs typeface="Arial" pitchFamily="34" charset="-120"/>
              </a:rPr>
              <a:t>77</a:t>
            </a:r>
            <a:endParaRPr lang="en-US" sz="2200" dirty="0"/>
          </a:p>
        </p:txBody>
      </p:sp>
      <p:sp>
        <p:nvSpPr>
          <p:cNvPr id="30" name="Text 28"/>
          <p:cNvSpPr txBox="1"/>
          <p:nvPr/>
        </p:nvSpPr>
        <p:spPr>
          <a:xfrm>
            <a:off x="8988552" y="2898648"/>
            <a:ext cx="2560320" cy="365760"/>
          </a:xfrm>
          <a:prstGeom prst="rect">
            <a:avLst/>
          </a:prstGeom>
          <a:noFill/>
          <a:ln/>
        </p:spPr>
        <p:txBody>
          <a:bodyPr wrap="square" lIns="0" tIns="0" rIns="0" bIns="0" rtlCol="0" anchor="t"/>
          <a:lstStyle/>
          <a:p>
            <a:pPr indent="0" marL="0">
              <a:buNone/>
            </a:pPr>
            <a:r>
              <a:rPr lang="en-US" sz="1150" dirty="0">
                <a:solidFill>
                  <a:srgbClr val="434B6B"/>
                </a:solidFill>
              </a:rPr>
              <a:t>Desk teams (~243 seats)</a:t>
            </a:r>
            <a:endParaRPr lang="en-US" sz="1150" dirty="0"/>
          </a:p>
        </p:txBody>
      </p:sp>
      <p:sp>
        <p:nvSpPr>
          <p:cNvPr id="31" name="Text 29"/>
          <p:cNvSpPr txBox="1"/>
          <p:nvPr/>
        </p:nvSpPr>
        <p:spPr>
          <a:xfrm>
            <a:off x="6291072" y="3401568"/>
            <a:ext cx="2560320" cy="411480"/>
          </a:xfrm>
          <a:prstGeom prst="rect">
            <a:avLst/>
          </a:prstGeom>
          <a:noFill/>
          <a:ln/>
        </p:spPr>
        <p:txBody>
          <a:bodyPr wrap="square" lIns="0" tIns="0" rIns="0" bIns="0" rtlCol="0" anchor="t"/>
          <a:lstStyle/>
          <a:p>
            <a:pPr indent="0" marL="0">
              <a:buNone/>
            </a:pPr>
            <a:r>
              <a:rPr lang="en-US" sz="2200" b="1" dirty="0">
                <a:solidFill>
                  <a:srgbClr val="0B0E26"/>
                </a:solidFill>
                <a:latin typeface="Arial" pitchFamily="34" charset="0"/>
                <a:ea typeface="Arial" pitchFamily="34" charset="-122"/>
                <a:cs typeface="Arial" pitchFamily="34" charset="-120"/>
              </a:rPr>
              <a:t>2</a:t>
            </a:r>
            <a:endParaRPr lang="en-US" sz="2200" dirty="0"/>
          </a:p>
        </p:txBody>
      </p:sp>
      <p:sp>
        <p:nvSpPr>
          <p:cNvPr id="32" name="Text 30"/>
          <p:cNvSpPr txBox="1"/>
          <p:nvPr/>
        </p:nvSpPr>
        <p:spPr>
          <a:xfrm>
            <a:off x="6291072" y="3813048"/>
            <a:ext cx="2560320" cy="365760"/>
          </a:xfrm>
          <a:prstGeom prst="rect">
            <a:avLst/>
          </a:prstGeom>
          <a:noFill/>
          <a:ln/>
        </p:spPr>
        <p:txBody>
          <a:bodyPr wrap="square" lIns="0" tIns="0" rIns="0" bIns="0" rtlCol="0" anchor="t"/>
          <a:lstStyle/>
          <a:p>
            <a:pPr indent="0" marL="0">
              <a:buNone/>
            </a:pPr>
            <a:r>
              <a:rPr lang="en-US" sz="1150" dirty="0">
                <a:solidFill>
                  <a:srgbClr val="434B6B"/>
                </a:solidFill>
              </a:rPr>
              <a:t>paying partner integrations</a:t>
            </a:r>
            <a:endParaRPr lang="en-US" sz="1150" dirty="0"/>
          </a:p>
        </p:txBody>
      </p:sp>
      <p:sp>
        <p:nvSpPr>
          <p:cNvPr id="33" name="Text 31"/>
          <p:cNvSpPr txBox="1"/>
          <p:nvPr/>
        </p:nvSpPr>
        <p:spPr>
          <a:xfrm>
            <a:off x="8988552" y="3401568"/>
            <a:ext cx="2560320" cy="411480"/>
          </a:xfrm>
          <a:prstGeom prst="rect">
            <a:avLst/>
          </a:prstGeom>
          <a:noFill/>
          <a:ln/>
        </p:spPr>
        <p:txBody>
          <a:bodyPr wrap="square" lIns="0" tIns="0" rIns="0" bIns="0" rtlCol="0" anchor="t"/>
          <a:lstStyle/>
          <a:p>
            <a:pPr indent="0" marL="0">
              <a:buNone/>
            </a:pPr>
            <a:r>
              <a:rPr lang="en-US" sz="2200" b="1" dirty="0">
                <a:solidFill>
                  <a:srgbClr val="0B0E26"/>
                </a:solidFill>
                <a:latin typeface="Arial" pitchFamily="34" charset="0"/>
                <a:ea typeface="Arial" pitchFamily="34" charset="-122"/>
                <a:cs typeface="Arial" pitchFamily="34" charset="-120"/>
              </a:rPr>
              <a:t>RA</a:t>
            </a:r>
            <a:endParaRPr lang="en-US" sz="2200" dirty="0"/>
          </a:p>
        </p:txBody>
      </p:sp>
      <p:sp>
        <p:nvSpPr>
          <p:cNvPr id="34" name="Text 32"/>
          <p:cNvSpPr txBox="1"/>
          <p:nvPr/>
        </p:nvSpPr>
        <p:spPr>
          <a:xfrm>
            <a:off x="8988552" y="3813048"/>
            <a:ext cx="2560320" cy="365760"/>
          </a:xfrm>
          <a:prstGeom prst="rect">
            <a:avLst/>
          </a:prstGeom>
          <a:noFill/>
          <a:ln/>
        </p:spPr>
        <p:txBody>
          <a:bodyPr wrap="square" lIns="0" tIns="0" rIns="0" bIns="0" rtlCol="0" anchor="t"/>
          <a:lstStyle/>
          <a:p>
            <a:pPr indent="0" marL="0">
              <a:buNone/>
            </a:pPr>
            <a:r>
              <a:rPr lang="en-US" sz="1150" dirty="0">
                <a:solidFill>
                  <a:srgbClr val="434B6B"/>
                </a:solidFill>
              </a:rPr>
              <a:t>SEBI research-analyst registration</a:t>
            </a:r>
            <a:endParaRPr lang="en-US" sz="1150" dirty="0"/>
          </a:p>
        </p:txBody>
      </p:sp>
      <p:sp>
        <p:nvSpPr>
          <p:cNvPr id="35" name="Text 33"/>
          <p:cNvSpPr txBox="1"/>
          <p:nvPr/>
        </p:nvSpPr>
        <p:spPr>
          <a:xfrm>
            <a:off x="6291072" y="4315968"/>
            <a:ext cx="2560320" cy="411480"/>
          </a:xfrm>
          <a:prstGeom prst="rect">
            <a:avLst/>
          </a:prstGeom>
          <a:noFill/>
          <a:ln/>
        </p:spPr>
        <p:txBody>
          <a:bodyPr wrap="square" lIns="0" tIns="0" rIns="0" bIns="0" rtlCol="0" anchor="t"/>
          <a:lstStyle/>
          <a:p>
            <a:pPr indent="0" marL="0">
              <a:buNone/>
            </a:pPr>
            <a:r>
              <a:rPr lang="en-US" sz="2200" b="1" dirty="0">
                <a:solidFill>
                  <a:srgbClr val="0B0E26"/>
                </a:solidFill>
                <a:latin typeface="Arial" pitchFamily="34" charset="0"/>
                <a:ea typeface="Arial" pitchFamily="34" charset="-122"/>
                <a:cs typeface="Arial" pitchFamily="34" charset="-120"/>
              </a:rPr>
              <a:t>Public</a:t>
            </a:r>
            <a:endParaRPr lang="en-US" sz="2200" dirty="0"/>
          </a:p>
        </p:txBody>
      </p:sp>
      <p:sp>
        <p:nvSpPr>
          <p:cNvPr id="36" name="Text 34"/>
          <p:cNvSpPr txBox="1"/>
          <p:nvPr/>
        </p:nvSpPr>
        <p:spPr>
          <a:xfrm>
            <a:off x="6291072" y="4727448"/>
            <a:ext cx="2560320" cy="365760"/>
          </a:xfrm>
          <a:prstGeom prst="rect">
            <a:avLst/>
          </a:prstGeom>
          <a:noFill/>
          <a:ln/>
        </p:spPr>
        <p:txBody>
          <a:bodyPr wrap="square" lIns="0" tIns="0" rIns="0" bIns="0" rtlCol="0" anchor="t"/>
          <a:lstStyle/>
          <a:p>
            <a:pPr indent="0" marL="0">
              <a:buNone/>
            </a:pPr>
            <a:r>
              <a:rPr lang="en-US" sz="1150" dirty="0">
                <a:solidFill>
                  <a:srgbClr val="434B6B"/>
                </a:solidFill>
              </a:rPr>
              <a:t>head-to-head accuracy benchmark</a:t>
            </a:r>
            <a:endParaRPr lang="en-US" sz="1150" dirty="0"/>
          </a:p>
        </p:txBody>
      </p:sp>
      <p:sp>
        <p:nvSpPr>
          <p:cNvPr id="37" name="Text 35"/>
          <p:cNvSpPr txBox="1"/>
          <p:nvPr/>
        </p:nvSpPr>
        <p:spPr>
          <a:xfrm>
            <a:off x="8988552" y="4315968"/>
            <a:ext cx="2560320" cy="411480"/>
          </a:xfrm>
          <a:prstGeom prst="rect">
            <a:avLst/>
          </a:prstGeom>
          <a:noFill/>
          <a:ln/>
        </p:spPr>
        <p:txBody>
          <a:bodyPr wrap="square" lIns="0" tIns="0" rIns="0" bIns="0" rtlCol="0" anchor="t"/>
          <a:lstStyle/>
          <a:p>
            <a:pPr indent="0" marL="0">
              <a:buNone/>
            </a:pPr>
            <a:r>
              <a:rPr lang="en-US" sz="2200" b="1" dirty="0">
                <a:solidFill>
                  <a:srgbClr val="0B0E26"/>
                </a:solidFill>
                <a:latin typeface="Arial" pitchFamily="34" charset="0"/>
                <a:ea typeface="Arial" pitchFamily="34" charset="-122"/>
                <a:cs typeface="Arial" pitchFamily="34" charset="-120"/>
              </a:rPr>
              <a:t>M42</a:t>
            </a:r>
            <a:endParaRPr lang="en-US" sz="2200" dirty="0"/>
          </a:p>
        </p:txBody>
      </p:sp>
      <p:sp>
        <p:nvSpPr>
          <p:cNvPr id="38" name="Text 36"/>
          <p:cNvSpPr txBox="1"/>
          <p:nvPr/>
        </p:nvSpPr>
        <p:spPr>
          <a:xfrm>
            <a:off x="8988552" y="4727448"/>
            <a:ext cx="2560320" cy="365760"/>
          </a:xfrm>
          <a:prstGeom prst="rect">
            <a:avLst/>
          </a:prstGeom>
          <a:noFill/>
          <a:ln/>
        </p:spPr>
        <p:txBody>
          <a:bodyPr wrap="square" lIns="0" tIns="0" rIns="0" bIns="0" rtlCol="0" anchor="t"/>
          <a:lstStyle/>
          <a:p>
            <a:pPr indent="0" marL="0">
              <a:buNone/>
            </a:pPr>
            <a:r>
              <a:rPr lang="en-US" sz="1150" dirty="0">
                <a:solidFill>
                  <a:srgbClr val="434B6B"/>
                </a:solidFill>
              </a:rPr>
              <a:t>break-even without new funding</a:t>
            </a:r>
            <a:endParaRPr lang="en-US" sz="1150" dirty="0"/>
          </a:p>
        </p:txBody>
      </p:sp>
      <p:sp>
        <p:nvSpPr>
          <p:cNvPr id="39" name="Text 37"/>
          <p:cNvSpPr txBox="1"/>
          <p:nvPr/>
        </p:nvSpPr>
        <p:spPr>
          <a:xfrm>
            <a:off x="6035040" y="5532120"/>
            <a:ext cx="5605272" cy="457200"/>
          </a:xfrm>
          <a:prstGeom prst="rect">
            <a:avLst/>
          </a:prstGeom>
          <a:noFill/>
          <a:ln/>
        </p:spPr>
        <p:txBody>
          <a:bodyPr wrap="square" lIns="0" tIns="0" rIns="0" bIns="0" rtlCol="0" anchor="t"/>
          <a:lstStyle/>
          <a:p>
            <a:pPr indent="0" marL="0">
              <a:buNone/>
            </a:pPr>
            <a:r>
              <a:rPr lang="en-US" sz="1100" i="1" dirty="0">
                <a:solidFill>
                  <a:srgbClr val="C9D3F0"/>
                </a:solidFill>
              </a:rPr>
              <a:t>$400K first close: ₹68 L ARR at month 15, cash for ~31 months  ·  $700K: ₹1.06 Cr ARR, second seller from month 6</a:t>
            </a:r>
            <a:endParaRPr lang="en-US" sz="1100" dirty="0"/>
          </a:p>
        </p:txBody>
      </p:sp>
      <p:sp>
        <p:nvSpPr>
          <p:cNvPr id="40" name="Text 38"/>
          <p:cNvSpPr txBox="1"/>
          <p:nvPr/>
        </p:nvSpPr>
        <p:spPr>
          <a:xfrm>
            <a:off x="6035040" y="6053328"/>
            <a:ext cx="5605272" cy="320040"/>
          </a:xfrm>
          <a:prstGeom prst="rect">
            <a:avLst/>
          </a:prstGeom>
          <a:noFill/>
          <a:ln/>
        </p:spPr>
        <p:txBody>
          <a:bodyPr wrap="square" lIns="0" tIns="0" rIns="0" bIns="0" rtlCol="0" anchor="t"/>
          <a:lstStyle/>
          <a:p>
            <a:pPr algn="r" indent="0" marL="0">
              <a:buNone/>
            </a:pPr>
            <a:r>
              <a:rPr lang="en-US" sz="1500" b="1" dirty="0">
                <a:solidFill>
                  <a:srgbClr val="F5A623"/>
                </a:solidFill>
              </a:rPr>
              <a:t>Series A-ready in 15–18 months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0607040" cy="1783080"/>
          </a:xfrm>
          <a:prstGeom prst="rect">
            <a:avLst/>
          </a:prstGeom>
          <a:noFill/>
          <a:ln/>
        </p:spPr>
        <p:txBody>
          <a:bodyPr wrap="square" lIns="0" tIns="0" rIns="0" bIns="0" rtlCol="0" anchor="b"/>
          <a:lstStyle/>
          <a:p>
            <a:pPr algn="l" indent="0" marL="0">
              <a:buNone/>
            </a:pPr>
            <a:r>
              <a:rPr lang="en-US" sz="4000" b="1" dirty="0">
                <a:solidFill>
                  <a:schemeClr val="bg1"/>
                </a:solidFill>
              </a:rPr>
              <a:t>Every Indian investor deserves an analyst, a quant and a planner.</a:t>
            </a:r>
            <a:endParaRPr lang="en-US" sz="4000" dirty="0"/>
          </a:p>
        </p:txBody>
      </p:sp>
      <p:sp>
        <p:nvSpPr>
          <p:cNvPr id="3" name="Text 1"/>
          <p:cNvSpPr txBox="1"/>
          <p:nvPr/>
        </p:nvSpPr>
        <p:spPr>
          <a:xfrm>
            <a:off x="548640" y="3657600"/>
            <a:ext cx="8778240" cy="548640"/>
          </a:xfrm>
          <a:prstGeom prst="rect">
            <a:avLst/>
          </a:prstGeom>
          <a:noFill/>
          <a:ln/>
        </p:spPr>
        <p:txBody>
          <a:bodyPr wrap="square" lIns="0" tIns="0" rIns="0" bIns="0" rtlCol="0" anchor="t"/>
          <a:lstStyle/>
          <a:p>
            <a:pPr indent="0" marL="0">
              <a:buNone/>
            </a:pPr>
            <a:r>
              <a:rPr lang="en-US" sz="2600" b="1" dirty="0">
                <a:solidFill>
                  <a:srgbClr val="F5A623"/>
                </a:solidFill>
                <a:latin typeface="Arial" pitchFamily="34" charset="0"/>
                <a:ea typeface="Arial" pitchFamily="34" charset="-122"/>
                <a:cs typeface="Arial" pitchFamily="34" charset="-120"/>
              </a:rPr>
              <a:t>Anvest puts all three behind one question.</a:t>
            </a:r>
            <a:endParaRPr lang="en-US" sz="2600" dirty="0"/>
          </a:p>
        </p:txBody>
      </p:sp>
      <p:sp>
        <p:nvSpPr>
          <p:cNvPr id="4" name="Text 2"/>
          <p:cNvSpPr txBox="1"/>
          <p:nvPr/>
        </p:nvSpPr>
        <p:spPr>
          <a:xfrm>
            <a:off x="548640" y="4343400"/>
            <a:ext cx="8778240" cy="365760"/>
          </a:xfrm>
          <a:prstGeom prst="rect">
            <a:avLst/>
          </a:prstGeom>
          <a:noFill/>
          <a:ln/>
        </p:spPr>
        <p:txBody>
          <a:bodyPr wrap="square" lIns="0" tIns="0" rIns="0" bIns="0" rtlCol="0" anchor="t"/>
          <a:lstStyle/>
          <a:p>
            <a:pPr indent="0" marL="0">
              <a:buNone/>
            </a:pPr>
            <a:r>
              <a:rPr lang="en-US" sz="1800" dirty="0">
                <a:solidFill>
                  <a:srgbClr val="FFFFFF"/>
                </a:solidFill>
              </a:rPr>
              <a:t>Institutional depth. Retail reach. One verified data engine.</a:t>
            </a:r>
            <a:endParaRPr lang="en-US" sz="1800" dirty="0"/>
          </a:p>
        </p:txBody>
      </p:sp>
      <p:sp>
        <p:nvSpPr>
          <p:cNvPr id="5" name="Text 3"/>
          <p:cNvSpPr txBox="1"/>
          <p:nvPr/>
        </p:nvSpPr>
        <p:spPr>
          <a:xfrm>
            <a:off x="548640" y="4846320"/>
            <a:ext cx="8778240" cy="365760"/>
          </a:xfrm>
          <a:prstGeom prst="rect">
            <a:avLst/>
          </a:prstGeom>
          <a:noFill/>
          <a:ln/>
        </p:spPr>
        <p:txBody>
          <a:bodyPr wrap="square" lIns="0" tIns="0" rIns="0" bIns="0" rtlCol="0" anchor="t"/>
          <a:lstStyle/>
          <a:p>
            <a:pPr indent="0" marL="0">
              <a:buNone/>
            </a:pPr>
            <a:r>
              <a:rPr lang="en-US" sz="1500" dirty="0">
                <a:solidFill>
                  <a:srgbClr val="C9D3F0"/>
                </a:solidFill>
              </a:rPr>
              <a:t>Book a live demo and data-room walkthrough: harsh@anvest.in</a:t>
            </a:r>
            <a:endParaRPr lang="en-US" sz="1500" dirty="0"/>
          </a:p>
        </p:txBody>
      </p:sp>
      <p:sp>
        <p:nvSpPr>
          <p:cNvPr id="6" name="qr backing"/>
          <p:cNvSpPr/>
          <p:nvPr/>
        </p:nvSpPr>
        <p:spPr>
          <a:xfrm>
            <a:off x="9921240" y="3611880"/>
            <a:ext cx="1737360" cy="1737360"/>
          </a:xfrm>
          <a:prstGeom prst="roundRect">
            <a:avLst>
              <a:gd name="adj" fmla="val 5263"/>
            </a:avLst>
          </a:prstGeom>
          <a:solidFill>
            <a:srgbClr val="FFFFFF"/>
          </a:solidFill>
          <a:ln/>
        </p:spPr>
      </p:sp>
      <p:pic>
        <p:nvPicPr>
          <p:cNvPr id="7" name="qr code" descr="QR code to a live Anvest screen">    </p:cNvPr>
          <p:cNvPicPr>
            <a:picLocks noChangeAspect="1"/>
          </p:cNvPicPr>
          <p:nvPr/>
        </p:nvPicPr>
        <p:blipFill>
          <a:blip r:embed="rId1"/>
          <a:stretch>
            <a:fillRect/>
          </a:stretch>
        </p:blipFill>
        <p:spPr>
          <a:xfrm>
            <a:off x="10012680" y="3703320"/>
            <a:ext cx="1554480" cy="1554480"/>
          </a:xfrm>
          <a:prstGeom prst="rect">
            <a:avLst/>
          </a:prstGeom>
        </p:spPr>
      </p:pic>
      <p:sp>
        <p:nvSpPr>
          <p:cNvPr id="8" name="Text 5"/>
          <p:cNvSpPr txBox="1"/>
          <p:nvPr/>
        </p:nvSpPr>
        <p:spPr>
          <a:xfrm>
            <a:off x="9646920" y="5413248"/>
            <a:ext cx="2286000" cy="274320"/>
          </a:xfrm>
          <a:prstGeom prst="rect">
            <a:avLst/>
          </a:prstGeom>
          <a:noFill/>
          <a:ln/>
        </p:spPr>
        <p:txBody>
          <a:bodyPr wrap="square" lIns="0" tIns="0" rIns="0" bIns="0" rtlCol="0" anchor="t"/>
          <a:lstStyle/>
          <a:p>
            <a:pPr algn="ctr" indent="0" marL="0">
              <a:buNone/>
            </a:pPr>
            <a:r>
              <a:rPr lang="en-US" sz="1100" dirty="0">
                <a:solidFill>
                  <a:srgbClr val="C9D3F0"/>
                </a:solidFill>
              </a:rPr>
              <a:t>Scan: a live screen, no sign-in</a:t>
            </a:r>
            <a:endParaRPr lang="en-US" sz="1100" dirty="0"/>
          </a:p>
        </p:txBody>
      </p:sp>
      <p:sp>
        <p:nvSpPr>
          <p:cNvPr id="9" name="Text 6"/>
          <p:cNvSpPr txBox="1"/>
          <p:nvPr/>
        </p:nvSpPr>
        <p:spPr>
          <a:xfrm>
            <a:off x="548640" y="6172200"/>
            <a:ext cx="7315200" cy="274320"/>
          </a:xfrm>
          <a:prstGeom prst="rect">
            <a:avLst/>
          </a:prstGeom>
          <a:noFill/>
          <a:ln/>
        </p:spPr>
        <p:txBody>
          <a:bodyPr wrap="square" lIns="0" tIns="0" rIns="0" bIns="0" rtlCol="0" anchor="t"/>
          <a:lstStyle/>
          <a:p>
            <a:pPr indent="0" marL="0">
              <a:buNone/>
            </a:pPr>
            <a:r>
              <a:rPr lang="en-US" sz="1200" dirty="0">
                <a:solidFill>
                  <a:srgbClr val="C9D3F0"/>
                </a:solidFill>
              </a:rPr>
              <a:t>Harsh Bhardwaj  ·  harsh@anvest.in  ·  live at anvest.in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APPENDIX</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Trust and compliance, built in</a:t>
            </a:r>
            <a:endParaRPr lang="en-US" sz="3200" dirty="0"/>
          </a:p>
        </p:txBody>
      </p:sp>
      <p:sp>
        <p:nvSpPr>
          <p:cNvPr id="4" name="trust row 1"/>
          <p:cNvSpPr/>
          <p:nvPr/>
        </p:nvSpPr>
        <p:spPr>
          <a:xfrm>
            <a:off x="548640" y="1737360"/>
            <a:ext cx="11094415" cy="749808"/>
          </a:xfrm>
          <a:prstGeom prst="roundRect">
            <a:avLst>
              <a:gd name="adj" fmla="val 14634"/>
            </a:avLst>
          </a:prstGeom>
          <a:solidFill>
            <a:srgbClr val="FFFFFF"/>
          </a:solidFill>
          <a:ln/>
          <a:effectLst>
            <a:outerShdw sx="100000" sy="100000" kx="0" ky="0" algn="bl" rotWithShape="0" blurRad="127000" dist="38100" dir="5400000">
              <a:srgbClr val="0B0E26">
                <a:alpha val="10000"/>
              </a:srgbClr>
            </a:outerShdw>
          </a:effectLst>
        </p:spPr>
      </p:sp>
      <p:sp>
        <p:nvSpPr>
          <p:cNvPr id="5" name="LuBadgeCheck circle"/>
          <p:cNvSpPr/>
          <p:nvPr/>
        </p:nvSpPr>
        <p:spPr>
          <a:xfrm>
            <a:off x="731520" y="1865376"/>
            <a:ext cx="493776" cy="493776"/>
          </a:xfrm>
          <a:prstGeom prst="ellipse">
            <a:avLst/>
          </a:prstGeom>
          <a:solidFill>
            <a:srgbClr val="F4F7FC"/>
          </a:solidFill>
          <a:ln/>
        </p:spPr>
      </p:sp>
      <p:pic>
        <p:nvPicPr>
          <p:cNvPr id="6" name="LuBadgeCheck icon" descr="preencoded.png">    </p:cNvPr>
          <p:cNvPicPr>
            <a:picLocks noChangeAspect="1"/>
          </p:cNvPicPr>
          <p:nvPr/>
        </p:nvPicPr>
        <p:blipFill>
          <a:blip r:embed="rId1"/>
          <a:stretch>
            <a:fillRect/>
          </a:stretch>
        </p:blipFill>
        <p:spPr>
          <a:xfrm>
            <a:off x="854964" y="1988820"/>
            <a:ext cx="246888" cy="246888"/>
          </a:xfrm>
          <a:prstGeom prst="rect">
            <a:avLst/>
          </a:prstGeom>
        </p:spPr>
      </p:pic>
      <p:sp>
        <p:nvSpPr>
          <p:cNvPr id="7" name="Text 4"/>
          <p:cNvSpPr txBox="1"/>
          <p:nvPr/>
        </p:nvSpPr>
        <p:spPr>
          <a:xfrm>
            <a:off x="1417320" y="1737360"/>
            <a:ext cx="2194560" cy="749808"/>
          </a:xfrm>
          <a:prstGeom prst="rect">
            <a:avLst/>
          </a:prstGeom>
          <a:noFill/>
          <a:ln/>
        </p:spPr>
        <p:txBody>
          <a:bodyPr wrap="square" lIns="0" tIns="0" rIns="0" bIns="0" rtlCol="0" anchor="ctr"/>
          <a:lstStyle/>
          <a:p>
            <a:pPr indent="0" marL="0">
              <a:buNone/>
            </a:pPr>
            <a:r>
              <a:rPr lang="en-US" sz="1500" b="1" dirty="0">
                <a:solidFill>
                  <a:srgbClr val="0B0E26"/>
                </a:solidFill>
              </a:rPr>
              <a:t>Data accuracy</a:t>
            </a:r>
            <a:endParaRPr lang="en-US" sz="1500" dirty="0"/>
          </a:p>
        </p:txBody>
      </p:sp>
      <p:sp>
        <p:nvSpPr>
          <p:cNvPr id="8" name="Text 5"/>
          <p:cNvSpPr txBox="1"/>
          <p:nvPr/>
        </p:nvSpPr>
        <p:spPr>
          <a:xfrm>
            <a:off x="3657600" y="1737360"/>
            <a:ext cx="7772400" cy="749808"/>
          </a:xfrm>
          <a:prstGeom prst="rect">
            <a:avLst/>
          </a:prstGeom>
          <a:noFill/>
          <a:ln/>
        </p:spPr>
        <p:txBody>
          <a:bodyPr wrap="square" lIns="0" tIns="0" rIns="0" bIns="0" rtlCol="0" anchor="ctr"/>
          <a:lstStyle/>
          <a:p>
            <a:pPr indent="0" marL="0">
              <a:buNone/>
            </a:pPr>
            <a:r>
              <a:rPr lang="en-US" sz="1200" dirty="0">
                <a:solidFill>
                  <a:srgbClr val="434B6B"/>
                </a:solidFill>
              </a:rPr>
              <a:t>Answers show the filings they draw on and pass a numerical check against that evidence before they are returned. Coverage gaps are shown, not estimated. Corrections ship as versioned releases.</a:t>
            </a:r>
            <a:endParaRPr lang="en-US" sz="1200" dirty="0"/>
          </a:p>
        </p:txBody>
      </p:sp>
      <p:sp>
        <p:nvSpPr>
          <p:cNvPr id="9" name="trust row 2"/>
          <p:cNvSpPr/>
          <p:nvPr/>
        </p:nvSpPr>
        <p:spPr>
          <a:xfrm>
            <a:off x="548640" y="2606040"/>
            <a:ext cx="11094415" cy="749808"/>
          </a:xfrm>
          <a:prstGeom prst="roundRect">
            <a:avLst>
              <a:gd name="adj" fmla="val 14634"/>
            </a:avLst>
          </a:prstGeom>
          <a:solidFill>
            <a:srgbClr val="FFFFFF"/>
          </a:solidFill>
          <a:ln/>
          <a:effectLst>
            <a:outerShdw sx="100000" sy="100000" kx="0" ky="0" algn="bl" rotWithShape="0" blurRad="127000" dist="38100" dir="5400000">
              <a:srgbClr val="0B0E26">
                <a:alpha val="10000"/>
              </a:srgbClr>
            </a:outerShdw>
          </a:effectLst>
        </p:spPr>
      </p:sp>
      <p:sp>
        <p:nvSpPr>
          <p:cNvPr id="10" name="LuGauge circle"/>
          <p:cNvSpPr/>
          <p:nvPr/>
        </p:nvSpPr>
        <p:spPr>
          <a:xfrm>
            <a:off x="731520" y="2734056"/>
            <a:ext cx="493776" cy="493776"/>
          </a:xfrm>
          <a:prstGeom prst="ellipse">
            <a:avLst/>
          </a:prstGeom>
          <a:solidFill>
            <a:srgbClr val="F4F7FC"/>
          </a:solidFill>
          <a:ln/>
        </p:spPr>
      </p:sp>
      <p:pic>
        <p:nvPicPr>
          <p:cNvPr id="11" name="LuGauge icon" descr="preencoded.png">    </p:cNvPr>
          <p:cNvPicPr>
            <a:picLocks noChangeAspect="1"/>
          </p:cNvPicPr>
          <p:nvPr/>
        </p:nvPicPr>
        <p:blipFill>
          <a:blip r:embed="rId2"/>
          <a:stretch>
            <a:fillRect/>
          </a:stretch>
        </p:blipFill>
        <p:spPr>
          <a:xfrm>
            <a:off x="854964" y="2857500"/>
            <a:ext cx="246888" cy="246888"/>
          </a:xfrm>
          <a:prstGeom prst="rect">
            <a:avLst/>
          </a:prstGeom>
        </p:spPr>
      </p:pic>
      <p:sp>
        <p:nvSpPr>
          <p:cNvPr id="12" name="Text 8"/>
          <p:cNvSpPr txBox="1"/>
          <p:nvPr/>
        </p:nvSpPr>
        <p:spPr>
          <a:xfrm>
            <a:off x="1417320" y="2606040"/>
            <a:ext cx="2194560" cy="749808"/>
          </a:xfrm>
          <a:prstGeom prst="rect">
            <a:avLst/>
          </a:prstGeom>
          <a:noFill/>
          <a:ln/>
        </p:spPr>
        <p:txBody>
          <a:bodyPr wrap="square" lIns="0" tIns="0" rIns="0" bIns="0" rtlCol="0" anchor="ctr"/>
          <a:lstStyle/>
          <a:p>
            <a:pPr indent="0" marL="0">
              <a:buNone/>
            </a:pPr>
            <a:r>
              <a:rPr lang="en-US" sz="1500" b="1" dirty="0">
                <a:solidFill>
                  <a:srgbClr val="0B0E26"/>
                </a:solidFill>
              </a:rPr>
              <a:t>Verification proof</a:t>
            </a:r>
            <a:endParaRPr lang="en-US" sz="1500" dirty="0"/>
          </a:p>
        </p:txBody>
      </p:sp>
      <p:sp>
        <p:nvSpPr>
          <p:cNvPr id="13" name="Text 9"/>
          <p:cNvSpPr txBox="1"/>
          <p:nvPr/>
        </p:nvSpPr>
        <p:spPr>
          <a:xfrm>
            <a:off x="3657600" y="2606040"/>
            <a:ext cx="7772400" cy="749808"/>
          </a:xfrm>
          <a:prstGeom prst="rect">
            <a:avLst/>
          </a:prstGeom>
          <a:noFill/>
          <a:ln/>
        </p:spPr>
        <p:txBody>
          <a:bodyPr wrap="square" lIns="0" tIns="0" rIns="0" bIns="0" rtlCol="0" anchor="ctr"/>
          <a:lstStyle/>
          <a:p>
            <a:pPr indent="0" marL="0">
              <a:buNone/>
            </a:pPr>
            <a:r>
              <a:rPr lang="en-US" sz="1200" dirty="0">
                <a:solidFill>
                  <a:srgbClr val="434B6B"/>
                </a:solidFill>
              </a:rPr>
              <a:t>Source audit, 20 Oct 2026: revenue and PAT matched 50 of 50 recent consolidated NSE XBRL filings. This checks extraction, not full AI answers. A separate four-question live spot-check and a future independent benchmark cover answer quality.</a:t>
            </a:r>
            <a:endParaRPr lang="en-US" sz="1200" dirty="0"/>
          </a:p>
        </p:txBody>
      </p:sp>
      <p:sp>
        <p:nvSpPr>
          <p:cNvPr id="14" name="trust row 3"/>
          <p:cNvSpPr/>
          <p:nvPr/>
        </p:nvSpPr>
        <p:spPr>
          <a:xfrm>
            <a:off x="548640" y="3474720"/>
            <a:ext cx="11094415" cy="749808"/>
          </a:xfrm>
          <a:prstGeom prst="roundRect">
            <a:avLst>
              <a:gd name="adj" fmla="val 14634"/>
            </a:avLst>
          </a:prstGeom>
          <a:solidFill>
            <a:srgbClr val="FFFFFF"/>
          </a:solidFill>
          <a:ln/>
          <a:effectLst>
            <a:outerShdw sx="100000" sy="100000" kx="0" ky="0" algn="bl" rotWithShape="0" blurRad="127000" dist="38100" dir="5400000">
              <a:srgbClr val="0B0E26">
                <a:alpha val="10000"/>
              </a:srgbClr>
            </a:outerShdw>
          </a:effectLst>
        </p:spPr>
      </p:sp>
      <p:sp>
        <p:nvSpPr>
          <p:cNvPr id="15" name="LuScale circle"/>
          <p:cNvSpPr/>
          <p:nvPr/>
        </p:nvSpPr>
        <p:spPr>
          <a:xfrm>
            <a:off x="731520" y="3602736"/>
            <a:ext cx="493776" cy="493776"/>
          </a:xfrm>
          <a:prstGeom prst="ellipse">
            <a:avLst/>
          </a:prstGeom>
          <a:solidFill>
            <a:srgbClr val="F4F7FC"/>
          </a:solidFill>
          <a:ln/>
        </p:spPr>
      </p:sp>
      <p:pic>
        <p:nvPicPr>
          <p:cNvPr id="16" name="LuScale icon" descr="preencoded.png">    </p:cNvPr>
          <p:cNvPicPr>
            <a:picLocks noChangeAspect="1"/>
          </p:cNvPicPr>
          <p:nvPr/>
        </p:nvPicPr>
        <p:blipFill>
          <a:blip r:embed="rId3"/>
          <a:stretch>
            <a:fillRect/>
          </a:stretch>
        </p:blipFill>
        <p:spPr>
          <a:xfrm>
            <a:off x="854964" y="3726180"/>
            <a:ext cx="246888" cy="246888"/>
          </a:xfrm>
          <a:prstGeom prst="rect">
            <a:avLst/>
          </a:prstGeom>
        </p:spPr>
      </p:pic>
      <p:sp>
        <p:nvSpPr>
          <p:cNvPr id="17" name="Text 12"/>
          <p:cNvSpPr txBox="1"/>
          <p:nvPr/>
        </p:nvSpPr>
        <p:spPr>
          <a:xfrm>
            <a:off x="1417320" y="3474720"/>
            <a:ext cx="2194560" cy="749808"/>
          </a:xfrm>
          <a:prstGeom prst="rect">
            <a:avLst/>
          </a:prstGeom>
          <a:noFill/>
          <a:ln/>
        </p:spPr>
        <p:txBody>
          <a:bodyPr wrap="square" lIns="0" tIns="0" rIns="0" bIns="0" rtlCol="0" anchor="ctr"/>
          <a:lstStyle/>
          <a:p>
            <a:pPr indent="0" marL="0">
              <a:buNone/>
            </a:pPr>
            <a:r>
              <a:rPr lang="en-US" sz="1500" b="1" dirty="0">
                <a:solidFill>
                  <a:srgbClr val="0B0E26"/>
                </a:solidFill>
              </a:rPr>
              <a:t>Regulation</a:t>
            </a:r>
            <a:endParaRPr lang="en-US" sz="1500" dirty="0"/>
          </a:p>
        </p:txBody>
      </p:sp>
      <p:sp>
        <p:nvSpPr>
          <p:cNvPr id="18" name="Text 13"/>
          <p:cNvSpPr txBox="1"/>
          <p:nvPr/>
        </p:nvSpPr>
        <p:spPr>
          <a:xfrm>
            <a:off x="3657600" y="3474720"/>
            <a:ext cx="7772400" cy="749808"/>
          </a:xfrm>
          <a:prstGeom prst="rect">
            <a:avLst/>
          </a:prstGeom>
          <a:noFill/>
          <a:ln/>
        </p:spPr>
        <p:txBody>
          <a:bodyPr wrap="square" lIns="0" tIns="0" rIns="0" bIns="0" rtlCol="0" anchor="ctr"/>
          <a:lstStyle/>
          <a:p>
            <a:pPr indent="0" marL="0">
              <a:buNone/>
            </a:pPr>
            <a:r>
              <a:rPr lang="en-US" sz="1200" dirty="0">
                <a:solidFill>
                  <a:srgbClr val="434B6B"/>
                </a:solidFill>
              </a:rPr>
              <a:t>Informational by design: no buy, sell or hold calls and no target prices. SEBI RA registration is funded in this round and positions Anvest for the retail algo framework.</a:t>
            </a:r>
            <a:endParaRPr lang="en-US" sz="1200" dirty="0"/>
          </a:p>
        </p:txBody>
      </p:sp>
      <p:sp>
        <p:nvSpPr>
          <p:cNvPr id="19" name="trust row 4"/>
          <p:cNvSpPr/>
          <p:nvPr/>
        </p:nvSpPr>
        <p:spPr>
          <a:xfrm>
            <a:off x="548640" y="4343400"/>
            <a:ext cx="11094415" cy="749808"/>
          </a:xfrm>
          <a:prstGeom prst="roundRect">
            <a:avLst>
              <a:gd name="adj" fmla="val 14634"/>
            </a:avLst>
          </a:prstGeom>
          <a:solidFill>
            <a:srgbClr val="FFFFFF"/>
          </a:solidFill>
          <a:ln/>
          <a:effectLst>
            <a:outerShdw sx="100000" sy="100000" kx="0" ky="0" algn="bl" rotWithShape="0" blurRad="127000" dist="38100" dir="5400000">
              <a:srgbClr val="0B0E26">
                <a:alpha val="10000"/>
              </a:srgbClr>
            </a:outerShdw>
          </a:effectLst>
        </p:spPr>
      </p:sp>
      <p:sp>
        <p:nvSpPr>
          <p:cNvPr id="20" name="LuNewspaper circle"/>
          <p:cNvSpPr/>
          <p:nvPr/>
        </p:nvSpPr>
        <p:spPr>
          <a:xfrm>
            <a:off x="731520" y="4471416"/>
            <a:ext cx="493776" cy="493776"/>
          </a:xfrm>
          <a:prstGeom prst="ellipse">
            <a:avLst/>
          </a:prstGeom>
          <a:solidFill>
            <a:srgbClr val="F4F7FC"/>
          </a:solidFill>
          <a:ln/>
        </p:spPr>
      </p:sp>
      <p:pic>
        <p:nvPicPr>
          <p:cNvPr id="21" name="LuNewspaper icon" descr="preencoded.png">    </p:cNvPr>
          <p:cNvPicPr>
            <a:picLocks noChangeAspect="1"/>
          </p:cNvPicPr>
          <p:nvPr/>
        </p:nvPicPr>
        <p:blipFill>
          <a:blip r:embed="rId4"/>
          <a:stretch>
            <a:fillRect/>
          </a:stretch>
        </p:blipFill>
        <p:spPr>
          <a:xfrm>
            <a:off x="854964" y="4594860"/>
            <a:ext cx="246888" cy="246888"/>
          </a:xfrm>
          <a:prstGeom prst="rect">
            <a:avLst/>
          </a:prstGeom>
        </p:spPr>
      </p:pic>
      <p:sp>
        <p:nvSpPr>
          <p:cNvPr id="22" name="Text 16"/>
          <p:cNvSpPr txBox="1"/>
          <p:nvPr/>
        </p:nvSpPr>
        <p:spPr>
          <a:xfrm>
            <a:off x="1417320" y="4343400"/>
            <a:ext cx="2194560" cy="749808"/>
          </a:xfrm>
          <a:prstGeom prst="rect">
            <a:avLst/>
          </a:prstGeom>
          <a:noFill/>
          <a:ln/>
        </p:spPr>
        <p:txBody>
          <a:bodyPr wrap="square" lIns="0" tIns="0" rIns="0" bIns="0" rtlCol="0" anchor="ctr"/>
          <a:lstStyle/>
          <a:p>
            <a:pPr indent="0" marL="0">
              <a:buNone/>
            </a:pPr>
            <a:r>
              <a:rPr lang="en-US" sz="1500" b="1" dirty="0">
                <a:solidFill>
                  <a:srgbClr val="0B0E26"/>
                </a:solidFill>
              </a:rPr>
              <a:t>Market data</a:t>
            </a:r>
            <a:endParaRPr lang="en-US" sz="1500" dirty="0"/>
          </a:p>
        </p:txBody>
      </p:sp>
      <p:sp>
        <p:nvSpPr>
          <p:cNvPr id="23" name="Text 17"/>
          <p:cNvSpPr txBox="1"/>
          <p:nvPr/>
        </p:nvSpPr>
        <p:spPr>
          <a:xfrm>
            <a:off x="3657600" y="4343400"/>
            <a:ext cx="7772400" cy="749808"/>
          </a:xfrm>
          <a:prstGeom prst="rect">
            <a:avLst/>
          </a:prstGeom>
          <a:noFill/>
          <a:ln/>
        </p:spPr>
        <p:txBody>
          <a:bodyPr wrap="square" lIns="0" tIns="0" rIns="0" bIns="0" rtlCol="0" anchor="ctr"/>
          <a:lstStyle/>
          <a:p>
            <a:pPr indent="0" marL="0">
              <a:buNone/>
            </a:pPr>
            <a:r>
              <a:rPr lang="en-US" sz="1200" dirty="0">
                <a:solidFill>
                  <a:srgbClr val="434B6B"/>
                </a:solidFill>
              </a:rPr>
              <a:t>End-of-day exchange data today; licensed exchange and delayed feeds budgeted this round for Desk teams and public pages, plus broker links for retail portfolios.</a:t>
            </a:r>
            <a:endParaRPr lang="en-US" sz="1200" dirty="0"/>
          </a:p>
        </p:txBody>
      </p:sp>
      <p:sp>
        <p:nvSpPr>
          <p:cNvPr id="24" name="trust row 5"/>
          <p:cNvSpPr/>
          <p:nvPr/>
        </p:nvSpPr>
        <p:spPr>
          <a:xfrm>
            <a:off x="548640" y="5212080"/>
            <a:ext cx="11094415" cy="749808"/>
          </a:xfrm>
          <a:prstGeom prst="roundRect">
            <a:avLst>
              <a:gd name="adj" fmla="val 14634"/>
            </a:avLst>
          </a:prstGeom>
          <a:solidFill>
            <a:srgbClr val="FFFFFF"/>
          </a:solidFill>
          <a:ln/>
          <a:effectLst>
            <a:outerShdw sx="100000" sy="100000" kx="0" ky="0" algn="bl" rotWithShape="0" blurRad="127000" dist="38100" dir="5400000">
              <a:srgbClr val="0B0E26">
                <a:alpha val="10000"/>
              </a:srgbClr>
            </a:outerShdw>
          </a:effectLst>
        </p:spPr>
      </p:sp>
      <p:sp>
        <p:nvSpPr>
          <p:cNvPr id="25" name="LuUsers circle"/>
          <p:cNvSpPr/>
          <p:nvPr/>
        </p:nvSpPr>
        <p:spPr>
          <a:xfrm>
            <a:off x="731520" y="5340096"/>
            <a:ext cx="493776" cy="493776"/>
          </a:xfrm>
          <a:prstGeom prst="ellipse">
            <a:avLst/>
          </a:prstGeom>
          <a:solidFill>
            <a:srgbClr val="F4F7FC"/>
          </a:solidFill>
          <a:ln/>
        </p:spPr>
      </p:sp>
      <p:pic>
        <p:nvPicPr>
          <p:cNvPr id="26" name="LuUsers icon" descr="preencoded.png">    </p:cNvPr>
          <p:cNvPicPr>
            <a:picLocks noChangeAspect="1"/>
          </p:cNvPicPr>
          <p:nvPr/>
        </p:nvPicPr>
        <p:blipFill>
          <a:blip r:embed="rId5"/>
          <a:stretch>
            <a:fillRect/>
          </a:stretch>
        </p:blipFill>
        <p:spPr>
          <a:xfrm>
            <a:off x="854964" y="5463540"/>
            <a:ext cx="246888" cy="246888"/>
          </a:xfrm>
          <a:prstGeom prst="rect">
            <a:avLst/>
          </a:prstGeom>
        </p:spPr>
      </p:pic>
      <p:sp>
        <p:nvSpPr>
          <p:cNvPr id="27" name="Text 20"/>
          <p:cNvSpPr txBox="1"/>
          <p:nvPr/>
        </p:nvSpPr>
        <p:spPr>
          <a:xfrm>
            <a:off x="1417320" y="5212080"/>
            <a:ext cx="2194560" cy="749808"/>
          </a:xfrm>
          <a:prstGeom prst="rect">
            <a:avLst/>
          </a:prstGeom>
          <a:noFill/>
          <a:ln/>
        </p:spPr>
        <p:txBody>
          <a:bodyPr wrap="square" lIns="0" tIns="0" rIns="0" bIns="0" rtlCol="0" anchor="ctr"/>
          <a:lstStyle/>
          <a:p>
            <a:pPr indent="0" marL="0">
              <a:buNone/>
            </a:pPr>
            <a:r>
              <a:rPr lang="en-US" sz="1500" b="1" dirty="0">
                <a:solidFill>
                  <a:srgbClr val="0B0E26"/>
                </a:solidFill>
              </a:rPr>
              <a:t>Key-person depth</a:t>
            </a:r>
            <a:endParaRPr lang="en-US" sz="1500" dirty="0"/>
          </a:p>
        </p:txBody>
      </p:sp>
      <p:sp>
        <p:nvSpPr>
          <p:cNvPr id="28" name="Text 21"/>
          <p:cNvSpPr txBox="1"/>
          <p:nvPr/>
        </p:nvSpPr>
        <p:spPr>
          <a:xfrm>
            <a:off x="3657600" y="5212080"/>
            <a:ext cx="7772400" cy="749808"/>
          </a:xfrm>
          <a:prstGeom prst="rect">
            <a:avLst/>
          </a:prstGeom>
          <a:noFill/>
          <a:ln/>
        </p:spPr>
        <p:txBody>
          <a:bodyPr wrap="square" lIns="0" tIns="0" rIns="0" bIns="0" rtlCol="0" anchor="ctr"/>
          <a:lstStyle/>
          <a:p>
            <a:pPr indent="0" marL="0">
              <a:buNone/>
            </a:pPr>
            <a:r>
              <a:rPr lang="en-US" sz="1200" dirty="0">
                <a:solidFill>
                  <a:srgbClr val="434B6B"/>
                </a:solidFill>
              </a:rPr>
              <a:t>Runbooks, health-checked nightly jobs and documented architecture. The first hires add data and customer-facing depth.</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APPENDIX</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Operating model: the month-15 bridge</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554480"/>
                <a:gridCol w="5623560"/>
                <a:gridCol w="1298448"/>
                <a:gridCol w="1298448"/>
                <a:gridCol w="1316736"/>
              </a:tblGrid>
              <a:tr h="4114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Engine</a:t>
                      </a:r>
                      <a:endParaRPr lang="en-US" sz="12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Drivers</a:t>
                      </a:r>
                      <a:endParaRPr lang="en-US" sz="12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$400K</a:t>
                      </a:r>
                      <a:endParaRPr lang="en-US" sz="12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$500K</a:t>
                      </a:r>
                      <a:endParaRPr lang="en-US" sz="12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$700K</a:t>
                      </a:r>
                      <a:endParaRPr lang="en-US" sz="12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r>
              <a:tr h="713232">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Desk seats</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100" dirty="0">
                          <a:solidFill>
                            <a:srgbClr val="434B6B"/>
                          </a:solidFill>
                          <a:latin typeface="Calibri" pitchFamily="34" charset="0"/>
                          <a:ea typeface="Calibri" pitchFamily="34" charset="-122"/>
                          <a:cs typeface="Calibri" pitchFamily="34" charset="-120"/>
                        </a:rPr>
                        <a:t>Founder 1 team/month; each seller 4 teams/month once ramped; 1–5 seat plans averaging 3 seats; 2% monthly churn; ~₹2,245 net per seat</a:t>
                      </a:r>
                      <a:endParaRPr lang="en-US" sz="11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0E26"/>
                          </a:solidFill>
                          <a:latin typeface="Calibri" pitchFamily="34" charset="0"/>
                          <a:ea typeface="Calibri" pitchFamily="34" charset="-122"/>
                          <a:cs typeface="Calibri" pitchFamily="34" charset="-120"/>
                        </a:rPr>
                        <a:t>₹3.9 L</a:t>
                      </a:r>
                      <a:endParaRPr lang="en-US" sz="14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4A3699"/>
                          </a:solidFill>
                          <a:latin typeface="Calibri" pitchFamily="34" charset="0"/>
                          <a:ea typeface="Calibri" pitchFamily="34" charset="-122"/>
                          <a:cs typeface="Calibri" pitchFamily="34" charset="-120"/>
                        </a:rPr>
                        <a:t>₹5.5 L</a:t>
                      </a:r>
                      <a:endParaRPr lang="en-US" sz="14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0E26"/>
                          </a:solidFill>
                          <a:latin typeface="Calibri" pitchFamily="34" charset="0"/>
                          <a:ea typeface="Calibri" pitchFamily="34" charset="-122"/>
                          <a:cs typeface="Calibri" pitchFamily="34" charset="-120"/>
                        </a:rPr>
                        <a:t>₹6.2 L</a:t>
                      </a:r>
                      <a:endParaRPr lang="en-US" sz="14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Partners</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indent="0" marL="0">
                        <a:buNone/>
                      </a:pPr>
                      <a:r>
                        <a:rPr lang="en-US" sz="1100" dirty="0">
                          <a:solidFill>
                            <a:srgbClr val="434B6B"/>
                          </a:solidFill>
                          <a:latin typeface="Calibri" pitchFamily="34" charset="0"/>
                          <a:ea typeface="Calibri" pitchFamily="34" charset="-122"/>
                          <a:cs typeface="Calibri" pitchFamily="34" charset="-120"/>
                        </a:rPr>
                        <a:t>Paid from months 10 and 14 ($700K: 9, 12, 15); 4,000 active users each growing 6%/month; tiered ₹15 → ₹10 → ₹6 per user</a:t>
                      </a:r>
                      <a:endParaRPr lang="en-US" sz="11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r" indent="0" marL="0">
                        <a:buNone/>
                      </a:pPr>
                      <a:r>
                        <a:rPr lang="en-US" sz="1400" b="1" dirty="0">
                          <a:solidFill>
                            <a:srgbClr val="0B0E26"/>
                          </a:solidFill>
                          <a:latin typeface="Calibri" pitchFamily="34" charset="0"/>
                          <a:ea typeface="Calibri" pitchFamily="34" charset="-122"/>
                          <a:cs typeface="Calibri" pitchFamily="34" charset="-120"/>
                        </a:rPr>
                        <a:t>₹1.4 L</a:t>
                      </a:r>
                      <a:endParaRPr lang="en-US" sz="14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r" indent="0" marL="0">
                        <a:buNone/>
                      </a:pPr>
                      <a:r>
                        <a:rPr lang="en-US" sz="1400" b="1" dirty="0">
                          <a:solidFill>
                            <a:srgbClr val="4A3699"/>
                          </a:solidFill>
                          <a:latin typeface="Calibri" pitchFamily="34" charset="0"/>
                          <a:ea typeface="Calibri" pitchFamily="34" charset="-122"/>
                          <a:cs typeface="Calibri" pitchFamily="34" charset="-120"/>
                        </a:rPr>
                        <a:t>₹1.4 L</a:t>
                      </a:r>
                      <a:endParaRPr lang="en-US" sz="14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r" indent="0" marL="0">
                        <a:buNone/>
                      </a:pPr>
                      <a:r>
                        <a:rPr lang="en-US" sz="1400" b="1" dirty="0">
                          <a:solidFill>
                            <a:srgbClr val="0B0E26"/>
                          </a:solidFill>
                          <a:latin typeface="Calibri" pitchFamily="34" charset="0"/>
                          <a:ea typeface="Calibri" pitchFamily="34" charset="-122"/>
                          <a:cs typeface="Calibri" pitchFamily="34" charset="-120"/>
                        </a:rPr>
                        <a:t>₹2.2 L</a:t>
                      </a:r>
                      <a:endParaRPr lang="en-US" sz="14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r>
              <a:tr h="658368">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Retail</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100" dirty="0">
                          <a:solidFill>
                            <a:srgbClr val="434B6B"/>
                          </a:solidFill>
                          <a:latin typeface="Calibri" pitchFamily="34" charset="0"/>
                          <a:ea typeface="Calibri" pitchFamily="34" charset="-122"/>
                          <a:cs typeface="Calibri" pitchFamily="34" charset="-120"/>
                        </a:rPr>
                        <a:t>10,192 monthly users; 0.3% convert each month; 5% monthly churn; ~₹200 net per subscriber</a:t>
                      </a:r>
                      <a:endParaRPr lang="en-US" sz="11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0E26"/>
                          </a:solidFill>
                          <a:latin typeface="Calibri" pitchFamily="34" charset="0"/>
                          <a:ea typeface="Calibri" pitchFamily="34" charset="-122"/>
                          <a:cs typeface="Calibri" pitchFamily="34" charset="-120"/>
                        </a:rPr>
                        <a:t>₹0.4 L</a:t>
                      </a:r>
                      <a:endParaRPr lang="en-US" sz="14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4A3699"/>
                          </a:solidFill>
                          <a:latin typeface="Calibri" pitchFamily="34" charset="0"/>
                          <a:ea typeface="Calibri" pitchFamily="34" charset="-122"/>
                          <a:cs typeface="Calibri" pitchFamily="34" charset="-120"/>
                        </a:rPr>
                        <a:t>₹0.4 L</a:t>
                      </a:r>
                      <a:endParaRPr lang="en-US" sz="14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0E26"/>
                          </a:solidFill>
                          <a:latin typeface="Calibri" pitchFamily="34" charset="0"/>
                          <a:ea typeface="Calibri" pitchFamily="34" charset="-122"/>
                          <a:cs typeface="Calibri" pitchFamily="34" charset="-120"/>
                        </a:rPr>
                        <a:t>₹0.5 L</a:t>
                      </a:r>
                      <a:endParaRPr lang="en-US" sz="14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Net MRR, month 15</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4A3699"/>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After 18% GST and launch discounts; ARR run-rate = MRR × 12</a:t>
                      </a:r>
                      <a:endParaRPr lang="en-US" sz="11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4A3699"/>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₹5.7 L</a:t>
                      </a:r>
                      <a:endParaRPr lang="en-US" sz="15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4A3699"/>
                    </a:solidFill>
                  </a:tcPr>
                </a:tc>
                <a:tc>
                  <a:txBody>
                    <a:bodyPr/>
                    <a:lstStyle/>
                    <a:p>
                      <a:pPr algn="r" indent="0" marL="0">
                        <a:buNone/>
                      </a:pPr>
                      <a:r>
                        <a:rPr lang="en-US" sz="1500" b="1" dirty="0">
                          <a:solidFill>
                            <a:srgbClr val="F5A623"/>
                          </a:solidFill>
                          <a:latin typeface="Calibri" pitchFamily="34" charset="0"/>
                          <a:ea typeface="Calibri" pitchFamily="34" charset="-122"/>
                          <a:cs typeface="Calibri" pitchFamily="34" charset="-120"/>
                        </a:rPr>
                        <a:t>₹7.3 L</a:t>
                      </a:r>
                      <a:endParaRPr lang="en-US" sz="15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4A3699"/>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₹8.8 L</a:t>
                      </a:r>
                      <a:endParaRPr lang="en-US" sz="15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4A3699"/>
                    </a:solidFill>
                  </a:tcPr>
                </a:tc>
              </a:tr>
            </a:tbl>
          </a:graphicData>
        </a:graphic>
      </p:graphicFrame>
      <p:sp>
        <p:nvSpPr>
          <p:cNvPr id="5" name="unit economics band"/>
          <p:cNvSpPr/>
          <p:nvPr/>
        </p:nvSpPr>
        <p:spPr>
          <a:xfrm>
            <a:off x="548640" y="4846320"/>
            <a:ext cx="11094415" cy="1097280"/>
          </a:xfrm>
          <a:prstGeom prst="roundRect">
            <a:avLst>
              <a:gd name="adj" fmla="val 10000"/>
            </a:avLst>
          </a:prstGeom>
          <a:solidFill>
            <a:srgbClr val="F4F7FC"/>
          </a:solidFill>
          <a:ln/>
        </p:spPr>
      </p:sp>
      <p:sp>
        <p:nvSpPr>
          <p:cNvPr id="6" name="Text 3"/>
          <p:cNvSpPr txBox="1"/>
          <p:nvPr/>
        </p:nvSpPr>
        <p:spPr>
          <a:xfrm>
            <a:off x="822960" y="4846320"/>
            <a:ext cx="10545775" cy="1097280"/>
          </a:xfrm>
          <a:prstGeom prst="rect">
            <a:avLst/>
          </a:prstGeom>
          <a:noFill/>
          <a:ln/>
        </p:spPr>
        <p:txBody>
          <a:bodyPr wrap="square" lIns="0" tIns="0" rIns="0" bIns="0" rtlCol="0" anchor="ctr"/>
          <a:lstStyle/>
          <a:p>
            <a:pPr indent="0" marL="0">
              <a:buNone/>
            </a:pPr>
            <a:r>
              <a:rPr lang="en-US" sz="1250" b="1" dirty="0">
                <a:solidFill>
                  <a:srgbClr val="4A3699"/>
                </a:solidFill>
              </a:rPr>
              <a:t>Unit economics ($500K):  </a:t>
            </a:r>
            <a:pPr indent="0" marL="0">
              <a:buNone/>
            </a:pPr>
            <a:r>
              <a:rPr lang="en-US" sz="1250" dirty="0">
                <a:solidFill>
                  <a:srgbClr val="0B0E26"/>
                </a:solidFill>
              </a:rPr>
              <a:t>gross margin ~46% at month 15 (fixed serving and data costs on a small base), ~83% at year-5 scale  ·  Desk CAC ≈ ₹0.73 L per team, repaid by ~11 months of team revenue  ·  net burn ₹15.4 L/month at month 15; break-even ~month 42.</a:t>
            </a:r>
            <a:endParaRPr lang="en-US" sz="1250" dirty="0"/>
          </a:p>
        </p:txBody>
      </p:sp>
      <p:sp>
        <p:nvSpPr>
          <p:cNvPr id="7" name="Text 4"/>
          <p:cNvSpPr txBox="1"/>
          <p:nvPr/>
        </p:nvSpPr>
        <p:spPr>
          <a:xfrm>
            <a:off x="548640" y="6108192"/>
            <a:ext cx="10362895" cy="274320"/>
          </a:xfrm>
          <a:prstGeom prst="rect">
            <a:avLst/>
          </a:prstGeom>
          <a:noFill/>
          <a:ln/>
        </p:spPr>
        <p:txBody>
          <a:bodyPr wrap="square" lIns="0" tIns="0" rIns="0" bIns="0" rtlCol="0" anchor="t"/>
          <a:lstStyle/>
          <a:p>
            <a:pPr indent="0" marL="0">
              <a:buNone/>
            </a:pPr>
            <a:r>
              <a:rPr lang="en-US" sz="1000" i="1" dirty="0">
                <a:solidFill>
                  <a:srgbClr val="7C88B0"/>
                </a:solidFill>
              </a:rPr>
              <a:t>Bottom-up monthly operating model: 18% GST, payment fees, AI serving per answer, exchange data licence, compliance, salaries by hire month. ₹95 = $1.</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APPENDIX</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Long-term scenario: drivers and conditions</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280160"/>
                <a:gridCol w="1005840"/>
                <a:gridCol w="1417320"/>
                <a:gridCol w="1280160"/>
                <a:gridCol w="1280160"/>
                <a:gridCol w="1828800"/>
                <a:gridCol w="1463040"/>
                <a:gridCol w="1536192"/>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Exit</a:t>
                      </a:r>
                      <a:endParaRPr lang="en-US" sz="120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Sellers</a:t>
                      </a:r>
                      <a:endParaRPr lang="en-US" sz="120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Monthly users</a:t>
                      </a:r>
                      <a:endParaRPr lang="en-US" sz="120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Retail subs</a:t>
                      </a:r>
                      <a:endParaRPr lang="en-US" sz="120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Desk seats</a:t>
                      </a:r>
                      <a:endParaRPr lang="en-US" sz="120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Partners (users)</a:t>
                      </a:r>
                      <a:endParaRPr lang="en-US" sz="120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Strategy subs</a:t>
                      </a:r>
                      <a:endParaRPr lang="en-US" sz="120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ARR</a:t>
                      </a:r>
                      <a:endParaRPr lang="en-US" sz="120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r>
              <a:tr h="457200">
                <a:tc>
                  <a:txBody>
                    <a:bodyPr/>
                    <a:lstStyle/>
                    <a:p>
                      <a:pPr algn="l" indent="0" marL="0">
                        <a:buNone/>
                      </a:pPr>
                      <a:r>
                        <a:rPr lang="en-US" sz="1250" b="1" dirty="0">
                          <a:solidFill>
                            <a:srgbClr val="0B0E26"/>
                          </a:solidFill>
                          <a:latin typeface="Calibri" pitchFamily="34" charset="0"/>
                          <a:ea typeface="Calibri" pitchFamily="34" charset="-122"/>
                          <a:cs typeface="Calibri" pitchFamily="34" charset="-120"/>
                        </a:rPr>
                        <a:t>Month 15</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10,192</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186</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243</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2 (9,593)</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4A3699"/>
                          </a:solidFill>
                          <a:latin typeface="Calibri" pitchFamily="34" charset="0"/>
                          <a:ea typeface="Calibri" pitchFamily="34" charset="-122"/>
                          <a:cs typeface="Calibri" pitchFamily="34" charset="-120"/>
                        </a:rPr>
                        <a:t>₹87 L</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B0E26"/>
                          </a:solidFill>
                          <a:latin typeface="Calibri" pitchFamily="34" charset="0"/>
                          <a:ea typeface="Calibri" pitchFamily="34" charset="-122"/>
                          <a:cs typeface="Calibri" pitchFamily="34" charset="-120"/>
                        </a:rPr>
                        <a:t>Year 2</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24,015</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496</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532</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4 (37,466)</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362</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b="1" dirty="0">
                          <a:solidFill>
                            <a:srgbClr val="4A3699"/>
                          </a:solidFill>
                          <a:latin typeface="Calibri" pitchFamily="34" charset="0"/>
                          <a:ea typeface="Calibri" pitchFamily="34" charset="-122"/>
                          <a:cs typeface="Calibri" pitchFamily="34" charset="-120"/>
                        </a:rPr>
                        <a:t>₹2.3 Cr</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r>
              <a:tr h="457200">
                <a:tc>
                  <a:txBody>
                    <a:bodyPr/>
                    <a:lstStyle/>
                    <a:p>
                      <a:pPr algn="l" indent="0" marL="0">
                        <a:buNone/>
                      </a:pPr>
                      <a:r>
                        <a:rPr lang="en-US" sz="1250" b="1" dirty="0">
                          <a:solidFill>
                            <a:srgbClr val="0B0E26"/>
                          </a:solidFill>
                          <a:latin typeface="Calibri" pitchFamily="34" charset="0"/>
                          <a:ea typeface="Calibri" pitchFamily="34" charset="-122"/>
                          <a:cs typeface="Calibri" pitchFamily="34" charset="-120"/>
                        </a:rPr>
                        <a:t>Year 3</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84,016</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1,746</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1,395</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6 (94,213)</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2,810</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4A3699"/>
                          </a:solidFill>
                          <a:latin typeface="Calibri" pitchFamily="34" charset="0"/>
                          <a:ea typeface="Calibri" pitchFamily="34" charset="-122"/>
                          <a:cs typeface="Calibri" pitchFamily="34" charset="-120"/>
                        </a:rPr>
                        <a:t>₹6.5 Cr</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B0E26"/>
                          </a:solidFill>
                          <a:latin typeface="Calibri" pitchFamily="34" charset="0"/>
                          <a:ea typeface="Calibri" pitchFamily="34" charset="-122"/>
                          <a:cs typeface="Calibri" pitchFamily="34" charset="-120"/>
                        </a:rPr>
                        <a:t>Year 4</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13</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1,69,058</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4,519</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2,634</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8 (1,97,638)</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7,296</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algn="ctr" indent="0" marL="0">
                        <a:buNone/>
                      </a:pPr>
                      <a:r>
                        <a:rPr lang="en-US" sz="1250" b="1" dirty="0">
                          <a:solidFill>
                            <a:srgbClr val="4A3699"/>
                          </a:solidFill>
                          <a:latin typeface="Calibri" pitchFamily="34" charset="0"/>
                          <a:ea typeface="Calibri" pitchFamily="34" charset="-122"/>
                          <a:cs typeface="Calibri" pitchFamily="34" charset="-120"/>
                        </a:rPr>
                        <a:t>₹13.2 Cr</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r>
              <a:tr h="457200">
                <a:tc>
                  <a:txBody>
                    <a:bodyPr/>
                    <a:lstStyle/>
                    <a:p>
                      <a:pPr algn="l" indent="0" marL="0">
                        <a:buNone/>
                      </a:pPr>
                      <a:r>
                        <a:rPr lang="en-US" sz="1250" b="1" dirty="0">
                          <a:solidFill>
                            <a:srgbClr val="0B0E26"/>
                          </a:solidFill>
                          <a:latin typeface="Calibri" pitchFamily="34" charset="0"/>
                          <a:ea typeface="Calibri" pitchFamily="34" charset="-122"/>
                          <a:cs typeface="Calibri" pitchFamily="34" charset="-120"/>
                        </a:rPr>
                        <a:t>Year 5</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3,40,177</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9,635</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4,132</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10 (3,83,373)</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0E26"/>
                          </a:solidFill>
                          <a:latin typeface="Calibri" pitchFamily="34" charset="0"/>
                          <a:ea typeface="Calibri" pitchFamily="34" charset="-122"/>
                          <a:cs typeface="Calibri" pitchFamily="34" charset="-120"/>
                        </a:rPr>
                        <a:t>15,349</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4A3699"/>
                          </a:solidFill>
                          <a:latin typeface="Calibri" pitchFamily="34" charset="0"/>
                          <a:ea typeface="Calibri" pitchFamily="34" charset="-122"/>
                          <a:cs typeface="Calibri" pitchFamily="34" charset="-120"/>
                        </a:rPr>
                        <a:t>₹23.1 Cr</a:t>
                      </a:r>
                      <a:endParaRPr lang="en-US" sz="1250" dirty="0">
                        <a:latin typeface="Calibri" charset="0"/>
                        <a:ea typeface="Calibri" charset="0"/>
                        <a:cs typeface="Calibri" charset="0"/>
                      </a:endParaRPr>
                    </a:p>
                  </a:txBody>
                  <a:tcPr marL="101600" marR="101600" marT="38100" marB="381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526280"/>
            <a:ext cx="11094415" cy="329184"/>
          </a:xfrm>
          <a:prstGeom prst="rect">
            <a:avLst/>
          </a:prstGeom>
          <a:noFill/>
          <a:ln/>
        </p:spPr>
        <p:txBody>
          <a:bodyPr wrap="square" lIns="0" tIns="0" rIns="0" bIns="0" rtlCol="0" anchor="t"/>
          <a:lstStyle/>
          <a:p>
            <a:pPr indent="0" marL="0">
              <a:buNone/>
            </a:pPr>
            <a:r>
              <a:rPr lang="en-US" sz="1050" i="1" dirty="0">
                <a:solidFill>
                  <a:srgbClr val="7C88B0"/>
                </a:solidFill>
              </a:rPr>
              <a:t>Sellers include the founder. By Years 3–5, Desk targets broader distributors, family offices and CA/wealth practices, beyond the initial 21,750-seat SAM (4,132 seats would be 19% of it).</a:t>
            </a:r>
            <a:endParaRPr lang="en-US" sz="1050" dirty="0"/>
          </a:p>
        </p:txBody>
      </p:sp>
      <p:sp>
        <p:nvSpPr>
          <p:cNvPr id="6" name="condition 1"/>
          <p:cNvSpPr/>
          <p:nvPr/>
        </p:nvSpPr>
        <p:spPr>
          <a:xfrm>
            <a:off x="548640" y="4846320"/>
            <a:ext cx="3566160" cy="1143000"/>
          </a:xfrm>
          <a:prstGeom prst="roundRect">
            <a:avLst>
              <a:gd name="adj" fmla="val 9600"/>
            </a:avLst>
          </a:prstGeom>
          <a:solidFill>
            <a:srgbClr val="FFFFFF"/>
          </a:solidFill>
          <a:ln/>
          <a:effectLst>
            <a:outerShdw sx="100000" sy="100000" kx="0" ky="0" algn="bl" rotWithShape="0" blurRad="127000" dist="38100" dir="5400000">
              <a:srgbClr val="0B0E26">
                <a:alpha val="10000"/>
              </a:srgbClr>
            </a:outerShdw>
          </a:effectLst>
        </p:spPr>
      </p:sp>
      <p:sp>
        <p:nvSpPr>
          <p:cNvPr id="7" name="Text 4"/>
          <p:cNvSpPr txBox="1"/>
          <p:nvPr/>
        </p:nvSpPr>
        <p:spPr>
          <a:xfrm>
            <a:off x="777240" y="4937760"/>
            <a:ext cx="3154680" cy="274320"/>
          </a:xfrm>
          <a:prstGeom prst="rect">
            <a:avLst/>
          </a:prstGeom>
          <a:noFill/>
          <a:ln/>
        </p:spPr>
        <p:txBody>
          <a:bodyPr wrap="square" lIns="0" tIns="0" rIns="0" bIns="0" rtlCol="0" anchor="t"/>
          <a:lstStyle/>
          <a:p>
            <a:pPr indent="0" marL="0">
              <a:buNone/>
            </a:pPr>
            <a:r>
              <a:rPr lang="en-US" sz="1300" b="1" dirty="0">
                <a:solidFill>
                  <a:srgbClr val="0B0E26"/>
                </a:solidFill>
              </a:rPr>
              <a:t>Series A near month 18</a:t>
            </a:r>
            <a:endParaRPr lang="en-US" sz="1300" dirty="0"/>
          </a:p>
        </p:txBody>
      </p:sp>
      <p:sp>
        <p:nvSpPr>
          <p:cNvPr id="8" name="Text 5"/>
          <p:cNvSpPr txBox="1"/>
          <p:nvPr/>
        </p:nvSpPr>
        <p:spPr>
          <a:xfrm>
            <a:off x="777240" y="5230368"/>
            <a:ext cx="3154680" cy="731520"/>
          </a:xfrm>
          <a:prstGeom prst="rect">
            <a:avLst/>
          </a:prstGeom>
          <a:noFill/>
          <a:ln/>
        </p:spPr>
        <p:txBody>
          <a:bodyPr wrap="square" lIns="0" tIns="0" rIns="0" bIns="0" rtlCol="0" anchor="t"/>
          <a:lstStyle/>
          <a:p>
            <a:pPr indent="0" marL="0">
              <a:buNone/>
            </a:pPr>
            <a:r>
              <a:rPr lang="en-US" sz="1100" dirty="0">
                <a:solidFill>
                  <a:srgbClr val="434B6B"/>
                </a:solidFill>
              </a:rPr>
              <a:t>Funds sellers and marketing; monthly-user growth 11% a month to month 36, then 6%</a:t>
            </a:r>
            <a:endParaRPr lang="en-US" sz="1100" dirty="0"/>
          </a:p>
        </p:txBody>
      </p:sp>
      <p:sp>
        <p:nvSpPr>
          <p:cNvPr id="9" name="condition 2"/>
          <p:cNvSpPr/>
          <p:nvPr/>
        </p:nvSpPr>
        <p:spPr>
          <a:xfrm>
            <a:off x="4315968" y="4846320"/>
            <a:ext cx="3566160" cy="1143000"/>
          </a:xfrm>
          <a:prstGeom prst="roundRect">
            <a:avLst>
              <a:gd name="adj" fmla="val 9600"/>
            </a:avLst>
          </a:prstGeom>
          <a:solidFill>
            <a:srgbClr val="FFFFFF"/>
          </a:solidFill>
          <a:ln/>
          <a:effectLst>
            <a:outerShdw sx="100000" sy="100000" kx="0" ky="0" algn="bl" rotWithShape="0" blurRad="127000" dist="38100" dir="5400000">
              <a:srgbClr val="0B0E26">
                <a:alpha val="10000"/>
              </a:srgbClr>
            </a:outerShdw>
          </a:effectLst>
        </p:spPr>
      </p:sp>
      <p:sp>
        <p:nvSpPr>
          <p:cNvPr id="10" name="Text 7"/>
          <p:cNvSpPr txBox="1"/>
          <p:nvPr/>
        </p:nvSpPr>
        <p:spPr>
          <a:xfrm>
            <a:off x="4544568" y="4937760"/>
            <a:ext cx="3154680" cy="274320"/>
          </a:xfrm>
          <a:prstGeom prst="rect">
            <a:avLst/>
          </a:prstGeom>
          <a:noFill/>
          <a:ln/>
        </p:spPr>
        <p:txBody>
          <a:bodyPr wrap="square" lIns="0" tIns="0" rIns="0" bIns="0" rtlCol="0" anchor="t"/>
          <a:lstStyle/>
          <a:p>
            <a:pPr indent="0" marL="0">
              <a:buNone/>
            </a:pPr>
            <a:r>
              <a:rPr lang="en-US" sz="1300" b="1" dirty="0">
                <a:solidFill>
                  <a:srgbClr val="0B0E26"/>
                </a:solidFill>
              </a:rPr>
              <a:t>Partner contracts</a:t>
            </a:r>
            <a:endParaRPr lang="en-US" sz="1300" dirty="0"/>
          </a:p>
        </p:txBody>
      </p:sp>
      <p:sp>
        <p:nvSpPr>
          <p:cNvPr id="11" name="Text 8"/>
          <p:cNvSpPr txBox="1"/>
          <p:nvPr/>
        </p:nvSpPr>
        <p:spPr>
          <a:xfrm>
            <a:off x="4544568" y="5230368"/>
            <a:ext cx="3154680" cy="731520"/>
          </a:xfrm>
          <a:prstGeom prst="rect">
            <a:avLst/>
          </a:prstGeom>
          <a:noFill/>
          <a:ln/>
        </p:spPr>
        <p:txBody>
          <a:bodyPr wrap="square" lIns="0" tIns="0" rIns="0" bIns="0" rtlCol="0" anchor="t"/>
          <a:lstStyle/>
          <a:p>
            <a:pPr indent="0" marL="0">
              <a:buNone/>
            </a:pPr>
            <a:r>
              <a:rPr lang="en-US" sz="1100" dirty="0">
                <a:solidFill>
                  <a:srgbClr val="434B6B"/>
                </a:solidFill>
              </a:rPr>
              <a:t>Eight more integrations from month 20 at 10,000 users each, growing 5% a month; tiered ₹15 → ₹10 → ₹6 per active user</a:t>
            </a:r>
            <a:endParaRPr lang="en-US" sz="1100" dirty="0"/>
          </a:p>
        </p:txBody>
      </p:sp>
      <p:sp>
        <p:nvSpPr>
          <p:cNvPr id="12" name="condition 3"/>
          <p:cNvSpPr/>
          <p:nvPr/>
        </p:nvSpPr>
        <p:spPr>
          <a:xfrm>
            <a:off x="8083296" y="4846320"/>
            <a:ext cx="3566160" cy="1143000"/>
          </a:xfrm>
          <a:prstGeom prst="roundRect">
            <a:avLst>
              <a:gd name="adj" fmla="val 9600"/>
            </a:avLst>
          </a:prstGeom>
          <a:solidFill>
            <a:srgbClr val="FFFFFF"/>
          </a:solidFill>
          <a:ln/>
          <a:effectLst>
            <a:outerShdw sx="100000" sy="100000" kx="0" ky="0" algn="bl" rotWithShape="0" blurRad="127000" dist="38100" dir="5400000">
              <a:srgbClr val="0B0E26">
                <a:alpha val="10000"/>
              </a:srgbClr>
            </a:outerShdw>
          </a:effectLst>
        </p:spPr>
      </p:sp>
      <p:sp>
        <p:nvSpPr>
          <p:cNvPr id="13" name="Text 10"/>
          <p:cNvSpPr txBox="1"/>
          <p:nvPr/>
        </p:nvSpPr>
        <p:spPr>
          <a:xfrm>
            <a:off x="8311896" y="4937760"/>
            <a:ext cx="3154680" cy="274320"/>
          </a:xfrm>
          <a:prstGeom prst="rect">
            <a:avLst/>
          </a:prstGeom>
          <a:noFill/>
          <a:ln/>
        </p:spPr>
        <p:txBody>
          <a:bodyPr wrap="square" lIns="0" tIns="0" rIns="0" bIns="0" rtlCol="0" anchor="t"/>
          <a:lstStyle/>
          <a:p>
            <a:pPr indent="0" marL="0">
              <a:buNone/>
            </a:pPr>
            <a:r>
              <a:rPr lang="en-US" sz="1300" b="1" dirty="0">
                <a:solidFill>
                  <a:srgbClr val="0B0E26"/>
                </a:solidFill>
              </a:rPr>
              <a:t>Strategies</a:t>
            </a:r>
            <a:endParaRPr lang="en-US" sz="1300" dirty="0"/>
          </a:p>
        </p:txBody>
      </p:sp>
      <p:sp>
        <p:nvSpPr>
          <p:cNvPr id="14" name="Text 11"/>
          <p:cNvSpPr txBox="1"/>
          <p:nvPr/>
        </p:nvSpPr>
        <p:spPr>
          <a:xfrm>
            <a:off x="8311896" y="5230368"/>
            <a:ext cx="3154680" cy="731520"/>
          </a:xfrm>
          <a:prstGeom prst="rect">
            <a:avLst/>
          </a:prstGeom>
          <a:noFill/>
          <a:ln/>
        </p:spPr>
        <p:txBody>
          <a:bodyPr wrap="square" lIns="0" tIns="0" rIns="0" bIns="0" rtlCol="0" anchor="t"/>
          <a:lstStyle/>
          <a:p>
            <a:pPr indent="0" marL="0">
              <a:buNone/>
            </a:pPr>
            <a:r>
              <a:rPr lang="en-US" sz="1100" dirty="0">
                <a:solidFill>
                  <a:srgbClr val="434B6B"/>
                </a:solidFill>
              </a:rPr>
              <a:t>From month 22 only after SEBI RA registration, exchange empanelment and a partner broker; ₹250 a month net per subscriber</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APPENDIX</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Every capability has a commercial job</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840480"/>
                <a:gridCol w="4937760"/>
                <a:gridCol w="2313432"/>
              </a:tblGrid>
              <a:tr h="51206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Product capability and roadmap</a:t>
                      </a:r>
                      <a:endParaRPr lang="en-US" sz="125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Commercial role</a:t>
                      </a:r>
                      <a:endParaRPr lang="en-US" sz="125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Engine</a:t>
                      </a:r>
                      <a:endParaRPr lang="en-US" sz="125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1E2761"/>
                    </a:solidFill>
                  </a:tcPr>
                </a:tc>
              </a:tr>
              <a:tr h="512064">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AI research and screening</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0B0E26"/>
                          </a:solidFill>
                          <a:latin typeface="Calibri" pitchFamily="34" charset="0"/>
                          <a:ea typeface="Calibri" pitchFamily="34" charset="-122"/>
                          <a:cs typeface="Calibri" pitchFamily="34" charset="-120"/>
                        </a:rPr>
                        <a:t>Frequent research tasks that drive subscriptions</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4A3699"/>
                          </a:solidFill>
                          <a:latin typeface="Calibri" pitchFamily="34" charset="0"/>
                          <a:ea typeface="Calibri" pitchFamily="34" charset="-122"/>
                          <a:cs typeface="Calibri" pitchFamily="34" charset="-120"/>
                        </a:rPr>
                        <a:t>Plus, Pro, Desk</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Backtesting, paper trading and journal</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indent="0" marL="0">
                        <a:buNone/>
                      </a:pPr>
                      <a:r>
                        <a:rPr lang="en-US" sz="1300" dirty="0">
                          <a:solidFill>
                            <a:srgbClr val="0B0E26"/>
                          </a:solidFill>
                          <a:latin typeface="Calibri" pitchFamily="34" charset="0"/>
                          <a:ea typeface="Calibri" pitchFamily="34" charset="-122"/>
                          <a:cs typeface="Calibri" pitchFamily="34" charset="-120"/>
                        </a:rPr>
                        <a:t>Repeated strategy evaluation and a reason to upgrade</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indent="0" marL="0">
                        <a:buNone/>
                      </a:pPr>
                      <a:r>
                        <a:rPr lang="en-US" sz="1300" dirty="0">
                          <a:solidFill>
                            <a:srgbClr val="4A3699"/>
                          </a:solidFill>
                          <a:latin typeface="Calibri" pitchFamily="34" charset="0"/>
                          <a:ea typeface="Calibri" pitchFamily="34" charset="-122"/>
                          <a:cs typeface="Calibri" pitchFamily="34" charset="-120"/>
                        </a:rPr>
                        <a:t>Pro</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r>
              <a:tr h="512064">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Wealth planning, calculators and guides</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0B0E26"/>
                          </a:solidFill>
                          <a:latin typeface="Calibri" pitchFamily="34" charset="0"/>
                          <a:ea typeface="Calibri" pitchFamily="34" charset="-122"/>
                          <a:cs typeface="Calibri" pitchFamily="34" charset="-120"/>
                        </a:rPr>
                        <a:t>Organic discovery and recurring planning needs</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4A3699"/>
                          </a:solidFill>
                          <a:latin typeface="Calibri" pitchFamily="34" charset="0"/>
                          <a:ea typeface="Calibri" pitchFamily="34" charset="-122"/>
                          <a:cs typeface="Calibri" pitchFamily="34" charset="-120"/>
                        </a:rPr>
                        <a:t>Free to Plus</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Coverage lists; team workspaces planned</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indent="0" marL="0">
                        <a:buNone/>
                      </a:pPr>
                      <a:r>
                        <a:rPr lang="en-US" sz="1300" dirty="0">
                          <a:solidFill>
                            <a:srgbClr val="0B0E26"/>
                          </a:solidFill>
                          <a:latin typeface="Calibri" pitchFamily="34" charset="0"/>
                          <a:ea typeface="Calibri" pitchFamily="34" charset="-122"/>
                          <a:cs typeface="Calibri" pitchFamily="34" charset="-120"/>
                        </a:rPr>
                        <a:t>Higher-value team subscriptions</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indent="0" marL="0">
                        <a:buNone/>
                      </a:pPr>
                      <a:r>
                        <a:rPr lang="en-US" sz="1300" dirty="0">
                          <a:solidFill>
                            <a:srgbClr val="4A3699"/>
                          </a:solidFill>
                          <a:latin typeface="Calibri" pitchFamily="34" charset="0"/>
                          <a:ea typeface="Calibri" pitchFamily="34" charset="-122"/>
                          <a:cs typeface="Calibri" pitchFamily="34" charset="-120"/>
                        </a:rPr>
                        <a:t>Desk</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r>
              <a:tr h="512064">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Broker and API integration</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0B0E26"/>
                          </a:solidFill>
                          <a:latin typeface="Calibri" pitchFamily="34" charset="0"/>
                          <a:ea typeface="Calibri" pitchFamily="34" charset="-122"/>
                          <a:cs typeface="Calibri" pitchFamily="34" charset="-120"/>
                        </a:rPr>
                        <a:t>Paid distribution of proven research capabilities</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c>
                  <a:txBody>
                    <a:bodyPr/>
                    <a:lstStyle/>
                    <a:p>
                      <a:pPr indent="0" marL="0">
                        <a:buNone/>
                      </a:pPr>
                      <a:r>
                        <a:rPr lang="en-US" sz="1300" dirty="0">
                          <a:solidFill>
                            <a:srgbClr val="4A3699"/>
                          </a:solidFill>
                          <a:latin typeface="Calibri" pitchFamily="34" charset="0"/>
                          <a:ea typeface="Calibri" pitchFamily="34" charset="-122"/>
                          <a:cs typeface="Calibri" pitchFamily="34" charset="-120"/>
                        </a:rPr>
                        <a:t>Partners and API</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0B0E26"/>
                          </a:solidFill>
                          <a:latin typeface="Calibri" pitchFamily="34" charset="0"/>
                          <a:ea typeface="Calibri" pitchFamily="34" charset="-122"/>
                          <a:cs typeface="Calibri" pitchFamily="34" charset="-120"/>
                        </a:rPr>
                        <a:t>Approved strategy execution (future)</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indent="0" marL="0">
                        <a:buNone/>
                      </a:pPr>
                      <a:r>
                        <a:rPr lang="en-US" sz="1300" dirty="0">
                          <a:solidFill>
                            <a:srgbClr val="0B0E26"/>
                          </a:solidFill>
                          <a:latin typeface="Calibri" pitchFamily="34" charset="0"/>
                          <a:ea typeface="Calibri" pitchFamily="34" charset="-122"/>
                          <a:cs typeface="Calibri" pitchFamily="34" charset="-120"/>
                        </a:rPr>
                        <a:t>Monetising an established testing workflow</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c>
                  <a:txBody>
                    <a:bodyPr/>
                    <a:lstStyle/>
                    <a:p>
                      <a:pPr indent="0" marL="0">
                        <a:buNone/>
                      </a:pPr>
                      <a:r>
                        <a:rPr lang="en-US" sz="1300" dirty="0">
                          <a:solidFill>
                            <a:srgbClr val="4A3699"/>
                          </a:solidFill>
                          <a:latin typeface="Calibri" pitchFamily="34" charset="0"/>
                          <a:ea typeface="Calibri" pitchFamily="34" charset="-122"/>
                          <a:cs typeface="Calibri" pitchFamily="34" charset="-120"/>
                        </a:rPr>
                        <a:t>Strategies</a:t>
                      </a:r>
                      <a:endParaRPr lang="en-US" sz="1300" dirty="0">
                        <a:latin typeface="Calibri" charset="0"/>
                        <a:ea typeface="Calibri" charset="0"/>
                        <a:cs typeface="Calibri" charset="0"/>
                      </a:endParaRPr>
                    </a:p>
                  </a:txBody>
                  <a:tcPr marL="127000" marR="127000" marT="50800" marB="50800" anchor="ctr">
                    <a:lnL w="9525" cap="flat" cmpd="sng" algn="ctr">
                      <a:solidFill>
                        <a:srgbClr val="E3E7F2"/>
                      </a:solidFill>
                      <a:prstDash val="solid"/>
                      <a:round/>
                      <a:headEnd type="none" w="med" len="med"/>
                      <a:tailEnd type="none" w="med" len="med"/>
                    </a:lnL>
                    <a:lnR w="9525" cap="flat" cmpd="sng" algn="ctr">
                      <a:solidFill>
                        <a:srgbClr val="E3E7F2"/>
                      </a:solidFill>
                      <a:prstDash val="solid"/>
                      <a:round/>
                      <a:headEnd type="none" w="med" len="med"/>
                      <a:tailEnd type="none" w="med" len="med"/>
                    </a:lnR>
                    <a:lnT w="9525" cap="flat" cmpd="sng" algn="ctr">
                      <a:solidFill>
                        <a:srgbClr val="E3E7F2"/>
                      </a:solidFill>
                      <a:prstDash val="solid"/>
                      <a:round/>
                      <a:headEnd type="none" w="med" len="med"/>
                      <a:tailEnd type="none" w="med" len="med"/>
                    </a:lnT>
                    <a:lnB w="9525" cap="flat" cmpd="sng" algn="ctr">
                      <a:solidFill>
                        <a:srgbClr val="E3E7F2"/>
                      </a:solidFill>
                      <a:prstDash val="solid"/>
                      <a:round/>
                      <a:headEnd type="none" w="med" len="med"/>
                      <a:tailEnd type="none" w="med" len="med"/>
                    </a:lnB>
                    <a:solidFill>
                      <a:srgbClr val="F4F7FC"/>
                    </a:solidFill>
                  </a:tcPr>
                </a:tc>
              </a:tr>
            </a:tbl>
          </a:graphicData>
        </a:graphic>
      </p:graphicFrame>
      <p:sp>
        <p:nvSpPr>
          <p:cNvPr id="5" name="Text 2"/>
          <p:cNvSpPr txBox="1"/>
          <p:nvPr/>
        </p:nvSpPr>
        <p:spPr>
          <a:xfrm>
            <a:off x="548640" y="5532120"/>
            <a:ext cx="10362895" cy="457200"/>
          </a:xfrm>
          <a:prstGeom prst="rect">
            <a:avLst/>
          </a:prstGeom>
          <a:noFill/>
          <a:ln/>
        </p:spPr>
        <p:txBody>
          <a:bodyPr wrap="square" lIns="0" tIns="0" rIns="0" bIns="0" rtlCol="0" anchor="t"/>
          <a:lstStyle/>
          <a:p>
            <a:pPr indent="0" marL="0">
              <a:buNone/>
            </a:pPr>
            <a:r>
              <a:rPr lang="en-US" sz="1250" i="1" dirty="0">
                <a:solidFill>
                  <a:srgbClr val="434B6B"/>
                </a:solidFill>
              </a:rPr>
              <a:t>Free calculators, IPO pages and curated screens support organic discovery. Conversion into Pro and Desk will be measured after launch.</a:t>
            </a:r>
            <a:endParaRPr lang="en-US" sz="12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APPENDIX</a:t>
            </a:r>
            <a:endParaRPr lang="en-US" sz="1200" dirty="0"/>
          </a:p>
        </p:txBody>
      </p:sp>
      <p:sp>
        <p:nvSpPr>
          <p:cNvPr id="3" name="Text 0"/>
          <p:cNvSpPr/>
          <p:nvPr>
            <p:ph idx="101" type="title" hasCustomPrompt="1"/>
          </p:nvPr>
        </p:nvSpPr>
        <p:spPr>
          <a:xfrm>
            <a:off x="548640" y="676656"/>
            <a:ext cx="11094415" cy="868680"/>
          </a:xfrm>
          <a:prstGeom prst="rect">
            <a:avLst/>
          </a:prstGeom>
          <a:noFill/>
          <a:ln/>
        </p:spPr>
        <p:txBody>
          <a:bodyPr wrap="square" lIns="0" tIns="0" rIns="0" bIns="0" rtlCol="0" anchor="t"/>
          <a:lstStyle/>
          <a:p>
            <a:pPr algn="l" indent="0" marL="0">
              <a:buNone/>
            </a:pPr>
            <a:r>
              <a:rPr lang="en-US" sz="3200" b="1" dirty="0">
                <a:solidFill>
                  <a:schemeClr val="tx1"/>
                </a:solidFill>
              </a:rPr>
              <a:t>Roadmap</a:t>
            </a:r>
            <a:endParaRPr lang="en-US" sz="3200" dirty="0"/>
          </a:p>
        </p:txBody>
      </p:sp>
      <p:sp>
        <p:nvSpPr>
          <p:cNvPr id="4" name="roadmap M1–6"/>
          <p:cNvSpPr/>
          <p:nvPr/>
        </p:nvSpPr>
        <p:spPr>
          <a:xfrm>
            <a:off x="548640" y="1691640"/>
            <a:ext cx="11094415" cy="749808"/>
          </a:xfrm>
          <a:prstGeom prst="roundRect">
            <a:avLst>
              <a:gd name="adj" fmla="val 14634"/>
            </a:avLst>
          </a:prstGeom>
          <a:solidFill>
            <a:srgbClr val="FFFFFF"/>
          </a:solidFill>
          <a:ln/>
          <a:effectLst>
            <a:outerShdw sx="100000" sy="100000" kx="0" ky="0" algn="bl" rotWithShape="0" blurRad="127000" dist="38100" dir="5400000">
              <a:srgbClr val="0B0E26">
                <a:alpha val="10000"/>
              </a:srgbClr>
            </a:outerShdw>
          </a:effectLst>
        </p:spPr>
      </p:sp>
      <p:sp>
        <p:nvSpPr>
          <p:cNvPr id="5" name="roadmap tag M1–6"/>
          <p:cNvSpPr/>
          <p:nvPr/>
        </p:nvSpPr>
        <p:spPr>
          <a:xfrm>
            <a:off x="731520" y="1810512"/>
            <a:ext cx="868680" cy="512064"/>
          </a:xfrm>
          <a:prstGeom prst="roundRect">
            <a:avLst>
              <a:gd name="adj" fmla="val 17857"/>
            </a:avLst>
          </a:prstGeom>
          <a:solidFill>
            <a:srgbClr val="F5A623"/>
          </a:solidFill>
          <a:ln/>
        </p:spPr>
      </p:sp>
      <p:sp>
        <p:nvSpPr>
          <p:cNvPr id="6" name="Text 4"/>
          <p:cNvSpPr txBox="1"/>
          <p:nvPr/>
        </p:nvSpPr>
        <p:spPr>
          <a:xfrm>
            <a:off x="731520" y="1810512"/>
            <a:ext cx="868680" cy="512064"/>
          </a:xfrm>
          <a:prstGeom prst="rect">
            <a:avLst/>
          </a:prstGeom>
          <a:noFill/>
          <a:ln/>
        </p:spPr>
        <p:txBody>
          <a:bodyPr wrap="square" lIns="0" tIns="0" rIns="0" bIns="0" rtlCol="0" anchor="ctr"/>
          <a:lstStyle/>
          <a:p>
            <a:pPr algn="ctr" indent="0" marL="0">
              <a:buNone/>
            </a:pPr>
            <a:r>
              <a:rPr lang="en-US" sz="1400" b="1" dirty="0">
                <a:solidFill>
                  <a:srgbClr val="0B0E26"/>
                </a:solidFill>
              </a:rPr>
              <a:t>M1–6</a:t>
            </a:r>
            <a:endParaRPr lang="en-US" sz="1400" dirty="0"/>
          </a:p>
        </p:txBody>
      </p:sp>
      <p:sp>
        <p:nvSpPr>
          <p:cNvPr id="7" name="Text 5"/>
          <p:cNvSpPr txBox="1"/>
          <p:nvPr/>
        </p:nvSpPr>
        <p:spPr>
          <a:xfrm>
            <a:off x="1828800" y="1801368"/>
            <a:ext cx="2377440" cy="237744"/>
          </a:xfrm>
          <a:prstGeom prst="rect">
            <a:avLst/>
          </a:prstGeom>
          <a:noFill/>
          <a:ln/>
        </p:spPr>
        <p:txBody>
          <a:bodyPr wrap="square" lIns="0" tIns="0" rIns="0" bIns="0" rtlCol="0" anchor="t"/>
          <a:lstStyle/>
          <a:p>
            <a:pPr indent="0" marL="0">
              <a:buNone/>
            </a:pPr>
            <a:r>
              <a:rPr lang="en-US" sz="1000" b="1" spc="150" kern="0" dirty="0">
                <a:solidFill>
                  <a:srgbClr val="4A3699"/>
                </a:solidFill>
              </a:rPr>
              <a:t>THIS ROUND</a:t>
            </a:r>
            <a:endParaRPr lang="en-US" sz="1000" dirty="0"/>
          </a:p>
        </p:txBody>
      </p:sp>
      <p:sp>
        <p:nvSpPr>
          <p:cNvPr id="8" name="Text 6"/>
          <p:cNvSpPr txBox="1"/>
          <p:nvPr/>
        </p:nvSpPr>
        <p:spPr>
          <a:xfrm>
            <a:off x="1828800" y="2039112"/>
            <a:ext cx="2377440" cy="329184"/>
          </a:xfrm>
          <a:prstGeom prst="rect">
            <a:avLst/>
          </a:prstGeom>
          <a:noFill/>
          <a:ln/>
        </p:spPr>
        <p:txBody>
          <a:bodyPr wrap="square" lIns="0" tIns="0" rIns="0" bIns="0" rtlCol="0" anchor="t"/>
          <a:lstStyle/>
          <a:p>
            <a:pPr indent="0" marL="0">
              <a:buNone/>
            </a:pPr>
            <a:r>
              <a:rPr lang="en-US" sz="1400" b="1" dirty="0">
                <a:solidFill>
                  <a:srgbClr val="0B0E26"/>
                </a:solidFill>
              </a:rPr>
              <a:t>Launch</a:t>
            </a:r>
            <a:endParaRPr lang="en-US" sz="1400" dirty="0"/>
          </a:p>
        </p:txBody>
      </p:sp>
      <p:sp>
        <p:nvSpPr>
          <p:cNvPr id="9" name="Text 7"/>
          <p:cNvSpPr txBox="1"/>
          <p:nvPr/>
        </p:nvSpPr>
        <p:spPr>
          <a:xfrm>
            <a:off x="4389120" y="1691640"/>
            <a:ext cx="7040880" cy="749808"/>
          </a:xfrm>
          <a:prstGeom prst="rect">
            <a:avLst/>
          </a:prstGeom>
          <a:noFill/>
          <a:ln/>
        </p:spPr>
        <p:txBody>
          <a:bodyPr wrap="square" lIns="0" tIns="0" rIns="0" bIns="0" rtlCol="0" anchor="ctr"/>
          <a:lstStyle/>
          <a:p>
            <a:pPr indent="0" marL="0">
              <a:buNone/>
            </a:pPr>
            <a:r>
              <a:rPr lang="en-US" sz="1250" dirty="0">
                <a:solidFill>
                  <a:srgbClr val="434B6B"/>
                </a:solidFill>
              </a:rPr>
              <a:t>Checkout live, 10 paid Desk pilots, ~16 Desk teams, full sitemap, benchmark published, SEBI RA application filed.</a:t>
            </a:r>
            <a:endParaRPr lang="en-US" sz="1250" dirty="0"/>
          </a:p>
        </p:txBody>
      </p:sp>
      <p:sp>
        <p:nvSpPr>
          <p:cNvPr id="10" name="roadmap M7–12"/>
          <p:cNvSpPr/>
          <p:nvPr/>
        </p:nvSpPr>
        <p:spPr>
          <a:xfrm>
            <a:off x="548640" y="2560320"/>
            <a:ext cx="11094415" cy="749808"/>
          </a:xfrm>
          <a:prstGeom prst="roundRect">
            <a:avLst>
              <a:gd name="adj" fmla="val 14634"/>
            </a:avLst>
          </a:prstGeom>
          <a:solidFill>
            <a:srgbClr val="FFFFFF"/>
          </a:solidFill>
          <a:ln/>
          <a:effectLst>
            <a:outerShdw sx="100000" sy="100000" kx="0" ky="0" algn="bl" rotWithShape="0" blurRad="127000" dist="38100" dir="5400000">
              <a:srgbClr val="0B0E26">
                <a:alpha val="10000"/>
              </a:srgbClr>
            </a:outerShdw>
          </a:effectLst>
        </p:spPr>
      </p:sp>
      <p:sp>
        <p:nvSpPr>
          <p:cNvPr id="11" name="roadmap tag M7–12"/>
          <p:cNvSpPr/>
          <p:nvPr/>
        </p:nvSpPr>
        <p:spPr>
          <a:xfrm>
            <a:off x="731520" y="2679192"/>
            <a:ext cx="868680" cy="512064"/>
          </a:xfrm>
          <a:prstGeom prst="roundRect">
            <a:avLst>
              <a:gd name="adj" fmla="val 17857"/>
            </a:avLst>
          </a:prstGeom>
          <a:solidFill>
            <a:srgbClr val="F5A623"/>
          </a:solidFill>
          <a:ln/>
        </p:spPr>
      </p:sp>
      <p:sp>
        <p:nvSpPr>
          <p:cNvPr id="12" name="Text 10"/>
          <p:cNvSpPr txBox="1"/>
          <p:nvPr/>
        </p:nvSpPr>
        <p:spPr>
          <a:xfrm>
            <a:off x="731520" y="2679192"/>
            <a:ext cx="868680" cy="512064"/>
          </a:xfrm>
          <a:prstGeom prst="rect">
            <a:avLst/>
          </a:prstGeom>
          <a:noFill/>
          <a:ln/>
        </p:spPr>
        <p:txBody>
          <a:bodyPr wrap="square" lIns="0" tIns="0" rIns="0" bIns="0" rtlCol="0" anchor="ctr"/>
          <a:lstStyle/>
          <a:p>
            <a:pPr algn="ctr" indent="0" marL="0">
              <a:buNone/>
            </a:pPr>
            <a:r>
              <a:rPr lang="en-US" sz="1400" b="1" dirty="0">
                <a:solidFill>
                  <a:srgbClr val="0B0E26"/>
                </a:solidFill>
              </a:rPr>
              <a:t>M7–12</a:t>
            </a:r>
            <a:endParaRPr lang="en-US" sz="1400" dirty="0"/>
          </a:p>
        </p:txBody>
      </p:sp>
      <p:sp>
        <p:nvSpPr>
          <p:cNvPr id="13" name="Text 11"/>
          <p:cNvSpPr txBox="1"/>
          <p:nvPr/>
        </p:nvSpPr>
        <p:spPr>
          <a:xfrm>
            <a:off x="1828800" y="2670048"/>
            <a:ext cx="2377440" cy="237744"/>
          </a:xfrm>
          <a:prstGeom prst="rect">
            <a:avLst/>
          </a:prstGeom>
          <a:noFill/>
          <a:ln/>
        </p:spPr>
        <p:txBody>
          <a:bodyPr wrap="square" lIns="0" tIns="0" rIns="0" bIns="0" rtlCol="0" anchor="t"/>
          <a:lstStyle/>
          <a:p>
            <a:pPr indent="0" marL="0">
              <a:buNone/>
            </a:pPr>
            <a:r>
              <a:rPr lang="en-US" sz="1000" b="1" spc="150" kern="0" dirty="0">
                <a:solidFill>
                  <a:srgbClr val="4A3699"/>
                </a:solidFill>
              </a:rPr>
              <a:t>THIS ROUND</a:t>
            </a:r>
            <a:endParaRPr lang="en-US" sz="1000" dirty="0"/>
          </a:p>
        </p:txBody>
      </p:sp>
      <p:sp>
        <p:nvSpPr>
          <p:cNvPr id="14" name="Text 12"/>
          <p:cNvSpPr txBox="1"/>
          <p:nvPr/>
        </p:nvSpPr>
        <p:spPr>
          <a:xfrm>
            <a:off x="1828800" y="2907792"/>
            <a:ext cx="2377440" cy="329184"/>
          </a:xfrm>
          <a:prstGeom prst="rect">
            <a:avLst/>
          </a:prstGeom>
          <a:noFill/>
          <a:ln/>
        </p:spPr>
        <p:txBody>
          <a:bodyPr wrap="square" lIns="0" tIns="0" rIns="0" bIns="0" rtlCol="0" anchor="t"/>
          <a:lstStyle/>
          <a:p>
            <a:pPr indent="0" marL="0">
              <a:buNone/>
            </a:pPr>
            <a:r>
              <a:rPr lang="en-US" sz="1400" b="1" dirty="0">
                <a:solidFill>
                  <a:srgbClr val="0B0E26"/>
                </a:solidFill>
              </a:rPr>
              <a:t>Scale Desk, first partner</a:t>
            </a:r>
            <a:endParaRPr lang="en-US" sz="1400" dirty="0"/>
          </a:p>
        </p:txBody>
      </p:sp>
      <p:sp>
        <p:nvSpPr>
          <p:cNvPr id="15" name="Text 13"/>
          <p:cNvSpPr txBox="1"/>
          <p:nvPr/>
        </p:nvSpPr>
        <p:spPr>
          <a:xfrm>
            <a:off x="4389120" y="2560320"/>
            <a:ext cx="7040880" cy="749808"/>
          </a:xfrm>
          <a:prstGeom prst="rect">
            <a:avLst/>
          </a:prstGeom>
          <a:noFill/>
          <a:ln/>
        </p:spPr>
        <p:txBody>
          <a:bodyPr wrap="square" lIns="0" tIns="0" rIns="0" bIns="0" rtlCol="0" anchor="ctr"/>
          <a:lstStyle/>
          <a:p>
            <a:pPr indent="0" marL="0">
              <a:buNone/>
            </a:pPr>
            <a:r>
              <a:rPr lang="en-US" sz="1250" dirty="0">
                <a:solidFill>
                  <a:srgbClr val="434B6B"/>
                </a:solidFill>
              </a:rPr>
              <a:t>~54 Desk teams, second seller from month 9, first paid broker or wealth-app integration live (month 10), SEBI RA approval.</a:t>
            </a:r>
            <a:endParaRPr lang="en-US" sz="1250" dirty="0"/>
          </a:p>
        </p:txBody>
      </p:sp>
      <p:sp>
        <p:nvSpPr>
          <p:cNvPr id="16" name="roadmap M13–18"/>
          <p:cNvSpPr/>
          <p:nvPr/>
        </p:nvSpPr>
        <p:spPr>
          <a:xfrm>
            <a:off x="548640" y="3429000"/>
            <a:ext cx="11094415" cy="749808"/>
          </a:xfrm>
          <a:prstGeom prst="roundRect">
            <a:avLst>
              <a:gd name="adj" fmla="val 14634"/>
            </a:avLst>
          </a:prstGeom>
          <a:solidFill>
            <a:srgbClr val="FFFFFF"/>
          </a:solidFill>
          <a:ln/>
          <a:effectLst>
            <a:outerShdw sx="100000" sy="100000" kx="0" ky="0" algn="bl" rotWithShape="0" blurRad="127000" dist="38100" dir="5400000">
              <a:srgbClr val="0B0E26">
                <a:alpha val="10000"/>
              </a:srgbClr>
            </a:outerShdw>
          </a:effectLst>
        </p:spPr>
      </p:sp>
      <p:sp>
        <p:nvSpPr>
          <p:cNvPr id="17" name="roadmap tag M13–18"/>
          <p:cNvSpPr/>
          <p:nvPr/>
        </p:nvSpPr>
        <p:spPr>
          <a:xfrm>
            <a:off x="731520" y="3547872"/>
            <a:ext cx="868680" cy="512064"/>
          </a:xfrm>
          <a:prstGeom prst="roundRect">
            <a:avLst>
              <a:gd name="adj" fmla="val 17857"/>
            </a:avLst>
          </a:prstGeom>
          <a:solidFill>
            <a:srgbClr val="F5A623"/>
          </a:solidFill>
          <a:ln/>
        </p:spPr>
      </p:sp>
      <p:sp>
        <p:nvSpPr>
          <p:cNvPr id="18" name="Text 16"/>
          <p:cNvSpPr txBox="1"/>
          <p:nvPr/>
        </p:nvSpPr>
        <p:spPr>
          <a:xfrm>
            <a:off x="731520" y="3547872"/>
            <a:ext cx="868680" cy="512064"/>
          </a:xfrm>
          <a:prstGeom prst="rect">
            <a:avLst/>
          </a:prstGeom>
          <a:noFill/>
          <a:ln/>
        </p:spPr>
        <p:txBody>
          <a:bodyPr wrap="square" lIns="0" tIns="0" rIns="0" bIns="0" rtlCol="0" anchor="ctr"/>
          <a:lstStyle/>
          <a:p>
            <a:pPr algn="ctr" indent="0" marL="0">
              <a:buNone/>
            </a:pPr>
            <a:r>
              <a:rPr lang="en-US" sz="1400" b="1" dirty="0">
                <a:solidFill>
                  <a:srgbClr val="0B0E26"/>
                </a:solidFill>
              </a:rPr>
              <a:t>M13–18</a:t>
            </a:r>
            <a:endParaRPr lang="en-US" sz="1400" dirty="0"/>
          </a:p>
        </p:txBody>
      </p:sp>
      <p:sp>
        <p:nvSpPr>
          <p:cNvPr id="19" name="Text 17"/>
          <p:cNvSpPr txBox="1"/>
          <p:nvPr/>
        </p:nvSpPr>
        <p:spPr>
          <a:xfrm>
            <a:off x="1828800" y="3538728"/>
            <a:ext cx="2377440" cy="237744"/>
          </a:xfrm>
          <a:prstGeom prst="rect">
            <a:avLst/>
          </a:prstGeom>
          <a:noFill/>
          <a:ln/>
        </p:spPr>
        <p:txBody>
          <a:bodyPr wrap="square" lIns="0" tIns="0" rIns="0" bIns="0" rtlCol="0" anchor="t"/>
          <a:lstStyle/>
          <a:p>
            <a:pPr indent="0" marL="0">
              <a:buNone/>
            </a:pPr>
            <a:r>
              <a:rPr lang="en-US" sz="1000" b="1" spc="150" kern="0" dirty="0">
                <a:solidFill>
                  <a:srgbClr val="4A3699"/>
                </a:solidFill>
              </a:rPr>
              <a:t>THIS ROUND</a:t>
            </a:r>
            <a:endParaRPr lang="en-US" sz="1000" dirty="0"/>
          </a:p>
        </p:txBody>
      </p:sp>
      <p:sp>
        <p:nvSpPr>
          <p:cNvPr id="20" name="Text 18"/>
          <p:cNvSpPr txBox="1"/>
          <p:nvPr/>
        </p:nvSpPr>
        <p:spPr>
          <a:xfrm>
            <a:off x="1828800" y="3776472"/>
            <a:ext cx="2377440" cy="329184"/>
          </a:xfrm>
          <a:prstGeom prst="rect">
            <a:avLst/>
          </a:prstGeom>
          <a:noFill/>
          <a:ln/>
        </p:spPr>
        <p:txBody>
          <a:bodyPr wrap="square" lIns="0" tIns="0" rIns="0" bIns="0" rtlCol="0" anchor="t"/>
          <a:lstStyle/>
          <a:p>
            <a:pPr indent="0" marL="0">
              <a:buNone/>
            </a:pPr>
            <a:r>
              <a:rPr lang="en-US" sz="1400" b="1" dirty="0">
                <a:solidFill>
                  <a:srgbClr val="0B0E26"/>
                </a:solidFill>
              </a:rPr>
              <a:t>Series A-ready</a:t>
            </a:r>
            <a:endParaRPr lang="en-US" sz="1400" dirty="0"/>
          </a:p>
        </p:txBody>
      </p:sp>
      <p:sp>
        <p:nvSpPr>
          <p:cNvPr id="21" name="Text 19"/>
          <p:cNvSpPr txBox="1"/>
          <p:nvPr/>
        </p:nvSpPr>
        <p:spPr>
          <a:xfrm>
            <a:off x="4389120" y="3429000"/>
            <a:ext cx="7040880" cy="749808"/>
          </a:xfrm>
          <a:prstGeom prst="rect">
            <a:avLst/>
          </a:prstGeom>
          <a:noFill/>
          <a:ln/>
        </p:spPr>
        <p:txBody>
          <a:bodyPr wrap="square" lIns="0" tIns="0" rIns="0" bIns="0" rtlCol="0" anchor="ctr"/>
          <a:lstStyle/>
          <a:p>
            <a:pPr indent="0" marL="0">
              <a:buNone/>
            </a:pPr>
            <a:r>
              <a:rPr lang="en-US" sz="1250" dirty="0">
                <a:solidFill>
                  <a:srgbClr val="434B6B"/>
                </a:solidFill>
              </a:rPr>
              <a:t>~99 Desk teams, second paid partner, ₹1.12 Cr ARR run-rate at month 18; raise the Series A.</a:t>
            </a:r>
            <a:endParaRPr lang="en-US" sz="1250" dirty="0"/>
          </a:p>
        </p:txBody>
      </p:sp>
      <p:sp>
        <p:nvSpPr>
          <p:cNvPr id="22" name="roadmap H2"/>
          <p:cNvSpPr/>
          <p:nvPr/>
        </p:nvSpPr>
        <p:spPr>
          <a:xfrm>
            <a:off x="548640" y="4297680"/>
            <a:ext cx="11094415" cy="749808"/>
          </a:xfrm>
          <a:prstGeom prst="roundRect">
            <a:avLst>
              <a:gd name="adj" fmla="val 14634"/>
            </a:avLst>
          </a:prstGeom>
          <a:solidFill>
            <a:srgbClr val="FFFFFF"/>
          </a:solidFill>
          <a:ln/>
          <a:effectLst>
            <a:outerShdw sx="100000" sy="100000" kx="0" ky="0" algn="bl" rotWithShape="0" blurRad="127000" dist="38100" dir="5400000">
              <a:srgbClr val="0B0E26">
                <a:alpha val="10000"/>
              </a:srgbClr>
            </a:outerShdw>
          </a:effectLst>
        </p:spPr>
      </p:sp>
      <p:sp>
        <p:nvSpPr>
          <p:cNvPr id="23" name="roadmap tag H2"/>
          <p:cNvSpPr/>
          <p:nvPr/>
        </p:nvSpPr>
        <p:spPr>
          <a:xfrm>
            <a:off x="731520" y="4416552"/>
            <a:ext cx="868680" cy="512064"/>
          </a:xfrm>
          <a:prstGeom prst="roundRect">
            <a:avLst>
              <a:gd name="adj" fmla="val 17857"/>
            </a:avLst>
          </a:prstGeom>
          <a:solidFill>
            <a:srgbClr val="4A3699"/>
          </a:solidFill>
          <a:ln/>
        </p:spPr>
      </p:sp>
      <p:sp>
        <p:nvSpPr>
          <p:cNvPr id="24" name="Text 22"/>
          <p:cNvSpPr txBox="1"/>
          <p:nvPr/>
        </p:nvSpPr>
        <p:spPr>
          <a:xfrm>
            <a:off x="731520" y="4416552"/>
            <a:ext cx="868680" cy="512064"/>
          </a:xfrm>
          <a:prstGeom prst="rect">
            <a:avLst/>
          </a:prstGeom>
          <a:noFill/>
          <a:ln/>
        </p:spPr>
        <p:txBody>
          <a:bodyPr wrap="square" lIns="0" tIns="0" rIns="0" bIns="0" rtlCol="0" anchor="ctr"/>
          <a:lstStyle/>
          <a:p>
            <a:pPr algn="ctr" indent="0" marL="0">
              <a:buNone/>
            </a:pPr>
            <a:r>
              <a:rPr lang="en-US" sz="1400" b="1" dirty="0">
                <a:solidFill>
                  <a:srgbClr val="FFFFFF"/>
                </a:solidFill>
              </a:rPr>
              <a:t>H2</a:t>
            </a:r>
            <a:endParaRPr lang="en-US" sz="1400" dirty="0"/>
          </a:p>
        </p:txBody>
      </p:sp>
      <p:sp>
        <p:nvSpPr>
          <p:cNvPr id="25" name="Text 23"/>
          <p:cNvSpPr txBox="1"/>
          <p:nvPr/>
        </p:nvSpPr>
        <p:spPr>
          <a:xfrm>
            <a:off x="1828800" y="4407408"/>
            <a:ext cx="2377440" cy="237744"/>
          </a:xfrm>
          <a:prstGeom prst="rect">
            <a:avLst/>
          </a:prstGeom>
          <a:noFill/>
          <a:ln/>
        </p:spPr>
        <p:txBody>
          <a:bodyPr wrap="square" lIns="0" tIns="0" rIns="0" bIns="0" rtlCol="0" anchor="t"/>
          <a:lstStyle/>
          <a:p>
            <a:pPr indent="0" marL="0">
              <a:buNone/>
            </a:pPr>
            <a:r>
              <a:rPr lang="en-US" sz="1000" b="1" spc="150" kern="0" dirty="0">
                <a:solidFill>
                  <a:srgbClr val="4A3699"/>
                </a:solidFill>
              </a:rPr>
              <a:t>SERIES A</a:t>
            </a:r>
            <a:endParaRPr lang="en-US" sz="1000" dirty="0"/>
          </a:p>
        </p:txBody>
      </p:sp>
      <p:sp>
        <p:nvSpPr>
          <p:cNvPr id="26" name="Text 24"/>
          <p:cNvSpPr txBox="1"/>
          <p:nvPr/>
        </p:nvSpPr>
        <p:spPr>
          <a:xfrm>
            <a:off x="1828800" y="4645152"/>
            <a:ext cx="2377440" cy="329184"/>
          </a:xfrm>
          <a:prstGeom prst="rect">
            <a:avLst/>
          </a:prstGeom>
          <a:noFill/>
          <a:ln/>
        </p:spPr>
        <p:txBody>
          <a:bodyPr wrap="square" lIns="0" tIns="0" rIns="0" bIns="0" rtlCol="0" anchor="t"/>
          <a:lstStyle/>
          <a:p>
            <a:pPr indent="0" marL="0">
              <a:buNone/>
            </a:pPr>
            <a:r>
              <a:rPr lang="en-US" sz="1400" b="1" dirty="0">
                <a:solidFill>
                  <a:srgbClr val="0B0E26"/>
                </a:solidFill>
              </a:rPr>
              <a:t>Scale the platform</a:t>
            </a:r>
            <a:endParaRPr lang="en-US" sz="1400" dirty="0"/>
          </a:p>
        </p:txBody>
      </p:sp>
      <p:sp>
        <p:nvSpPr>
          <p:cNvPr id="27" name="Text 25"/>
          <p:cNvSpPr txBox="1"/>
          <p:nvPr/>
        </p:nvSpPr>
        <p:spPr>
          <a:xfrm>
            <a:off x="4389120" y="4297680"/>
            <a:ext cx="7040880" cy="749808"/>
          </a:xfrm>
          <a:prstGeom prst="rect">
            <a:avLst/>
          </a:prstGeom>
          <a:noFill/>
          <a:ln/>
        </p:spPr>
        <p:txBody>
          <a:bodyPr wrap="square" lIns="0" tIns="0" rIns="0" bIns="0" rtlCol="0" anchor="ctr"/>
          <a:lstStyle/>
          <a:p>
            <a:pPr indent="0" marL="0">
              <a:buNone/>
            </a:pPr>
            <a:r>
              <a:rPr lang="en-US" sz="1250" dirty="0">
                <a:solidFill>
                  <a:srgbClr val="434B6B"/>
                </a:solidFill>
              </a:rPr>
              <a:t>More partners and AI-agent distribution, team plans for advisers and distributors, alerts on every holding.</a:t>
            </a:r>
            <a:endParaRPr lang="en-US" sz="1250" dirty="0"/>
          </a:p>
        </p:txBody>
      </p:sp>
      <p:sp>
        <p:nvSpPr>
          <p:cNvPr id="28" name="roadmap H3"/>
          <p:cNvSpPr/>
          <p:nvPr/>
        </p:nvSpPr>
        <p:spPr>
          <a:xfrm>
            <a:off x="548640" y="5166360"/>
            <a:ext cx="11094415" cy="749808"/>
          </a:xfrm>
          <a:prstGeom prst="roundRect">
            <a:avLst>
              <a:gd name="adj" fmla="val 14634"/>
            </a:avLst>
          </a:prstGeom>
          <a:solidFill>
            <a:srgbClr val="FFFFFF"/>
          </a:solidFill>
          <a:ln/>
          <a:effectLst>
            <a:outerShdw sx="100000" sy="100000" kx="0" ky="0" algn="bl" rotWithShape="0" blurRad="127000" dist="38100" dir="5400000">
              <a:srgbClr val="0B0E26">
                <a:alpha val="10000"/>
              </a:srgbClr>
            </a:outerShdw>
          </a:effectLst>
        </p:spPr>
      </p:sp>
      <p:sp>
        <p:nvSpPr>
          <p:cNvPr id="29" name="roadmap tag H3"/>
          <p:cNvSpPr/>
          <p:nvPr/>
        </p:nvSpPr>
        <p:spPr>
          <a:xfrm>
            <a:off x="731520" y="5285232"/>
            <a:ext cx="868680" cy="512064"/>
          </a:xfrm>
          <a:prstGeom prst="roundRect">
            <a:avLst>
              <a:gd name="adj" fmla="val 17857"/>
            </a:avLst>
          </a:prstGeom>
          <a:solidFill>
            <a:srgbClr val="4A3699"/>
          </a:solidFill>
          <a:ln/>
        </p:spPr>
      </p:sp>
      <p:sp>
        <p:nvSpPr>
          <p:cNvPr id="30" name="Text 28"/>
          <p:cNvSpPr txBox="1"/>
          <p:nvPr/>
        </p:nvSpPr>
        <p:spPr>
          <a:xfrm>
            <a:off x="731520" y="5285232"/>
            <a:ext cx="868680" cy="512064"/>
          </a:xfrm>
          <a:prstGeom prst="rect">
            <a:avLst/>
          </a:prstGeom>
          <a:noFill/>
          <a:ln/>
        </p:spPr>
        <p:txBody>
          <a:bodyPr wrap="square" lIns="0" tIns="0" rIns="0" bIns="0" rtlCol="0" anchor="ctr"/>
          <a:lstStyle/>
          <a:p>
            <a:pPr algn="ctr" indent="0" marL="0">
              <a:buNone/>
            </a:pPr>
            <a:r>
              <a:rPr lang="en-US" sz="1400" b="1" dirty="0">
                <a:solidFill>
                  <a:srgbClr val="FFFFFF"/>
                </a:solidFill>
              </a:rPr>
              <a:t>H3</a:t>
            </a:r>
            <a:endParaRPr lang="en-US" sz="1400" dirty="0"/>
          </a:p>
        </p:txBody>
      </p:sp>
      <p:sp>
        <p:nvSpPr>
          <p:cNvPr id="31" name="Text 29"/>
          <p:cNvSpPr txBox="1"/>
          <p:nvPr/>
        </p:nvSpPr>
        <p:spPr>
          <a:xfrm>
            <a:off x="1828800" y="5276088"/>
            <a:ext cx="2377440" cy="237744"/>
          </a:xfrm>
          <a:prstGeom prst="rect">
            <a:avLst/>
          </a:prstGeom>
          <a:noFill/>
          <a:ln/>
        </p:spPr>
        <p:txBody>
          <a:bodyPr wrap="square" lIns="0" tIns="0" rIns="0" bIns="0" rtlCol="0" anchor="t"/>
          <a:lstStyle/>
          <a:p>
            <a:pPr indent="0" marL="0">
              <a:buNone/>
            </a:pPr>
            <a:r>
              <a:rPr lang="en-US" sz="1000" b="1" spc="150" kern="0" dirty="0">
                <a:solidFill>
                  <a:srgbClr val="4A3699"/>
                </a:solidFill>
              </a:rPr>
              <a:t>GROWTH</a:t>
            </a:r>
            <a:endParaRPr lang="en-US" sz="1000" dirty="0"/>
          </a:p>
        </p:txBody>
      </p:sp>
      <p:sp>
        <p:nvSpPr>
          <p:cNvPr id="32" name="Text 30"/>
          <p:cNvSpPr txBox="1"/>
          <p:nvPr/>
        </p:nvSpPr>
        <p:spPr>
          <a:xfrm>
            <a:off x="1828800" y="5513832"/>
            <a:ext cx="2377440" cy="329184"/>
          </a:xfrm>
          <a:prstGeom prst="rect">
            <a:avLst/>
          </a:prstGeom>
          <a:noFill/>
          <a:ln/>
        </p:spPr>
        <p:txBody>
          <a:bodyPr wrap="square" lIns="0" tIns="0" rIns="0" bIns="0" rtlCol="0" anchor="t"/>
          <a:lstStyle/>
          <a:p>
            <a:pPr indent="0" marL="0">
              <a:buNone/>
            </a:pPr>
            <a:r>
              <a:rPr lang="en-US" sz="1400" b="1" dirty="0">
                <a:solidFill>
                  <a:srgbClr val="0B0E26"/>
                </a:solidFill>
              </a:rPr>
              <a:t>From insight to execution</a:t>
            </a:r>
            <a:endParaRPr lang="en-US" sz="1400" dirty="0"/>
          </a:p>
        </p:txBody>
      </p:sp>
      <p:sp>
        <p:nvSpPr>
          <p:cNvPr id="33" name="Text 31"/>
          <p:cNvSpPr txBox="1"/>
          <p:nvPr/>
        </p:nvSpPr>
        <p:spPr>
          <a:xfrm>
            <a:off x="4389120" y="5166360"/>
            <a:ext cx="7040880" cy="749808"/>
          </a:xfrm>
          <a:prstGeom prst="rect">
            <a:avLst/>
          </a:prstGeom>
          <a:noFill/>
          <a:ln/>
        </p:spPr>
        <p:txBody>
          <a:bodyPr wrap="square" lIns="0" tIns="0" rIns="0" bIns="0" rtlCol="0" anchor="ctr"/>
          <a:lstStyle/>
          <a:p>
            <a:pPr indent="0" marL="0">
              <a:buNone/>
            </a:pPr>
            <a:r>
              <a:rPr lang="en-US" sz="1250" dirty="0">
                <a:solidFill>
                  <a:srgbClr val="434B6B"/>
                </a:solidFill>
              </a:rPr>
              <a:t>Exchange-registered strategies through partner brokers, a strategy marketplace and advanced quant research for desks.</a:t>
            </a:r>
            <a:endParaRPr lang="en-US" sz="1250" dirty="0"/>
          </a:p>
        </p:txBody>
      </p:sp>
      <p:sp>
        <p:nvSpPr>
          <p:cNvPr id="34" name="Text 32"/>
          <p:cNvSpPr txBox="1"/>
          <p:nvPr/>
        </p:nvSpPr>
        <p:spPr>
          <a:xfrm>
            <a:off x="548640" y="6053328"/>
            <a:ext cx="10362895" cy="274320"/>
          </a:xfrm>
          <a:prstGeom prst="rect">
            <a:avLst/>
          </a:prstGeom>
          <a:noFill/>
          <a:ln/>
        </p:spPr>
        <p:txBody>
          <a:bodyPr wrap="square" lIns="0" tIns="0" rIns="0" bIns="0" rtlCol="0" anchor="t"/>
          <a:lstStyle/>
          <a:p>
            <a:pPr indent="0" marL="0">
              <a:buNone/>
            </a:pPr>
            <a:r>
              <a:rPr lang="en-US" sz="1150" i="1" dirty="0">
                <a:solidFill>
                  <a:srgbClr val="7C88B0"/>
                </a:solidFill>
              </a:rPr>
              <a:t>This round funds months 1–18; each later business line carries its own approvals and business case.</a:t>
            </a:r>
            <a:endParaRPr lang="en-US" sz="11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nvest">
  <a:themeElements>
    <a:clrScheme name="Anvest">
      <a:dk1>
        <a:srgbClr val="0B0E26"/>
      </a:dk1>
      <a:lt1>
        <a:srgbClr val="FFFFFF"/>
      </a:lt1>
      <a:dk2>
        <a:srgbClr val="434B6B"/>
      </a:dk2>
      <a:lt2>
        <a:srgbClr val="F4F7FC"/>
      </a:lt2>
      <a:accent1>
        <a:srgbClr val="4A3699"/>
      </a:accent1>
      <a:accent2>
        <a:srgbClr val="F5A623"/>
      </a:accent2>
      <a:accent3>
        <a:srgbClr val="1E2761"/>
      </a:accent3>
      <a:accent4>
        <a:srgbClr val="1FA971"/>
      </a:accent4>
      <a:accent5>
        <a:srgbClr val="7C88B0"/>
      </a:accent5>
      <a:accent6>
        <a:srgbClr val="C9D3F0"/>
      </a:accent6>
      <a:hlink>
        <a:srgbClr val="4A3699"/>
      </a:hlink>
      <a:folHlink>
        <a:srgbClr val="1E2761"/>
      </a:folHlink>
    </a:clrScheme>
    <a:fontScheme name="Anve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Anvest Fintech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Anvest — Seed Round, October 2026</dc:title>
  <dc:subject>PptxGenJS Presentation</dc:subject>
  <dc:creator>Harsh Bhardwaj</dc:creator>
  <cp:lastModifiedBy>Harsh Bhardwaj</cp:lastModifiedBy>
  <cp:revision>1</cp:revision>
  <dcterms:created xsi:type="dcterms:W3CDTF">2026-10-19T18:10:43Z</dcterms:created>
  <dcterms:modified xsi:type="dcterms:W3CDTF">2026-10-19T18:10:43Z</dcterms:modified>
</cp:coreProperties>
</file>