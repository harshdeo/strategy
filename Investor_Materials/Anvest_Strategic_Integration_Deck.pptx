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ner pilot" id="{b001b5f0-4a52-ceee-2e1e-e71dca725d36}">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Partner-specific: the cover, slide 4 and the closing slide name Zerodha and Kite. Rewrite them before sending to another broker. There is no equity component to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snapshot, 20 October 2026: 31 registered accounts, 418 logged research queries across 16 accounts, 238 saved backtest records and 2 saved screens. These totals include founder and testing activity and do not establish retention or paying demand. Revenue and PAT matched the original NSE XBRL for 50 recent consolidated results. The audit measures source-data extraction, not 50 complete AI answers. The earlier four-question live spot-check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TATEM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6035040" cy="118872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607040" cy="17830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Anvest  ·  Confidential  ·  20 Oct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Anvest  ·  Confidential  ·  20 Oct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6.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6.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6.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6.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6035040" cy="1188720"/>
          </a:xfrm>
          <a:prstGeom prst="rect">
            <a:avLst/>
          </a:prstGeom>
          <a:noFill/>
          <a:ln/>
        </p:spPr>
        <p:txBody>
          <a:bodyPr wrap="square" lIns="0" tIns="0" rIns="0" bIns="0" rtlCol="0" anchor="t"/>
          <a:lstStyle/>
          <a:p>
            <a:pPr algn="l" indent="0" marL="0">
              <a:buNone/>
            </a:pPr>
            <a:r>
              <a:rPr lang="en-US" sz="7200" b="1" dirty="0">
                <a:solidFill>
                  <a:schemeClr val="bg1"/>
                </a:solidFill>
              </a:rPr>
              <a:t>Anvest</a:t>
            </a:r>
            <a:endParaRPr lang="en-US" sz="7200" dirty="0"/>
          </a:p>
        </p:txBody>
      </p:sp>
      <p:sp>
        <p:nvSpPr>
          <p:cNvPr id="3" name="Text 1"/>
          <p:cNvSpPr txBox="1"/>
          <p:nvPr/>
        </p:nvSpPr>
        <p:spPr>
          <a:xfrm>
            <a:off x="548640" y="2331720"/>
            <a:ext cx="6035040" cy="86868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The grounded AI research layer for your users</a:t>
            </a:r>
            <a:endParaRPr lang="en-US" sz="2600" dirty="0"/>
          </a:p>
        </p:txBody>
      </p:sp>
      <p:sp>
        <p:nvSpPr>
          <p:cNvPr id="4" name="Text 2"/>
          <p:cNvSpPr txBox="1"/>
          <p:nvPr/>
        </p:nvSpPr>
        <p:spPr>
          <a:xfrm>
            <a:off x="548640" y="3246120"/>
            <a:ext cx="5852160" cy="731520"/>
          </a:xfrm>
          <a:prstGeom prst="rect">
            <a:avLst/>
          </a:prstGeom>
          <a:noFill/>
          <a:ln/>
        </p:spPr>
        <p:txBody>
          <a:bodyPr wrap="square" lIns="0" tIns="0" rIns="0" bIns="0" rtlCol="0" anchor="t"/>
          <a:lstStyle/>
          <a:p>
            <a:pPr indent="0" marL="0">
              <a:buNone/>
            </a:pPr>
            <a:r>
              <a:rPr lang="en-US" sz="1600" dirty="0">
                <a:solidFill>
                  <a:srgbClr val="C9D3F0"/>
                </a:solidFill>
              </a:rPr>
              <a:t>Cited answers, portfolio-aware research and tested strategies, inside the product your users already trust.</a:t>
            </a:r>
            <a:endParaRPr lang="en-US" sz="1600" dirty="0"/>
          </a:p>
        </p:txBody>
      </p:sp>
      <p:sp>
        <p:nvSpPr>
          <p:cNvPr id="5" name="Text 3"/>
          <p:cNvSpPr txBox="1"/>
          <p:nvPr/>
        </p:nvSpPr>
        <p:spPr>
          <a:xfrm>
            <a:off x="548640" y="4206240"/>
            <a:ext cx="1737360" cy="45720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6K+</a:t>
            </a:r>
            <a:endParaRPr lang="en-US" sz="2600" dirty="0"/>
          </a:p>
        </p:txBody>
      </p:sp>
      <p:sp>
        <p:nvSpPr>
          <p:cNvPr id="6" name="Text 4"/>
          <p:cNvSpPr txBox="1"/>
          <p:nvPr/>
        </p:nvSpPr>
        <p:spPr>
          <a:xfrm>
            <a:off x="548640" y="4681728"/>
            <a:ext cx="1737360" cy="274320"/>
          </a:xfrm>
          <a:prstGeom prst="rect">
            <a:avLst/>
          </a:prstGeom>
          <a:noFill/>
          <a:ln/>
        </p:spPr>
        <p:txBody>
          <a:bodyPr wrap="square" lIns="0" tIns="0" rIns="0" bIns="0" rtlCol="0" anchor="t"/>
          <a:lstStyle/>
          <a:p>
            <a:pPr indent="0" marL="0">
              <a:buNone/>
            </a:pPr>
            <a:r>
              <a:rPr lang="en-US" sz="1100" dirty="0">
                <a:solidFill>
                  <a:srgbClr val="C9D3F0"/>
                </a:solidFill>
              </a:rPr>
              <a:t>listed companies</a:t>
            </a:r>
            <a:endParaRPr lang="en-US" sz="1100" dirty="0"/>
          </a:p>
        </p:txBody>
      </p:sp>
      <p:sp>
        <p:nvSpPr>
          <p:cNvPr id="7" name="Text 5"/>
          <p:cNvSpPr txBox="1"/>
          <p:nvPr/>
        </p:nvSpPr>
        <p:spPr>
          <a:xfrm>
            <a:off x="2377440" y="4206240"/>
            <a:ext cx="1737360" cy="45720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2.94M</a:t>
            </a:r>
            <a:endParaRPr lang="en-US" sz="2600" dirty="0"/>
          </a:p>
        </p:txBody>
      </p:sp>
      <p:sp>
        <p:nvSpPr>
          <p:cNvPr id="8" name="Text 6"/>
          <p:cNvSpPr txBox="1"/>
          <p:nvPr/>
        </p:nvSpPr>
        <p:spPr>
          <a:xfrm>
            <a:off x="2377440" y="4681728"/>
            <a:ext cx="1737360" cy="274320"/>
          </a:xfrm>
          <a:prstGeom prst="rect">
            <a:avLst/>
          </a:prstGeom>
          <a:noFill/>
          <a:ln/>
        </p:spPr>
        <p:txBody>
          <a:bodyPr wrap="square" lIns="0" tIns="0" rIns="0" bIns="0" rtlCol="0" anchor="t"/>
          <a:lstStyle/>
          <a:p>
            <a:pPr indent="0" marL="0">
              <a:buNone/>
            </a:pPr>
            <a:r>
              <a:rPr lang="en-US" sz="1100" dirty="0">
                <a:solidFill>
                  <a:srgbClr val="C9D3F0"/>
                </a:solidFill>
              </a:rPr>
              <a:t>corporate announcements</a:t>
            </a:r>
            <a:endParaRPr lang="en-US" sz="1100" dirty="0"/>
          </a:p>
        </p:txBody>
      </p:sp>
      <p:sp>
        <p:nvSpPr>
          <p:cNvPr id="9" name="Text 7"/>
          <p:cNvSpPr txBox="1"/>
          <p:nvPr/>
        </p:nvSpPr>
        <p:spPr>
          <a:xfrm>
            <a:off x="4206240" y="4206240"/>
            <a:ext cx="1737360" cy="45720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1.35M</a:t>
            </a:r>
            <a:endParaRPr lang="en-US" sz="2600" dirty="0"/>
          </a:p>
        </p:txBody>
      </p:sp>
      <p:sp>
        <p:nvSpPr>
          <p:cNvPr id="10" name="Text 8"/>
          <p:cNvSpPr txBox="1"/>
          <p:nvPr/>
        </p:nvSpPr>
        <p:spPr>
          <a:xfrm>
            <a:off x="4206240" y="4681728"/>
            <a:ext cx="1737360" cy="274320"/>
          </a:xfrm>
          <a:prstGeom prst="rect">
            <a:avLst/>
          </a:prstGeom>
          <a:noFill/>
          <a:ln/>
        </p:spPr>
        <p:txBody>
          <a:bodyPr wrap="square" lIns="0" tIns="0" rIns="0" bIns="0" rtlCol="0" anchor="t"/>
          <a:lstStyle/>
          <a:p>
            <a:pPr indent="0" marL="0">
              <a:buNone/>
            </a:pPr>
            <a:r>
              <a:rPr lang="en-US" sz="1100" dirty="0">
                <a:solidFill>
                  <a:srgbClr val="C9D3F0"/>
                </a:solidFill>
              </a:rPr>
              <a:t>indexed filing passages</a:t>
            </a:r>
            <a:endParaRPr lang="en-US" sz="1100" dirty="0"/>
          </a:p>
        </p:txBody>
      </p:sp>
      <p:sp>
        <p:nvSpPr>
          <p:cNvPr id="11" name="Text 9"/>
          <p:cNvSpPr txBox="1"/>
          <p:nvPr/>
        </p:nvSpPr>
        <p:spPr>
          <a:xfrm>
            <a:off x="548640" y="5669280"/>
            <a:ext cx="5486400" cy="320040"/>
          </a:xfrm>
          <a:prstGeom prst="rect">
            <a:avLst/>
          </a:prstGeom>
          <a:noFill/>
          <a:ln/>
        </p:spPr>
        <p:txBody>
          <a:bodyPr wrap="square" lIns="0" tIns="0" rIns="0" bIns="0" rtlCol="0" anchor="t"/>
          <a:lstStyle/>
          <a:p>
            <a:pPr indent="0" marL="0">
              <a:buNone/>
            </a:pPr>
            <a:r>
              <a:rPr lang="en-US" sz="1500" b="1" dirty="0">
                <a:solidFill>
                  <a:srgbClr val="F5A623"/>
                </a:solidFill>
              </a:rPr>
              <a:t>Prepared for Zerodha</a:t>
            </a:r>
            <a:endParaRPr lang="en-US" sz="1500" dirty="0"/>
          </a:p>
        </p:txBody>
      </p:sp>
      <p:sp>
        <p:nvSpPr>
          <p:cNvPr id="12" name="Text 10"/>
          <p:cNvSpPr txBox="1"/>
          <p:nvPr/>
        </p:nvSpPr>
        <p:spPr>
          <a:xfrm>
            <a:off x="548640" y="6172200"/>
            <a:ext cx="7315200" cy="274320"/>
          </a:xfrm>
          <a:prstGeom prst="rect">
            <a:avLst/>
          </a:prstGeom>
          <a:noFill/>
          <a:ln/>
        </p:spPr>
        <p:txBody>
          <a:bodyPr wrap="square" lIns="0" tIns="0" rIns="0" bIns="0" rtlCol="0" anchor="t"/>
          <a:lstStyle/>
          <a:p>
            <a:pPr indent="0" marL="0">
              <a:buNone/>
            </a:pPr>
            <a:r>
              <a:rPr lang="en-US" sz="1200" dirty="0">
                <a:solidFill>
                  <a:srgbClr val="C9D3F0"/>
                </a:solidFill>
              </a:rPr>
              <a:t>Harsh Bhardwaj, Founder  ·  harsh@anvest.in  ·  anvest.in</a:t>
            </a:r>
            <a:endParaRPr lang="en-US" sz="1200" dirty="0"/>
          </a:p>
        </p:txBody>
      </p:sp>
      <p:sp>
        <p:nvSpPr>
          <p:cNvPr id="13" name="Anvest research assistant frame"/>
          <p:cNvSpPr/>
          <p:nvPr/>
        </p:nvSpPr>
        <p:spPr>
          <a:xfrm>
            <a:off x="6903720" y="1371600"/>
            <a:ext cx="4754880" cy="2567635"/>
          </a:xfrm>
          <a:prstGeom prst="roundRect">
            <a:avLst>
              <a:gd name="adj" fmla="val 4274"/>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14" name="Anvest research assistant window dot 1"/>
          <p:cNvSpPr/>
          <p:nvPr/>
        </p:nvSpPr>
        <p:spPr>
          <a:xfrm>
            <a:off x="6997355" y="1434364"/>
            <a:ext cx="64666" cy="64666"/>
          </a:xfrm>
          <a:prstGeom prst="ellipse">
            <a:avLst/>
          </a:prstGeom>
          <a:solidFill>
            <a:srgbClr val="FF5F57"/>
          </a:solidFill>
          <a:ln/>
        </p:spPr>
      </p:sp>
      <p:sp>
        <p:nvSpPr>
          <p:cNvPr id="15" name="Anvest research assistant window dot 2"/>
          <p:cNvSpPr/>
          <p:nvPr/>
        </p:nvSpPr>
        <p:spPr>
          <a:xfrm>
            <a:off x="7107287" y="1434364"/>
            <a:ext cx="64666" cy="64666"/>
          </a:xfrm>
          <a:prstGeom prst="ellipse">
            <a:avLst/>
          </a:prstGeom>
          <a:solidFill>
            <a:srgbClr val="FEBC2E"/>
          </a:solidFill>
          <a:ln/>
        </p:spPr>
      </p:sp>
      <p:sp>
        <p:nvSpPr>
          <p:cNvPr id="16" name="Anvest research assistant window dot 3"/>
          <p:cNvSpPr/>
          <p:nvPr/>
        </p:nvSpPr>
        <p:spPr>
          <a:xfrm>
            <a:off x="7217220" y="1434364"/>
            <a:ext cx="64666" cy="64666"/>
          </a:xfrm>
          <a:prstGeom prst="ellipse">
            <a:avLst/>
          </a:prstGeom>
          <a:solidFill>
            <a:srgbClr val="28C840"/>
          </a:solidFill>
          <a:ln/>
        </p:spPr>
      </p:sp>
      <p:pic>
        <p:nvPicPr>
          <p:cNvPr id="17" name="Anvest research assistant image" descr="Anvest research assistant">    </p:cNvPr>
          <p:cNvPicPr>
            <a:picLocks noChangeAspect="1"/>
          </p:cNvPicPr>
          <p:nvPr/>
        </p:nvPicPr>
        <p:blipFill>
          <a:blip r:embed="rId1"/>
          <a:stretch>
            <a:fillRect/>
          </a:stretch>
        </p:blipFill>
        <p:spPr>
          <a:xfrm>
            <a:off x="6960779" y="1561795"/>
            <a:ext cx="4640763" cy="23203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THE OPPORTUNITY, FROM YOUR SIDE</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Your users own companies. Few read what they file</a:t>
            </a:r>
            <a:endParaRPr lang="en-US" sz="3200" dirty="0"/>
          </a:p>
        </p:txBody>
      </p:sp>
      <p:sp>
        <p:nvSpPr>
          <p:cNvPr id="4" name="opportunity card 1"/>
          <p:cNvSpPr/>
          <p:nvPr/>
        </p:nvSpPr>
        <p:spPr>
          <a:xfrm>
            <a:off x="548640" y="1783080"/>
            <a:ext cx="3520440" cy="3246120"/>
          </a:xfrm>
          <a:prstGeom prst="roundRect">
            <a:avLst>
              <a:gd name="adj" fmla="val 3380"/>
            </a:avLst>
          </a:prstGeom>
          <a:solidFill>
            <a:srgbClr val="FFFFFF"/>
          </a:solidFill>
          <a:ln/>
          <a:effectLst>
            <a:outerShdw sx="100000" sy="100000" kx="0" ky="0" algn="bl" rotWithShape="0" blurRad="127000" dist="38100" dir="5400000">
              <a:srgbClr val="0B0E26">
                <a:alpha val="10000"/>
              </a:srgbClr>
            </a:outerShdw>
          </a:effectLst>
        </p:spPr>
      </p:sp>
      <p:sp>
        <p:nvSpPr>
          <p:cNvPr id="5" name="LuNewspaper circle"/>
          <p:cNvSpPr/>
          <p:nvPr/>
        </p:nvSpPr>
        <p:spPr>
          <a:xfrm>
            <a:off x="868680" y="2103120"/>
            <a:ext cx="566928" cy="566928"/>
          </a:xfrm>
          <a:prstGeom prst="ellipse">
            <a:avLst/>
          </a:prstGeom>
          <a:solidFill>
            <a:srgbClr val="F4F7FC"/>
          </a:solidFill>
          <a:ln/>
        </p:spPr>
      </p:sp>
      <p:pic>
        <p:nvPicPr>
          <p:cNvPr id="6" name="LuNewspaper icon" descr="preencoded.png">    </p:cNvPr>
          <p:cNvPicPr>
            <a:picLocks noChangeAspect="1"/>
          </p:cNvPicPr>
          <p:nvPr/>
        </p:nvPicPr>
        <p:blipFill>
          <a:blip r:embed="rId1"/>
          <a:stretch>
            <a:fillRect/>
          </a:stretch>
        </p:blipFill>
        <p:spPr>
          <a:xfrm>
            <a:off x="1010412" y="2244852"/>
            <a:ext cx="283464" cy="283464"/>
          </a:xfrm>
          <a:prstGeom prst="rect">
            <a:avLst/>
          </a:prstGeom>
        </p:spPr>
      </p:pic>
      <p:sp>
        <p:nvSpPr>
          <p:cNvPr id="7" name="Text 4"/>
          <p:cNvSpPr txBox="1"/>
          <p:nvPr/>
        </p:nvSpPr>
        <p:spPr>
          <a:xfrm>
            <a:off x="868680" y="2816352"/>
            <a:ext cx="2926080" cy="566928"/>
          </a:xfrm>
          <a:prstGeom prst="rect">
            <a:avLst/>
          </a:prstGeom>
          <a:noFill/>
          <a:ln/>
        </p:spPr>
        <p:txBody>
          <a:bodyPr wrap="square" lIns="0" tIns="0" rIns="0" bIns="0" rtlCol="0" anchor="t"/>
          <a:lstStyle/>
          <a:p>
            <a:pPr indent="0" marL="0">
              <a:buNone/>
            </a:pPr>
            <a:r>
              <a:rPr lang="en-US" sz="3000" b="1" dirty="0">
                <a:solidFill>
                  <a:srgbClr val="4A3699"/>
                </a:solidFill>
                <a:latin typeface="Arial" pitchFamily="34" charset="0"/>
                <a:ea typeface="Arial" pitchFamily="34" charset="-122"/>
                <a:cs typeface="Arial" pitchFamily="34" charset="-120"/>
              </a:rPr>
              <a:t>~49,000</a:t>
            </a:r>
            <a:endParaRPr lang="en-US" sz="3000" dirty="0"/>
          </a:p>
        </p:txBody>
      </p:sp>
      <p:sp>
        <p:nvSpPr>
          <p:cNvPr id="8" name="Text 5"/>
          <p:cNvSpPr txBox="1"/>
          <p:nvPr/>
        </p:nvSpPr>
        <p:spPr>
          <a:xfrm>
            <a:off x="868680" y="3383280"/>
            <a:ext cx="2926080" cy="292608"/>
          </a:xfrm>
          <a:prstGeom prst="rect">
            <a:avLst/>
          </a:prstGeom>
          <a:noFill/>
          <a:ln/>
        </p:spPr>
        <p:txBody>
          <a:bodyPr wrap="square" lIns="0" tIns="0" rIns="0" bIns="0" rtlCol="0" anchor="t"/>
          <a:lstStyle/>
          <a:p>
            <a:pPr indent="0" marL="0">
              <a:buNone/>
            </a:pPr>
            <a:r>
              <a:rPr lang="en-US" sz="1400" b="1" dirty="0">
                <a:solidFill>
                  <a:srgbClr val="0B0E26"/>
                </a:solidFill>
              </a:rPr>
              <a:t>announcements/month, Q2 FY27</a:t>
            </a:r>
            <a:endParaRPr lang="en-US" sz="1400" dirty="0"/>
          </a:p>
        </p:txBody>
      </p:sp>
      <p:sp>
        <p:nvSpPr>
          <p:cNvPr id="9" name="Text 6"/>
          <p:cNvSpPr txBox="1"/>
          <p:nvPr/>
        </p:nvSpPr>
        <p:spPr>
          <a:xfrm>
            <a:off x="868680" y="3749040"/>
            <a:ext cx="2926080" cy="1188720"/>
          </a:xfrm>
          <a:prstGeom prst="rect">
            <a:avLst/>
          </a:prstGeom>
          <a:noFill/>
          <a:ln/>
        </p:spPr>
        <p:txBody>
          <a:bodyPr wrap="square" lIns="0" tIns="0" rIns="0" bIns="0" rtlCol="0" anchor="t"/>
          <a:lstStyle/>
          <a:p>
            <a:pPr indent="0" marL="0">
              <a:buNone/>
            </a:pPr>
            <a:r>
              <a:rPr lang="en-US" sz="1300" dirty="0">
                <a:solidFill>
                  <a:srgbClr val="434B6B"/>
                </a:solidFill>
              </a:rPr>
              <a:t>Results, pledges and board notices land on the exchanges daily. The filing behind a price move seldom reaches the user who holds the stock.</a:t>
            </a:r>
            <a:endParaRPr lang="en-US" sz="1300" dirty="0"/>
          </a:p>
        </p:txBody>
      </p:sp>
      <p:sp>
        <p:nvSpPr>
          <p:cNvPr id="10" name="opportunity card 2"/>
          <p:cNvSpPr/>
          <p:nvPr/>
        </p:nvSpPr>
        <p:spPr>
          <a:xfrm>
            <a:off x="4315968" y="1783080"/>
            <a:ext cx="3520440" cy="3246120"/>
          </a:xfrm>
          <a:prstGeom prst="roundRect">
            <a:avLst>
              <a:gd name="adj" fmla="val 3380"/>
            </a:avLst>
          </a:prstGeom>
          <a:solidFill>
            <a:srgbClr val="FFFFFF"/>
          </a:solidFill>
          <a:ln/>
          <a:effectLst>
            <a:outerShdw sx="100000" sy="100000" kx="0" ky="0" algn="bl" rotWithShape="0" blurRad="127000" dist="38100" dir="5400000">
              <a:srgbClr val="0B0E26">
                <a:alpha val="10000"/>
              </a:srgbClr>
            </a:outerShdw>
          </a:effectLst>
        </p:spPr>
      </p:sp>
      <p:sp>
        <p:nvSpPr>
          <p:cNvPr id="11" name="LuChartPie circle"/>
          <p:cNvSpPr/>
          <p:nvPr/>
        </p:nvSpPr>
        <p:spPr>
          <a:xfrm>
            <a:off x="4636008" y="2103120"/>
            <a:ext cx="566928" cy="566928"/>
          </a:xfrm>
          <a:prstGeom prst="ellipse">
            <a:avLst/>
          </a:prstGeom>
          <a:solidFill>
            <a:srgbClr val="F4F7FC"/>
          </a:solidFill>
          <a:ln/>
        </p:spPr>
      </p:sp>
      <p:pic>
        <p:nvPicPr>
          <p:cNvPr id="12" name="LuChartPie icon" descr="preencoded.png">    </p:cNvPr>
          <p:cNvPicPr>
            <a:picLocks noChangeAspect="1"/>
          </p:cNvPicPr>
          <p:nvPr/>
        </p:nvPicPr>
        <p:blipFill>
          <a:blip r:embed="rId2"/>
          <a:stretch>
            <a:fillRect/>
          </a:stretch>
        </p:blipFill>
        <p:spPr>
          <a:xfrm>
            <a:off x="4777740" y="2244852"/>
            <a:ext cx="283464" cy="283464"/>
          </a:xfrm>
          <a:prstGeom prst="rect">
            <a:avLst/>
          </a:prstGeom>
        </p:spPr>
      </p:pic>
      <p:sp>
        <p:nvSpPr>
          <p:cNvPr id="13" name="Text 9"/>
          <p:cNvSpPr txBox="1"/>
          <p:nvPr/>
        </p:nvSpPr>
        <p:spPr>
          <a:xfrm>
            <a:off x="4636008" y="2816352"/>
            <a:ext cx="2926080" cy="566928"/>
          </a:xfrm>
          <a:prstGeom prst="rect">
            <a:avLst/>
          </a:prstGeom>
          <a:noFill/>
          <a:ln/>
        </p:spPr>
        <p:txBody>
          <a:bodyPr wrap="square" lIns="0" tIns="0" rIns="0" bIns="0" rtlCol="0" anchor="t"/>
          <a:lstStyle/>
          <a:p>
            <a:pPr indent="0" marL="0">
              <a:buNone/>
            </a:pPr>
            <a:r>
              <a:rPr lang="en-US" sz="3000" b="1" dirty="0">
                <a:solidFill>
                  <a:srgbClr val="4A3699"/>
                </a:solidFill>
                <a:latin typeface="Arial" pitchFamily="34" charset="0"/>
                <a:ea typeface="Arial" pitchFamily="34" charset="-122"/>
                <a:cs typeface="Arial" pitchFamily="34" charset="-120"/>
              </a:rPr>
              <a:t>What, not why</a:t>
            </a:r>
            <a:endParaRPr lang="en-US" sz="3000" dirty="0"/>
          </a:p>
        </p:txBody>
      </p:sp>
      <p:sp>
        <p:nvSpPr>
          <p:cNvPr id="14" name="Text 10"/>
          <p:cNvSpPr txBox="1"/>
          <p:nvPr/>
        </p:nvSpPr>
        <p:spPr>
          <a:xfrm>
            <a:off x="4636008" y="3383280"/>
            <a:ext cx="2926080" cy="292608"/>
          </a:xfrm>
          <a:prstGeom prst="rect">
            <a:avLst/>
          </a:prstGeom>
          <a:noFill/>
          <a:ln/>
        </p:spPr>
        <p:txBody>
          <a:bodyPr wrap="square" lIns="0" tIns="0" rIns="0" bIns="0" rtlCol="0" anchor="t"/>
          <a:lstStyle/>
          <a:p>
            <a:pPr indent="0" marL="0">
              <a:buNone/>
            </a:pPr>
            <a:r>
              <a:rPr lang="en-US" sz="1400" b="1" dirty="0">
                <a:solidFill>
                  <a:srgbClr val="0B0E26"/>
                </a:solidFill>
              </a:rPr>
              <a:t>is all a ratio table can say</a:t>
            </a:r>
            <a:endParaRPr lang="en-US" sz="1400" dirty="0"/>
          </a:p>
        </p:txBody>
      </p:sp>
      <p:sp>
        <p:nvSpPr>
          <p:cNvPr id="15" name="Text 11"/>
          <p:cNvSpPr txBox="1"/>
          <p:nvPr/>
        </p:nvSpPr>
        <p:spPr>
          <a:xfrm>
            <a:off x="4636008" y="3749040"/>
            <a:ext cx="2926080" cy="1188720"/>
          </a:xfrm>
          <a:prstGeom prst="rect">
            <a:avLst/>
          </a:prstGeom>
          <a:noFill/>
          <a:ln/>
        </p:spPr>
        <p:txBody>
          <a:bodyPr wrap="square" lIns="0" tIns="0" rIns="0" bIns="0" rtlCol="0" anchor="t"/>
          <a:lstStyle/>
          <a:p>
            <a:pPr indent="0" marL="0">
              <a:buNone/>
            </a:pPr>
            <a:r>
              <a:rPr lang="en-US" sz="1300" dirty="0">
                <a:solidFill>
                  <a:srgbClr val="434B6B"/>
                </a:solidFill>
              </a:rPr>
              <a:t>Charts and ratios show what changed. Why it changed still sits in a PDF the user has to find and read.</a:t>
            </a:r>
            <a:endParaRPr lang="en-US" sz="1300" dirty="0"/>
          </a:p>
        </p:txBody>
      </p:sp>
      <p:sp>
        <p:nvSpPr>
          <p:cNvPr id="16" name="opportunity card 3"/>
          <p:cNvSpPr/>
          <p:nvPr/>
        </p:nvSpPr>
        <p:spPr>
          <a:xfrm>
            <a:off x="8083296" y="1783080"/>
            <a:ext cx="3520440" cy="3246120"/>
          </a:xfrm>
          <a:prstGeom prst="roundRect">
            <a:avLst>
              <a:gd name="adj" fmla="val 3380"/>
            </a:avLst>
          </a:prstGeom>
          <a:solidFill>
            <a:srgbClr val="FFFFFF"/>
          </a:solidFill>
          <a:ln/>
          <a:effectLst>
            <a:outerShdw sx="100000" sy="100000" kx="0" ky="0" algn="bl" rotWithShape="0" blurRad="127000" dist="38100" dir="5400000">
              <a:srgbClr val="0B0E26">
                <a:alpha val="10000"/>
              </a:srgbClr>
            </a:outerShdw>
          </a:effectLst>
        </p:spPr>
      </p:sp>
      <p:sp>
        <p:nvSpPr>
          <p:cNvPr id="17" name="LuScale circle"/>
          <p:cNvSpPr/>
          <p:nvPr/>
        </p:nvSpPr>
        <p:spPr>
          <a:xfrm>
            <a:off x="8403336" y="2103120"/>
            <a:ext cx="566928" cy="566928"/>
          </a:xfrm>
          <a:prstGeom prst="ellipse">
            <a:avLst/>
          </a:prstGeom>
          <a:solidFill>
            <a:srgbClr val="F4F7FC"/>
          </a:solidFill>
          <a:ln/>
        </p:spPr>
      </p:sp>
      <p:pic>
        <p:nvPicPr>
          <p:cNvPr id="18" name="LuScale icon" descr="preencoded.png">    </p:cNvPr>
          <p:cNvPicPr>
            <a:picLocks noChangeAspect="1"/>
          </p:cNvPicPr>
          <p:nvPr/>
        </p:nvPicPr>
        <p:blipFill>
          <a:blip r:embed="rId3"/>
          <a:stretch>
            <a:fillRect/>
          </a:stretch>
        </p:blipFill>
        <p:spPr>
          <a:xfrm>
            <a:off x="8545068" y="2244852"/>
            <a:ext cx="283464" cy="283464"/>
          </a:xfrm>
          <a:prstGeom prst="rect">
            <a:avLst/>
          </a:prstGeom>
        </p:spPr>
      </p:pic>
      <p:sp>
        <p:nvSpPr>
          <p:cNvPr id="19" name="Text 14"/>
          <p:cNvSpPr txBox="1"/>
          <p:nvPr/>
        </p:nvSpPr>
        <p:spPr>
          <a:xfrm>
            <a:off x="8403336" y="2816352"/>
            <a:ext cx="2926080" cy="566928"/>
          </a:xfrm>
          <a:prstGeom prst="rect">
            <a:avLst/>
          </a:prstGeom>
          <a:noFill/>
          <a:ln/>
        </p:spPr>
        <p:txBody>
          <a:bodyPr wrap="square" lIns="0" tIns="0" rIns="0" bIns="0" rtlCol="0" anchor="t"/>
          <a:lstStyle/>
          <a:p>
            <a:pPr indent="0" marL="0">
              <a:buNone/>
            </a:pPr>
            <a:r>
              <a:rPr lang="en-US" sz="3000" b="1" dirty="0">
                <a:solidFill>
                  <a:srgbClr val="4A3699"/>
                </a:solidFill>
                <a:latin typeface="Arial" pitchFamily="34" charset="0"/>
                <a:ea typeface="Arial" pitchFamily="34" charset="-122"/>
                <a:cs typeface="Arial" pitchFamily="34" charset="-120"/>
              </a:rPr>
              <a:t>Explained</a:t>
            </a:r>
            <a:endParaRPr lang="en-US" sz="3000" dirty="0"/>
          </a:p>
        </p:txBody>
      </p:sp>
      <p:sp>
        <p:nvSpPr>
          <p:cNvPr id="20" name="Text 15"/>
          <p:cNvSpPr txBox="1"/>
          <p:nvPr/>
        </p:nvSpPr>
        <p:spPr>
          <a:xfrm>
            <a:off x="8403336" y="3383280"/>
            <a:ext cx="2926080" cy="292608"/>
          </a:xfrm>
          <a:prstGeom prst="rect">
            <a:avLst/>
          </a:prstGeom>
          <a:noFill/>
          <a:ln/>
        </p:spPr>
        <p:txBody>
          <a:bodyPr wrap="square" lIns="0" tIns="0" rIns="0" bIns="0" rtlCol="0" anchor="t"/>
          <a:lstStyle/>
          <a:p>
            <a:pPr indent="0" marL="0">
              <a:buNone/>
            </a:pPr>
            <a:r>
              <a:rPr lang="en-US" sz="1400" b="1" dirty="0">
                <a:solidFill>
                  <a:srgbClr val="0B0E26"/>
                </a:solidFill>
              </a:rPr>
              <a:t>research backed by sources</a:t>
            </a:r>
            <a:endParaRPr lang="en-US" sz="1400" dirty="0"/>
          </a:p>
        </p:txBody>
      </p:sp>
      <p:sp>
        <p:nvSpPr>
          <p:cNvPr id="21" name="Text 16"/>
          <p:cNvSpPr txBox="1"/>
          <p:nvPr/>
        </p:nvSpPr>
        <p:spPr>
          <a:xfrm>
            <a:off x="8403336" y="3749040"/>
            <a:ext cx="2926080" cy="1188720"/>
          </a:xfrm>
          <a:prstGeom prst="rect">
            <a:avLst/>
          </a:prstGeom>
          <a:noFill/>
          <a:ln/>
        </p:spPr>
        <p:txBody>
          <a:bodyPr wrap="square" lIns="0" tIns="0" rIns="0" bIns="0" rtlCol="0" anchor="t"/>
          <a:lstStyle/>
          <a:p>
            <a:pPr indent="0" marL="0">
              <a:buNone/>
            </a:pPr>
            <a:r>
              <a:rPr lang="en-US" sz="1300" dirty="0">
                <a:solidFill>
                  <a:srgbClr val="434B6B"/>
                </a:solidFill>
              </a:rPr>
              <a:t>SEBI's AI-disclosure rules make transparent research important. Anvest links filing answers to their source evidence.</a:t>
            </a:r>
            <a:endParaRPr lang="en-US" sz="1300" dirty="0"/>
          </a:p>
        </p:txBody>
      </p:sp>
      <p:sp>
        <p:nvSpPr>
          <p:cNvPr id="22" name="Text 17"/>
          <p:cNvSpPr txBox="1"/>
          <p:nvPr/>
        </p:nvSpPr>
        <p:spPr>
          <a:xfrm>
            <a:off x="548640" y="5303520"/>
            <a:ext cx="11094415" cy="457200"/>
          </a:xfrm>
          <a:prstGeom prst="rect">
            <a:avLst/>
          </a:prstGeom>
          <a:noFill/>
          <a:ln/>
        </p:spPr>
        <p:txBody>
          <a:bodyPr wrap="square" lIns="0" tIns="0" rIns="0" bIns="0" rtlCol="0" anchor="t"/>
          <a:lstStyle/>
          <a:p>
            <a:pPr indent="0" marL="0">
              <a:buNone/>
            </a:pPr>
            <a:r>
              <a:rPr lang="en-US" sz="1900" b="1" dirty="0">
                <a:solidFill>
                  <a:srgbClr val="0B0E26"/>
                </a:solidFill>
                <a:latin typeface="Arial" pitchFamily="34" charset="0"/>
                <a:ea typeface="Arial" pitchFamily="34" charset="-122"/>
                <a:cs typeface="Arial" pitchFamily="34" charset="-120"/>
              </a:rPr>
              <a:t>The broker that best explains its users' holdings earns their trust and their daily attention.</a:t>
            </a:r>
            <a:endParaRPr lang="en-US" sz="1900" dirty="0"/>
          </a:p>
        </p:txBody>
      </p:sp>
      <p:sp>
        <p:nvSpPr>
          <p:cNvPr id="23" name="Text 18"/>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7C88B0"/>
                </a:solidFill>
              </a:rPr>
              <a:t>Warehouse, announcement date: Jul 45,997 · Aug 61,875 · Sep 38,558 (2026) · Q2 FY27 average 48,810/month · SEBI AI-disclosure amendments, Dec 2024</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WHAT WE BRING</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A grounded answer, not another dashboard</a:t>
            </a:r>
            <a:endParaRPr lang="en-US" sz="3200" dirty="0"/>
          </a:p>
        </p:txBody>
      </p:sp>
      <p:sp>
        <p:nvSpPr>
          <p:cNvPr id="4" name="question bubble"/>
          <p:cNvSpPr/>
          <p:nvPr/>
        </p:nvSpPr>
        <p:spPr>
          <a:xfrm>
            <a:off x="548640" y="1783080"/>
            <a:ext cx="5394960" cy="566928"/>
          </a:xfrm>
          <a:prstGeom prst="roundRect">
            <a:avLst>
              <a:gd name="adj" fmla="val 50000"/>
            </a:avLst>
          </a:prstGeom>
          <a:solidFill>
            <a:srgbClr val="FFFFFF"/>
          </a:solidFill>
          <a:ln/>
          <a:effectLst>
            <a:outerShdw sx="100000" sy="100000" kx="0" ky="0" algn="bl" rotWithShape="0" blurRad="127000" dist="38100" dir="5400000">
              <a:srgbClr val="0B0E26">
                <a:alpha val="10000"/>
              </a:srgbClr>
            </a:outerShdw>
          </a:effectLst>
        </p:spPr>
      </p:sp>
      <p:sp>
        <p:nvSpPr>
          <p:cNvPr id="5" name="Text 3"/>
          <p:cNvSpPr txBox="1"/>
          <p:nvPr/>
        </p:nvSpPr>
        <p:spPr>
          <a:xfrm>
            <a:off x="868680" y="1783080"/>
            <a:ext cx="4937760" cy="566928"/>
          </a:xfrm>
          <a:prstGeom prst="rect">
            <a:avLst/>
          </a:prstGeom>
          <a:noFill/>
          <a:ln/>
        </p:spPr>
        <p:txBody>
          <a:bodyPr wrap="square" lIns="0" tIns="0" rIns="0" bIns="0" rtlCol="0" anchor="ctr"/>
          <a:lstStyle/>
          <a:p>
            <a:pPr indent="0" marL="0">
              <a:buNone/>
            </a:pPr>
            <a:r>
              <a:rPr lang="en-US" sz="1500" i="1" dirty="0">
                <a:solidFill>
                  <a:srgbClr val="0B0E26"/>
                </a:solidFill>
              </a:rPr>
              <a:t>“How did TCS's operating margin change last quarter?”</a:t>
            </a:r>
            <a:endParaRPr lang="en-US" sz="1500" dirty="0"/>
          </a:p>
        </p:txBody>
      </p:sp>
      <p:sp>
        <p:nvSpPr>
          <p:cNvPr id="6" name="answer card"/>
          <p:cNvSpPr/>
          <p:nvPr/>
        </p:nvSpPr>
        <p:spPr>
          <a:xfrm>
            <a:off x="548640" y="2560320"/>
            <a:ext cx="5394960" cy="3017520"/>
          </a:xfrm>
          <a:prstGeom prst="roundRect">
            <a:avLst>
              <a:gd name="adj" fmla="val 3636"/>
            </a:avLst>
          </a:prstGeom>
          <a:solidFill>
            <a:srgbClr val="1E2761"/>
          </a:solidFill>
          <a:ln/>
          <a:effectLst>
            <a:outerShdw sx="100000" sy="100000" kx="0" ky="0" algn="bl" rotWithShape="0" blurRad="127000" dist="38100" dir="5400000">
              <a:srgbClr val="0B0E26">
                <a:alpha val="10000"/>
              </a:srgbClr>
            </a:outerShdw>
          </a:effectLst>
        </p:spPr>
      </p:sp>
      <p:sp>
        <p:nvSpPr>
          <p:cNvPr id="7" name="Text 5"/>
          <p:cNvSpPr txBox="1"/>
          <p:nvPr/>
        </p:nvSpPr>
        <p:spPr>
          <a:xfrm>
            <a:off x="868680" y="2788920"/>
            <a:ext cx="4754880" cy="274320"/>
          </a:xfrm>
          <a:prstGeom prst="rect">
            <a:avLst/>
          </a:prstGeom>
          <a:noFill/>
          <a:ln/>
        </p:spPr>
        <p:txBody>
          <a:bodyPr wrap="square" lIns="0" tIns="0" rIns="0" bIns="0" rtlCol="0" anchor="t"/>
          <a:lstStyle/>
          <a:p>
            <a:pPr indent="0" marL="0">
              <a:buNone/>
            </a:pPr>
            <a:r>
              <a:rPr lang="en-US" sz="1050" b="1" spc="200" kern="0" dirty="0">
                <a:solidFill>
                  <a:srgbClr val="F5A623"/>
                </a:solidFill>
              </a:rPr>
              <a:t>SOURCE-CHECKED RESULTS · Q2 FY27</a:t>
            </a:r>
            <a:endParaRPr lang="en-US" sz="1050" dirty="0"/>
          </a:p>
        </p:txBody>
      </p:sp>
      <p:sp>
        <p:nvSpPr>
          <p:cNvPr id="8" name="Text 6"/>
          <p:cNvSpPr txBox="1"/>
          <p:nvPr/>
        </p:nvSpPr>
        <p:spPr>
          <a:xfrm>
            <a:off x="868680" y="3154680"/>
            <a:ext cx="4754880" cy="1005840"/>
          </a:xfrm>
          <a:prstGeom prst="rect">
            <a:avLst/>
          </a:prstGeom>
          <a:noFill/>
          <a:ln/>
        </p:spPr>
        <p:txBody>
          <a:bodyPr wrap="square" lIns="0" tIns="0" rIns="0" bIns="0" rtlCol="0" anchor="t"/>
          <a:lstStyle/>
          <a:p>
            <a:pPr indent="0" marL="0">
              <a:buNone/>
            </a:pPr>
            <a:r>
              <a:rPr lang="en-US" sz="1600" dirty="0">
                <a:solidFill>
                  <a:srgbClr val="FFFFFF"/>
                </a:solidFill>
              </a:rPr>
              <a:t>Operating margin 25.47%, down 67 bps YoY. Revenue ₹73,188 Cr and PAT ₹13,934 Cr. Net margin 18.70% uses total income of ₹74,525 Cr (Q2 FY27, consolidated).</a:t>
            </a:r>
            <a:endParaRPr lang="en-US" sz="1600" dirty="0"/>
          </a:p>
        </p:txBody>
      </p:sp>
      <p:sp>
        <p:nvSpPr>
          <p:cNvPr id="9" name="source button"/>
          <p:cNvSpPr/>
          <p:nvPr/>
        </p:nvSpPr>
        <p:spPr>
          <a:xfrm>
            <a:off x="868680" y="4297680"/>
            <a:ext cx="4480560" cy="411480"/>
          </a:xfrm>
          <a:prstGeom prst="roundRect">
            <a:avLst>
              <a:gd name="adj" fmla="val 17778"/>
            </a:avLst>
          </a:prstGeom>
          <a:solidFill>
            <a:srgbClr val="F5A623"/>
          </a:solidFill>
          <a:ln/>
        </p:spPr>
      </p:sp>
      <p:sp>
        <p:nvSpPr>
          <p:cNvPr id="10" name="Text 8"/>
          <p:cNvSpPr txBox="1"/>
          <p:nvPr/>
        </p:nvSpPr>
        <p:spPr>
          <a:xfrm>
            <a:off x="868680" y="4297680"/>
            <a:ext cx="4480560" cy="411480"/>
          </a:xfrm>
          <a:prstGeom prst="rect">
            <a:avLst/>
          </a:prstGeom>
          <a:noFill/>
          <a:ln/>
        </p:spPr>
        <p:txBody>
          <a:bodyPr wrap="square" lIns="0" tIns="0" rIns="0" bIns="0" rtlCol="0" anchor="ctr"/>
          <a:lstStyle/>
          <a:p>
            <a:pPr algn="ctr" indent="0" marL="0">
              <a:buNone/>
            </a:pPr>
            <a:r>
              <a:rPr lang="en-US" sz="1250" b="1" dirty="0">
                <a:solidFill>
                  <a:srgbClr val="0B0E26"/>
                </a:solidFill>
              </a:rPr>
              <a:t>Source: Q2 FY27 results, NSE, filed 8 Oct 2026  →</a:t>
            </a:r>
            <a:endParaRPr lang="en-US" sz="1250" dirty="0"/>
          </a:p>
        </p:txBody>
      </p:sp>
      <p:sp>
        <p:nvSpPr>
          <p:cNvPr id="11" name="Text 9"/>
          <p:cNvSpPr txBox="1"/>
          <p:nvPr/>
        </p:nvSpPr>
        <p:spPr>
          <a:xfrm>
            <a:off x="868680" y="4937760"/>
            <a:ext cx="4754880" cy="457200"/>
          </a:xfrm>
          <a:prstGeom prst="rect">
            <a:avLst/>
          </a:prstGeom>
          <a:noFill/>
          <a:ln/>
        </p:spPr>
        <p:txBody>
          <a:bodyPr wrap="square" lIns="0" tIns="0" rIns="0" bIns="0" rtlCol="0" anchor="t"/>
          <a:lstStyle/>
          <a:p>
            <a:pPr indent="0" marL="0">
              <a:buNone/>
            </a:pPr>
            <a:r>
              <a:rPr lang="en-US" sz="1250" i="1" dirty="0">
                <a:solidFill>
                  <a:srgbClr val="C9D3F0"/>
                </a:solidFill>
              </a:rPr>
              <a:t>Numbers are read from the warehouse. The model never calculates.</a:t>
            </a:r>
            <a:endParaRPr lang="en-US" sz="1250" dirty="0"/>
          </a:p>
        </p:txBody>
      </p:sp>
      <p:sp>
        <p:nvSpPr>
          <p:cNvPr id="12" name="LuDatabase circle"/>
          <p:cNvSpPr/>
          <p:nvPr/>
        </p:nvSpPr>
        <p:spPr>
          <a:xfrm>
            <a:off x="6355080" y="1783080"/>
            <a:ext cx="512064" cy="512064"/>
          </a:xfrm>
          <a:prstGeom prst="ellipse">
            <a:avLst/>
          </a:prstGeom>
          <a:solidFill>
            <a:srgbClr val="4A3699"/>
          </a:solidFill>
          <a:ln/>
        </p:spPr>
      </p:sp>
      <p:pic>
        <p:nvPicPr>
          <p:cNvPr id="13" name="LuDatabase icon" descr="preencoded.png">    </p:cNvPr>
          <p:cNvPicPr>
            <a:picLocks noChangeAspect="1"/>
          </p:cNvPicPr>
          <p:nvPr/>
        </p:nvPicPr>
        <p:blipFill>
          <a:blip r:embed="rId1"/>
          <a:stretch>
            <a:fillRect/>
          </a:stretch>
        </p:blipFill>
        <p:spPr>
          <a:xfrm>
            <a:off x="6483096" y="1911096"/>
            <a:ext cx="256032" cy="256032"/>
          </a:xfrm>
          <a:prstGeom prst="rect">
            <a:avLst/>
          </a:prstGeom>
        </p:spPr>
      </p:pic>
      <p:sp>
        <p:nvSpPr>
          <p:cNvPr id="14" name="Text 11"/>
          <p:cNvSpPr txBox="1"/>
          <p:nvPr/>
        </p:nvSpPr>
        <p:spPr>
          <a:xfrm>
            <a:off x="7040880" y="1764792"/>
            <a:ext cx="4572000" cy="292608"/>
          </a:xfrm>
          <a:prstGeom prst="rect">
            <a:avLst/>
          </a:prstGeom>
          <a:noFill/>
          <a:ln/>
        </p:spPr>
        <p:txBody>
          <a:bodyPr wrap="square" lIns="0" tIns="0" rIns="0" bIns="0" rtlCol="0" anchor="t"/>
          <a:lstStyle/>
          <a:p>
            <a:pPr indent="0" marL="0">
              <a:buNone/>
            </a:pPr>
            <a:r>
              <a:rPr lang="en-US" sz="1500" b="1" dirty="0">
                <a:solidFill>
                  <a:srgbClr val="0B0E26"/>
                </a:solidFill>
              </a:rPr>
              <a:t>A full-universe warehouse, already built</a:t>
            </a:r>
            <a:endParaRPr lang="en-US" sz="1500" dirty="0"/>
          </a:p>
        </p:txBody>
      </p:sp>
      <p:sp>
        <p:nvSpPr>
          <p:cNvPr id="15" name="Text 12"/>
          <p:cNvSpPr txBox="1"/>
          <p:nvPr/>
        </p:nvSpPr>
        <p:spPr>
          <a:xfrm>
            <a:off x="7040880" y="2075688"/>
            <a:ext cx="4572000" cy="640080"/>
          </a:xfrm>
          <a:prstGeom prst="rect">
            <a:avLst/>
          </a:prstGeom>
          <a:noFill/>
          <a:ln/>
        </p:spPr>
        <p:txBody>
          <a:bodyPr wrap="square" lIns="0" tIns="0" rIns="0" bIns="0" rtlCol="0" anchor="t"/>
          <a:lstStyle/>
          <a:p>
            <a:pPr indent="0" marL="0">
              <a:buNone/>
            </a:pPr>
            <a:r>
              <a:rPr lang="en-US" sz="1200" dirty="0">
                <a:solidFill>
                  <a:srgbClr val="434B6B"/>
                </a:solidFill>
              </a:rPr>
              <a:t>6K+ NSE/BSE companies with filings OCR'd and indexed: a data-engineering investment your team would otherwise fund.</a:t>
            </a:r>
            <a:endParaRPr lang="en-US" sz="1200" dirty="0"/>
          </a:p>
        </p:txBody>
      </p:sp>
      <p:sp>
        <p:nvSpPr>
          <p:cNvPr id="16" name="LuShieldCheck circle"/>
          <p:cNvSpPr/>
          <p:nvPr/>
        </p:nvSpPr>
        <p:spPr>
          <a:xfrm>
            <a:off x="6355080" y="2770632"/>
            <a:ext cx="512064" cy="512064"/>
          </a:xfrm>
          <a:prstGeom prst="ellipse">
            <a:avLst/>
          </a:prstGeom>
          <a:solidFill>
            <a:srgbClr val="4A3699"/>
          </a:solidFill>
          <a:ln/>
        </p:spPr>
      </p:sp>
      <p:pic>
        <p:nvPicPr>
          <p:cNvPr id="17" name="LuShieldCheck icon" descr="preencoded.png">    </p:cNvPr>
          <p:cNvPicPr>
            <a:picLocks noChangeAspect="1"/>
          </p:cNvPicPr>
          <p:nvPr/>
        </p:nvPicPr>
        <p:blipFill>
          <a:blip r:embed="rId2"/>
          <a:stretch>
            <a:fillRect/>
          </a:stretch>
        </p:blipFill>
        <p:spPr>
          <a:xfrm>
            <a:off x="6483096" y="2898648"/>
            <a:ext cx="256032" cy="256032"/>
          </a:xfrm>
          <a:prstGeom prst="rect">
            <a:avLst/>
          </a:prstGeom>
        </p:spPr>
      </p:pic>
      <p:sp>
        <p:nvSpPr>
          <p:cNvPr id="18" name="Text 14"/>
          <p:cNvSpPr txBox="1"/>
          <p:nvPr/>
        </p:nvSpPr>
        <p:spPr>
          <a:xfrm>
            <a:off x="7040880" y="2752344"/>
            <a:ext cx="4572000" cy="292608"/>
          </a:xfrm>
          <a:prstGeom prst="rect">
            <a:avLst/>
          </a:prstGeom>
          <a:noFill/>
          <a:ln/>
        </p:spPr>
        <p:txBody>
          <a:bodyPr wrap="square" lIns="0" tIns="0" rIns="0" bIns="0" rtlCol="0" anchor="t"/>
          <a:lstStyle/>
          <a:p>
            <a:pPr indent="0" marL="0">
              <a:buNone/>
            </a:pPr>
            <a:r>
              <a:rPr lang="en-US" sz="1500" b="1" dirty="0">
                <a:solidFill>
                  <a:srgbClr val="0B0E26"/>
                </a:solidFill>
              </a:rPr>
              <a:t>Grounded or silent</a:t>
            </a:r>
            <a:endParaRPr lang="en-US" sz="1500" dirty="0"/>
          </a:p>
        </p:txBody>
      </p:sp>
      <p:sp>
        <p:nvSpPr>
          <p:cNvPr id="19" name="Text 15"/>
          <p:cNvSpPr txBox="1"/>
          <p:nvPr/>
        </p:nvSpPr>
        <p:spPr>
          <a:xfrm>
            <a:off x="7040880" y="3063240"/>
            <a:ext cx="4572000" cy="640080"/>
          </a:xfrm>
          <a:prstGeom prst="rect">
            <a:avLst/>
          </a:prstGeom>
          <a:noFill/>
          <a:ln/>
        </p:spPr>
        <p:txBody>
          <a:bodyPr wrap="square" lIns="0" tIns="0" rIns="0" bIns="0" rtlCol="0" anchor="t"/>
          <a:lstStyle/>
          <a:p>
            <a:pPr indent="0" marL="0">
              <a:buNone/>
            </a:pPr>
            <a:r>
              <a:rPr lang="en-US" sz="1200" dirty="0">
                <a:solidFill>
                  <a:srgbClr val="434B6B"/>
                </a:solidFill>
              </a:rPr>
              <a:t>If coverage is missing, Anvest says so rather than estimating: the property that matters most when your logo is beside the answer.</a:t>
            </a:r>
            <a:endParaRPr lang="en-US" sz="1200" dirty="0"/>
          </a:p>
        </p:txBody>
      </p:sp>
      <p:sp>
        <p:nvSpPr>
          <p:cNvPr id="20" name="LuLink circle"/>
          <p:cNvSpPr/>
          <p:nvPr/>
        </p:nvSpPr>
        <p:spPr>
          <a:xfrm>
            <a:off x="6355080" y="3758184"/>
            <a:ext cx="512064" cy="512064"/>
          </a:xfrm>
          <a:prstGeom prst="ellipse">
            <a:avLst/>
          </a:prstGeom>
          <a:solidFill>
            <a:srgbClr val="4A3699"/>
          </a:solidFill>
          <a:ln/>
        </p:spPr>
      </p:sp>
      <p:pic>
        <p:nvPicPr>
          <p:cNvPr id="21" name="LuLink icon" descr="preencoded.png">    </p:cNvPr>
          <p:cNvPicPr>
            <a:picLocks noChangeAspect="1"/>
          </p:cNvPicPr>
          <p:nvPr/>
        </p:nvPicPr>
        <p:blipFill>
          <a:blip r:embed="rId3"/>
          <a:stretch>
            <a:fillRect/>
          </a:stretch>
        </p:blipFill>
        <p:spPr>
          <a:xfrm>
            <a:off x="6483096" y="3886200"/>
            <a:ext cx="256032" cy="256032"/>
          </a:xfrm>
          <a:prstGeom prst="rect">
            <a:avLst/>
          </a:prstGeom>
        </p:spPr>
      </p:pic>
      <p:sp>
        <p:nvSpPr>
          <p:cNvPr id="22" name="Text 17"/>
          <p:cNvSpPr txBox="1"/>
          <p:nvPr/>
        </p:nvSpPr>
        <p:spPr>
          <a:xfrm>
            <a:off x="7040880" y="3739896"/>
            <a:ext cx="4572000" cy="292608"/>
          </a:xfrm>
          <a:prstGeom prst="rect">
            <a:avLst/>
          </a:prstGeom>
          <a:noFill/>
          <a:ln/>
        </p:spPr>
        <p:txBody>
          <a:bodyPr wrap="square" lIns="0" tIns="0" rIns="0" bIns="0" rtlCol="0" anchor="t"/>
          <a:lstStyle/>
          <a:p>
            <a:pPr indent="0" marL="0">
              <a:buNone/>
            </a:pPr>
            <a:r>
              <a:rPr lang="en-US" sz="1500" b="1" dirty="0">
                <a:solidFill>
                  <a:srgbClr val="0B0E26"/>
                </a:solidFill>
              </a:rPr>
              <a:t>Portfolio-aware, on a read-only link</a:t>
            </a:r>
            <a:endParaRPr lang="en-US" sz="1500" dirty="0"/>
          </a:p>
        </p:txBody>
      </p:sp>
      <p:sp>
        <p:nvSpPr>
          <p:cNvPr id="23" name="Text 18"/>
          <p:cNvSpPr txBox="1"/>
          <p:nvPr/>
        </p:nvSpPr>
        <p:spPr>
          <a:xfrm>
            <a:off x="7040880" y="4050792"/>
            <a:ext cx="4572000" cy="640080"/>
          </a:xfrm>
          <a:prstGeom prst="rect">
            <a:avLst/>
          </a:prstGeom>
          <a:noFill/>
          <a:ln/>
        </p:spPr>
        <p:txBody>
          <a:bodyPr wrap="square" lIns="0" tIns="0" rIns="0" bIns="0" rtlCol="0" anchor="t"/>
          <a:lstStyle/>
          <a:p>
            <a:pPr indent="0" marL="0">
              <a:buNone/>
            </a:pPr>
            <a:r>
              <a:rPr lang="en-US" sz="1200" dirty="0">
                <a:solidFill>
                  <a:srgbClr val="434B6B"/>
                </a:solidFill>
              </a:rPr>
              <a:t>Answers ranked by what the user owns, through your approved API, with token handling agreed with you.</a:t>
            </a:r>
            <a:endParaRPr lang="en-US" sz="1200" dirty="0"/>
          </a:p>
        </p:txBody>
      </p:sp>
      <p:sp>
        <p:nvSpPr>
          <p:cNvPr id="24" name="LuChartLine circle"/>
          <p:cNvSpPr/>
          <p:nvPr/>
        </p:nvSpPr>
        <p:spPr>
          <a:xfrm>
            <a:off x="6355080" y="4745736"/>
            <a:ext cx="512064" cy="512064"/>
          </a:xfrm>
          <a:prstGeom prst="ellipse">
            <a:avLst/>
          </a:prstGeom>
          <a:solidFill>
            <a:srgbClr val="4A3699"/>
          </a:solidFill>
          <a:ln/>
        </p:spPr>
      </p:sp>
      <p:pic>
        <p:nvPicPr>
          <p:cNvPr id="25" name="LuChartLine icon" descr="preencoded.png">    </p:cNvPr>
          <p:cNvPicPr>
            <a:picLocks noChangeAspect="1"/>
          </p:cNvPicPr>
          <p:nvPr/>
        </p:nvPicPr>
        <p:blipFill>
          <a:blip r:embed="rId4"/>
          <a:stretch>
            <a:fillRect/>
          </a:stretch>
        </p:blipFill>
        <p:spPr>
          <a:xfrm>
            <a:off x="6483096" y="4873752"/>
            <a:ext cx="256032" cy="256032"/>
          </a:xfrm>
          <a:prstGeom prst="rect">
            <a:avLst/>
          </a:prstGeom>
        </p:spPr>
      </p:pic>
      <p:sp>
        <p:nvSpPr>
          <p:cNvPr id="26" name="Text 20"/>
          <p:cNvSpPr txBox="1"/>
          <p:nvPr/>
        </p:nvSpPr>
        <p:spPr>
          <a:xfrm>
            <a:off x="7040880" y="4727448"/>
            <a:ext cx="4572000" cy="292608"/>
          </a:xfrm>
          <a:prstGeom prst="rect">
            <a:avLst/>
          </a:prstGeom>
          <a:noFill/>
          <a:ln/>
        </p:spPr>
        <p:txBody>
          <a:bodyPr wrap="square" lIns="0" tIns="0" rIns="0" bIns="0" rtlCol="0" anchor="t"/>
          <a:lstStyle/>
          <a:p>
            <a:pPr indent="0" marL="0">
              <a:buNone/>
            </a:pPr>
            <a:r>
              <a:rPr lang="en-US" sz="1500" b="1" dirty="0">
                <a:solidFill>
                  <a:srgbClr val="0B0E26"/>
                </a:solidFill>
              </a:rPr>
              <a:t>From answer to action</a:t>
            </a:r>
            <a:endParaRPr lang="en-US" sz="1500" dirty="0"/>
          </a:p>
        </p:txBody>
      </p:sp>
      <p:sp>
        <p:nvSpPr>
          <p:cNvPr id="27" name="Text 21"/>
          <p:cNvSpPr txBox="1"/>
          <p:nvPr/>
        </p:nvSpPr>
        <p:spPr>
          <a:xfrm>
            <a:off x="7040880" y="5038344"/>
            <a:ext cx="4572000" cy="640080"/>
          </a:xfrm>
          <a:prstGeom prst="rect">
            <a:avLst/>
          </a:prstGeom>
          <a:noFill/>
          <a:ln/>
        </p:spPr>
        <p:txBody>
          <a:bodyPr wrap="square" lIns="0" tIns="0" rIns="0" bIns="0" rtlCol="0" anchor="t"/>
          <a:lstStyle/>
          <a:p>
            <a:pPr indent="0" marL="0">
              <a:buNone/>
            </a:pPr>
            <a:r>
              <a:rPr lang="en-US" sz="1200" dirty="0">
                <a:solidFill>
                  <a:srgbClr val="434B6B"/>
                </a:solidFill>
              </a:rPr>
              <a:t>Answers link to prepared screens, backtests with real costs and paper trading.</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THE INTEGRATION</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bg1"/>
                </a:solidFill>
              </a:rPr>
              <a:t>Kite MCP opened the door. Anvest adds the research</a:t>
            </a:r>
            <a:endParaRPr lang="en-US" sz="3200" dirty="0"/>
          </a:p>
        </p:txBody>
      </p:sp>
      <p:sp>
        <p:nvSpPr>
          <p:cNvPr id="4" name="Text 2"/>
          <p:cNvSpPr txBox="1"/>
          <p:nvPr/>
        </p:nvSpPr>
        <p:spPr>
          <a:xfrm>
            <a:off x="548640" y="1481328"/>
            <a:ext cx="11094415" cy="548640"/>
          </a:xfrm>
          <a:prstGeom prst="rect">
            <a:avLst/>
          </a:prstGeom>
          <a:noFill/>
          <a:ln/>
        </p:spPr>
        <p:txBody>
          <a:bodyPr wrap="square" lIns="0" tIns="0" rIns="0" bIns="0" rtlCol="0" anchor="t"/>
          <a:lstStyle/>
          <a:p>
            <a:pPr indent="0" marL="0">
              <a:buNone/>
            </a:pPr>
            <a:r>
              <a:rPr lang="en-US" sz="1400" dirty="0">
                <a:solidFill>
                  <a:srgbClr val="C9D3F0"/>
                </a:solidFill>
              </a:rPr>
              <a:t>Kite Connect exposes account data to authorised software, and Kite MCP makes it readable by AI agents. Anvest is built to sit exactly behind that interface.</a:t>
            </a:r>
            <a:endParaRPr lang="en-US" sz="1400" dirty="0"/>
          </a:p>
        </p:txBody>
      </p:sp>
      <p:sp>
        <p:nvSpPr>
          <p:cNvPr id="5" name="integration step 1"/>
          <p:cNvSpPr/>
          <p:nvPr/>
        </p:nvSpPr>
        <p:spPr>
          <a:xfrm>
            <a:off x="548640" y="2240280"/>
            <a:ext cx="3520440" cy="2514600"/>
          </a:xfrm>
          <a:prstGeom prst="roundRect">
            <a:avLst>
              <a:gd name="adj" fmla="val 4364"/>
            </a:avLst>
          </a:prstGeom>
          <a:solidFill>
            <a:srgbClr val="FFFFFF">
              <a:alpha val="8000"/>
            </a:srgbClr>
          </a:solidFill>
          <a:ln w="9525">
            <a:solidFill>
              <a:srgbClr val="C9D3F0">
                <a:alpha val="25000"/>
              </a:srgbClr>
            </a:solidFill>
            <a:prstDash val="solid"/>
          </a:ln>
        </p:spPr>
      </p:sp>
      <p:sp>
        <p:nvSpPr>
          <p:cNvPr id="6" name="LuLink circle"/>
          <p:cNvSpPr/>
          <p:nvPr/>
        </p:nvSpPr>
        <p:spPr>
          <a:xfrm>
            <a:off x="822960" y="2487168"/>
            <a:ext cx="566928" cy="566928"/>
          </a:xfrm>
          <a:prstGeom prst="ellipse">
            <a:avLst/>
          </a:prstGeom>
          <a:solidFill>
            <a:srgbClr val="F5A623"/>
          </a:solidFill>
          <a:ln/>
        </p:spPr>
      </p:sp>
      <p:pic>
        <p:nvPicPr>
          <p:cNvPr id="7" name="LuLink icon" descr="preencoded.png">    </p:cNvPr>
          <p:cNvPicPr>
            <a:picLocks noChangeAspect="1"/>
          </p:cNvPicPr>
          <p:nvPr/>
        </p:nvPicPr>
        <p:blipFill>
          <a:blip r:embed="rId1"/>
          <a:stretch>
            <a:fillRect/>
          </a:stretch>
        </p:blipFill>
        <p:spPr>
          <a:xfrm>
            <a:off x="964692" y="2628900"/>
            <a:ext cx="283464" cy="283464"/>
          </a:xfrm>
          <a:prstGeom prst="rect">
            <a:avLst/>
          </a:prstGeom>
        </p:spPr>
      </p:pic>
      <p:sp>
        <p:nvSpPr>
          <p:cNvPr id="8" name="Text 5"/>
          <p:cNvSpPr txBox="1"/>
          <p:nvPr/>
        </p:nvSpPr>
        <p:spPr>
          <a:xfrm>
            <a:off x="822960" y="3200400"/>
            <a:ext cx="3017520" cy="329184"/>
          </a:xfrm>
          <a:prstGeom prst="rect">
            <a:avLst/>
          </a:prstGeom>
          <a:noFill/>
          <a:ln/>
        </p:spPr>
        <p:txBody>
          <a:bodyPr wrap="square" lIns="0" tIns="0" rIns="0" bIns="0" rtlCol="0" anchor="t"/>
          <a:lstStyle/>
          <a:p>
            <a:pPr indent="0" marL="0">
              <a:buNone/>
            </a:pPr>
            <a:r>
              <a:rPr lang="en-US" sz="1700" b="1" dirty="0">
                <a:solidFill>
                  <a:srgbClr val="FFFFFF"/>
                </a:solidFill>
              </a:rPr>
              <a:t>Live account link</a:t>
            </a:r>
            <a:endParaRPr lang="en-US" sz="1700" dirty="0"/>
          </a:p>
        </p:txBody>
      </p:sp>
      <p:sp>
        <p:nvSpPr>
          <p:cNvPr id="9" name="Text 6"/>
          <p:cNvSpPr txBox="1"/>
          <p:nvPr/>
        </p:nvSpPr>
        <p:spPr>
          <a:xfrm>
            <a:off x="822960" y="3547872"/>
            <a:ext cx="3017520" cy="274320"/>
          </a:xfrm>
          <a:prstGeom prst="rect">
            <a:avLst/>
          </a:prstGeom>
          <a:noFill/>
          <a:ln/>
        </p:spPr>
        <p:txBody>
          <a:bodyPr wrap="square" lIns="0" tIns="0" rIns="0" bIns="0" rtlCol="0" anchor="t"/>
          <a:lstStyle/>
          <a:p>
            <a:pPr indent="0" marL="0">
              <a:buNone/>
            </a:pPr>
            <a:r>
              <a:rPr lang="en-US" sz="1200" b="1" dirty="0">
                <a:solidFill>
                  <a:srgbClr val="F5A623"/>
                </a:solidFill>
              </a:rPr>
              <a:t>Kite Connect / Kite MCP</a:t>
            </a:r>
            <a:endParaRPr lang="en-US" sz="1200" dirty="0"/>
          </a:p>
        </p:txBody>
      </p:sp>
      <p:sp>
        <p:nvSpPr>
          <p:cNvPr id="10" name="Text 7"/>
          <p:cNvSpPr txBox="1"/>
          <p:nvPr/>
        </p:nvSpPr>
        <p:spPr>
          <a:xfrm>
            <a:off x="822960" y="3858768"/>
            <a:ext cx="3017520" cy="822960"/>
          </a:xfrm>
          <a:prstGeom prst="rect">
            <a:avLst/>
          </a:prstGeom>
          <a:noFill/>
          <a:ln/>
        </p:spPr>
        <p:txBody>
          <a:bodyPr wrap="square" lIns="0" tIns="0" rIns="0" bIns="0" rtlCol="0" anchor="t"/>
          <a:lstStyle/>
          <a:p>
            <a:pPr indent="0" marL="0">
              <a:buNone/>
            </a:pPr>
            <a:r>
              <a:rPr lang="en-US" sz="1250" dirty="0">
                <a:solidFill>
                  <a:srgbClr val="C9D3F0"/>
                </a:solidFill>
              </a:rPr>
              <a:t>Holdings, positions and orders: read-only and user-authorised, on terms agreed with you.</a:t>
            </a:r>
            <a:endParaRPr lang="en-US" sz="1250" dirty="0"/>
          </a:p>
        </p:txBody>
      </p:sp>
      <p:sp>
        <p:nvSpPr>
          <p:cNvPr id="11" name="integration arrow 1 circle"/>
          <p:cNvSpPr/>
          <p:nvPr/>
        </p:nvSpPr>
        <p:spPr>
          <a:xfrm>
            <a:off x="4041648" y="3291840"/>
            <a:ext cx="310896" cy="310896"/>
          </a:xfrm>
          <a:prstGeom prst="ellipse">
            <a:avLst/>
          </a:prstGeom>
          <a:solidFill>
            <a:srgbClr val="F5A623"/>
          </a:solidFill>
          <a:ln/>
        </p:spPr>
      </p:sp>
      <p:pic>
        <p:nvPicPr>
          <p:cNvPr id="12" name="integration arrow 1 icon" descr="preencoded.png">    </p:cNvPr>
          <p:cNvPicPr>
            <a:picLocks noChangeAspect="1"/>
          </p:cNvPicPr>
          <p:nvPr/>
        </p:nvPicPr>
        <p:blipFill>
          <a:blip r:embed="rId2"/>
          <a:stretch>
            <a:fillRect/>
          </a:stretch>
        </p:blipFill>
        <p:spPr>
          <a:xfrm>
            <a:off x="4119372" y="3369564"/>
            <a:ext cx="155448" cy="155448"/>
          </a:xfrm>
          <a:prstGeom prst="rect">
            <a:avLst/>
          </a:prstGeom>
        </p:spPr>
      </p:pic>
      <p:sp>
        <p:nvSpPr>
          <p:cNvPr id="13" name="integration step 2"/>
          <p:cNvSpPr/>
          <p:nvPr/>
        </p:nvSpPr>
        <p:spPr>
          <a:xfrm>
            <a:off x="4315968" y="2240280"/>
            <a:ext cx="3520440" cy="2514600"/>
          </a:xfrm>
          <a:prstGeom prst="roundRect">
            <a:avLst>
              <a:gd name="adj" fmla="val 4364"/>
            </a:avLst>
          </a:prstGeom>
          <a:solidFill>
            <a:srgbClr val="FFFFFF">
              <a:alpha val="8000"/>
            </a:srgbClr>
          </a:solidFill>
          <a:ln w="9525">
            <a:solidFill>
              <a:srgbClr val="C9D3F0">
                <a:alpha val="25000"/>
              </a:srgbClr>
            </a:solidFill>
            <a:prstDash val="solid"/>
          </a:ln>
        </p:spPr>
      </p:sp>
      <p:sp>
        <p:nvSpPr>
          <p:cNvPr id="14" name="LuBrainCircuit circle"/>
          <p:cNvSpPr/>
          <p:nvPr/>
        </p:nvSpPr>
        <p:spPr>
          <a:xfrm>
            <a:off x="4590288" y="2487168"/>
            <a:ext cx="566928" cy="566928"/>
          </a:xfrm>
          <a:prstGeom prst="ellipse">
            <a:avLst/>
          </a:prstGeom>
          <a:solidFill>
            <a:srgbClr val="F5A623"/>
          </a:solidFill>
          <a:ln/>
        </p:spPr>
      </p:sp>
      <p:pic>
        <p:nvPicPr>
          <p:cNvPr id="15" name="LuBrainCircuit icon" descr="preencoded.png">    </p:cNvPr>
          <p:cNvPicPr>
            <a:picLocks noChangeAspect="1"/>
          </p:cNvPicPr>
          <p:nvPr/>
        </p:nvPicPr>
        <p:blipFill>
          <a:blip r:embed="rId3"/>
          <a:stretch>
            <a:fillRect/>
          </a:stretch>
        </p:blipFill>
        <p:spPr>
          <a:xfrm>
            <a:off x="4732020" y="2628900"/>
            <a:ext cx="283464" cy="283464"/>
          </a:xfrm>
          <a:prstGeom prst="rect">
            <a:avLst/>
          </a:prstGeom>
        </p:spPr>
      </p:pic>
      <p:sp>
        <p:nvSpPr>
          <p:cNvPr id="16" name="Text 11"/>
          <p:cNvSpPr txBox="1"/>
          <p:nvPr/>
        </p:nvSpPr>
        <p:spPr>
          <a:xfrm>
            <a:off x="4590288" y="3200400"/>
            <a:ext cx="3017520" cy="329184"/>
          </a:xfrm>
          <a:prstGeom prst="rect">
            <a:avLst/>
          </a:prstGeom>
          <a:noFill/>
          <a:ln/>
        </p:spPr>
        <p:txBody>
          <a:bodyPr wrap="square" lIns="0" tIns="0" rIns="0" bIns="0" rtlCol="0" anchor="t"/>
          <a:lstStyle/>
          <a:p>
            <a:pPr indent="0" marL="0">
              <a:buNone/>
            </a:pPr>
            <a:r>
              <a:rPr lang="en-US" sz="1700" b="1" dirty="0">
                <a:solidFill>
                  <a:srgbClr val="FFFFFF"/>
                </a:solidFill>
              </a:rPr>
              <a:t>Grounded reasoning layer</a:t>
            </a:r>
            <a:endParaRPr lang="en-US" sz="1700" dirty="0"/>
          </a:p>
        </p:txBody>
      </p:sp>
      <p:sp>
        <p:nvSpPr>
          <p:cNvPr id="17" name="Text 12"/>
          <p:cNvSpPr txBox="1"/>
          <p:nvPr/>
        </p:nvSpPr>
        <p:spPr>
          <a:xfrm>
            <a:off x="4590288" y="3547872"/>
            <a:ext cx="3017520" cy="274320"/>
          </a:xfrm>
          <a:prstGeom prst="rect">
            <a:avLst/>
          </a:prstGeom>
          <a:noFill/>
          <a:ln/>
        </p:spPr>
        <p:txBody>
          <a:bodyPr wrap="square" lIns="0" tIns="0" rIns="0" bIns="0" rtlCol="0" anchor="t"/>
          <a:lstStyle/>
          <a:p>
            <a:pPr indent="0" marL="0">
              <a:buNone/>
            </a:pPr>
            <a:r>
              <a:rPr lang="en-US" sz="1200" b="1" dirty="0">
                <a:solidFill>
                  <a:srgbClr val="F5A623"/>
                </a:solidFill>
              </a:rPr>
              <a:t>Anvest warehouse + retrieval</a:t>
            </a:r>
            <a:endParaRPr lang="en-US" sz="1200" dirty="0"/>
          </a:p>
        </p:txBody>
      </p:sp>
      <p:sp>
        <p:nvSpPr>
          <p:cNvPr id="18" name="Text 13"/>
          <p:cNvSpPr txBox="1"/>
          <p:nvPr/>
        </p:nvSpPr>
        <p:spPr>
          <a:xfrm>
            <a:off x="4590288" y="3858768"/>
            <a:ext cx="3017520" cy="822960"/>
          </a:xfrm>
          <a:prstGeom prst="rect">
            <a:avLst/>
          </a:prstGeom>
          <a:noFill/>
          <a:ln/>
        </p:spPr>
        <p:txBody>
          <a:bodyPr wrap="square" lIns="0" tIns="0" rIns="0" bIns="0" rtlCol="0" anchor="t"/>
          <a:lstStyle/>
          <a:p>
            <a:pPr indent="0" marL="0">
              <a:buNone/>
            </a:pPr>
            <a:r>
              <a:rPr lang="en-US" sz="1250" dirty="0">
                <a:solidFill>
                  <a:srgbClr val="C9D3F0"/>
                </a:solidFill>
              </a:rPr>
              <a:t>Every holding is matched to the filing that explains it, which turns generic research into personal research.</a:t>
            </a:r>
            <a:endParaRPr lang="en-US" sz="1250" dirty="0"/>
          </a:p>
        </p:txBody>
      </p:sp>
      <p:sp>
        <p:nvSpPr>
          <p:cNvPr id="19" name="integration arrow 2 circle"/>
          <p:cNvSpPr/>
          <p:nvPr/>
        </p:nvSpPr>
        <p:spPr>
          <a:xfrm>
            <a:off x="7808976" y="3291840"/>
            <a:ext cx="310896" cy="310896"/>
          </a:xfrm>
          <a:prstGeom prst="ellipse">
            <a:avLst/>
          </a:prstGeom>
          <a:solidFill>
            <a:srgbClr val="F5A623"/>
          </a:solidFill>
          <a:ln/>
        </p:spPr>
      </p:sp>
      <p:pic>
        <p:nvPicPr>
          <p:cNvPr id="20" name="integration arrow 2 icon" descr="preencoded.png">    </p:cNvPr>
          <p:cNvPicPr>
            <a:picLocks noChangeAspect="1"/>
          </p:cNvPicPr>
          <p:nvPr/>
        </p:nvPicPr>
        <p:blipFill>
          <a:blip r:embed="rId4"/>
          <a:stretch>
            <a:fillRect/>
          </a:stretch>
        </p:blipFill>
        <p:spPr>
          <a:xfrm>
            <a:off x="7886700" y="3369564"/>
            <a:ext cx="155448" cy="155448"/>
          </a:xfrm>
          <a:prstGeom prst="rect">
            <a:avLst/>
          </a:prstGeom>
        </p:spPr>
      </p:pic>
      <p:sp>
        <p:nvSpPr>
          <p:cNvPr id="21" name="integration step 3"/>
          <p:cNvSpPr/>
          <p:nvPr/>
        </p:nvSpPr>
        <p:spPr>
          <a:xfrm>
            <a:off x="8083296" y="2240280"/>
            <a:ext cx="3520440" cy="2514600"/>
          </a:xfrm>
          <a:prstGeom prst="roundRect">
            <a:avLst>
              <a:gd name="adj" fmla="val 4364"/>
            </a:avLst>
          </a:prstGeom>
          <a:solidFill>
            <a:srgbClr val="FFFFFF">
              <a:alpha val="8000"/>
            </a:srgbClr>
          </a:solidFill>
          <a:ln w="9525">
            <a:solidFill>
              <a:srgbClr val="C9D3F0">
                <a:alpha val="25000"/>
              </a:srgbClr>
            </a:solidFill>
            <a:prstDash val="solid"/>
          </a:ln>
        </p:spPr>
      </p:sp>
      <p:sp>
        <p:nvSpPr>
          <p:cNvPr id="22" name="LuBot circle"/>
          <p:cNvSpPr/>
          <p:nvPr/>
        </p:nvSpPr>
        <p:spPr>
          <a:xfrm>
            <a:off x="8357616" y="2487168"/>
            <a:ext cx="566928" cy="566928"/>
          </a:xfrm>
          <a:prstGeom prst="ellipse">
            <a:avLst/>
          </a:prstGeom>
          <a:solidFill>
            <a:srgbClr val="F5A623"/>
          </a:solidFill>
          <a:ln/>
        </p:spPr>
      </p:sp>
      <p:pic>
        <p:nvPicPr>
          <p:cNvPr id="23" name="LuBot icon" descr="preencoded.png">    </p:cNvPr>
          <p:cNvPicPr>
            <a:picLocks noChangeAspect="1"/>
          </p:cNvPicPr>
          <p:nvPr/>
        </p:nvPicPr>
        <p:blipFill>
          <a:blip r:embed="rId5"/>
          <a:stretch>
            <a:fillRect/>
          </a:stretch>
        </p:blipFill>
        <p:spPr>
          <a:xfrm>
            <a:off x="8499348" y="2628900"/>
            <a:ext cx="283464" cy="283464"/>
          </a:xfrm>
          <a:prstGeom prst="rect">
            <a:avLst/>
          </a:prstGeom>
        </p:spPr>
      </p:pic>
      <p:sp>
        <p:nvSpPr>
          <p:cNvPr id="24" name="Text 17"/>
          <p:cNvSpPr txBox="1"/>
          <p:nvPr/>
        </p:nvSpPr>
        <p:spPr>
          <a:xfrm>
            <a:off x="8357616" y="3200400"/>
            <a:ext cx="3017520" cy="329184"/>
          </a:xfrm>
          <a:prstGeom prst="rect">
            <a:avLst/>
          </a:prstGeom>
          <a:noFill/>
          <a:ln/>
        </p:spPr>
        <p:txBody>
          <a:bodyPr wrap="square" lIns="0" tIns="0" rIns="0" bIns="0" rtlCol="0" anchor="t"/>
          <a:lstStyle/>
          <a:p>
            <a:pPr indent="0" marL="0">
              <a:buNone/>
            </a:pPr>
            <a:r>
              <a:rPr lang="en-US" sz="1700" b="1" dirty="0">
                <a:solidFill>
                  <a:srgbClr val="FFFFFF"/>
                </a:solidFill>
              </a:rPr>
              <a:t>Agent-native surface</a:t>
            </a:r>
            <a:endParaRPr lang="en-US" sz="1700" dirty="0"/>
          </a:p>
        </p:txBody>
      </p:sp>
      <p:sp>
        <p:nvSpPr>
          <p:cNvPr id="25" name="Text 18"/>
          <p:cNvSpPr txBox="1"/>
          <p:nvPr/>
        </p:nvSpPr>
        <p:spPr>
          <a:xfrm>
            <a:off x="8357616" y="3547872"/>
            <a:ext cx="3017520" cy="274320"/>
          </a:xfrm>
          <a:prstGeom prst="rect">
            <a:avLst/>
          </a:prstGeom>
          <a:noFill/>
          <a:ln/>
        </p:spPr>
        <p:txBody>
          <a:bodyPr wrap="square" lIns="0" tIns="0" rIns="0" bIns="0" rtlCol="0" anchor="t"/>
          <a:lstStyle/>
          <a:p>
            <a:pPr indent="0" marL="0">
              <a:buNone/>
            </a:pPr>
            <a:r>
              <a:rPr lang="en-US" sz="1200" b="1" dirty="0">
                <a:solidFill>
                  <a:srgbClr val="F5A623"/>
                </a:solidFill>
              </a:rPr>
              <a:t>Your assistant, or a user's own agent</a:t>
            </a:r>
            <a:endParaRPr lang="en-US" sz="1200" dirty="0"/>
          </a:p>
        </p:txBody>
      </p:sp>
      <p:sp>
        <p:nvSpPr>
          <p:cNvPr id="26" name="Text 19"/>
          <p:cNvSpPr txBox="1"/>
          <p:nvPr/>
        </p:nvSpPr>
        <p:spPr>
          <a:xfrm>
            <a:off x="8357616" y="3858768"/>
            <a:ext cx="3017520" cy="822960"/>
          </a:xfrm>
          <a:prstGeom prst="rect">
            <a:avLst/>
          </a:prstGeom>
          <a:noFill/>
          <a:ln/>
        </p:spPr>
        <p:txBody>
          <a:bodyPr wrap="square" lIns="0" tIns="0" rIns="0" bIns="0" rtlCol="0" anchor="t"/>
          <a:lstStyle/>
          <a:p>
            <a:pPr indent="0" marL="0">
              <a:buNone/>
            </a:pPr>
            <a:r>
              <a:rPr lang="en-US" sz="1250" dirty="0">
                <a:solidFill>
                  <a:srgbClr val="C9D3F0"/>
                </a:solidFill>
              </a:rPr>
              <a:t>An AI agent asks Anvest about a position it already sees and gets a cited answer, not a guess.</a:t>
            </a:r>
            <a:endParaRPr lang="en-US" sz="1250" dirty="0"/>
          </a:p>
        </p:txBody>
      </p:sp>
      <p:sp>
        <p:nvSpPr>
          <p:cNvPr id="27" name="example band"/>
          <p:cNvSpPr/>
          <p:nvPr/>
        </p:nvSpPr>
        <p:spPr>
          <a:xfrm>
            <a:off x="548640" y="5029200"/>
            <a:ext cx="11094415" cy="914400"/>
          </a:xfrm>
          <a:prstGeom prst="roundRect">
            <a:avLst>
              <a:gd name="adj" fmla="val 12000"/>
            </a:avLst>
          </a:prstGeom>
          <a:solidFill>
            <a:srgbClr val="FFFFFF"/>
          </a:solidFill>
          <a:ln/>
          <a:effectLst>
            <a:outerShdw sx="100000" sy="100000" kx="0" ky="0" algn="bl" rotWithShape="0" blurRad="127000" dist="38100" dir="5400000">
              <a:srgbClr val="0B0E26">
                <a:alpha val="10000"/>
              </a:srgbClr>
            </a:outerShdw>
          </a:effectLst>
        </p:spPr>
      </p:sp>
      <p:sp>
        <p:nvSpPr>
          <p:cNvPr id="28" name="Text 21"/>
          <p:cNvSpPr txBox="1"/>
          <p:nvPr/>
        </p:nvSpPr>
        <p:spPr>
          <a:xfrm>
            <a:off x="868680" y="5029200"/>
            <a:ext cx="10454335" cy="914400"/>
          </a:xfrm>
          <a:prstGeom prst="rect">
            <a:avLst/>
          </a:prstGeom>
          <a:noFill/>
          <a:ln/>
        </p:spPr>
        <p:txBody>
          <a:bodyPr wrap="square" lIns="0" tIns="0" rIns="0" bIns="0" rtlCol="0" anchor="ctr"/>
          <a:lstStyle/>
          <a:p>
            <a:pPr indent="0" marL="0">
              <a:buNone/>
            </a:pPr>
            <a:r>
              <a:rPr lang="en-US" sz="1400" dirty="0">
                <a:solidFill>
                  <a:srgbClr val="434B6B"/>
                </a:solidFill>
              </a:rPr>
              <a:t>A user asks their Kite-connected assistant: </a:t>
            </a:r>
            <a:pPr indent="0" marL="0">
              <a:buNone/>
            </a:pPr>
            <a:r>
              <a:rPr lang="en-US" sz="1400" b="1" dirty="0">
                <a:solidFill>
                  <a:srgbClr val="0B0E26"/>
                </a:solidFill>
              </a:rPr>
              <a:t>“What did the companies I hold disclose this week?” </a:t>
            </a:r>
            <a:pPr indent="0" marL="0">
              <a:buNone/>
            </a:pPr>
            <a:r>
              <a:rPr lang="en-US" sz="1400" dirty="0">
                <a:solidFill>
                  <a:srgbClr val="434B6B"/>
                </a:solidFill>
              </a:rPr>
              <a:t>The answer comes from Anvest's filing-grounded warehouse, with each point cited to its filing.</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BEYOND RESEARCH</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From insight to disciplined action</a:t>
            </a:r>
            <a:endParaRPr lang="en-US" sz="3200" dirty="0"/>
          </a:p>
        </p:txBody>
      </p:sp>
      <p:sp>
        <p:nvSpPr>
          <p:cNvPr id="4" name="Screens users can test frame"/>
          <p:cNvSpPr/>
          <p:nvPr/>
        </p:nvSpPr>
        <p:spPr>
          <a:xfrm>
            <a:off x="548640" y="1783080"/>
            <a:ext cx="3520440" cy="1906524"/>
          </a:xfrm>
          <a:prstGeom prst="roundRect">
            <a:avLst>
              <a:gd name="adj" fmla="val 4616"/>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5" name="Screens users can test window dot 1"/>
          <p:cNvSpPr/>
          <p:nvPr/>
        </p:nvSpPr>
        <p:spPr>
          <a:xfrm>
            <a:off x="627461" y="1831360"/>
            <a:ext cx="49743" cy="49743"/>
          </a:xfrm>
          <a:prstGeom prst="ellipse">
            <a:avLst/>
          </a:prstGeom>
          <a:solidFill>
            <a:srgbClr val="FF5F57"/>
          </a:solidFill>
          <a:ln/>
        </p:spPr>
      </p:sp>
      <p:sp>
        <p:nvSpPr>
          <p:cNvPr id="6" name="Screens users can test window dot 2"/>
          <p:cNvSpPr/>
          <p:nvPr/>
        </p:nvSpPr>
        <p:spPr>
          <a:xfrm>
            <a:off x="712025" y="1831360"/>
            <a:ext cx="49743" cy="49743"/>
          </a:xfrm>
          <a:prstGeom prst="ellipse">
            <a:avLst/>
          </a:prstGeom>
          <a:solidFill>
            <a:srgbClr val="FEBC2E"/>
          </a:solidFill>
          <a:ln/>
        </p:spPr>
      </p:sp>
      <p:sp>
        <p:nvSpPr>
          <p:cNvPr id="7" name="Screens users can test window dot 3"/>
          <p:cNvSpPr/>
          <p:nvPr/>
        </p:nvSpPr>
        <p:spPr>
          <a:xfrm>
            <a:off x="796589" y="1831360"/>
            <a:ext cx="49743" cy="49743"/>
          </a:xfrm>
          <a:prstGeom prst="ellipse">
            <a:avLst/>
          </a:prstGeom>
          <a:solidFill>
            <a:srgbClr val="28C840"/>
          </a:solidFill>
          <a:ln/>
        </p:spPr>
      </p:sp>
      <p:pic>
        <p:nvPicPr>
          <p:cNvPr id="8" name="Screens users can test image" descr="Screens users can test">    </p:cNvPr>
          <p:cNvPicPr>
            <a:picLocks noChangeAspect="1"/>
          </p:cNvPicPr>
          <p:nvPr/>
        </p:nvPicPr>
        <p:blipFill>
          <a:blip r:embed="rId1"/>
          <a:stretch>
            <a:fillRect/>
          </a:stretch>
        </p:blipFill>
        <p:spPr>
          <a:xfrm>
            <a:off x="590885" y="1929384"/>
            <a:ext cx="3435949" cy="1717975"/>
          </a:xfrm>
          <a:prstGeom prst="rect">
            <a:avLst/>
          </a:prstGeom>
        </p:spPr>
      </p:pic>
      <p:sp>
        <p:nvSpPr>
          <p:cNvPr id="9" name="Text 6"/>
          <p:cNvSpPr txBox="1"/>
          <p:nvPr/>
        </p:nvSpPr>
        <p:spPr>
          <a:xfrm>
            <a:off x="548640" y="3799332"/>
            <a:ext cx="3520440" cy="292608"/>
          </a:xfrm>
          <a:prstGeom prst="rect">
            <a:avLst/>
          </a:prstGeom>
          <a:noFill/>
          <a:ln/>
        </p:spPr>
        <p:txBody>
          <a:bodyPr wrap="square" lIns="0" tIns="0" rIns="0" bIns="0" rtlCol="0" anchor="t"/>
          <a:lstStyle/>
          <a:p>
            <a:pPr indent="0" marL="0">
              <a:buNone/>
            </a:pPr>
            <a:r>
              <a:rPr lang="en-US" sz="1500" b="1" dirty="0">
                <a:solidFill>
                  <a:srgbClr val="0B0E26"/>
                </a:solidFill>
              </a:rPr>
              <a:t>Screens users can test</a:t>
            </a:r>
            <a:endParaRPr lang="en-US" sz="1500" dirty="0"/>
          </a:p>
        </p:txBody>
      </p:sp>
      <p:sp>
        <p:nvSpPr>
          <p:cNvPr id="10" name="Text 7"/>
          <p:cNvSpPr txBox="1"/>
          <p:nvPr/>
        </p:nvSpPr>
        <p:spPr>
          <a:xfrm>
            <a:off x="548640" y="4101084"/>
            <a:ext cx="3520440" cy="548640"/>
          </a:xfrm>
          <a:prstGeom prst="rect">
            <a:avLst/>
          </a:prstGeom>
          <a:noFill/>
          <a:ln/>
        </p:spPr>
        <p:txBody>
          <a:bodyPr wrap="square" lIns="0" tIns="0" rIns="0" bIns="0" rtlCol="0" anchor="t"/>
          <a:lstStyle/>
          <a:p>
            <a:pPr indent="0" marL="0">
              <a:buNone/>
            </a:pPr>
            <a:r>
              <a:rPr lang="en-US" sz="1250" dirty="0">
                <a:solidFill>
                  <a:srgbClr val="434B6B"/>
                </a:solidFill>
              </a:rPr>
              <a:t>Natural-language criteria become editable filters across 6K+ companies.</a:t>
            </a:r>
            <a:endParaRPr lang="en-US" sz="1250" dirty="0"/>
          </a:p>
        </p:txBody>
      </p:sp>
      <p:sp>
        <p:nvSpPr>
          <p:cNvPr id="11" name="Backtests with real Indian costs frame"/>
          <p:cNvSpPr/>
          <p:nvPr/>
        </p:nvSpPr>
        <p:spPr>
          <a:xfrm>
            <a:off x="4315968" y="1783080"/>
            <a:ext cx="3520440" cy="1906524"/>
          </a:xfrm>
          <a:prstGeom prst="roundRect">
            <a:avLst>
              <a:gd name="adj" fmla="val 4616"/>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12" name="Backtests with real Indian costs window dot 1"/>
          <p:cNvSpPr/>
          <p:nvPr/>
        </p:nvSpPr>
        <p:spPr>
          <a:xfrm>
            <a:off x="4394789" y="1831360"/>
            <a:ext cx="49743" cy="49743"/>
          </a:xfrm>
          <a:prstGeom prst="ellipse">
            <a:avLst/>
          </a:prstGeom>
          <a:solidFill>
            <a:srgbClr val="FF5F57"/>
          </a:solidFill>
          <a:ln/>
        </p:spPr>
      </p:sp>
      <p:sp>
        <p:nvSpPr>
          <p:cNvPr id="13" name="Backtests with real Indian costs window dot 2"/>
          <p:cNvSpPr/>
          <p:nvPr/>
        </p:nvSpPr>
        <p:spPr>
          <a:xfrm>
            <a:off x="4479353" y="1831360"/>
            <a:ext cx="49743" cy="49743"/>
          </a:xfrm>
          <a:prstGeom prst="ellipse">
            <a:avLst/>
          </a:prstGeom>
          <a:solidFill>
            <a:srgbClr val="FEBC2E"/>
          </a:solidFill>
          <a:ln/>
        </p:spPr>
      </p:sp>
      <p:sp>
        <p:nvSpPr>
          <p:cNvPr id="14" name="Backtests with real Indian costs window dot 3"/>
          <p:cNvSpPr/>
          <p:nvPr/>
        </p:nvSpPr>
        <p:spPr>
          <a:xfrm>
            <a:off x="4563917" y="1831360"/>
            <a:ext cx="49743" cy="49743"/>
          </a:xfrm>
          <a:prstGeom prst="ellipse">
            <a:avLst/>
          </a:prstGeom>
          <a:solidFill>
            <a:srgbClr val="28C840"/>
          </a:solidFill>
          <a:ln/>
        </p:spPr>
      </p:sp>
      <p:pic>
        <p:nvPicPr>
          <p:cNvPr id="15" name="Backtests with real Indian costs image" descr="Backtests with real Indian costs">    </p:cNvPr>
          <p:cNvPicPr>
            <a:picLocks noChangeAspect="1"/>
          </p:cNvPicPr>
          <p:nvPr/>
        </p:nvPicPr>
        <p:blipFill>
          <a:blip r:embed="rId2"/>
          <a:stretch>
            <a:fillRect/>
          </a:stretch>
        </p:blipFill>
        <p:spPr>
          <a:xfrm>
            <a:off x="4358213" y="1929384"/>
            <a:ext cx="3435949" cy="1717975"/>
          </a:xfrm>
          <a:prstGeom prst="rect">
            <a:avLst/>
          </a:prstGeom>
        </p:spPr>
      </p:pic>
      <p:sp>
        <p:nvSpPr>
          <p:cNvPr id="16" name="Text 12"/>
          <p:cNvSpPr txBox="1"/>
          <p:nvPr/>
        </p:nvSpPr>
        <p:spPr>
          <a:xfrm>
            <a:off x="4315968" y="3799332"/>
            <a:ext cx="3520440" cy="292608"/>
          </a:xfrm>
          <a:prstGeom prst="rect">
            <a:avLst/>
          </a:prstGeom>
          <a:noFill/>
          <a:ln/>
        </p:spPr>
        <p:txBody>
          <a:bodyPr wrap="square" lIns="0" tIns="0" rIns="0" bIns="0" rtlCol="0" anchor="t"/>
          <a:lstStyle/>
          <a:p>
            <a:pPr indent="0" marL="0">
              <a:buNone/>
            </a:pPr>
            <a:r>
              <a:rPr lang="en-US" sz="1500" b="1" dirty="0">
                <a:solidFill>
                  <a:srgbClr val="0B0E26"/>
                </a:solidFill>
              </a:rPr>
              <a:t>Backtests with real Indian costs</a:t>
            </a:r>
            <a:endParaRPr lang="en-US" sz="1500" dirty="0"/>
          </a:p>
        </p:txBody>
      </p:sp>
      <p:sp>
        <p:nvSpPr>
          <p:cNvPr id="17" name="Text 13"/>
          <p:cNvSpPr txBox="1"/>
          <p:nvPr/>
        </p:nvSpPr>
        <p:spPr>
          <a:xfrm>
            <a:off x="4315968" y="4101084"/>
            <a:ext cx="3520440" cy="548640"/>
          </a:xfrm>
          <a:prstGeom prst="rect">
            <a:avLst/>
          </a:prstGeom>
          <a:noFill/>
          <a:ln/>
        </p:spPr>
        <p:txBody>
          <a:bodyPr wrap="square" lIns="0" tIns="0" rIns="0" bIns="0" rtlCol="0" anchor="t"/>
          <a:lstStyle/>
          <a:p>
            <a:pPr indent="0" marL="0">
              <a:buNone/>
            </a:pPr>
            <a:r>
              <a:rPr lang="en-US" sz="1250" dirty="0">
                <a:solidFill>
                  <a:srgbClr val="434B6B"/>
                </a:solidFill>
              </a:rPr>
              <a:t>Brokerage, STT, stamp duty and slippage built in, with the formula visible.</a:t>
            </a:r>
            <a:endParaRPr lang="en-US" sz="1250" dirty="0"/>
          </a:p>
        </p:txBody>
      </p:sp>
      <p:sp>
        <p:nvSpPr>
          <p:cNvPr id="18" name="Practice before real money frame"/>
          <p:cNvSpPr/>
          <p:nvPr/>
        </p:nvSpPr>
        <p:spPr>
          <a:xfrm>
            <a:off x="8083296" y="1783080"/>
            <a:ext cx="3520440" cy="1906524"/>
          </a:xfrm>
          <a:prstGeom prst="roundRect">
            <a:avLst>
              <a:gd name="adj" fmla="val 4616"/>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19" name="Practice before real money window dot 1"/>
          <p:cNvSpPr/>
          <p:nvPr/>
        </p:nvSpPr>
        <p:spPr>
          <a:xfrm>
            <a:off x="8162117" y="1831360"/>
            <a:ext cx="49743" cy="49743"/>
          </a:xfrm>
          <a:prstGeom prst="ellipse">
            <a:avLst/>
          </a:prstGeom>
          <a:solidFill>
            <a:srgbClr val="FF5F57"/>
          </a:solidFill>
          <a:ln/>
        </p:spPr>
      </p:sp>
      <p:sp>
        <p:nvSpPr>
          <p:cNvPr id="20" name="Practice before real money window dot 2"/>
          <p:cNvSpPr/>
          <p:nvPr/>
        </p:nvSpPr>
        <p:spPr>
          <a:xfrm>
            <a:off x="8246681" y="1831360"/>
            <a:ext cx="49743" cy="49743"/>
          </a:xfrm>
          <a:prstGeom prst="ellipse">
            <a:avLst/>
          </a:prstGeom>
          <a:solidFill>
            <a:srgbClr val="FEBC2E"/>
          </a:solidFill>
          <a:ln/>
        </p:spPr>
      </p:sp>
      <p:sp>
        <p:nvSpPr>
          <p:cNvPr id="21" name="Practice before real money window dot 3"/>
          <p:cNvSpPr/>
          <p:nvPr/>
        </p:nvSpPr>
        <p:spPr>
          <a:xfrm>
            <a:off x="8331245" y="1831360"/>
            <a:ext cx="49743" cy="49743"/>
          </a:xfrm>
          <a:prstGeom prst="ellipse">
            <a:avLst/>
          </a:prstGeom>
          <a:solidFill>
            <a:srgbClr val="28C840"/>
          </a:solidFill>
          <a:ln/>
        </p:spPr>
      </p:sp>
      <p:pic>
        <p:nvPicPr>
          <p:cNvPr id="22" name="Practice before real money image" descr="Practice before real money">    </p:cNvPr>
          <p:cNvPicPr>
            <a:picLocks noChangeAspect="1"/>
          </p:cNvPicPr>
          <p:nvPr/>
        </p:nvPicPr>
        <p:blipFill>
          <a:blip r:embed="rId3"/>
          <a:stretch>
            <a:fillRect/>
          </a:stretch>
        </p:blipFill>
        <p:spPr>
          <a:xfrm>
            <a:off x="8125541" y="1929384"/>
            <a:ext cx="3435949" cy="1717975"/>
          </a:xfrm>
          <a:prstGeom prst="rect">
            <a:avLst/>
          </a:prstGeom>
        </p:spPr>
      </p:pic>
      <p:sp>
        <p:nvSpPr>
          <p:cNvPr id="23" name="Text 18"/>
          <p:cNvSpPr txBox="1"/>
          <p:nvPr/>
        </p:nvSpPr>
        <p:spPr>
          <a:xfrm>
            <a:off x="8083296" y="3799332"/>
            <a:ext cx="3520440" cy="292608"/>
          </a:xfrm>
          <a:prstGeom prst="rect">
            <a:avLst/>
          </a:prstGeom>
          <a:noFill/>
          <a:ln/>
        </p:spPr>
        <p:txBody>
          <a:bodyPr wrap="square" lIns="0" tIns="0" rIns="0" bIns="0" rtlCol="0" anchor="t"/>
          <a:lstStyle/>
          <a:p>
            <a:pPr indent="0" marL="0">
              <a:buNone/>
            </a:pPr>
            <a:r>
              <a:rPr lang="en-US" sz="1500" b="1" dirty="0">
                <a:solidFill>
                  <a:srgbClr val="0B0E26"/>
                </a:solidFill>
              </a:rPr>
              <a:t>Practice before real money</a:t>
            </a:r>
            <a:endParaRPr lang="en-US" sz="1500" dirty="0"/>
          </a:p>
        </p:txBody>
      </p:sp>
      <p:sp>
        <p:nvSpPr>
          <p:cNvPr id="24" name="Text 19"/>
          <p:cNvSpPr txBox="1"/>
          <p:nvPr/>
        </p:nvSpPr>
        <p:spPr>
          <a:xfrm>
            <a:off x="8083296" y="4101084"/>
            <a:ext cx="3520440" cy="548640"/>
          </a:xfrm>
          <a:prstGeom prst="rect">
            <a:avLst/>
          </a:prstGeom>
          <a:noFill/>
          <a:ln/>
        </p:spPr>
        <p:txBody>
          <a:bodyPr wrap="square" lIns="0" tIns="0" rIns="0" bIns="0" rtlCol="0" anchor="t"/>
          <a:lstStyle/>
          <a:p>
            <a:pPr indent="0" marL="0">
              <a:buNone/>
            </a:pPr>
            <a:r>
              <a:rPr lang="en-US" sz="1250" dirty="0">
                <a:solidFill>
                  <a:srgbClr val="434B6B"/>
                </a:solidFill>
              </a:rPr>
              <a:t>Paper-trade a strategy with virtual cash and keep a journal of every decision.</a:t>
            </a:r>
            <a:endParaRPr lang="en-US" sz="1250" dirty="0"/>
          </a:p>
        </p:txBody>
      </p:sp>
      <p:sp>
        <p:nvSpPr>
          <p:cNvPr id="25" name="algo band"/>
          <p:cNvSpPr/>
          <p:nvPr/>
        </p:nvSpPr>
        <p:spPr>
          <a:xfrm>
            <a:off x="548640" y="5120640"/>
            <a:ext cx="11094415" cy="868680"/>
          </a:xfrm>
          <a:prstGeom prst="roundRect">
            <a:avLst>
              <a:gd name="adj" fmla="val 12632"/>
            </a:avLst>
          </a:prstGeom>
          <a:solidFill>
            <a:srgbClr val="FFFFFF"/>
          </a:solidFill>
          <a:ln/>
          <a:effectLst>
            <a:outerShdw sx="100000" sy="100000" kx="0" ky="0" algn="bl" rotWithShape="0" blurRad="127000" dist="38100" dir="5400000">
              <a:srgbClr val="0B0E26">
                <a:alpha val="10000"/>
              </a:srgbClr>
            </a:outerShdw>
          </a:effectLst>
        </p:spPr>
      </p:sp>
      <p:sp>
        <p:nvSpPr>
          <p:cNvPr id="26" name="LuRocket circle"/>
          <p:cNvSpPr/>
          <p:nvPr/>
        </p:nvSpPr>
        <p:spPr>
          <a:xfrm>
            <a:off x="777240" y="5294376"/>
            <a:ext cx="512064" cy="512064"/>
          </a:xfrm>
          <a:prstGeom prst="ellipse">
            <a:avLst/>
          </a:prstGeom>
          <a:solidFill>
            <a:srgbClr val="F5A623"/>
          </a:solidFill>
          <a:ln/>
        </p:spPr>
      </p:sp>
      <p:pic>
        <p:nvPicPr>
          <p:cNvPr id="27" name="LuRocket icon" descr="preencoded.png">    </p:cNvPr>
          <p:cNvPicPr>
            <a:picLocks noChangeAspect="1"/>
          </p:cNvPicPr>
          <p:nvPr/>
        </p:nvPicPr>
        <p:blipFill>
          <a:blip r:embed="rId4"/>
          <a:stretch>
            <a:fillRect/>
          </a:stretch>
        </p:blipFill>
        <p:spPr>
          <a:xfrm>
            <a:off x="905256" y="5422392"/>
            <a:ext cx="256032" cy="256032"/>
          </a:xfrm>
          <a:prstGeom prst="rect">
            <a:avLst/>
          </a:prstGeom>
        </p:spPr>
      </p:pic>
      <p:sp>
        <p:nvSpPr>
          <p:cNvPr id="28" name="Text 22"/>
          <p:cNvSpPr txBox="1"/>
          <p:nvPr/>
        </p:nvSpPr>
        <p:spPr>
          <a:xfrm>
            <a:off x="1508760" y="5120640"/>
            <a:ext cx="9905695" cy="868680"/>
          </a:xfrm>
          <a:prstGeom prst="rect">
            <a:avLst/>
          </a:prstGeom>
          <a:noFill/>
          <a:ln/>
        </p:spPr>
        <p:txBody>
          <a:bodyPr wrap="square" lIns="0" tIns="0" rIns="0" bIns="0" rtlCol="0" anchor="ctr"/>
          <a:lstStyle/>
          <a:p>
            <a:pPr indent="0" marL="0">
              <a:buNone/>
            </a:pPr>
            <a:r>
              <a:rPr lang="en-US" sz="1350" dirty="0">
                <a:solidFill>
                  <a:srgbClr val="0B0E26"/>
                </a:solidFill>
              </a:rPr>
              <a:t>Under SEBI's retail algo framework, tested strategies could later run on your platform as exchange-registered algos, inside your risk controls, subject to empanelment and approvals.</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PARTNER OR BUILD</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Partnering is the faster path to an AI research layer</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4069080"/>
                <a:gridCol w="4645152"/>
              </a:tblGrid>
              <a:tr h="457200">
                <a:tc>
                  <a:txBody>
                    <a:bodyPr/>
                    <a:lstStyle/>
                    <a:p>
                      <a:pPr indent="0" marL="0">
                        <a:buNone/>
                      </a:pPr>
                      <a:endParaRPr lang="en-US" sz="1200" dirty="0">
                        <a:latin typeface="Calibri" charset="0"/>
                        <a:ea typeface="Calibri" charset="0"/>
                        <a:cs typeface="Calibri" charset="0"/>
                      </a:endParaRPr>
                    </a:p>
                  </a:txBody>
                  <a:tcPr marL="152400" marR="152400" marT="50800" marB="50800">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400" b="1" dirty="0">
                          <a:solidFill>
                            <a:srgbClr val="434B6B"/>
                          </a:solidFill>
                          <a:latin typeface="Calibri" pitchFamily="34" charset="0"/>
                          <a:ea typeface="Calibri" pitchFamily="34" charset="-122"/>
                          <a:cs typeface="Calibri" pitchFamily="34" charset="-120"/>
                        </a:rPr>
                        <a:t>Build in-house</a:t>
                      </a:r>
                      <a:endParaRPr lang="en-US" sz="14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Partner with Anvest</a:t>
                      </a:r>
                      <a:endParaRPr lang="en-US" sz="14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4A3699"/>
                    </a:solidFill>
                  </a:tcPr>
                </a:tc>
              </a:tr>
              <a:tr h="603504">
                <a:tc>
                  <a:txBody>
                    <a:bodyPr/>
                    <a:lstStyle/>
                    <a:p>
                      <a:pPr indent="0" marL="0">
                        <a:buNone/>
                      </a:pPr>
                      <a:r>
                        <a:rPr lang="en-US" sz="1350" b="1" dirty="0">
                          <a:solidFill>
                            <a:srgbClr val="0B0E26"/>
                          </a:solidFill>
                          <a:latin typeface="Calibri" pitchFamily="34" charset="0"/>
                          <a:ea typeface="Calibri" pitchFamily="34" charset="-122"/>
                          <a:cs typeface="Calibri" pitchFamily="34" charset="-120"/>
                        </a:rPr>
                        <a:t>Time to launch</a:t>
                      </a:r>
                      <a:endParaRPr lang="en-US" sz="135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34B6B"/>
                          </a:solidFill>
                          <a:latin typeface="Calibri" pitchFamily="34" charset="0"/>
                          <a:ea typeface="Calibri" pitchFamily="34" charset="-122"/>
                          <a:cs typeface="Calibri" pitchFamily="34" charset="-120"/>
                        </a:rPr>
                        <a:t>About a year of ingestion, OCR and verification work</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A pilot in weeks, on a live system</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1EEFB"/>
                    </a:solidFill>
                  </a:tcPr>
                </a:tc>
              </a:tr>
              <a:tr h="603504">
                <a:tc>
                  <a:txBody>
                    <a:bodyPr/>
                    <a:lstStyle/>
                    <a:p>
                      <a:pPr indent="0" marL="0">
                        <a:buNone/>
                      </a:pPr>
                      <a:r>
                        <a:rPr lang="en-US" sz="1350" b="1" dirty="0">
                          <a:solidFill>
                            <a:srgbClr val="0B0E26"/>
                          </a:solidFill>
                          <a:latin typeface="Calibri" pitchFamily="34" charset="0"/>
                          <a:ea typeface="Calibri" pitchFamily="34" charset="-122"/>
                          <a:cs typeface="Calibri" pitchFamily="34" charset="-120"/>
                        </a:rPr>
                        <a:t>Data engine</a:t>
                      </a:r>
                      <a:endParaRPr lang="en-US" sz="135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34B6B"/>
                          </a:solidFill>
                          <a:latin typeface="Calibri" pitchFamily="34" charset="0"/>
                          <a:ea typeface="Calibri" pitchFamily="34" charset="-122"/>
                          <a:cs typeface="Calibri" pitchFamily="34" charset="-120"/>
                        </a:rPr>
                        <a:t>A new team and new pipelines</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6K+ companies, 2.94M announcements and 1.35M indexed passages, refreshed nightly</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1EEFB"/>
                    </a:solidFill>
                  </a:tcPr>
                </a:tc>
              </a:tr>
              <a:tr h="603504">
                <a:tc>
                  <a:txBody>
                    <a:bodyPr/>
                    <a:lstStyle/>
                    <a:p>
                      <a:pPr indent="0" marL="0">
                        <a:buNone/>
                      </a:pPr>
                      <a:r>
                        <a:rPr lang="en-US" sz="1350" b="1" dirty="0">
                          <a:solidFill>
                            <a:srgbClr val="0B0E26"/>
                          </a:solidFill>
                          <a:latin typeface="Calibri" pitchFamily="34" charset="0"/>
                          <a:ea typeface="Calibri" pitchFamily="34" charset="-122"/>
                          <a:cs typeface="Calibri" pitchFamily="34" charset="-120"/>
                        </a:rPr>
                        <a:t>Edge cases</a:t>
                      </a:r>
                      <a:endParaRPr lang="en-US" sz="135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34B6B"/>
                          </a:solidFill>
                          <a:latin typeface="Calibri" pitchFamily="34" charset="0"/>
                          <a:ea typeface="Calibri" pitchFamily="34" charset="-122"/>
                          <a:cs typeface="Calibri" pitchFamily="34" charset="-120"/>
                        </a:rPr>
                        <a:t>Rediscover malformed XBRL, Q4-only annual figures and scanned PDFs</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Already solved in production</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1EEFB"/>
                    </a:solidFill>
                  </a:tcPr>
                </a:tc>
              </a:tr>
              <a:tr h="603504">
                <a:tc>
                  <a:txBody>
                    <a:bodyPr/>
                    <a:lstStyle/>
                    <a:p>
                      <a:pPr indent="0" marL="0">
                        <a:buNone/>
                      </a:pPr>
                      <a:r>
                        <a:rPr lang="en-US" sz="1350" b="1" dirty="0">
                          <a:solidFill>
                            <a:srgbClr val="0B0E26"/>
                          </a:solidFill>
                          <a:latin typeface="Calibri" pitchFamily="34" charset="0"/>
                          <a:ea typeface="Calibri" pitchFamily="34" charset="-122"/>
                          <a:cs typeface="Calibri" pitchFamily="34" charset="-120"/>
                        </a:rPr>
                        <a:t>Accountability</a:t>
                      </a:r>
                      <a:endParaRPr lang="en-US" sz="135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34B6B"/>
                          </a:solidFill>
                          <a:latin typeface="Calibri" pitchFamily="34" charset="0"/>
                          <a:ea typeface="Calibri" pitchFamily="34" charset="-122"/>
                          <a:cs typeface="Calibri" pitchFamily="34" charset="-120"/>
                        </a:rPr>
                        <a:t>Build citation and verification from scratch</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Grounded or silent, by design</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1EEFB"/>
                    </a:solidFill>
                  </a:tcPr>
                </a:tc>
              </a:tr>
              <a:tr h="603504">
                <a:tc>
                  <a:txBody>
                    <a:bodyPr/>
                    <a:lstStyle/>
                    <a:p>
                      <a:pPr indent="0" marL="0">
                        <a:buNone/>
                      </a:pPr>
                      <a:r>
                        <a:rPr lang="en-US" sz="1350" b="1" dirty="0">
                          <a:solidFill>
                            <a:srgbClr val="0B0E26"/>
                          </a:solidFill>
                          <a:latin typeface="Calibri" pitchFamily="34" charset="0"/>
                          <a:ea typeface="Calibri" pitchFamily="34" charset="-122"/>
                          <a:cs typeface="Calibri" pitchFamily="34" charset="-120"/>
                        </a:rPr>
                        <a:t>Your research surface</a:t>
                      </a:r>
                      <a:endParaRPr lang="en-US" sz="135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34B6B"/>
                          </a:solidFill>
                          <a:latin typeface="Calibri" pitchFamily="34" charset="0"/>
                          <a:ea typeface="Calibri" pitchFamily="34" charset="-122"/>
                          <a:cs typeface="Calibri" pitchFamily="34" charset="-120"/>
                        </a:rPr>
                        <a:t>Unchanged</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Complemented: your ratios and charts show what changed; Anvest answers why</a:t>
                      </a:r>
                      <a:endParaRPr lang="en-US" sz="1300" dirty="0">
                        <a:latin typeface="Calibri" charset="0"/>
                        <a:ea typeface="Calibri" charset="0"/>
                        <a:cs typeface="Calibri" charset="0"/>
                      </a:endParaRPr>
                    </a:p>
                  </a:txBody>
                  <a:tcPr marL="152400" marR="1524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1EEFB"/>
                    </a:solidFill>
                  </a:tcPr>
                </a:tc>
              </a:tr>
            </a:tbl>
          </a:graphicData>
        </a:graphic>
      </p:graphicFrame>
      <p:sp>
        <p:nvSpPr>
          <p:cNvPr id="5" name="Text 2"/>
          <p:cNvSpPr txBox="1"/>
          <p:nvPr/>
        </p:nvSpPr>
        <p:spPr>
          <a:xfrm>
            <a:off x="548640" y="5486400"/>
            <a:ext cx="11094415" cy="548640"/>
          </a:xfrm>
          <a:prstGeom prst="rect">
            <a:avLst/>
          </a:prstGeom>
          <a:noFill/>
          <a:ln/>
        </p:spPr>
        <p:txBody>
          <a:bodyPr wrap="square" lIns="0" tIns="0" rIns="0" bIns="0" rtlCol="0" anchor="t"/>
          <a:lstStyle/>
          <a:p>
            <a:pPr indent="0" marL="0">
              <a:buNone/>
            </a:pPr>
            <a:r>
              <a:rPr lang="en-US" sz="1400" b="1" dirty="0">
                <a:solidFill>
                  <a:srgbClr val="0B0E26"/>
                </a:solidFill>
              </a:rPr>
              <a:t>A scoped pilot measures exactly this, on answer accuracy, citation quality, coverage of difficult filings and cost per answer, so the decision rests on evidence.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WHERE WE ARE</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Built, live and ready to pilot</a:t>
            </a:r>
            <a:endParaRPr lang="en-US" sz="3200" dirty="0"/>
          </a:p>
        </p:txBody>
      </p:sp>
      <p:sp>
        <p:nvSpPr>
          <p:cNvPr id="4" name="shipped card"/>
          <p:cNvSpPr/>
          <p:nvPr/>
        </p:nvSpPr>
        <p:spPr>
          <a:xfrm>
            <a:off x="548640" y="1783080"/>
            <a:ext cx="6675120" cy="4206240"/>
          </a:xfrm>
          <a:prstGeom prst="roundRect">
            <a:avLst>
              <a:gd name="adj" fmla="val 2609"/>
            </a:avLst>
          </a:prstGeom>
          <a:solidFill>
            <a:srgbClr val="FFFFFF"/>
          </a:solidFill>
          <a:ln/>
          <a:effectLst>
            <a:outerShdw sx="100000" sy="100000" kx="0" ky="0" algn="bl" rotWithShape="0" blurRad="127000" dist="38100" dir="5400000">
              <a:srgbClr val="0B0E26">
                <a:alpha val="10000"/>
              </a:srgbClr>
            </a:outerShdw>
          </a:effectLst>
        </p:spPr>
      </p:sp>
      <p:sp>
        <p:nvSpPr>
          <p:cNvPr id="5" name="chip SHIPPED AND LIVE"/>
          <p:cNvSpPr/>
          <p:nvPr/>
        </p:nvSpPr>
        <p:spPr>
          <a:xfrm>
            <a:off x="822960" y="2011680"/>
            <a:ext cx="1444752" cy="256032"/>
          </a:xfrm>
          <a:prstGeom prst="roundRect">
            <a:avLst>
              <a:gd name="adj" fmla="val 50000"/>
            </a:avLst>
          </a:prstGeom>
          <a:solidFill>
            <a:srgbClr val="1FA971"/>
          </a:solidFill>
          <a:ln/>
        </p:spPr>
      </p:sp>
      <p:sp>
        <p:nvSpPr>
          <p:cNvPr id="6" name="chip text SHIPPED AND LIVE"/>
          <p:cNvSpPr txBox="1"/>
          <p:nvPr/>
        </p:nvSpPr>
        <p:spPr>
          <a:xfrm>
            <a:off x="822960" y="2011680"/>
            <a:ext cx="1444752"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SHIPPED AND LIVE</a:t>
            </a:r>
            <a:endParaRPr lang="en-US" sz="1000" dirty="0"/>
          </a:p>
        </p:txBody>
      </p:sp>
      <p:pic>
        <p:nvPicPr>
          <p:cNvPr id="7" name="check 1" descr="preencoded.png">    </p:cNvPr>
          <p:cNvPicPr>
            <a:picLocks noChangeAspect="1"/>
          </p:cNvPicPr>
          <p:nvPr/>
        </p:nvPicPr>
        <p:blipFill>
          <a:blip r:embed="rId1"/>
          <a:stretch>
            <a:fillRect/>
          </a:stretch>
        </p:blipFill>
        <p:spPr>
          <a:xfrm>
            <a:off x="822960" y="2542032"/>
            <a:ext cx="237744" cy="237744"/>
          </a:xfrm>
          <a:prstGeom prst="rect">
            <a:avLst/>
          </a:prstGeom>
        </p:spPr>
      </p:pic>
      <p:sp>
        <p:nvSpPr>
          <p:cNvPr id="8" name="Text 5"/>
          <p:cNvSpPr txBox="1"/>
          <p:nvPr/>
        </p:nvSpPr>
        <p:spPr>
          <a:xfrm>
            <a:off x="1152144" y="2514600"/>
            <a:ext cx="2788920" cy="640080"/>
          </a:xfrm>
          <a:prstGeom prst="rect">
            <a:avLst/>
          </a:prstGeom>
          <a:noFill/>
          <a:ln/>
        </p:spPr>
        <p:txBody>
          <a:bodyPr wrap="square" lIns="0" tIns="0" rIns="0" bIns="0" rtlCol="0" anchor="t"/>
          <a:lstStyle/>
          <a:p>
            <a:pPr indent="0" marL="0">
              <a:buNone/>
            </a:pPr>
            <a:r>
              <a:rPr lang="en-US" sz="1300" dirty="0">
                <a:solidFill>
                  <a:srgbClr val="0B0E26"/>
                </a:solidFill>
              </a:rPr>
              <a:t>Full-universe filings warehouse, nightly ingestion</a:t>
            </a:r>
            <a:endParaRPr lang="en-US" sz="1300" dirty="0"/>
          </a:p>
        </p:txBody>
      </p:sp>
      <p:pic>
        <p:nvPicPr>
          <p:cNvPr id="9" name="check 2" descr="preencoded.png">    </p:cNvPr>
          <p:cNvPicPr>
            <a:picLocks noChangeAspect="1"/>
          </p:cNvPicPr>
          <p:nvPr/>
        </p:nvPicPr>
        <p:blipFill>
          <a:blip r:embed="rId2"/>
          <a:stretch>
            <a:fillRect/>
          </a:stretch>
        </p:blipFill>
        <p:spPr>
          <a:xfrm>
            <a:off x="4023360" y="2542032"/>
            <a:ext cx="237744" cy="237744"/>
          </a:xfrm>
          <a:prstGeom prst="rect">
            <a:avLst/>
          </a:prstGeom>
        </p:spPr>
      </p:pic>
      <p:sp>
        <p:nvSpPr>
          <p:cNvPr id="10" name="Text 6"/>
          <p:cNvSpPr txBox="1"/>
          <p:nvPr/>
        </p:nvSpPr>
        <p:spPr>
          <a:xfrm>
            <a:off x="4352544" y="2514600"/>
            <a:ext cx="2788920" cy="640080"/>
          </a:xfrm>
          <a:prstGeom prst="rect">
            <a:avLst/>
          </a:prstGeom>
          <a:noFill/>
          <a:ln/>
        </p:spPr>
        <p:txBody>
          <a:bodyPr wrap="square" lIns="0" tIns="0" rIns="0" bIns="0" rtlCol="0" anchor="t"/>
          <a:lstStyle/>
          <a:p>
            <a:pPr indent="0" marL="0">
              <a:buNone/>
            </a:pPr>
            <a:r>
              <a:rPr lang="en-US" sz="1300" dirty="0">
                <a:solidFill>
                  <a:srgbClr val="0B0E26"/>
                </a:solidFill>
              </a:rPr>
              <a:t>OCR and vector index over filings</a:t>
            </a:r>
            <a:endParaRPr lang="en-US" sz="1300" dirty="0"/>
          </a:p>
        </p:txBody>
      </p:sp>
      <p:pic>
        <p:nvPicPr>
          <p:cNvPr id="11" name="check 3" descr="preencoded.png">    </p:cNvPr>
          <p:cNvPicPr>
            <a:picLocks noChangeAspect="1"/>
          </p:cNvPicPr>
          <p:nvPr/>
        </p:nvPicPr>
        <p:blipFill>
          <a:blip r:embed="rId3"/>
          <a:stretch>
            <a:fillRect/>
          </a:stretch>
        </p:blipFill>
        <p:spPr>
          <a:xfrm>
            <a:off x="822960" y="3364992"/>
            <a:ext cx="237744" cy="237744"/>
          </a:xfrm>
          <a:prstGeom prst="rect">
            <a:avLst/>
          </a:prstGeom>
        </p:spPr>
      </p:pic>
      <p:sp>
        <p:nvSpPr>
          <p:cNvPr id="12" name="Text 7"/>
          <p:cNvSpPr txBox="1"/>
          <p:nvPr/>
        </p:nvSpPr>
        <p:spPr>
          <a:xfrm>
            <a:off x="1152144" y="3337560"/>
            <a:ext cx="2788920" cy="640080"/>
          </a:xfrm>
          <a:prstGeom prst="rect">
            <a:avLst/>
          </a:prstGeom>
          <a:noFill/>
          <a:ln/>
        </p:spPr>
        <p:txBody>
          <a:bodyPr wrap="square" lIns="0" tIns="0" rIns="0" bIns="0" rtlCol="0" anchor="t"/>
          <a:lstStyle/>
          <a:p>
            <a:pPr indent="0" marL="0">
              <a:buNone/>
            </a:pPr>
            <a:r>
              <a:rPr lang="en-US" sz="1300" dirty="0">
                <a:solidFill>
                  <a:srgbClr val="0B0E26"/>
                </a:solidFill>
              </a:rPr>
              <a:t>Grounded copilot with verify-and-repair loops</a:t>
            </a:r>
            <a:endParaRPr lang="en-US" sz="1300" dirty="0"/>
          </a:p>
        </p:txBody>
      </p:sp>
      <p:pic>
        <p:nvPicPr>
          <p:cNvPr id="13" name="check 4" descr="preencoded.png">    </p:cNvPr>
          <p:cNvPicPr>
            <a:picLocks noChangeAspect="1"/>
          </p:cNvPicPr>
          <p:nvPr/>
        </p:nvPicPr>
        <p:blipFill>
          <a:blip r:embed="rId4"/>
          <a:stretch>
            <a:fillRect/>
          </a:stretch>
        </p:blipFill>
        <p:spPr>
          <a:xfrm>
            <a:off x="4023360" y="3364992"/>
            <a:ext cx="237744" cy="237744"/>
          </a:xfrm>
          <a:prstGeom prst="rect">
            <a:avLst/>
          </a:prstGeom>
        </p:spPr>
      </p:pic>
      <p:sp>
        <p:nvSpPr>
          <p:cNvPr id="14" name="Text 8"/>
          <p:cNvSpPr txBox="1"/>
          <p:nvPr/>
        </p:nvSpPr>
        <p:spPr>
          <a:xfrm>
            <a:off x="4352544" y="3337560"/>
            <a:ext cx="2788920" cy="640080"/>
          </a:xfrm>
          <a:prstGeom prst="rect">
            <a:avLst/>
          </a:prstGeom>
          <a:noFill/>
          <a:ln/>
        </p:spPr>
        <p:txBody>
          <a:bodyPr wrap="square" lIns="0" tIns="0" rIns="0" bIns="0" rtlCol="0" anchor="t"/>
          <a:lstStyle/>
          <a:p>
            <a:pPr indent="0" marL="0">
              <a:buNone/>
            </a:pPr>
            <a:r>
              <a:rPr lang="en-US" sz="1300" dirty="0">
                <a:solidFill>
                  <a:srgbClr val="0B0E26"/>
                </a:solidFill>
              </a:rPr>
              <a:t>Natural-language stock screener</a:t>
            </a:r>
            <a:endParaRPr lang="en-US" sz="1300" dirty="0"/>
          </a:p>
        </p:txBody>
      </p:sp>
      <p:pic>
        <p:nvPicPr>
          <p:cNvPr id="15" name="check 5" descr="preencoded.png">    </p:cNvPr>
          <p:cNvPicPr>
            <a:picLocks noChangeAspect="1"/>
          </p:cNvPicPr>
          <p:nvPr/>
        </p:nvPicPr>
        <p:blipFill>
          <a:blip r:embed="rId5"/>
          <a:stretch>
            <a:fillRect/>
          </a:stretch>
        </p:blipFill>
        <p:spPr>
          <a:xfrm>
            <a:off x="822960" y="4187952"/>
            <a:ext cx="237744" cy="237744"/>
          </a:xfrm>
          <a:prstGeom prst="rect">
            <a:avLst/>
          </a:prstGeom>
        </p:spPr>
      </p:pic>
      <p:sp>
        <p:nvSpPr>
          <p:cNvPr id="16" name="Text 9"/>
          <p:cNvSpPr txBox="1"/>
          <p:nvPr/>
        </p:nvSpPr>
        <p:spPr>
          <a:xfrm>
            <a:off x="1152144" y="4160520"/>
            <a:ext cx="2788920" cy="640080"/>
          </a:xfrm>
          <a:prstGeom prst="rect">
            <a:avLst/>
          </a:prstGeom>
          <a:noFill/>
          <a:ln/>
        </p:spPr>
        <p:txBody>
          <a:bodyPr wrap="square" lIns="0" tIns="0" rIns="0" bIns="0" rtlCol="0" anchor="t"/>
          <a:lstStyle/>
          <a:p>
            <a:pPr indent="0" marL="0">
              <a:buNone/>
            </a:pPr>
            <a:r>
              <a:rPr lang="en-US" sz="1300" dirty="0">
                <a:solidFill>
                  <a:srgbClr val="0B0E26"/>
                </a:solidFill>
              </a:rPr>
              <a:t>Backtesting and paper trading</a:t>
            </a:r>
            <a:endParaRPr lang="en-US" sz="1300" dirty="0"/>
          </a:p>
        </p:txBody>
      </p:sp>
      <p:pic>
        <p:nvPicPr>
          <p:cNvPr id="17" name="check 6" descr="preencoded.png">    </p:cNvPr>
          <p:cNvPicPr>
            <a:picLocks noChangeAspect="1"/>
          </p:cNvPicPr>
          <p:nvPr/>
        </p:nvPicPr>
        <p:blipFill>
          <a:blip r:embed="rId6"/>
          <a:stretch>
            <a:fillRect/>
          </a:stretch>
        </p:blipFill>
        <p:spPr>
          <a:xfrm>
            <a:off x="4023360" y="4187952"/>
            <a:ext cx="237744" cy="237744"/>
          </a:xfrm>
          <a:prstGeom prst="rect">
            <a:avLst/>
          </a:prstGeom>
        </p:spPr>
      </p:pic>
      <p:sp>
        <p:nvSpPr>
          <p:cNvPr id="18" name="Text 10"/>
          <p:cNvSpPr txBox="1"/>
          <p:nvPr/>
        </p:nvSpPr>
        <p:spPr>
          <a:xfrm>
            <a:off x="4352544" y="4160520"/>
            <a:ext cx="2788920" cy="640080"/>
          </a:xfrm>
          <a:prstGeom prst="rect">
            <a:avLst/>
          </a:prstGeom>
          <a:noFill/>
          <a:ln/>
        </p:spPr>
        <p:txBody>
          <a:bodyPr wrap="square" lIns="0" tIns="0" rIns="0" bIns="0" rtlCol="0" anchor="t"/>
          <a:lstStyle/>
          <a:p>
            <a:pPr indent="0" marL="0">
              <a:buNone/>
            </a:pPr>
            <a:r>
              <a:rPr lang="en-US" sz="1300" dirty="0">
                <a:solidFill>
                  <a:srgbClr val="0B0E26"/>
                </a:solidFill>
              </a:rPr>
              <a:t>Portfolio X-ray on a read-only broker link</a:t>
            </a:r>
            <a:endParaRPr lang="en-US" sz="1300" dirty="0"/>
          </a:p>
        </p:txBody>
      </p:sp>
      <p:pic>
        <p:nvPicPr>
          <p:cNvPr id="19" name="check 7" descr="preencoded.png">    </p:cNvPr>
          <p:cNvPicPr>
            <a:picLocks noChangeAspect="1"/>
          </p:cNvPicPr>
          <p:nvPr/>
        </p:nvPicPr>
        <p:blipFill>
          <a:blip r:embed="rId7"/>
          <a:stretch>
            <a:fillRect/>
          </a:stretch>
        </p:blipFill>
        <p:spPr>
          <a:xfrm>
            <a:off x="822960" y="5010912"/>
            <a:ext cx="237744" cy="237744"/>
          </a:xfrm>
          <a:prstGeom prst="rect">
            <a:avLst/>
          </a:prstGeom>
        </p:spPr>
      </p:pic>
      <p:sp>
        <p:nvSpPr>
          <p:cNvPr id="20" name="Text 11"/>
          <p:cNvSpPr txBox="1"/>
          <p:nvPr/>
        </p:nvSpPr>
        <p:spPr>
          <a:xfrm>
            <a:off x="1152144" y="4983480"/>
            <a:ext cx="2788920" cy="640080"/>
          </a:xfrm>
          <a:prstGeom prst="rect">
            <a:avLst/>
          </a:prstGeom>
          <a:noFill/>
          <a:ln/>
        </p:spPr>
        <p:txBody>
          <a:bodyPr wrap="square" lIns="0" tIns="0" rIns="0" bIns="0" rtlCol="0" anchor="t"/>
          <a:lstStyle/>
          <a:p>
            <a:pPr indent="0" marL="0">
              <a:buNone/>
            </a:pPr>
            <a:r>
              <a:rPr lang="en-US" sz="1300" dirty="0">
                <a:solidFill>
                  <a:srgbClr val="0B0E26"/>
                </a:solidFill>
              </a:rPr>
              <a:t>IPO, mutual fund and bond analytics</a:t>
            </a:r>
            <a:endParaRPr lang="en-US" sz="1300" dirty="0"/>
          </a:p>
        </p:txBody>
      </p:sp>
      <p:pic>
        <p:nvPicPr>
          <p:cNvPr id="21" name="check 8" descr="preencoded.png">    </p:cNvPr>
          <p:cNvPicPr>
            <a:picLocks noChangeAspect="1"/>
          </p:cNvPicPr>
          <p:nvPr/>
        </p:nvPicPr>
        <p:blipFill>
          <a:blip r:embed="rId8"/>
          <a:stretch>
            <a:fillRect/>
          </a:stretch>
        </p:blipFill>
        <p:spPr>
          <a:xfrm>
            <a:off x="4023360" y="5010912"/>
            <a:ext cx="237744" cy="237744"/>
          </a:xfrm>
          <a:prstGeom prst="rect">
            <a:avLst/>
          </a:prstGeom>
        </p:spPr>
      </p:pic>
      <p:sp>
        <p:nvSpPr>
          <p:cNvPr id="22" name="Text 12"/>
          <p:cNvSpPr txBox="1"/>
          <p:nvPr/>
        </p:nvSpPr>
        <p:spPr>
          <a:xfrm>
            <a:off x="4352544" y="4983480"/>
            <a:ext cx="2788920" cy="640080"/>
          </a:xfrm>
          <a:prstGeom prst="rect">
            <a:avLst/>
          </a:prstGeom>
          <a:noFill/>
          <a:ln/>
        </p:spPr>
        <p:txBody>
          <a:bodyPr wrap="square" lIns="0" tIns="0" rIns="0" bIns="0" rtlCol="0" anchor="t"/>
          <a:lstStyle/>
          <a:p>
            <a:pPr indent="0" marL="0">
              <a:buNone/>
            </a:pPr>
            <a:r>
              <a:rPr lang="en-US" sz="1300" dirty="0">
                <a:solidFill>
                  <a:srgbClr val="0B0E26"/>
                </a:solidFill>
              </a:rPr>
              <a:t>Wealth planning and calculators</a:t>
            </a:r>
            <a:endParaRPr lang="en-US" sz="1300" dirty="0"/>
          </a:p>
        </p:txBody>
      </p:sp>
      <p:sp>
        <p:nvSpPr>
          <p:cNvPr id="23" name="status 1"/>
          <p:cNvSpPr/>
          <p:nvPr/>
        </p:nvSpPr>
        <p:spPr>
          <a:xfrm>
            <a:off x="7452360" y="1783080"/>
            <a:ext cx="4187952" cy="932688"/>
          </a:xfrm>
          <a:prstGeom prst="roundRect">
            <a:avLst>
              <a:gd name="adj" fmla="val 11765"/>
            </a:avLst>
          </a:prstGeom>
          <a:solidFill>
            <a:srgbClr val="FFFFFF"/>
          </a:solidFill>
          <a:ln/>
          <a:effectLst>
            <a:outerShdw sx="100000" sy="100000" kx="0" ky="0" algn="bl" rotWithShape="0" blurRad="127000" dist="38100" dir="5400000">
              <a:srgbClr val="0B0E26">
                <a:alpha val="10000"/>
              </a:srgbClr>
            </a:outerShdw>
          </a:effectLst>
        </p:spPr>
      </p:sp>
      <p:sp>
        <p:nvSpPr>
          <p:cNvPr id="24" name="Text 14"/>
          <p:cNvSpPr txBox="1"/>
          <p:nvPr/>
        </p:nvSpPr>
        <p:spPr>
          <a:xfrm>
            <a:off x="7680960" y="1911096"/>
            <a:ext cx="1737360" cy="685800"/>
          </a:xfrm>
          <a:prstGeom prst="rect">
            <a:avLst/>
          </a:prstGeom>
          <a:noFill/>
          <a:ln/>
        </p:spPr>
        <p:txBody>
          <a:bodyPr wrap="square" lIns="0" tIns="0" rIns="0" bIns="0" rtlCol="0" anchor="ctr"/>
          <a:lstStyle/>
          <a:p>
            <a:pPr indent="0" marL="0">
              <a:buNone/>
            </a:pPr>
            <a:r>
              <a:rPr lang="en-US" sz="2000" b="1" dirty="0">
                <a:solidFill>
                  <a:srgbClr val="4A3699"/>
                </a:solidFill>
                <a:latin typeface="Arial" pitchFamily="34" charset="0"/>
                <a:ea typeface="Arial" pitchFamily="34" charset="-122"/>
                <a:cs typeface="Arial" pitchFamily="34" charset="-120"/>
              </a:rPr>
              <a:t>Live</a:t>
            </a:r>
            <a:endParaRPr lang="en-US" sz="2000" dirty="0"/>
          </a:p>
        </p:txBody>
      </p:sp>
      <p:sp>
        <p:nvSpPr>
          <p:cNvPr id="25" name="Text 15"/>
          <p:cNvSpPr txBox="1"/>
          <p:nvPr/>
        </p:nvSpPr>
        <p:spPr>
          <a:xfrm>
            <a:off x="9418320" y="1892808"/>
            <a:ext cx="2103120" cy="731520"/>
          </a:xfrm>
          <a:prstGeom prst="rect">
            <a:avLst/>
          </a:prstGeom>
          <a:noFill/>
          <a:ln/>
        </p:spPr>
        <p:txBody>
          <a:bodyPr wrap="square" lIns="0" tIns="0" rIns="0" bIns="0" rtlCol="0" anchor="ctr"/>
          <a:lstStyle/>
          <a:p>
            <a:pPr indent="0" marL="0">
              <a:buNone/>
            </a:pPr>
            <a:r>
              <a:rPr lang="en-US" sz="1150" dirty="0">
                <a:solidFill>
                  <a:srgbClr val="434B6B"/>
                </a:solidFill>
              </a:rPr>
              <a:t>anvest.in on Google Cloud (Mumbai) and Vercel</a:t>
            </a:r>
            <a:endParaRPr lang="en-US" sz="1150" dirty="0"/>
          </a:p>
        </p:txBody>
      </p:sp>
      <p:sp>
        <p:nvSpPr>
          <p:cNvPr id="26" name="status 2"/>
          <p:cNvSpPr/>
          <p:nvPr/>
        </p:nvSpPr>
        <p:spPr>
          <a:xfrm>
            <a:off x="7452360" y="2852928"/>
            <a:ext cx="4187952" cy="932688"/>
          </a:xfrm>
          <a:prstGeom prst="roundRect">
            <a:avLst>
              <a:gd name="adj" fmla="val 11765"/>
            </a:avLst>
          </a:prstGeom>
          <a:solidFill>
            <a:srgbClr val="FFFFFF"/>
          </a:solidFill>
          <a:ln/>
          <a:effectLst>
            <a:outerShdw sx="100000" sy="100000" kx="0" ky="0" algn="bl" rotWithShape="0" blurRad="127000" dist="38100" dir="5400000">
              <a:srgbClr val="0B0E26">
                <a:alpha val="10000"/>
              </a:srgbClr>
            </a:outerShdw>
          </a:effectLst>
        </p:spPr>
      </p:sp>
      <p:sp>
        <p:nvSpPr>
          <p:cNvPr id="27" name="Text 17"/>
          <p:cNvSpPr txBox="1"/>
          <p:nvPr/>
        </p:nvSpPr>
        <p:spPr>
          <a:xfrm>
            <a:off x="7680960" y="2980944"/>
            <a:ext cx="1737360" cy="685800"/>
          </a:xfrm>
          <a:prstGeom prst="rect">
            <a:avLst/>
          </a:prstGeom>
          <a:noFill/>
          <a:ln/>
        </p:spPr>
        <p:txBody>
          <a:bodyPr wrap="square" lIns="0" tIns="0" rIns="0" bIns="0" rtlCol="0" anchor="ctr"/>
          <a:lstStyle/>
          <a:p>
            <a:pPr indent="0" marL="0">
              <a:buNone/>
            </a:pPr>
            <a:r>
              <a:rPr lang="en-US" sz="2000" b="1" dirty="0">
                <a:solidFill>
                  <a:srgbClr val="4A3699"/>
                </a:solidFill>
                <a:latin typeface="Arial" pitchFamily="34" charset="0"/>
                <a:ea typeface="Arial" pitchFamily="34" charset="-122"/>
                <a:cs typeface="Arial" pitchFamily="34" charset="-120"/>
              </a:rPr>
              <a:t>Nightly</a:t>
            </a:r>
            <a:endParaRPr lang="en-US" sz="2000" dirty="0"/>
          </a:p>
        </p:txBody>
      </p:sp>
      <p:sp>
        <p:nvSpPr>
          <p:cNvPr id="28" name="Text 18"/>
          <p:cNvSpPr txBox="1"/>
          <p:nvPr/>
        </p:nvSpPr>
        <p:spPr>
          <a:xfrm>
            <a:off x="9418320" y="2962656"/>
            <a:ext cx="2103120" cy="731520"/>
          </a:xfrm>
          <a:prstGeom prst="rect">
            <a:avLst/>
          </a:prstGeom>
          <a:noFill/>
          <a:ln/>
        </p:spPr>
        <p:txBody>
          <a:bodyPr wrap="square" lIns="0" tIns="0" rIns="0" bIns="0" rtlCol="0" anchor="ctr"/>
          <a:lstStyle/>
          <a:p>
            <a:pPr indent="0" marL="0">
              <a:buNone/>
            </a:pPr>
            <a:r>
              <a:rPr lang="en-US" sz="1150" dirty="0">
                <a:solidFill>
                  <a:srgbClr val="434B6B"/>
                </a:solidFill>
              </a:rPr>
              <a:t>prices, filings, NAVs and news</a:t>
            </a:r>
            <a:endParaRPr lang="en-US" sz="1150" dirty="0"/>
          </a:p>
        </p:txBody>
      </p:sp>
      <p:sp>
        <p:nvSpPr>
          <p:cNvPr id="29" name="status 3"/>
          <p:cNvSpPr/>
          <p:nvPr/>
        </p:nvSpPr>
        <p:spPr>
          <a:xfrm>
            <a:off x="7452360" y="3922776"/>
            <a:ext cx="4187952" cy="932688"/>
          </a:xfrm>
          <a:prstGeom prst="roundRect">
            <a:avLst>
              <a:gd name="adj" fmla="val 11765"/>
            </a:avLst>
          </a:prstGeom>
          <a:solidFill>
            <a:srgbClr val="FFFFFF"/>
          </a:solidFill>
          <a:ln/>
          <a:effectLst>
            <a:outerShdw sx="100000" sy="100000" kx="0" ky="0" algn="bl" rotWithShape="0" blurRad="127000" dist="38100" dir="5400000">
              <a:srgbClr val="0B0E26">
                <a:alpha val="10000"/>
              </a:srgbClr>
            </a:outerShdw>
          </a:effectLst>
        </p:spPr>
      </p:sp>
      <p:sp>
        <p:nvSpPr>
          <p:cNvPr id="30" name="Text 20"/>
          <p:cNvSpPr txBox="1"/>
          <p:nvPr/>
        </p:nvSpPr>
        <p:spPr>
          <a:xfrm>
            <a:off x="7680960" y="4050792"/>
            <a:ext cx="1737360" cy="685800"/>
          </a:xfrm>
          <a:prstGeom prst="rect">
            <a:avLst/>
          </a:prstGeom>
          <a:noFill/>
          <a:ln/>
        </p:spPr>
        <p:txBody>
          <a:bodyPr wrap="square" lIns="0" tIns="0" rIns="0" bIns="0" rtlCol="0" anchor="ctr"/>
          <a:lstStyle/>
          <a:p>
            <a:pPr indent="0" marL="0">
              <a:buNone/>
            </a:pPr>
            <a:r>
              <a:rPr lang="en-US" sz="2000" b="1" dirty="0">
                <a:solidFill>
                  <a:srgbClr val="4A3699"/>
                </a:solidFill>
                <a:latin typeface="Arial" pitchFamily="34" charset="0"/>
                <a:ea typeface="Arial" pitchFamily="34" charset="-122"/>
                <a:cs typeface="Arial" pitchFamily="34" charset="-120"/>
              </a:rPr>
              <a:t>Read-only</a:t>
            </a:r>
            <a:endParaRPr lang="en-US" sz="2000" dirty="0"/>
          </a:p>
        </p:txBody>
      </p:sp>
      <p:sp>
        <p:nvSpPr>
          <p:cNvPr id="31" name="Text 21"/>
          <p:cNvSpPr txBox="1"/>
          <p:nvPr/>
        </p:nvSpPr>
        <p:spPr>
          <a:xfrm>
            <a:off x="9418320" y="4032504"/>
            <a:ext cx="2103120" cy="731520"/>
          </a:xfrm>
          <a:prstGeom prst="rect">
            <a:avLst/>
          </a:prstGeom>
          <a:noFill/>
          <a:ln/>
        </p:spPr>
        <p:txBody>
          <a:bodyPr wrap="square" lIns="0" tIns="0" rIns="0" bIns="0" rtlCol="0" anchor="ctr"/>
          <a:lstStyle/>
          <a:p>
            <a:pPr indent="0" marL="0">
              <a:buNone/>
            </a:pPr>
            <a:r>
              <a:rPr lang="en-US" sz="1150" dirty="0">
                <a:solidFill>
                  <a:srgbClr val="434B6B"/>
                </a:solidFill>
              </a:rPr>
              <a:t>Zerodha and Groww link pattern built; partner access agreed with you</a:t>
            </a:r>
            <a:endParaRPr lang="en-US" sz="1150" dirty="0"/>
          </a:p>
        </p:txBody>
      </p:sp>
      <p:sp>
        <p:nvSpPr>
          <p:cNvPr id="32" name="status 4"/>
          <p:cNvSpPr/>
          <p:nvPr/>
        </p:nvSpPr>
        <p:spPr>
          <a:xfrm>
            <a:off x="7452360" y="4992624"/>
            <a:ext cx="4187952" cy="932688"/>
          </a:xfrm>
          <a:prstGeom prst="roundRect">
            <a:avLst>
              <a:gd name="adj" fmla="val 11765"/>
            </a:avLst>
          </a:prstGeom>
          <a:solidFill>
            <a:srgbClr val="FFFFFF"/>
          </a:solidFill>
          <a:ln/>
          <a:effectLst>
            <a:outerShdw sx="100000" sy="100000" kx="0" ky="0" algn="bl" rotWithShape="0" blurRad="127000" dist="38100" dir="5400000">
              <a:srgbClr val="0B0E26">
                <a:alpha val="10000"/>
              </a:srgbClr>
            </a:outerShdw>
          </a:effectLst>
        </p:spPr>
      </p:sp>
      <p:sp>
        <p:nvSpPr>
          <p:cNvPr id="33" name="Text 23"/>
          <p:cNvSpPr txBox="1"/>
          <p:nvPr/>
        </p:nvSpPr>
        <p:spPr>
          <a:xfrm>
            <a:off x="7680960" y="5120640"/>
            <a:ext cx="1737360" cy="685800"/>
          </a:xfrm>
          <a:prstGeom prst="rect">
            <a:avLst/>
          </a:prstGeom>
          <a:noFill/>
          <a:ln/>
        </p:spPr>
        <p:txBody>
          <a:bodyPr wrap="square" lIns="0" tIns="0" rIns="0" bIns="0" rtlCol="0" anchor="ctr"/>
          <a:lstStyle/>
          <a:p>
            <a:pPr indent="0" marL="0">
              <a:buNone/>
            </a:pPr>
            <a:r>
              <a:rPr lang="en-US" sz="2000" b="1" dirty="0">
                <a:solidFill>
                  <a:srgbClr val="4A3699"/>
                </a:solidFill>
                <a:latin typeface="Arial" pitchFamily="34" charset="0"/>
                <a:ea typeface="Arial" pitchFamily="34" charset="-122"/>
                <a:cs typeface="Arial" pitchFamily="34" charset="-120"/>
              </a:rPr>
              <a:t>No tips</a:t>
            </a:r>
            <a:endParaRPr lang="en-US" sz="2000" dirty="0"/>
          </a:p>
        </p:txBody>
      </p:sp>
      <p:sp>
        <p:nvSpPr>
          <p:cNvPr id="34" name="Text 24"/>
          <p:cNvSpPr txBox="1"/>
          <p:nvPr/>
        </p:nvSpPr>
        <p:spPr>
          <a:xfrm>
            <a:off x="9418320" y="5102352"/>
            <a:ext cx="2103120" cy="731520"/>
          </a:xfrm>
          <a:prstGeom prst="rect">
            <a:avLst/>
          </a:prstGeom>
          <a:noFill/>
          <a:ln/>
        </p:spPr>
        <p:txBody>
          <a:bodyPr wrap="square" lIns="0" tIns="0" rIns="0" bIns="0" rtlCol="0" anchor="ctr"/>
          <a:lstStyle/>
          <a:p>
            <a:pPr indent="0" marL="0">
              <a:buNone/>
            </a:pPr>
            <a:r>
              <a:rPr lang="en-US" sz="1150" dirty="0">
                <a:solidFill>
                  <a:srgbClr val="434B6B"/>
                </a:solidFill>
              </a:rPr>
              <a:t>no target prices: research, explained and cited</a:t>
            </a:r>
            <a:endParaRPr lang="en-US" sz="1150" dirty="0"/>
          </a:p>
        </p:txBody>
      </p:sp>
      <p:sp>
        <p:nvSpPr>
          <p:cNvPr id="35" name="Text 25"/>
          <p:cNvSpPr txBox="1"/>
          <p:nvPr/>
        </p:nvSpPr>
        <p:spPr>
          <a:xfrm>
            <a:off x="548640" y="6144768"/>
            <a:ext cx="10362895" cy="274320"/>
          </a:xfrm>
          <a:prstGeom prst="rect">
            <a:avLst/>
          </a:prstGeom>
          <a:noFill/>
          <a:ln/>
        </p:spPr>
        <p:txBody>
          <a:bodyPr wrap="square" lIns="0" tIns="0" rIns="0" bIns="0" rtlCol="0" anchor="t"/>
          <a:lstStyle/>
          <a:p>
            <a:pPr indent="0" marL="0">
              <a:buNone/>
            </a:pPr>
            <a:r>
              <a:rPr lang="en-US" sz="1300" b="1" dirty="0">
                <a:solidFill>
                  <a:srgbClr val="4A3699"/>
                </a:solidFill>
              </a:rPr>
              <a:t>Next 90 days: </a:t>
            </a:r>
            <a:pPr indent="0" marL="0">
              <a:buNone/>
            </a:pPr>
            <a:r>
              <a:rPr lang="en-US" sz="1300" dirty="0">
                <a:solidFill>
                  <a:srgbClr val="0B0E26"/>
                </a:solidFill>
              </a:rPr>
              <a:t>live filing alerts  ·  broker-connected portfolios  ·  professional seats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PARTNER VALUE</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What your users and your business gain</a:t>
            </a:r>
            <a:endParaRPr lang="en-US" sz="3200" dirty="0"/>
          </a:p>
        </p:txBody>
      </p:sp>
      <p:sp>
        <p:nvSpPr>
          <p:cNvPr id="4" name="value card 1"/>
          <p:cNvSpPr/>
          <p:nvPr/>
        </p:nvSpPr>
        <p:spPr>
          <a:xfrm>
            <a:off x="548640" y="1783080"/>
            <a:ext cx="5440680" cy="1828800"/>
          </a:xfrm>
          <a:prstGeom prst="roundRect">
            <a:avLst>
              <a:gd name="adj" fmla="val 6000"/>
            </a:avLst>
          </a:prstGeom>
          <a:solidFill>
            <a:srgbClr val="FFFFFF"/>
          </a:solidFill>
          <a:ln/>
          <a:effectLst>
            <a:outerShdw sx="100000" sy="100000" kx="0" ky="0" algn="bl" rotWithShape="0" blurRad="127000" dist="38100" dir="5400000">
              <a:srgbClr val="0B0E26">
                <a:alpha val="10000"/>
              </a:srgbClr>
            </a:outerShdw>
          </a:effectLst>
        </p:spPr>
      </p:sp>
      <p:sp>
        <p:nvSpPr>
          <p:cNvPr id="5" name="LuBell circle"/>
          <p:cNvSpPr/>
          <p:nvPr/>
        </p:nvSpPr>
        <p:spPr>
          <a:xfrm>
            <a:off x="822960" y="2075688"/>
            <a:ext cx="603504" cy="603504"/>
          </a:xfrm>
          <a:prstGeom prst="ellipse">
            <a:avLst/>
          </a:prstGeom>
          <a:solidFill>
            <a:srgbClr val="4A3699"/>
          </a:solidFill>
          <a:ln/>
        </p:spPr>
      </p:sp>
      <p:pic>
        <p:nvPicPr>
          <p:cNvPr id="6" name="LuBell icon" descr="preencoded.png">    </p:cNvPr>
          <p:cNvPicPr>
            <a:picLocks noChangeAspect="1"/>
          </p:cNvPicPr>
          <p:nvPr/>
        </p:nvPicPr>
        <p:blipFill>
          <a:blip r:embed="rId1"/>
          <a:stretch>
            <a:fillRect/>
          </a:stretch>
        </p:blipFill>
        <p:spPr>
          <a:xfrm>
            <a:off x="973836" y="2226564"/>
            <a:ext cx="301752" cy="301752"/>
          </a:xfrm>
          <a:prstGeom prst="rect">
            <a:avLst/>
          </a:prstGeom>
        </p:spPr>
      </p:pic>
      <p:sp>
        <p:nvSpPr>
          <p:cNvPr id="7" name="Text 4"/>
          <p:cNvSpPr txBox="1"/>
          <p:nvPr/>
        </p:nvSpPr>
        <p:spPr>
          <a:xfrm>
            <a:off x="1645920" y="2057400"/>
            <a:ext cx="4114800" cy="347472"/>
          </a:xfrm>
          <a:prstGeom prst="rect">
            <a:avLst/>
          </a:prstGeom>
          <a:noFill/>
          <a:ln/>
        </p:spPr>
        <p:txBody>
          <a:bodyPr wrap="square" lIns="0" tIns="0" rIns="0" bIns="0" rtlCol="0" anchor="t"/>
          <a:lstStyle/>
          <a:p>
            <a:pPr indent="0" marL="0">
              <a:buNone/>
            </a:pPr>
            <a:r>
              <a:rPr lang="en-US" sz="1700" b="1" dirty="0">
                <a:solidFill>
                  <a:srgbClr val="0B0E26"/>
                </a:solidFill>
                <a:latin typeface="Arial" pitchFamily="34" charset="0"/>
                <a:ea typeface="Arial" pitchFamily="34" charset="-122"/>
                <a:cs typeface="Arial" pitchFamily="34" charset="-120"/>
              </a:rPr>
              <a:t>A daily reason to open the app</a:t>
            </a:r>
            <a:endParaRPr lang="en-US" sz="1700" dirty="0"/>
          </a:p>
        </p:txBody>
      </p:sp>
      <p:sp>
        <p:nvSpPr>
          <p:cNvPr id="8" name="Text 5"/>
          <p:cNvSpPr txBox="1"/>
          <p:nvPr/>
        </p:nvSpPr>
        <p:spPr>
          <a:xfrm>
            <a:off x="1645920" y="2459736"/>
            <a:ext cx="4114800" cy="1005840"/>
          </a:xfrm>
          <a:prstGeom prst="rect">
            <a:avLst/>
          </a:prstGeom>
          <a:noFill/>
          <a:ln/>
        </p:spPr>
        <p:txBody>
          <a:bodyPr wrap="square" lIns="0" tIns="0" rIns="0" bIns="0" rtlCol="0" anchor="t"/>
          <a:lstStyle/>
          <a:p>
            <a:pPr indent="0" marL="0">
              <a:buNone/>
            </a:pPr>
            <a:r>
              <a:rPr lang="en-US" sz="1300" dirty="0">
                <a:solidFill>
                  <a:srgbClr val="434B6B"/>
                </a:solidFill>
              </a:rPr>
              <a:t>A digest of what each holding disclosed, grounded in filings rather than price alerts, with the source one tap away.</a:t>
            </a:r>
            <a:endParaRPr lang="en-US" sz="1300" dirty="0"/>
          </a:p>
        </p:txBody>
      </p:sp>
      <p:sp>
        <p:nvSpPr>
          <p:cNvPr id="9" name="value card 2"/>
          <p:cNvSpPr/>
          <p:nvPr/>
        </p:nvSpPr>
        <p:spPr>
          <a:xfrm>
            <a:off x="6217920" y="1783080"/>
            <a:ext cx="5440680" cy="1828800"/>
          </a:xfrm>
          <a:prstGeom prst="roundRect">
            <a:avLst>
              <a:gd name="adj" fmla="val 6000"/>
            </a:avLst>
          </a:prstGeom>
          <a:solidFill>
            <a:srgbClr val="FFFFFF"/>
          </a:solidFill>
          <a:ln/>
          <a:effectLst>
            <a:outerShdw sx="100000" sy="100000" kx="0" ky="0" algn="bl" rotWithShape="0" blurRad="127000" dist="38100" dir="5400000">
              <a:srgbClr val="0B0E26">
                <a:alpha val="10000"/>
              </a:srgbClr>
            </a:outerShdw>
          </a:effectLst>
        </p:spPr>
      </p:sp>
      <p:sp>
        <p:nvSpPr>
          <p:cNvPr id="10" name="LuBadgeCheck circle"/>
          <p:cNvSpPr/>
          <p:nvPr/>
        </p:nvSpPr>
        <p:spPr>
          <a:xfrm>
            <a:off x="6492240" y="2075688"/>
            <a:ext cx="603504" cy="603504"/>
          </a:xfrm>
          <a:prstGeom prst="ellipse">
            <a:avLst/>
          </a:prstGeom>
          <a:solidFill>
            <a:srgbClr val="4A3699"/>
          </a:solidFill>
          <a:ln/>
        </p:spPr>
      </p:sp>
      <p:pic>
        <p:nvPicPr>
          <p:cNvPr id="11" name="LuBadgeCheck icon" descr="preencoded.png">    </p:cNvPr>
          <p:cNvPicPr>
            <a:picLocks noChangeAspect="1"/>
          </p:cNvPicPr>
          <p:nvPr/>
        </p:nvPicPr>
        <p:blipFill>
          <a:blip r:embed="rId2"/>
          <a:stretch>
            <a:fillRect/>
          </a:stretch>
        </p:blipFill>
        <p:spPr>
          <a:xfrm>
            <a:off x="6643116" y="2226564"/>
            <a:ext cx="301752" cy="301752"/>
          </a:xfrm>
          <a:prstGeom prst="rect">
            <a:avLst/>
          </a:prstGeom>
        </p:spPr>
      </p:pic>
      <p:sp>
        <p:nvSpPr>
          <p:cNvPr id="12" name="Text 8"/>
          <p:cNvSpPr txBox="1"/>
          <p:nvPr/>
        </p:nvSpPr>
        <p:spPr>
          <a:xfrm>
            <a:off x="7315200" y="2057400"/>
            <a:ext cx="4114800" cy="347472"/>
          </a:xfrm>
          <a:prstGeom prst="rect">
            <a:avLst/>
          </a:prstGeom>
          <a:noFill/>
          <a:ln/>
        </p:spPr>
        <p:txBody>
          <a:bodyPr wrap="square" lIns="0" tIns="0" rIns="0" bIns="0" rtlCol="0" anchor="t"/>
          <a:lstStyle/>
          <a:p>
            <a:pPr indent="0" marL="0">
              <a:buNone/>
            </a:pPr>
            <a:r>
              <a:rPr lang="en-US" sz="1700" b="1" dirty="0">
                <a:solidFill>
                  <a:srgbClr val="0B0E26"/>
                </a:solidFill>
                <a:latin typeface="Arial" pitchFamily="34" charset="0"/>
                <a:ea typeface="Arial" pitchFamily="34" charset="-122"/>
                <a:cs typeface="Arial" pitchFamily="34" charset="-120"/>
              </a:rPr>
              <a:t>Trust you can show</a:t>
            </a:r>
            <a:endParaRPr lang="en-US" sz="1700" dirty="0"/>
          </a:p>
        </p:txBody>
      </p:sp>
      <p:sp>
        <p:nvSpPr>
          <p:cNvPr id="13" name="Text 9"/>
          <p:cNvSpPr txBox="1"/>
          <p:nvPr/>
        </p:nvSpPr>
        <p:spPr>
          <a:xfrm>
            <a:off x="7315200" y="2459736"/>
            <a:ext cx="4114800" cy="1005840"/>
          </a:xfrm>
          <a:prstGeom prst="rect">
            <a:avLst/>
          </a:prstGeom>
          <a:noFill/>
          <a:ln/>
        </p:spPr>
        <p:txBody>
          <a:bodyPr wrap="square" lIns="0" tIns="0" rIns="0" bIns="0" rtlCol="0" anchor="t"/>
          <a:lstStyle/>
          <a:p>
            <a:pPr indent="0" marL="0">
              <a:buNone/>
            </a:pPr>
            <a:r>
              <a:rPr lang="en-US" sz="1300" dirty="0">
                <a:solidFill>
                  <a:srgbClr val="434B6B"/>
                </a:solidFill>
              </a:rPr>
              <a:t>Answers traceable to filings, with gaps disclosed. Research your compliance team can stand behind.</a:t>
            </a:r>
            <a:endParaRPr lang="en-US" sz="1300" dirty="0"/>
          </a:p>
        </p:txBody>
      </p:sp>
      <p:sp>
        <p:nvSpPr>
          <p:cNvPr id="14" name="value card 3"/>
          <p:cNvSpPr/>
          <p:nvPr/>
        </p:nvSpPr>
        <p:spPr>
          <a:xfrm>
            <a:off x="548640" y="3840480"/>
            <a:ext cx="5440680" cy="1828800"/>
          </a:xfrm>
          <a:prstGeom prst="roundRect">
            <a:avLst>
              <a:gd name="adj" fmla="val 6000"/>
            </a:avLst>
          </a:prstGeom>
          <a:solidFill>
            <a:srgbClr val="FFFFFF"/>
          </a:solidFill>
          <a:ln/>
          <a:effectLst>
            <a:outerShdw sx="100000" sy="100000" kx="0" ky="0" algn="bl" rotWithShape="0" blurRad="127000" dist="38100" dir="5400000">
              <a:srgbClr val="0B0E26">
                <a:alpha val="10000"/>
              </a:srgbClr>
            </a:outerShdw>
          </a:effectLst>
        </p:spPr>
      </p:sp>
      <p:sp>
        <p:nvSpPr>
          <p:cNvPr id="15" name="LuBot circle"/>
          <p:cNvSpPr/>
          <p:nvPr/>
        </p:nvSpPr>
        <p:spPr>
          <a:xfrm>
            <a:off x="822960" y="4133088"/>
            <a:ext cx="603504" cy="603504"/>
          </a:xfrm>
          <a:prstGeom prst="ellipse">
            <a:avLst/>
          </a:prstGeom>
          <a:solidFill>
            <a:srgbClr val="4A3699"/>
          </a:solidFill>
          <a:ln/>
        </p:spPr>
      </p:sp>
      <p:pic>
        <p:nvPicPr>
          <p:cNvPr id="16" name="LuBot icon" descr="preencoded.png">    </p:cNvPr>
          <p:cNvPicPr>
            <a:picLocks noChangeAspect="1"/>
          </p:cNvPicPr>
          <p:nvPr/>
        </p:nvPicPr>
        <p:blipFill>
          <a:blip r:embed="rId3"/>
          <a:stretch>
            <a:fillRect/>
          </a:stretch>
        </p:blipFill>
        <p:spPr>
          <a:xfrm>
            <a:off x="973836" y="4283964"/>
            <a:ext cx="301752" cy="301752"/>
          </a:xfrm>
          <a:prstGeom prst="rect">
            <a:avLst/>
          </a:prstGeom>
        </p:spPr>
      </p:pic>
      <p:sp>
        <p:nvSpPr>
          <p:cNvPr id="17" name="Text 12"/>
          <p:cNvSpPr txBox="1"/>
          <p:nvPr/>
        </p:nvSpPr>
        <p:spPr>
          <a:xfrm>
            <a:off x="1645920" y="4114800"/>
            <a:ext cx="4114800" cy="347472"/>
          </a:xfrm>
          <a:prstGeom prst="rect">
            <a:avLst/>
          </a:prstGeom>
          <a:noFill/>
          <a:ln/>
        </p:spPr>
        <p:txBody>
          <a:bodyPr wrap="square" lIns="0" tIns="0" rIns="0" bIns="0" rtlCol="0" anchor="t"/>
          <a:lstStyle/>
          <a:p>
            <a:pPr indent="0" marL="0">
              <a:buNone/>
            </a:pPr>
            <a:r>
              <a:rPr lang="en-US" sz="1700" b="1" dirty="0">
                <a:solidFill>
                  <a:srgbClr val="0B0E26"/>
                </a:solidFill>
                <a:latin typeface="Arial" pitchFamily="34" charset="0"/>
                <a:ea typeface="Arial" pitchFamily="34" charset="-122"/>
                <a:cs typeface="Arial" pitchFamily="34" charset="-120"/>
              </a:rPr>
              <a:t>Ready for AI agents</a:t>
            </a:r>
            <a:endParaRPr lang="en-US" sz="1700" dirty="0"/>
          </a:p>
        </p:txBody>
      </p:sp>
      <p:sp>
        <p:nvSpPr>
          <p:cNvPr id="18" name="Text 13"/>
          <p:cNvSpPr txBox="1"/>
          <p:nvPr/>
        </p:nvSpPr>
        <p:spPr>
          <a:xfrm>
            <a:off x="1645920" y="4517136"/>
            <a:ext cx="4114800" cy="1005840"/>
          </a:xfrm>
          <a:prstGeom prst="rect">
            <a:avLst/>
          </a:prstGeom>
          <a:noFill/>
          <a:ln/>
        </p:spPr>
        <p:txBody>
          <a:bodyPr wrap="square" lIns="0" tIns="0" rIns="0" bIns="0" rtlCol="0" anchor="t"/>
          <a:lstStyle/>
          <a:p>
            <a:pPr indent="0" marL="0">
              <a:buNone/>
            </a:pPr>
            <a:r>
              <a:rPr lang="en-US" sz="1300" dirty="0">
                <a:solidFill>
                  <a:srgbClr val="434B6B"/>
                </a:solidFill>
              </a:rPr>
              <a:t>A grounded research layer for Kite MCP and assistants, ahead of the shift to agent-native investing.</a:t>
            </a:r>
            <a:endParaRPr lang="en-US" sz="1300" dirty="0"/>
          </a:p>
        </p:txBody>
      </p:sp>
      <p:sp>
        <p:nvSpPr>
          <p:cNvPr id="19" name="value card 4"/>
          <p:cNvSpPr/>
          <p:nvPr/>
        </p:nvSpPr>
        <p:spPr>
          <a:xfrm>
            <a:off x="6217920" y="3840480"/>
            <a:ext cx="5440680" cy="1828800"/>
          </a:xfrm>
          <a:prstGeom prst="roundRect">
            <a:avLst>
              <a:gd name="adj" fmla="val 6000"/>
            </a:avLst>
          </a:prstGeom>
          <a:solidFill>
            <a:srgbClr val="FFFFFF"/>
          </a:solidFill>
          <a:ln/>
          <a:effectLst>
            <a:outerShdw sx="100000" sy="100000" kx="0" ky="0" algn="bl" rotWithShape="0" blurRad="127000" dist="38100" dir="5400000">
              <a:srgbClr val="0B0E26">
                <a:alpha val="10000"/>
              </a:srgbClr>
            </a:outerShdw>
          </a:effectLst>
        </p:spPr>
      </p:sp>
      <p:sp>
        <p:nvSpPr>
          <p:cNvPr id="20" name="LuTarget circle"/>
          <p:cNvSpPr/>
          <p:nvPr/>
        </p:nvSpPr>
        <p:spPr>
          <a:xfrm>
            <a:off x="6492240" y="4133088"/>
            <a:ext cx="603504" cy="603504"/>
          </a:xfrm>
          <a:prstGeom prst="ellipse">
            <a:avLst/>
          </a:prstGeom>
          <a:solidFill>
            <a:srgbClr val="4A3699"/>
          </a:solidFill>
          <a:ln/>
        </p:spPr>
      </p:sp>
      <p:pic>
        <p:nvPicPr>
          <p:cNvPr id="21" name="LuTarget icon" descr="preencoded.png">    </p:cNvPr>
          <p:cNvPicPr>
            <a:picLocks noChangeAspect="1"/>
          </p:cNvPicPr>
          <p:nvPr/>
        </p:nvPicPr>
        <p:blipFill>
          <a:blip r:embed="rId4"/>
          <a:stretch>
            <a:fillRect/>
          </a:stretch>
        </p:blipFill>
        <p:spPr>
          <a:xfrm>
            <a:off x="6643116" y="4283964"/>
            <a:ext cx="301752" cy="301752"/>
          </a:xfrm>
          <a:prstGeom prst="rect">
            <a:avLst/>
          </a:prstGeom>
        </p:spPr>
      </p:pic>
      <p:sp>
        <p:nvSpPr>
          <p:cNvPr id="22" name="Text 16"/>
          <p:cNvSpPr txBox="1"/>
          <p:nvPr/>
        </p:nvSpPr>
        <p:spPr>
          <a:xfrm>
            <a:off x="7315200" y="4114800"/>
            <a:ext cx="4114800" cy="347472"/>
          </a:xfrm>
          <a:prstGeom prst="rect">
            <a:avLst/>
          </a:prstGeom>
          <a:noFill/>
          <a:ln/>
        </p:spPr>
        <p:txBody>
          <a:bodyPr wrap="square" lIns="0" tIns="0" rIns="0" bIns="0" rtlCol="0" anchor="t"/>
          <a:lstStyle/>
          <a:p>
            <a:pPr indent="0" marL="0">
              <a:buNone/>
            </a:pPr>
            <a:r>
              <a:rPr lang="en-US" sz="1700" b="1" dirty="0">
                <a:solidFill>
                  <a:srgbClr val="0B0E26"/>
                </a:solidFill>
                <a:latin typeface="Arial" pitchFamily="34" charset="0"/>
                <a:ea typeface="Arial" pitchFamily="34" charset="-122"/>
                <a:cs typeface="Arial" pitchFamily="34" charset="-120"/>
              </a:rPr>
              <a:t>Investors who test first</a:t>
            </a:r>
            <a:endParaRPr lang="en-US" sz="1700" dirty="0"/>
          </a:p>
        </p:txBody>
      </p:sp>
      <p:sp>
        <p:nvSpPr>
          <p:cNvPr id="23" name="Text 17"/>
          <p:cNvSpPr txBox="1"/>
          <p:nvPr/>
        </p:nvSpPr>
        <p:spPr>
          <a:xfrm>
            <a:off x="7315200" y="4517136"/>
            <a:ext cx="4114800" cy="1005840"/>
          </a:xfrm>
          <a:prstGeom prst="rect">
            <a:avLst/>
          </a:prstGeom>
          <a:noFill/>
          <a:ln/>
        </p:spPr>
        <p:txBody>
          <a:bodyPr wrap="square" lIns="0" tIns="0" rIns="0" bIns="0" rtlCol="0" anchor="t"/>
          <a:lstStyle/>
          <a:p>
            <a:pPr indent="0" marL="0">
              <a:buNone/>
            </a:pPr>
            <a:r>
              <a:rPr lang="en-US" sz="1300" dirty="0">
                <a:solidFill>
                  <a:srgbClr val="434B6B"/>
                </a:solidFill>
              </a:rPr>
              <a:t>Screens, backtests and paper trading let users check assumptions and scenarios before they risk money.</a:t>
            </a:r>
            <a:endParaRPr lang="en-US" sz="1300" dirty="0"/>
          </a:p>
        </p:txBody>
      </p:sp>
      <p:sp>
        <p:nvSpPr>
          <p:cNvPr id="24" name="Text 18"/>
          <p:cNvSpPr txBox="1"/>
          <p:nvPr/>
        </p:nvSpPr>
        <p:spPr>
          <a:xfrm>
            <a:off x="548640" y="5989320"/>
            <a:ext cx="10362895" cy="274320"/>
          </a:xfrm>
          <a:prstGeom prst="rect">
            <a:avLst/>
          </a:prstGeom>
          <a:noFill/>
          <a:ln/>
        </p:spPr>
        <p:txBody>
          <a:bodyPr wrap="square" lIns="0" tIns="0" rIns="0" bIns="0" rtlCol="0" anchor="t"/>
          <a:lstStyle/>
          <a:p>
            <a:pPr indent="0" marL="0">
              <a:buNone/>
            </a:pPr>
            <a:r>
              <a:rPr lang="en-US" sz="1200" i="1" dirty="0">
                <a:solidFill>
                  <a:srgbClr val="7C88B0"/>
                </a:solidFill>
              </a:rPr>
              <a:t>Whether users value each of these is exactly what the pilot measures.</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THE PROPOSAL</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A scoped pilot, not a big commitment</a:t>
            </a:r>
            <a:endParaRPr lang="en-US" sz="3200" dirty="0"/>
          </a:p>
        </p:txBody>
      </p:sp>
      <p:sp>
        <p:nvSpPr>
          <p:cNvPr id="4" name="Text 2"/>
          <p:cNvSpPr txBox="1"/>
          <p:nvPr/>
        </p:nvSpPr>
        <p:spPr>
          <a:xfrm>
            <a:off x="548640" y="1481328"/>
            <a:ext cx="11094415" cy="320040"/>
          </a:xfrm>
          <a:prstGeom prst="rect">
            <a:avLst/>
          </a:prstGeom>
          <a:noFill/>
          <a:ln/>
        </p:spPr>
        <p:txBody>
          <a:bodyPr wrap="square" lIns="0" tIns="0" rIns="0" bIns="0" rtlCol="0" anchor="t"/>
          <a:lstStyle/>
          <a:p>
            <a:pPr indent="0" marL="0">
              <a:buNone/>
            </a:pPr>
            <a:r>
              <a:rPr lang="en-US" sz="1500" b="1" dirty="0">
                <a:solidFill>
                  <a:srgbClr val="4A3699"/>
                </a:solidFill>
              </a:rPr>
              <a:t>8–12 weeks  ·  a small opted-in cohort of your users  ·  read-only  ·  success criteria agreed up front</a:t>
            </a:r>
            <a:endParaRPr lang="en-US" sz="1500" dirty="0"/>
          </a:p>
        </p:txBody>
      </p:sp>
      <p:sp>
        <p:nvSpPr>
          <p:cNvPr id="5" name="pilot term 1"/>
          <p:cNvSpPr/>
          <p:nvPr/>
        </p:nvSpPr>
        <p:spPr>
          <a:xfrm>
            <a:off x="548640" y="2011680"/>
            <a:ext cx="3520440" cy="2148840"/>
          </a:xfrm>
          <a:prstGeom prst="roundRect">
            <a:avLst>
              <a:gd name="adj" fmla="val 5106"/>
            </a:avLst>
          </a:prstGeom>
          <a:solidFill>
            <a:srgbClr val="FFFFFF"/>
          </a:solidFill>
          <a:ln/>
          <a:effectLst>
            <a:outerShdw sx="100000" sy="100000" kx="0" ky="0" algn="bl" rotWithShape="0" blurRad="127000" dist="38100" dir="5400000">
              <a:srgbClr val="0B0E26">
                <a:alpha val="10000"/>
              </a:srgbClr>
            </a:outerShdw>
          </a:effectLst>
        </p:spPr>
      </p:sp>
      <p:sp>
        <p:nvSpPr>
          <p:cNvPr id="6" name="Text 4"/>
          <p:cNvSpPr txBox="1"/>
          <p:nvPr/>
        </p:nvSpPr>
        <p:spPr>
          <a:xfrm>
            <a:off x="868680" y="2194560"/>
            <a:ext cx="2926080" cy="548640"/>
          </a:xfrm>
          <a:prstGeom prst="rect">
            <a:avLst/>
          </a:prstGeom>
          <a:noFill/>
          <a:ln/>
        </p:spPr>
        <p:txBody>
          <a:bodyPr wrap="square" lIns="0" tIns="0" rIns="0" bIns="0" rtlCol="0" anchor="t"/>
          <a:lstStyle/>
          <a:p>
            <a:pPr indent="0" marL="0">
              <a:buNone/>
            </a:pPr>
            <a:r>
              <a:rPr lang="en-US" sz="2800" b="1" dirty="0">
                <a:solidFill>
                  <a:srgbClr val="4A3699"/>
                </a:solidFill>
                <a:latin typeface="Arial" pitchFamily="34" charset="0"/>
                <a:ea typeface="Arial" pitchFamily="34" charset="-122"/>
                <a:cs typeface="Arial" pitchFamily="34" charset="-120"/>
              </a:rPr>
              <a:t>8–12 weeks</a:t>
            </a:r>
            <a:endParaRPr lang="en-US" sz="2800" dirty="0"/>
          </a:p>
        </p:txBody>
      </p:sp>
      <p:sp>
        <p:nvSpPr>
          <p:cNvPr id="7" name="Text 5"/>
          <p:cNvSpPr txBox="1"/>
          <p:nvPr/>
        </p:nvSpPr>
        <p:spPr>
          <a:xfrm>
            <a:off x="868680" y="2761488"/>
            <a:ext cx="2926080" cy="274320"/>
          </a:xfrm>
          <a:prstGeom prst="rect">
            <a:avLst/>
          </a:prstGeom>
          <a:noFill/>
          <a:ln/>
        </p:spPr>
        <p:txBody>
          <a:bodyPr wrap="square" lIns="0" tIns="0" rIns="0" bIns="0" rtlCol="0" anchor="t"/>
          <a:lstStyle/>
          <a:p>
            <a:pPr indent="0" marL="0">
              <a:buNone/>
            </a:pPr>
            <a:r>
              <a:rPr lang="en-US" sz="1100" b="1" spc="150" kern="0" dirty="0">
                <a:solidFill>
                  <a:srgbClr val="0B0E26"/>
                </a:solidFill>
              </a:rPr>
              <a:t>PILOT WINDOW</a:t>
            </a:r>
            <a:endParaRPr lang="en-US" sz="1100" dirty="0"/>
          </a:p>
        </p:txBody>
      </p:sp>
      <p:sp>
        <p:nvSpPr>
          <p:cNvPr id="8" name="Text 6"/>
          <p:cNvSpPr txBox="1"/>
          <p:nvPr/>
        </p:nvSpPr>
        <p:spPr>
          <a:xfrm>
            <a:off x="868680" y="3090672"/>
            <a:ext cx="2926080" cy="914400"/>
          </a:xfrm>
          <a:prstGeom prst="rect">
            <a:avLst/>
          </a:prstGeom>
          <a:noFill/>
          <a:ln/>
        </p:spPr>
        <p:txBody>
          <a:bodyPr wrap="square" lIns="0" tIns="0" rIns="0" bIns="0" rtlCol="0" anchor="t"/>
          <a:lstStyle/>
          <a:p>
            <a:pPr indent="0" marL="0">
              <a:buNone/>
            </a:pPr>
            <a:r>
              <a:rPr lang="en-US" sz="1300" dirty="0">
                <a:solidFill>
                  <a:srgbClr val="434B6B"/>
                </a:solidFill>
              </a:rPr>
              <a:t>A small opted-in cohort. Dates and cohort size set together.</a:t>
            </a:r>
            <a:endParaRPr lang="en-US" sz="1300" dirty="0"/>
          </a:p>
        </p:txBody>
      </p:sp>
      <p:sp>
        <p:nvSpPr>
          <p:cNvPr id="9" name="pilot term 2"/>
          <p:cNvSpPr/>
          <p:nvPr/>
        </p:nvSpPr>
        <p:spPr>
          <a:xfrm>
            <a:off x="4315968" y="2011680"/>
            <a:ext cx="3520440" cy="2148840"/>
          </a:xfrm>
          <a:prstGeom prst="roundRect">
            <a:avLst>
              <a:gd name="adj" fmla="val 5106"/>
            </a:avLst>
          </a:prstGeom>
          <a:solidFill>
            <a:srgbClr val="FFFFFF"/>
          </a:solidFill>
          <a:ln/>
          <a:effectLst>
            <a:outerShdw sx="100000" sy="100000" kx="0" ky="0" algn="bl" rotWithShape="0" blurRad="127000" dist="38100" dir="5400000">
              <a:srgbClr val="0B0E26">
                <a:alpha val="10000"/>
              </a:srgbClr>
            </a:outerShdw>
          </a:effectLst>
        </p:spPr>
      </p:sp>
      <p:sp>
        <p:nvSpPr>
          <p:cNvPr id="10" name="Text 8"/>
          <p:cNvSpPr txBox="1"/>
          <p:nvPr/>
        </p:nvSpPr>
        <p:spPr>
          <a:xfrm>
            <a:off x="4636008" y="2194560"/>
            <a:ext cx="2926080" cy="548640"/>
          </a:xfrm>
          <a:prstGeom prst="rect">
            <a:avLst/>
          </a:prstGeom>
          <a:noFill/>
          <a:ln/>
        </p:spPr>
        <p:txBody>
          <a:bodyPr wrap="square" lIns="0" tIns="0" rIns="0" bIns="0" rtlCol="0" anchor="t"/>
          <a:lstStyle/>
          <a:p>
            <a:pPr indent="0" marL="0">
              <a:buNone/>
            </a:pPr>
            <a:r>
              <a:rPr lang="en-US" sz="2800" b="1" dirty="0">
                <a:solidFill>
                  <a:srgbClr val="4A3699"/>
                </a:solidFill>
                <a:latin typeface="Arial" pitchFamily="34" charset="0"/>
                <a:ea typeface="Arial" pitchFamily="34" charset="-122"/>
                <a:cs typeface="Arial" pitchFamily="34" charset="-120"/>
              </a:rPr>
              <a:t>Read-only</a:t>
            </a:r>
            <a:endParaRPr lang="en-US" sz="2800" dirty="0"/>
          </a:p>
        </p:txBody>
      </p:sp>
      <p:sp>
        <p:nvSpPr>
          <p:cNvPr id="11" name="Text 9"/>
          <p:cNvSpPr txBox="1"/>
          <p:nvPr/>
        </p:nvSpPr>
        <p:spPr>
          <a:xfrm>
            <a:off x="4636008" y="2761488"/>
            <a:ext cx="2926080" cy="274320"/>
          </a:xfrm>
          <a:prstGeom prst="rect">
            <a:avLst/>
          </a:prstGeom>
          <a:noFill/>
          <a:ln/>
        </p:spPr>
        <p:txBody>
          <a:bodyPr wrap="square" lIns="0" tIns="0" rIns="0" bIns="0" rtlCol="0" anchor="t"/>
          <a:lstStyle/>
          <a:p>
            <a:pPr indent="0" marL="0">
              <a:buNone/>
            </a:pPr>
            <a:r>
              <a:rPr lang="en-US" sz="1100" b="1" spc="150" kern="0" dirty="0">
                <a:solidFill>
                  <a:srgbClr val="0B0E26"/>
                </a:solidFill>
              </a:rPr>
              <a:t>ACCESS PATH</a:t>
            </a:r>
            <a:endParaRPr lang="en-US" sz="1100" dirty="0"/>
          </a:p>
        </p:txBody>
      </p:sp>
      <p:sp>
        <p:nvSpPr>
          <p:cNvPr id="12" name="Text 10"/>
          <p:cNvSpPr txBox="1"/>
          <p:nvPr/>
        </p:nvSpPr>
        <p:spPr>
          <a:xfrm>
            <a:off x="4636008" y="3090672"/>
            <a:ext cx="2926080" cy="914400"/>
          </a:xfrm>
          <a:prstGeom prst="rect">
            <a:avLst/>
          </a:prstGeom>
          <a:noFill/>
          <a:ln/>
        </p:spPr>
        <p:txBody>
          <a:bodyPr wrap="square" lIns="0" tIns="0" rIns="0" bIns="0" rtlCol="0" anchor="t"/>
          <a:lstStyle/>
          <a:p>
            <a:pPr indent="0" marL="0">
              <a:buNone/>
            </a:pPr>
            <a:r>
              <a:rPr lang="en-US" sz="1300" dirty="0">
                <a:solidFill>
                  <a:srgbClr val="434B6B"/>
                </a:solidFill>
              </a:rPr>
              <a:t>Your approved API or sandbox. Token handling and approvals agreed up front; no unofficial access.</a:t>
            </a:r>
            <a:endParaRPr lang="en-US" sz="1300" dirty="0"/>
          </a:p>
        </p:txBody>
      </p:sp>
      <p:sp>
        <p:nvSpPr>
          <p:cNvPr id="13" name="pilot term 3"/>
          <p:cNvSpPr/>
          <p:nvPr/>
        </p:nvSpPr>
        <p:spPr>
          <a:xfrm>
            <a:off x="8083296" y="2011680"/>
            <a:ext cx="3520440" cy="2148840"/>
          </a:xfrm>
          <a:prstGeom prst="roundRect">
            <a:avLst>
              <a:gd name="adj" fmla="val 5106"/>
            </a:avLst>
          </a:prstGeom>
          <a:solidFill>
            <a:srgbClr val="FFFFFF"/>
          </a:solidFill>
          <a:ln/>
          <a:effectLst>
            <a:outerShdw sx="100000" sy="100000" kx="0" ky="0" algn="bl" rotWithShape="0" blurRad="127000" dist="38100" dir="5400000">
              <a:srgbClr val="0B0E26">
                <a:alpha val="10000"/>
              </a:srgbClr>
            </a:outerShdw>
          </a:effectLst>
        </p:spPr>
      </p:sp>
      <p:sp>
        <p:nvSpPr>
          <p:cNvPr id="14" name="Text 12"/>
          <p:cNvSpPr txBox="1"/>
          <p:nvPr/>
        </p:nvSpPr>
        <p:spPr>
          <a:xfrm>
            <a:off x="8403336" y="2194560"/>
            <a:ext cx="2926080" cy="548640"/>
          </a:xfrm>
          <a:prstGeom prst="rect">
            <a:avLst/>
          </a:prstGeom>
          <a:noFill/>
          <a:ln/>
        </p:spPr>
        <p:txBody>
          <a:bodyPr wrap="square" lIns="0" tIns="0" rIns="0" bIns="0" rtlCol="0" anchor="t"/>
          <a:lstStyle/>
          <a:p>
            <a:pPr indent="0" marL="0">
              <a:buNone/>
            </a:pPr>
            <a:r>
              <a:rPr lang="en-US" sz="2800" b="1" dirty="0">
                <a:solidFill>
                  <a:srgbClr val="4A3699"/>
                </a:solidFill>
                <a:latin typeface="Arial" pitchFamily="34" charset="0"/>
                <a:ea typeface="Arial" pitchFamily="34" charset="-122"/>
                <a:cs typeface="Arial" pitchFamily="34" charset="-120"/>
              </a:rPr>
              <a:t>3 metrics</a:t>
            </a:r>
            <a:endParaRPr lang="en-US" sz="2800" dirty="0"/>
          </a:p>
        </p:txBody>
      </p:sp>
      <p:sp>
        <p:nvSpPr>
          <p:cNvPr id="15" name="Text 13"/>
          <p:cNvSpPr txBox="1"/>
          <p:nvPr/>
        </p:nvSpPr>
        <p:spPr>
          <a:xfrm>
            <a:off x="8403336" y="2761488"/>
            <a:ext cx="2926080" cy="274320"/>
          </a:xfrm>
          <a:prstGeom prst="rect">
            <a:avLst/>
          </a:prstGeom>
          <a:noFill/>
          <a:ln/>
        </p:spPr>
        <p:txBody>
          <a:bodyPr wrap="square" lIns="0" tIns="0" rIns="0" bIns="0" rtlCol="0" anchor="t"/>
          <a:lstStyle/>
          <a:p>
            <a:pPr indent="0" marL="0">
              <a:buNone/>
            </a:pPr>
            <a:r>
              <a:rPr lang="en-US" sz="1100" b="1" spc="150" kern="0" dirty="0">
                <a:solidFill>
                  <a:srgbClr val="0B0E26"/>
                </a:solidFill>
              </a:rPr>
              <a:t>SUCCESS CRITERIA</a:t>
            </a:r>
            <a:endParaRPr lang="en-US" sz="1100" dirty="0"/>
          </a:p>
        </p:txBody>
      </p:sp>
      <p:sp>
        <p:nvSpPr>
          <p:cNvPr id="16" name="Text 14"/>
          <p:cNvSpPr txBox="1"/>
          <p:nvPr/>
        </p:nvSpPr>
        <p:spPr>
          <a:xfrm>
            <a:off x="8403336" y="3090672"/>
            <a:ext cx="2926080" cy="914400"/>
          </a:xfrm>
          <a:prstGeom prst="rect">
            <a:avLst/>
          </a:prstGeom>
          <a:noFill/>
          <a:ln/>
        </p:spPr>
        <p:txBody>
          <a:bodyPr wrap="square" lIns="0" tIns="0" rIns="0" bIns="0" rtlCol="0" anchor="t"/>
          <a:lstStyle/>
          <a:p>
            <a:pPr indent="0" marL="0">
              <a:buNone/>
            </a:pPr>
            <a:r>
              <a:rPr lang="en-US" sz="1300" dirty="0">
                <a:solidFill>
                  <a:srgbClr val="434B6B"/>
                </a:solidFill>
              </a:rPr>
              <a:t>Accuracy and citation quality · weekly repeat use · cost per answered question.</a:t>
            </a:r>
            <a:endParaRPr lang="en-US" sz="1300" dirty="0"/>
          </a:p>
        </p:txBody>
      </p:sp>
      <p:sp>
        <p:nvSpPr>
          <p:cNvPr id="17" name="after pilot card"/>
          <p:cNvSpPr/>
          <p:nvPr/>
        </p:nvSpPr>
        <p:spPr>
          <a:xfrm>
            <a:off x="548640" y="4389120"/>
            <a:ext cx="11094415" cy="1463040"/>
          </a:xfrm>
          <a:prstGeom prst="roundRect">
            <a:avLst>
              <a:gd name="adj" fmla="val 7500"/>
            </a:avLst>
          </a:prstGeom>
          <a:solidFill>
            <a:srgbClr val="1E2761"/>
          </a:solidFill>
          <a:ln/>
          <a:effectLst>
            <a:outerShdw sx="100000" sy="100000" kx="0" ky="0" algn="bl" rotWithShape="0" blurRad="127000" dist="38100" dir="5400000">
              <a:srgbClr val="0B0E26">
                <a:alpha val="10000"/>
              </a:srgbClr>
            </a:outerShdw>
          </a:effectLst>
        </p:spPr>
      </p:sp>
      <p:sp>
        <p:nvSpPr>
          <p:cNvPr id="18" name="Text 16"/>
          <p:cNvSpPr txBox="1"/>
          <p:nvPr/>
        </p:nvSpPr>
        <p:spPr>
          <a:xfrm>
            <a:off x="868680" y="4572000"/>
            <a:ext cx="5486400" cy="274320"/>
          </a:xfrm>
          <a:prstGeom prst="rect">
            <a:avLst/>
          </a:prstGeom>
          <a:noFill/>
          <a:ln/>
        </p:spPr>
        <p:txBody>
          <a:bodyPr wrap="square" lIns="0" tIns="0" rIns="0" bIns="0" rtlCol="0" anchor="t"/>
          <a:lstStyle/>
          <a:p>
            <a:pPr indent="0" marL="0">
              <a:buNone/>
            </a:pPr>
            <a:r>
              <a:rPr lang="en-US" sz="1100" b="1" spc="200" kern="0" dirty="0">
                <a:solidFill>
                  <a:srgbClr val="F5A623"/>
                </a:solidFill>
              </a:rPr>
              <a:t>IF THE RESULTS JUSTIFY IT</a:t>
            </a:r>
            <a:endParaRPr lang="en-US" sz="1100" dirty="0"/>
          </a:p>
        </p:txBody>
      </p:sp>
      <p:sp>
        <p:nvSpPr>
          <p:cNvPr id="19" name="Text 17"/>
          <p:cNvSpPr txBox="1"/>
          <p:nvPr/>
        </p:nvSpPr>
        <p:spPr>
          <a:xfrm>
            <a:off x="868680" y="4892040"/>
            <a:ext cx="10454335" cy="822960"/>
          </a:xfrm>
          <a:prstGeom prst="rect">
            <a:avLst/>
          </a:prstGeom>
          <a:noFill/>
          <a:ln/>
        </p:spPr>
        <p:txBody>
          <a:bodyPr wrap="square" lIns="0" tIns="0" rIns="0" bIns="0" rtlCol="0" anchor="t"/>
          <a:lstStyle/>
          <a:p>
            <a:pPr indent="0" marL="0">
              <a:buNone/>
            </a:pPr>
            <a:r>
              <a:rPr lang="en-US" sz="1500" dirty="0">
                <a:solidFill>
                  <a:srgbClr val="FFFFFF"/>
                </a:solidFill>
              </a:rPr>
              <a:t>Commercial terms follow the evidence: a per-active-user licence, API usage pricing or a white-label research layer. Nothing about equity is part of this proposal.</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607040" cy="1783080"/>
          </a:xfrm>
          <a:prstGeom prst="rect">
            <a:avLst/>
          </a:prstGeom>
          <a:noFill/>
          <a:ln/>
        </p:spPr>
        <p:txBody>
          <a:bodyPr wrap="square" lIns="0" tIns="0" rIns="0" bIns="0" rtlCol="0" anchor="b"/>
          <a:lstStyle/>
          <a:p>
            <a:pPr algn="l" indent="0" marL="0">
              <a:buNone/>
            </a:pPr>
            <a:r>
              <a:rPr lang="en-US" sz="4000" b="1" dirty="0">
                <a:solidFill>
                  <a:schemeClr val="bg1"/>
                </a:solidFill>
              </a:rPr>
              <a:t>Kite MCP means you are already building for an agent-native brokerage.</a:t>
            </a:r>
            <a:endParaRPr lang="en-US" sz="4000" dirty="0"/>
          </a:p>
        </p:txBody>
      </p:sp>
      <p:sp>
        <p:nvSpPr>
          <p:cNvPr id="3" name="Text 1"/>
          <p:cNvSpPr txBox="1"/>
          <p:nvPr/>
        </p:nvSpPr>
        <p:spPr>
          <a:xfrm>
            <a:off x="548640" y="3657600"/>
            <a:ext cx="10607040" cy="54864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Anvest is the grounded research layer that future needs.</a:t>
            </a:r>
            <a:endParaRPr lang="en-US" sz="2600" dirty="0"/>
          </a:p>
        </p:txBody>
      </p:sp>
      <p:sp>
        <p:nvSpPr>
          <p:cNvPr id="4" name="Text 2"/>
          <p:cNvSpPr txBox="1"/>
          <p:nvPr/>
        </p:nvSpPr>
        <p:spPr>
          <a:xfrm>
            <a:off x="548640" y="4434840"/>
            <a:ext cx="10058400" cy="365760"/>
          </a:xfrm>
          <a:prstGeom prst="rect">
            <a:avLst/>
          </a:prstGeom>
          <a:noFill/>
          <a:ln/>
        </p:spPr>
        <p:txBody>
          <a:bodyPr wrap="square" lIns="0" tIns="0" rIns="0" bIns="0" rtlCol="0" anchor="t"/>
          <a:lstStyle/>
          <a:p>
            <a:pPr indent="0" marL="0">
              <a:buNone/>
            </a:pPr>
            <a:r>
              <a:rPr lang="en-US" sz="1600" dirty="0">
                <a:solidFill>
                  <a:srgbClr val="C9D3F0"/>
                </a:solidFill>
              </a:rPr>
              <a:t>Let's scope a pilot inside your product.</a:t>
            </a:r>
            <a:endParaRPr lang="en-US" sz="1600" dirty="0"/>
          </a:p>
        </p:txBody>
      </p:sp>
      <p:sp>
        <p:nvSpPr>
          <p:cNvPr id="5" name="Text 3"/>
          <p:cNvSpPr txBox="1"/>
          <p:nvPr/>
        </p:nvSpPr>
        <p:spPr>
          <a:xfrm>
            <a:off x="548640" y="6172200"/>
            <a:ext cx="7315200" cy="274320"/>
          </a:xfrm>
          <a:prstGeom prst="rect">
            <a:avLst/>
          </a:prstGeom>
          <a:noFill/>
          <a:ln/>
        </p:spPr>
        <p:txBody>
          <a:bodyPr wrap="square" lIns="0" tIns="0" rIns="0" bIns="0" rtlCol="0" anchor="t"/>
          <a:lstStyle/>
          <a:p>
            <a:pPr indent="0" marL="0">
              <a:buNone/>
            </a:pPr>
            <a:r>
              <a:rPr lang="en-US" sz="1200" dirty="0">
                <a:solidFill>
                  <a:srgbClr val="C9D3F0"/>
                </a:solidFill>
              </a:rPr>
              <a:t>Harsh Bhardwaj  ·  harsh@anvest.in  ·  anvest.in</a:t>
            </a:r>
            <a:endParaRPr lang="en-US" sz="1200" dirty="0"/>
          </a:p>
        </p:txBody>
      </p:sp>
    </p:spTree>
  </p:cSld>
  <p:clrMapOvr>
    <a:masterClrMapping/>
  </p:clrMapOvr>
</p:sld>
</file>

<file path=ppt/theme/theme1.xml><?xml version="1.0" encoding="utf-8"?>
<a:theme xmlns:a="http://schemas.openxmlformats.org/drawingml/2006/main" name="Anvest">
  <a:themeElements>
    <a:clrScheme name="Anvest">
      <a:dk1>
        <a:srgbClr val="0B0E26"/>
      </a:dk1>
      <a:lt1>
        <a:srgbClr val="FFFFFF"/>
      </a:lt1>
      <a:dk2>
        <a:srgbClr val="434B6B"/>
      </a:dk2>
      <a:lt2>
        <a:srgbClr val="F4F7FC"/>
      </a:lt2>
      <a:accent1>
        <a:srgbClr val="4A3699"/>
      </a:accent1>
      <a:accent2>
        <a:srgbClr val="F5A623"/>
      </a:accent2>
      <a:accent3>
        <a:srgbClr val="1E2761"/>
      </a:accent3>
      <a:accent4>
        <a:srgbClr val="1FA971"/>
      </a:accent4>
      <a:accent5>
        <a:srgbClr val="7C88B0"/>
      </a:accent5>
      <a:accent6>
        <a:srgbClr val="C9D3F0"/>
      </a:accent6>
      <a:hlink>
        <a:srgbClr val="4A3699"/>
      </a:hlink>
      <a:folHlink>
        <a:srgbClr val="1E2761"/>
      </a:folHlink>
    </a:clrScheme>
    <a:fontScheme name="Anve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Anvest Fintech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Anvest — Strategic Integration Pilot</dc:title>
  <dc:subject>PptxGenJS Presentation</dc:subject>
  <dc:creator>Harsh Bhardwaj</dc:creator>
  <cp:lastModifiedBy>Harsh Bhardwaj</cp:lastModifiedBy>
  <cp:revision>1</cp:revision>
  <dcterms:created xsi:type="dcterms:W3CDTF">2026-10-19T18:13:34Z</dcterms:created>
  <dcterms:modified xsi:type="dcterms:W3CDTF">2026-10-19T18:13:34Z</dcterms:modified>
</cp:coreProperties>
</file>