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E26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E26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E26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E26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E26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E26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E26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E26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E26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B0E26"/>
        </a:fontRef>
        <a:srgbClr val="0B0E26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ECCDD"/>
          </a:solidFill>
        </a:fill>
      </a:tcStyle>
    </a:wholeTbl>
    <a:band2H>
      <a:tcTxStyle b="def" i="def"/>
      <a:tcStyle>
        <a:tcBdr/>
        <a:fill>
          <a:solidFill>
            <a:srgbClr val="E8E7E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B0E26"/>
        </a:fontRef>
        <a:srgbClr val="0B0E26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CBD1"/>
          </a:solidFill>
        </a:fill>
      </a:tcStyle>
    </a:wholeTbl>
    <a:band2H>
      <a:tcTxStyle b="def" i="def"/>
      <a:tcStyle>
        <a:tcBdr/>
        <a:fill>
          <a:solidFill>
            <a:srgbClr val="E7E7EA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B0E26"/>
        </a:fontRef>
        <a:srgbClr val="0B0E26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BEFF9"/>
          </a:solidFill>
        </a:fill>
      </a:tcStyle>
    </a:wholeTbl>
    <a:band2H>
      <a:tcTxStyle b="def" i="def"/>
      <a:tcStyle>
        <a:tcBdr/>
        <a:fill>
          <a:solidFill>
            <a:srgbClr val="F5F7FC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B0E26"/>
        </a:fontRef>
        <a:srgbClr val="0B0E26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7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B0E26"/>
        </a:fontRef>
        <a:srgbClr val="0B0E26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B0E26"/>
              </a:solidFill>
              <a:prstDash val="solid"/>
              <a:round/>
            </a:ln>
          </a:top>
          <a:bottom>
            <a:ln w="25400" cap="flat">
              <a:solidFill>
                <a:srgbClr val="0B0E26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B0E26"/>
              </a:solidFill>
              <a:prstDash val="solid"/>
              <a:round/>
            </a:ln>
          </a:top>
          <a:bottom>
            <a:ln w="25400" cap="flat">
              <a:solidFill>
                <a:srgbClr val="0B0E26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B0E26"/>
        </a:fontRef>
        <a:srgbClr val="0B0E26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B"/>
          </a:solidFill>
        </a:fill>
      </a:tcStyle>
    </a:wholeTbl>
    <a:band2H>
      <a:tcTxStyle b="def" i="def"/>
      <a:tcStyle>
        <a:tcBdr/>
        <a:fill>
          <a:solidFill>
            <a:srgbClr val="E6E6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B0E2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B0E2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B0E26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B0E26"/>
        </a:fontRef>
        <a:srgbClr val="0B0E26"/>
      </a:tcTxStyle>
      <a:tcStyle>
        <a:tcBdr>
          <a:left>
            <a:ln w="12700" cap="flat">
              <a:solidFill>
                <a:srgbClr val="0B0E26"/>
              </a:solidFill>
              <a:prstDash val="solid"/>
              <a:round/>
            </a:ln>
          </a:left>
          <a:right>
            <a:ln w="12700" cap="flat">
              <a:solidFill>
                <a:srgbClr val="0B0E26"/>
              </a:solidFill>
              <a:prstDash val="solid"/>
              <a:round/>
            </a:ln>
          </a:right>
          <a:top>
            <a:ln w="12700" cap="flat">
              <a:solidFill>
                <a:srgbClr val="0B0E26"/>
              </a:solidFill>
              <a:prstDash val="solid"/>
              <a:round/>
            </a:ln>
          </a:top>
          <a:bottom>
            <a:ln w="12700" cap="flat">
              <a:solidFill>
                <a:srgbClr val="0B0E26"/>
              </a:solidFill>
              <a:prstDash val="solid"/>
              <a:round/>
            </a:ln>
          </a:bottom>
          <a:insideH>
            <a:ln w="12700" cap="flat">
              <a:solidFill>
                <a:srgbClr val="0B0E26"/>
              </a:solidFill>
              <a:prstDash val="solid"/>
              <a:round/>
            </a:ln>
          </a:insideH>
          <a:insideV>
            <a:ln w="12700" cap="flat">
              <a:solidFill>
                <a:srgbClr val="0B0E26"/>
              </a:solidFill>
              <a:prstDash val="solid"/>
              <a:round/>
            </a:ln>
          </a:insideV>
        </a:tcBdr>
        <a:fill>
          <a:solidFill>
            <a:srgbClr val="0B0E26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B0E26"/>
        </a:fontRef>
        <a:srgbClr val="0B0E26"/>
      </a:tcTxStyle>
      <a:tcStyle>
        <a:tcBdr>
          <a:left>
            <a:ln w="12700" cap="flat">
              <a:solidFill>
                <a:srgbClr val="0B0E26"/>
              </a:solidFill>
              <a:prstDash val="solid"/>
              <a:round/>
            </a:ln>
          </a:left>
          <a:right>
            <a:ln w="12700" cap="flat">
              <a:solidFill>
                <a:srgbClr val="0B0E26"/>
              </a:solidFill>
              <a:prstDash val="solid"/>
              <a:round/>
            </a:ln>
          </a:right>
          <a:top>
            <a:ln w="12700" cap="flat">
              <a:solidFill>
                <a:srgbClr val="0B0E26"/>
              </a:solidFill>
              <a:prstDash val="solid"/>
              <a:round/>
            </a:ln>
          </a:top>
          <a:bottom>
            <a:ln w="12700" cap="flat">
              <a:solidFill>
                <a:srgbClr val="0B0E26"/>
              </a:solidFill>
              <a:prstDash val="solid"/>
              <a:round/>
            </a:ln>
          </a:bottom>
          <a:insideH>
            <a:ln w="12700" cap="flat">
              <a:solidFill>
                <a:srgbClr val="0B0E26"/>
              </a:solidFill>
              <a:prstDash val="solid"/>
              <a:round/>
            </a:ln>
          </a:insideH>
          <a:insideV>
            <a:ln w="12700" cap="flat">
              <a:solidFill>
                <a:srgbClr val="0B0E26"/>
              </a:solidFill>
              <a:prstDash val="solid"/>
              <a:round/>
            </a:ln>
          </a:insideV>
        </a:tcBdr>
        <a:fill>
          <a:solidFill>
            <a:srgbClr val="0B0E26">
              <a:alpha val="20000"/>
            </a:srgbClr>
          </a:solidFill>
        </a:fill>
      </a:tcStyle>
    </a:firstCol>
    <a:lastRow>
      <a:tcTxStyle b="on" i="off">
        <a:fontRef idx="minor">
          <a:srgbClr val="0B0E26"/>
        </a:fontRef>
        <a:srgbClr val="0B0E26"/>
      </a:tcTxStyle>
      <a:tcStyle>
        <a:tcBdr>
          <a:left>
            <a:ln w="12700" cap="flat">
              <a:solidFill>
                <a:srgbClr val="0B0E26"/>
              </a:solidFill>
              <a:prstDash val="solid"/>
              <a:round/>
            </a:ln>
          </a:left>
          <a:right>
            <a:ln w="12700" cap="flat">
              <a:solidFill>
                <a:srgbClr val="0B0E26"/>
              </a:solidFill>
              <a:prstDash val="solid"/>
              <a:round/>
            </a:ln>
          </a:right>
          <a:top>
            <a:ln w="50800" cap="flat">
              <a:solidFill>
                <a:srgbClr val="0B0E26"/>
              </a:solidFill>
              <a:prstDash val="solid"/>
              <a:round/>
            </a:ln>
          </a:top>
          <a:bottom>
            <a:ln w="12700" cap="flat">
              <a:solidFill>
                <a:srgbClr val="0B0E26"/>
              </a:solidFill>
              <a:prstDash val="solid"/>
              <a:round/>
            </a:ln>
          </a:bottom>
          <a:insideH>
            <a:ln w="12700" cap="flat">
              <a:solidFill>
                <a:srgbClr val="0B0E26"/>
              </a:solidFill>
              <a:prstDash val="solid"/>
              <a:round/>
            </a:ln>
          </a:insideH>
          <a:insideV>
            <a:ln w="12700" cap="flat">
              <a:solidFill>
                <a:srgbClr val="0B0E26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B0E26"/>
        </a:fontRef>
        <a:srgbClr val="0B0E26"/>
      </a:tcTxStyle>
      <a:tcStyle>
        <a:tcBdr>
          <a:left>
            <a:ln w="12700" cap="flat">
              <a:solidFill>
                <a:srgbClr val="0B0E26"/>
              </a:solidFill>
              <a:prstDash val="solid"/>
              <a:round/>
            </a:ln>
          </a:left>
          <a:right>
            <a:ln w="12700" cap="flat">
              <a:solidFill>
                <a:srgbClr val="0B0E26"/>
              </a:solidFill>
              <a:prstDash val="solid"/>
              <a:round/>
            </a:ln>
          </a:right>
          <a:top>
            <a:ln w="12700" cap="flat">
              <a:solidFill>
                <a:srgbClr val="0B0E26"/>
              </a:solidFill>
              <a:prstDash val="solid"/>
              <a:round/>
            </a:ln>
          </a:top>
          <a:bottom>
            <a:ln w="25400" cap="flat">
              <a:solidFill>
                <a:srgbClr val="0B0E26"/>
              </a:solidFill>
              <a:prstDash val="solid"/>
              <a:round/>
            </a:ln>
          </a:bottom>
          <a:insideH>
            <a:ln w="12700" cap="flat">
              <a:solidFill>
                <a:srgbClr val="0B0E26"/>
              </a:solidFill>
              <a:prstDash val="solid"/>
              <a:round/>
            </a:ln>
          </a:insideH>
          <a:insideV>
            <a:ln w="12700" cap="flat">
              <a:solidFill>
                <a:srgbClr val="0B0E26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690874"/>
          <c:y val="0.11918"/>
          <c:w val="0.925913"/>
          <c:h val="0.76502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Desk seats</c:v>
                </c:pt>
              </c:strCache>
            </c:strRef>
          </c:tx>
          <c:spPr>
            <a:solidFill>
              <a:schemeClr val="accent3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434B6B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Month 15
₹83 L</c:v>
                </c:pt>
                <c:pt idx="1">
                  <c:v>Year 2
₹2.2 Cr</c:v>
                </c:pt>
                <c:pt idx="2">
                  <c:v>Year 3
₹7.0 Cr</c:v>
                </c:pt>
                <c:pt idx="3">
                  <c:v>Year 4
₹15.6 Cr</c:v>
                </c:pt>
                <c:pt idx="4">
                  <c:v>Year 5
₹29.9 Cr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0.610000</c:v>
                </c:pt>
                <c:pt idx="1">
                  <c:v>1.250000</c:v>
                </c:pt>
                <c:pt idx="2">
                  <c:v>3.750000</c:v>
                </c:pt>
                <c:pt idx="3">
                  <c:v>7.570000</c:v>
                </c:pt>
                <c:pt idx="4">
                  <c:v>12.310000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Retail subscriptions</c:v>
                </c:pt>
              </c:strCache>
            </c:strRef>
          </c:tx>
          <c:spPr>
            <a:solidFill>
              <a:schemeClr val="accent1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434B6B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Month 15
₹83 L</c:v>
                </c:pt>
                <c:pt idx="1">
                  <c:v>Year 2
₹2.2 Cr</c:v>
                </c:pt>
                <c:pt idx="2">
                  <c:v>Year 3
₹7.0 Cr</c:v>
                </c:pt>
                <c:pt idx="3">
                  <c:v>Year 4
₹15.6 Cr</c:v>
                </c:pt>
                <c:pt idx="4">
                  <c:v>Year 5
₹29.9 Cr</c:v>
                </c:pt>
              </c:strCache>
            </c:strRef>
          </c:cat>
          <c:val>
            <c:numRef>
              <c:f>Sheet1!$C$2:$C$6</c:f>
              <c:numCache>
                <c:ptCount val="5"/>
                <c:pt idx="0">
                  <c:v>0.040000</c:v>
                </c:pt>
                <c:pt idx="1">
                  <c:v>0.120000</c:v>
                </c:pt>
                <c:pt idx="2">
                  <c:v>0.420000</c:v>
                </c:pt>
                <c:pt idx="3">
                  <c:v>1.080000</c:v>
                </c:pt>
                <c:pt idx="4">
                  <c:v>2.310000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Partners and API (conditional)</c:v>
                </c:pt>
              </c:strCache>
            </c:strRef>
          </c:tx>
          <c:spPr>
            <a:solidFill>
              <a:srgbClr val="F8CB7A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434B6B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Month 15
₹83 L</c:v>
                </c:pt>
                <c:pt idx="1">
                  <c:v>Year 2
₹2.2 Cr</c:v>
                </c:pt>
                <c:pt idx="2">
                  <c:v>Year 3
₹7.0 Cr</c:v>
                </c:pt>
                <c:pt idx="3">
                  <c:v>Year 4
₹15.6 Cr</c:v>
                </c:pt>
                <c:pt idx="4">
                  <c:v>Year 5
₹29.9 Cr</c:v>
                </c:pt>
              </c:strCache>
            </c:strRef>
          </c:cat>
          <c:val>
            <c:numRef>
              <c:f>Sheet1!$D$2:$D$6</c:f>
              <c:numCache>
                <c:ptCount val="5"/>
                <c:pt idx="0">
                  <c:v>0.170000</c:v>
                </c:pt>
                <c:pt idx="1">
                  <c:v>0.700000</c:v>
                </c:pt>
                <c:pt idx="2">
                  <c:v>1.920000</c:v>
                </c:pt>
                <c:pt idx="3">
                  <c:v>4.410000</c:v>
                </c:pt>
                <c:pt idx="4">
                  <c:v>9.430000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Strategies (conditional)</c:v>
                </c:pt>
              </c:strCache>
            </c:strRef>
          </c:tx>
          <c:spPr>
            <a:solidFill>
              <a:srgbClr val="9ED9BD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434B6B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Month 15
₹83 L</c:v>
                </c:pt>
                <c:pt idx="1">
                  <c:v>Year 2
₹2.2 Cr</c:v>
                </c:pt>
                <c:pt idx="2">
                  <c:v>Year 3
₹7.0 Cr</c:v>
                </c:pt>
                <c:pt idx="3">
                  <c:v>Year 4
₹15.6 Cr</c:v>
                </c:pt>
                <c:pt idx="4">
                  <c:v>Year 5
₹29.9 Cr</c:v>
                </c:pt>
              </c:strCache>
            </c:strRef>
          </c:cat>
          <c:val>
            <c:numRef>
              <c:f>Sheet1!$E$2:$E$6</c:f>
              <c:numCache>
                <c:ptCount val="5"/>
                <c:pt idx="0">
                  <c:v>0.000000</c:v>
                </c:pt>
                <c:pt idx="1">
                  <c:v>0.110000</c:v>
                </c:pt>
                <c:pt idx="2">
                  <c:v>0.920000</c:v>
                </c:pt>
                <c:pt idx="3">
                  <c:v>2.550000</c:v>
                </c:pt>
                <c:pt idx="4">
                  <c:v>5.790000</c:v>
                </c:pt>
              </c:numCache>
            </c:numRef>
          </c:val>
        </c:ser>
        <c:gapWidth val="55"/>
        <c:overlap val="10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chemeClr val="accent6"/>
            </a:solidFill>
            <a:prstDash val="solid"/>
            <a:miter lim="800000"/>
          </a:ln>
        </c:spPr>
        <c:txPr>
          <a:bodyPr rot="0"/>
          <a:lstStyle/>
          <a:p>
            <a:pPr>
              <a:defRPr b="1" i="0" strike="noStrike" sz="1200" u="none">
                <a:solidFill>
                  <a:srgbClr val="0B0E26"/>
                </a:solidFill>
                <a:latin typeface="Calibri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  <c:max val="32"/>
        </c:scaling>
        <c:delete val="0"/>
        <c:axPos val="l"/>
        <c:majorGridlines>
          <c:spPr>
            <a:ln w="12700" cap="flat">
              <a:solidFill>
                <a:srgbClr val="E3E7F2"/>
              </a:solidFill>
              <a:prstDash val="solid"/>
              <a:miter lim="800000"/>
            </a:ln>
          </c:spPr>
        </c:majorGridlines>
        <c:numFmt formatCode="&quot;₹&quot;0&quot; Cr&quot;" sourceLinked="0"/>
        <c:majorTickMark val="none"/>
        <c:minorTickMark val="none"/>
        <c:tickLblPos val="nextTo"/>
        <c:spPr>
          <a:ln w="12700" cap="flat">
            <a:noFill/>
            <a:prstDash val="solid"/>
            <a:miter lim="800000"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7C88B0"/>
                </a:solidFill>
                <a:latin typeface="Calibri"/>
              </a:defRPr>
            </a:pPr>
          </a:p>
        </c:txPr>
        <c:crossAx val="2094734552"/>
        <c:crosses val="autoZero"/>
        <c:crossBetween val="between"/>
        <c:majorUnit val="8"/>
        <c:minorUnit val="4"/>
      </c:valAx>
      <c:spPr>
        <a:noFill/>
        <a:ln w="12700" cap="flat">
          <a:noFill/>
          <a:miter lim="400000"/>
        </a:ln>
        <a:effectLst/>
      </c:spPr>
    </c:plotArea>
    <c:legend>
      <c:legendPos val="t"/>
      <c:layout>
        <c:manualLayout>
          <c:xMode val="edge"/>
          <c:yMode val="edge"/>
          <c:x val="0.0514526"/>
          <c:y val="0"/>
          <c:w val="0.911301"/>
          <c:h val="0.0567914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b="0" i="0" strike="noStrike" sz="1100" u="none">
              <a:solidFill>
                <a:srgbClr val="434B6B"/>
              </a:solidFill>
              <a:latin typeface="Calibri"/>
            </a:defRPr>
          </a:pPr>
        </a:p>
      </c:txPr>
    </c:legend>
    <c:plotVisOnly val="0"/>
    <c:dispBlanksAs val="gap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3" name="Shape 63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solidFill>
          <a:srgbClr val="0B0E26"/>
        </a:solidFill>
        <a:latin typeface="+mn-lt"/>
        <a:ea typeface="+mn-ea"/>
        <a:cs typeface="+mn-cs"/>
        <a:sym typeface="Calibri"/>
      </a:defRPr>
    </a:lvl1pPr>
    <a:lvl2pPr indent="228600" latinLnBrk="0">
      <a:defRPr sz="1200">
        <a:solidFill>
          <a:srgbClr val="0B0E26"/>
        </a:solidFill>
        <a:latin typeface="+mn-lt"/>
        <a:ea typeface="+mn-ea"/>
        <a:cs typeface="+mn-cs"/>
        <a:sym typeface="Calibri"/>
      </a:defRPr>
    </a:lvl2pPr>
    <a:lvl3pPr indent="457200" latinLnBrk="0">
      <a:defRPr sz="1200">
        <a:solidFill>
          <a:srgbClr val="0B0E26"/>
        </a:solidFill>
        <a:latin typeface="+mn-lt"/>
        <a:ea typeface="+mn-ea"/>
        <a:cs typeface="+mn-cs"/>
        <a:sym typeface="Calibri"/>
      </a:defRPr>
    </a:lvl3pPr>
    <a:lvl4pPr indent="685800" latinLnBrk="0">
      <a:defRPr sz="1200">
        <a:solidFill>
          <a:srgbClr val="0B0E26"/>
        </a:solidFill>
        <a:latin typeface="+mn-lt"/>
        <a:ea typeface="+mn-ea"/>
        <a:cs typeface="+mn-cs"/>
        <a:sym typeface="Calibri"/>
      </a:defRPr>
    </a:lvl4pPr>
    <a:lvl5pPr indent="914400" latinLnBrk="0">
      <a:defRPr sz="1200">
        <a:solidFill>
          <a:srgbClr val="0B0E26"/>
        </a:solidFill>
        <a:latin typeface="+mn-lt"/>
        <a:ea typeface="+mn-ea"/>
        <a:cs typeface="+mn-cs"/>
        <a:sym typeface="Calibri"/>
      </a:defRPr>
    </a:lvl5pPr>
    <a:lvl6pPr indent="1143000" latinLnBrk="0">
      <a:defRPr sz="1200">
        <a:solidFill>
          <a:srgbClr val="0B0E26"/>
        </a:solidFill>
        <a:latin typeface="+mn-lt"/>
        <a:ea typeface="+mn-ea"/>
        <a:cs typeface="+mn-cs"/>
        <a:sym typeface="Calibri"/>
      </a:defRPr>
    </a:lvl6pPr>
    <a:lvl7pPr indent="1371600" latinLnBrk="0">
      <a:defRPr sz="1200">
        <a:solidFill>
          <a:srgbClr val="0B0E26"/>
        </a:solidFill>
        <a:latin typeface="+mn-lt"/>
        <a:ea typeface="+mn-ea"/>
        <a:cs typeface="+mn-cs"/>
        <a:sym typeface="Calibri"/>
      </a:defRPr>
    </a:lvl7pPr>
    <a:lvl8pPr indent="1600200" latinLnBrk="0">
      <a:defRPr sz="1200">
        <a:solidFill>
          <a:srgbClr val="0B0E26"/>
        </a:solidFill>
        <a:latin typeface="+mn-lt"/>
        <a:ea typeface="+mn-ea"/>
        <a:cs typeface="+mn-cs"/>
        <a:sym typeface="Calibri"/>
      </a:defRPr>
    </a:lvl8pPr>
    <a:lvl9pPr indent="1828800" latinLnBrk="0">
      <a:defRPr sz="1200">
        <a:solidFill>
          <a:srgbClr val="0B0E26"/>
        </a:solidFill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4" name="Shape 8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Anvest is India's AI research and investing co-pilot, built for both SEBI-registered professionals and active investors. One plain-English question produces a source-cited filing answer, an editable stock screen, a costed backtest, and a portfolio plan. All warehouse metrics on this slide reflect live production coverage as of October 2026.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0" name="Shape 11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The problem spans both active investors and professional research desks. SEBI's FY25 and FY26 studies confirm ~90% of individual traders lose money trading on unverified tips. Meanwhile, SEBI-registered analysts, advisers, and PMS desks waste hours piecing together fragmented PDFs, screeners, and spreadsheets, while generic LLMs hallucinate numbers on Indian corporate filings.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4" name="Shape 13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Three core workflows—Ask, Test, and Allocate—run on a single verified data warehouse. The AI translates natural-language intent into deterministic queries and backtests, ensuring every figure is reproducible and linked directly to its exchange filing.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19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1" name="Shape 19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Live end-to-end product flow verified on 19 Oct 2026: asking 'Find profitable companies with high ROE and low debt' translates into the explicit formula (profit_margin &gt; 0 AND roe &gt; 15 AND debt_to_equity &lt; 1), matching 516 companies. One click runs a 1-year historical backtest net of Indian brokerage, STT, stamp duty, and slippage against the Nifty 500, and converts the top 10 holdings into an equal-weight virtual paper-trading basket.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23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9" name="Shape 23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All six modules are live views powered by the same underlying XBRL and filings warehouse, eliminating multi-product maintenance overhead. Free discovery tools (IPO hub, bond calculators, and curated screens) drive zero-CAC organic acquisition that funnels active investors and analysts into paid Pro and Desk tiers.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Shape 26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68" name="Shape 26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Four structural tailwinds converge now: (1) LLMs can parse complex corporate disclosures when grounded in a verified database; (2) SEBI's April 2026 retail algo regulations require white-box transparency and RA registration; (3) Indian brokers (e.g., Zerodha Kite MCP) are opening agentic interfaces that require a trusted research engine; and (4) AlphaSense proves massive global demand for source-cited financial AI, which Anvest localizes for Indian price points.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Shape 29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99" name="Shape 29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Bottom-up market sizing at list prices (Plus at ₹2,388/yr; Desk at ₹35,988/seat-yr). While active traders form the broadest volume pool in SAM, SEBI-registered research analysts (2,304), investment advisers (1,057), portfolio managers (539), and 3.5 lakh mutual fund distributors provide high-ACV B2B entry seats and institutional credibility.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Shape 31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19" name="Shape 31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Direct capability comparison across Indian fundamental tools (Screener.in, Tijori Finance, Trendlyne), technical/AI tools (Streak, StockGro Stoxo), and general-purpose LLMs. Anvest uniquely connects verified XBRL/filing Q&amp;A directly to fundamental backtesting (with Indian statutory transaction costs) and multi-asset portfolio analytics in a single workflow.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Shape 37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72" name="Shape 37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Any wrapper can call an LLM API, but raw Indian exchange filings contain systematic structural defects—malformed post-FY23 XBRL context dates, Q4-embedded annuals, and non-searchable small-cap PDF scans. Anvest's ingestion, OCR, deterministic verification, and versioned release pipeline represents 12 months of compounding data-engineering domain edge.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Shape 42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22" name="Shape 42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Algorithmic orders already drive 54% of NSE cash turnover and 67% of equity derivatives. With SEBI's retail algo framework fully active since 1 April 2026, Anvest owns the compliant pre-trade funnel—helping users turn fundamental and technical hypotheses into white-box rules, costed backtests, and paper trades before deploying via empanelled partner brokers.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Shape 46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61" name="Shape 46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Anvest monetizes through a disciplined sequence: (1) high-ACV Anvest Desk subscriptions for SEBI-registered analysts, advisers, and PMS teams (supporting both solo practitioners and 5+ seat desks); (2) self-serve Plus and Pro tiers for active prosumers; (3) B2B Intelligence API and MCP licensing for brokers and wealth platforms; and (4) RA-registered strategy subscriptions post-approvals.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Shape 50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01" name="Shape 50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In 12 months with zero outside capital and zero marketing spend, Anvest shipped the complete end-to-end platform across 9 live modules, ingesting and verifying nightly exchange filings on Google Cloud (Mumbai). Over the next 90 days, focus shifts strictly to commercial validation: converting our first 10 paid Desk pilots, opening self-serve checkout, indexing all 6,137 stock pages for organic search, and launching our first broker MCP integration.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Shape 54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42" name="Shape 54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Our go-to-market lands with high-intent SEBI-registered professionals (offering flexible 1-to-5+ seat Desk plans to shorten initial sales cycles), while our 7,100+ programmatic stock and fund pages capture long-tail organic search traffic. Shareable verification links and broker API/MCP integrations compound distribution without paid consumer CAC.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Shape 56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68" name="Shape 56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This round funds an 18-month execution plan with ~22 months of total cash runway on the $400K base raise (~30 months on the $700K upsize), extending to 25–40 months at Month-18 net burn as subscription revenue scales. Core SaaS (Desk + Retail) reaches ₹14.6 Cr ARR by Year 5 on its own, with Partner APIs and regulated Strategies providing ₹15.2 Cr of expansion upside.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Shape 59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98" name="Shape 59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Harsh brings 7 years of distributed systems and production AI architecture experience at New Relic, Shiprocket, Weave, and Jaguar Land Rover, and solo-built the entire Anvest data warehouse and application suite in 12 months. This seed round adds dedicated B2B sales leadership, data engineering, and SEBI compliance advisory depth.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Shape 64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43" name="Shape 64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We are raising $400K to $700K on a $3.5M post-money cap via CCD/CCPS with identical terms for all investors. Allocation totals exactly 100% ($155K Team / 38.75%, $70K Compliance &amp; Infra / 17.50%, $175K Growth, Founder &amp; 17.5% Reserve / 43.75%). By Month 15, the base plan delivers ₹83L ARR across 43 Desk teams and 2 partner integrations, positioning Anvest for a strong Series A.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Shape 65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51" name="Shape 65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Close on the core vision: institutional research depth and quantitative testing made accessible to every Indian desk and investor. Invite investors to test live queries at anvest.in and walk through the data room.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VER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lick to add title"/>
          <p:cNvSpPr txBox="1"/>
          <p:nvPr>
            <p:ph type="title" hasCustomPrompt="1"/>
          </p:nvPr>
        </p:nvSpPr>
        <p:spPr>
          <a:xfrm>
            <a:off x="548640" y="1051560"/>
            <a:ext cx="6035041" cy="118872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7200">
                <a:solidFill>
                  <a:srgbClr val="FFFFFF"/>
                </a:solidFill>
              </a:defRPr>
            </a:lvl1pPr>
          </a:lstStyle>
          <a:p>
            <a:pPr/>
            <a:r>
              <a:t>Click to add title</a:t>
            </a:r>
          </a:p>
        </p:txBody>
      </p:sp>
      <p:sp>
        <p:nvSpPr>
          <p:cNvPr id="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lick to add title"/>
          <p:cNvSpPr txBox="1"/>
          <p:nvPr>
            <p:ph type="title" hasCustomPrompt="1"/>
          </p:nvPr>
        </p:nvSpPr>
        <p:spPr>
          <a:xfrm>
            <a:off x="548640" y="1737360"/>
            <a:ext cx="10607041" cy="1783080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4000">
                <a:solidFill>
                  <a:srgbClr val="FFFFFF"/>
                </a:solidFill>
              </a:defRPr>
            </a:lvl1pPr>
          </a:lstStyle>
          <a:p>
            <a:pPr/>
            <a:r>
              <a:t>Click to add title</a:t>
            </a:r>
          </a:p>
        </p:txBody>
      </p:sp>
      <p:sp>
        <p:nvSpPr>
          <p:cNvPr id="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HERO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548640" y="384047"/>
            <a:ext cx="8229601" cy="274322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0" indent="0">
              <a:spcBef>
                <a:spcPts val="200"/>
              </a:spcBef>
              <a:buSzTx/>
              <a:buFontTx/>
              <a:buNone/>
              <a:defRPr b="1" spc="200" sz="1200">
                <a:solidFill>
                  <a:schemeClr val="accent2"/>
                </a:solidFill>
              </a:defRPr>
            </a:lvl1pPr>
            <a:lvl2pPr marL="579664" indent="-122464">
              <a:spcBef>
                <a:spcPts val="200"/>
              </a:spcBef>
              <a:buFontTx/>
              <a:defRPr b="1" spc="200" sz="1200">
                <a:solidFill>
                  <a:schemeClr val="accent2"/>
                </a:solidFill>
              </a:defRPr>
            </a:lvl2pPr>
            <a:lvl3pPr marL="1028700" indent="-114300">
              <a:spcBef>
                <a:spcPts val="200"/>
              </a:spcBef>
              <a:buFontTx/>
              <a:defRPr b="1" spc="200" sz="1200">
                <a:solidFill>
                  <a:schemeClr val="accent2"/>
                </a:solidFill>
              </a:defRPr>
            </a:lvl3pPr>
            <a:lvl4pPr marL="1508760" indent="-137160">
              <a:spcBef>
                <a:spcPts val="200"/>
              </a:spcBef>
              <a:buFontTx/>
              <a:defRPr b="1" spc="200" sz="1200">
                <a:solidFill>
                  <a:schemeClr val="accent2"/>
                </a:solidFill>
              </a:defRPr>
            </a:lvl4pPr>
            <a:lvl5pPr marL="1965960" indent="-137160">
              <a:spcBef>
                <a:spcPts val="200"/>
              </a:spcBef>
              <a:buFontTx/>
              <a:defRPr b="1" spc="200" sz="1200">
                <a:solidFill>
                  <a:schemeClr val="accent2"/>
                </a:solidFill>
              </a:defRPr>
            </a:lvl5pPr>
          </a:lstStyle>
          <a:p>
            <a:pPr/>
            <a:r>
              <a:t>Click to add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Click to add title"/>
          <p:cNvSpPr txBox="1"/>
          <p:nvPr>
            <p:ph type="title" hasCustomPrompt="1"/>
          </p:nvPr>
        </p:nvSpPr>
        <p:spPr>
          <a:xfrm>
            <a:off x="548640" y="676655"/>
            <a:ext cx="11094416" cy="868682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Click to add title</a:t>
            </a:r>
          </a:p>
        </p:txBody>
      </p:sp>
      <p:sp>
        <p:nvSpPr>
          <p:cNvPr id="3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ARK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Body Level One…"/>
          <p:cNvSpPr txBox="1"/>
          <p:nvPr>
            <p:ph type="body" sz="quarter" idx="1" hasCustomPrompt="1"/>
          </p:nvPr>
        </p:nvSpPr>
        <p:spPr>
          <a:xfrm>
            <a:off x="548640" y="384047"/>
            <a:ext cx="8229601" cy="274322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0" indent="0">
              <a:spcBef>
                <a:spcPts val="200"/>
              </a:spcBef>
              <a:buSzTx/>
              <a:buFontTx/>
              <a:buNone/>
              <a:defRPr b="1" spc="200" sz="1200">
                <a:solidFill>
                  <a:schemeClr val="accent2"/>
                </a:solidFill>
              </a:defRPr>
            </a:lvl1pPr>
            <a:lvl2pPr marL="579664" indent="-122464">
              <a:spcBef>
                <a:spcPts val="200"/>
              </a:spcBef>
              <a:buFontTx/>
              <a:defRPr b="1" spc="200" sz="1200">
                <a:solidFill>
                  <a:schemeClr val="accent2"/>
                </a:solidFill>
              </a:defRPr>
            </a:lvl2pPr>
            <a:lvl3pPr marL="1028700" indent="-114300">
              <a:spcBef>
                <a:spcPts val="200"/>
              </a:spcBef>
              <a:buFontTx/>
              <a:defRPr b="1" spc="200" sz="1200">
                <a:solidFill>
                  <a:schemeClr val="accent2"/>
                </a:solidFill>
              </a:defRPr>
            </a:lvl3pPr>
            <a:lvl4pPr marL="1508760" indent="-137160">
              <a:spcBef>
                <a:spcPts val="200"/>
              </a:spcBef>
              <a:buFontTx/>
              <a:defRPr b="1" spc="200" sz="1200">
                <a:solidFill>
                  <a:schemeClr val="accent2"/>
                </a:solidFill>
              </a:defRPr>
            </a:lvl4pPr>
            <a:lvl5pPr marL="1965960" indent="-137160">
              <a:spcBef>
                <a:spcPts val="200"/>
              </a:spcBef>
              <a:buFontTx/>
              <a:defRPr b="1" spc="200" sz="1200">
                <a:solidFill>
                  <a:schemeClr val="accent2"/>
                </a:solidFill>
              </a:defRPr>
            </a:lvl5pPr>
          </a:lstStyle>
          <a:p>
            <a:pPr/>
            <a:r>
              <a:t>Click to add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4" name="Click to add title"/>
          <p:cNvSpPr txBox="1"/>
          <p:nvPr>
            <p:ph type="title" hasCustomPrompt="1"/>
          </p:nvPr>
        </p:nvSpPr>
        <p:spPr>
          <a:xfrm>
            <a:off x="548640" y="676655"/>
            <a:ext cx="11094416" cy="868682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Click to add title</a:t>
            </a:r>
          </a:p>
        </p:txBody>
      </p:sp>
      <p:sp>
        <p:nvSpPr>
          <p:cNvPr id="45" name="Text 0"/>
          <p:cNvSpPr txBox="1"/>
          <p:nvPr/>
        </p:nvSpPr>
        <p:spPr>
          <a:xfrm>
            <a:off x="548640" y="6478568"/>
            <a:ext cx="73152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/>
            <a:r>
              <a:t>Anvest  ·  Confidential  ·  Version 19 Oct 2026 (r4)</a:t>
            </a:r>
          </a:p>
        </p:txBody>
      </p:sp>
      <p:sp>
        <p:nvSpPr>
          <p:cNvPr id="46" name="Slide Number"/>
          <p:cNvSpPr txBox="1"/>
          <p:nvPr>
            <p:ph type="sldNum" sz="quarter" idx="2"/>
          </p:nvPr>
        </p:nvSpPr>
        <p:spPr>
          <a:xfrm>
            <a:off x="11501618" y="6419088"/>
            <a:ext cx="141438" cy="13707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LIGHT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Body Level One…"/>
          <p:cNvSpPr txBox="1"/>
          <p:nvPr>
            <p:ph type="body" sz="quarter" idx="1" hasCustomPrompt="1"/>
          </p:nvPr>
        </p:nvSpPr>
        <p:spPr>
          <a:xfrm>
            <a:off x="548640" y="384047"/>
            <a:ext cx="8229601" cy="274322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0" indent="0">
              <a:spcBef>
                <a:spcPts val="200"/>
              </a:spcBef>
              <a:buSzTx/>
              <a:buFontTx/>
              <a:buNone/>
              <a:defRPr b="1" spc="200" sz="1200">
                <a:solidFill>
                  <a:schemeClr val="accent1"/>
                </a:solidFill>
              </a:defRPr>
            </a:lvl1pPr>
            <a:lvl2pPr marL="579664" indent="-122464">
              <a:spcBef>
                <a:spcPts val="200"/>
              </a:spcBef>
              <a:buFontTx/>
              <a:defRPr b="1" spc="200" sz="1200">
                <a:solidFill>
                  <a:schemeClr val="accent1"/>
                </a:solidFill>
              </a:defRPr>
            </a:lvl2pPr>
            <a:lvl3pPr marL="1028700" indent="-114300">
              <a:spcBef>
                <a:spcPts val="200"/>
              </a:spcBef>
              <a:buFontTx/>
              <a:defRPr b="1" spc="200" sz="1200">
                <a:solidFill>
                  <a:schemeClr val="accent1"/>
                </a:solidFill>
              </a:defRPr>
            </a:lvl3pPr>
            <a:lvl4pPr marL="1508760" indent="-137160">
              <a:spcBef>
                <a:spcPts val="200"/>
              </a:spcBef>
              <a:buFontTx/>
              <a:defRPr b="1" spc="200" sz="1200">
                <a:solidFill>
                  <a:schemeClr val="accent1"/>
                </a:solidFill>
              </a:defRPr>
            </a:lvl4pPr>
            <a:lvl5pPr marL="1965960" indent="-137160">
              <a:spcBef>
                <a:spcPts val="200"/>
              </a:spcBef>
              <a:buFontTx/>
              <a:defRPr b="1" spc="200" sz="1200">
                <a:solidFill>
                  <a:schemeClr val="accent1"/>
                </a:solidFill>
              </a:defRPr>
            </a:lvl5pPr>
          </a:lstStyle>
          <a:p>
            <a:pPr/>
            <a:r>
              <a:t>Click to add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4" name="Click to add title"/>
          <p:cNvSpPr txBox="1"/>
          <p:nvPr>
            <p:ph type="title" hasCustomPrompt="1"/>
          </p:nvPr>
        </p:nvSpPr>
        <p:spPr>
          <a:xfrm>
            <a:off x="548640" y="676655"/>
            <a:ext cx="11094416" cy="868682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3200"/>
            </a:lvl1pPr>
          </a:lstStyle>
          <a:p>
            <a:pPr/>
            <a:r>
              <a:t>Click to add title</a:t>
            </a:r>
          </a:p>
        </p:txBody>
      </p:sp>
      <p:sp>
        <p:nvSpPr>
          <p:cNvPr id="55" name="Text 0"/>
          <p:cNvSpPr txBox="1"/>
          <p:nvPr/>
        </p:nvSpPr>
        <p:spPr>
          <a:xfrm>
            <a:off x="548640" y="6478568"/>
            <a:ext cx="73152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/>
            <a:r>
              <a:t>Anvest  ·  Confidential  ·  Version 19 Oct 2026 (r4)</a:t>
            </a:r>
          </a:p>
        </p:txBody>
      </p:sp>
      <p:sp>
        <p:nvSpPr>
          <p:cNvPr id="56" name="Slide Number"/>
          <p:cNvSpPr txBox="1"/>
          <p:nvPr>
            <p:ph type="sldNum" sz="quarter" idx="2"/>
          </p:nvPr>
        </p:nvSpPr>
        <p:spPr>
          <a:xfrm>
            <a:off x="11501618" y="6419088"/>
            <a:ext cx="141438" cy="13707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92800" y="6356350"/>
            <a:ext cx="2844800" cy="36830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r">
              <a:defRPr sz="1000">
                <a:solidFill>
                  <a:schemeClr val="accent5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B0E26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B0E26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B0E26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B0E26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B0E26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B0E26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B0E26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B0E26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B0E26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B0E26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B0E26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B0E26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B0E26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B0E26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B0E26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B0E26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B0E26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B0E26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e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eg"/><Relationship Id="rId4" Type="http://schemas.openxmlformats.org/officeDocument/2006/relationships/image" Target="../media/image4.jpeg"/><Relationship Id="rId5" Type="http://schemas.openxmlformats.org/officeDocument/2006/relationships/image" Target="../media/image5.jpeg"/><Relationship Id="rId6" Type="http://schemas.openxmlformats.org/officeDocument/2006/relationships/image" Target="../media/image6.jpeg"/><Relationship Id="rId7" Type="http://schemas.openxmlformats.org/officeDocument/2006/relationships/image" Target="../media/image7.jpeg"/><Relationship Id="rId8" Type="http://schemas.openxmlformats.org/officeDocument/2006/relationships/image" Target="../media/image8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1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2.png"/><Relationship Id="rId4" Type="http://schemas.openxmlformats.org/officeDocument/2006/relationships/image" Target="../media/image35.png"/><Relationship Id="rId5" Type="http://schemas.openxmlformats.org/officeDocument/2006/relationships/image" Target="../media/image33.png"/><Relationship Id="rId6" Type="http://schemas.openxmlformats.org/officeDocument/2006/relationships/image" Target="../media/image3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 0"/>
          <p:cNvSpPr txBox="1"/>
          <p:nvPr>
            <p:ph type="title"/>
          </p:nvPr>
        </p:nvSpPr>
        <p:spPr>
          <a:xfrm>
            <a:off x="548639" y="1051560"/>
            <a:ext cx="6035042" cy="1188721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Anvest</a:t>
            </a:r>
          </a:p>
        </p:txBody>
      </p:sp>
      <p:sp>
        <p:nvSpPr>
          <p:cNvPr id="66" name="Text 1"/>
          <p:cNvSpPr txBox="1"/>
          <p:nvPr/>
        </p:nvSpPr>
        <p:spPr>
          <a:xfrm>
            <a:off x="548639" y="2331720"/>
            <a:ext cx="6035042" cy="3947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India's AI investing co-pilot</a:t>
            </a:r>
          </a:p>
        </p:txBody>
      </p:sp>
      <p:sp>
        <p:nvSpPr>
          <p:cNvPr id="67" name="Text 2"/>
          <p:cNvSpPr txBox="1"/>
          <p:nvPr/>
        </p:nvSpPr>
        <p:spPr>
          <a:xfrm>
            <a:off x="548639" y="2926079"/>
            <a:ext cx="5852162" cy="24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pPr/>
            <a:r>
              <a:t>Ask anything. Verify every filing. Test before you invest.</a:t>
            </a:r>
          </a:p>
        </p:txBody>
      </p:sp>
      <p:sp>
        <p:nvSpPr>
          <p:cNvPr id="68" name="Text 3"/>
          <p:cNvSpPr txBox="1"/>
          <p:nvPr/>
        </p:nvSpPr>
        <p:spPr>
          <a:xfrm>
            <a:off x="548639" y="4069079"/>
            <a:ext cx="1463042" cy="382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6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6,137</a:t>
            </a:r>
          </a:p>
        </p:txBody>
      </p:sp>
      <p:sp>
        <p:nvSpPr>
          <p:cNvPr id="69" name="Text 4"/>
          <p:cNvSpPr txBox="1"/>
          <p:nvPr/>
        </p:nvSpPr>
        <p:spPr>
          <a:xfrm>
            <a:off x="548640" y="4553711"/>
            <a:ext cx="1417320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/>
            <a:r>
              <a:t>listed companies</a:t>
            </a:r>
          </a:p>
        </p:txBody>
      </p:sp>
      <p:sp>
        <p:nvSpPr>
          <p:cNvPr id="70" name="Text 5"/>
          <p:cNvSpPr txBox="1"/>
          <p:nvPr/>
        </p:nvSpPr>
        <p:spPr>
          <a:xfrm>
            <a:off x="2084832" y="4069079"/>
            <a:ext cx="1463041" cy="382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6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2.89M</a:t>
            </a:r>
          </a:p>
        </p:txBody>
      </p:sp>
      <p:sp>
        <p:nvSpPr>
          <p:cNvPr id="71" name="Text 6"/>
          <p:cNvSpPr txBox="1"/>
          <p:nvPr/>
        </p:nvSpPr>
        <p:spPr>
          <a:xfrm>
            <a:off x="2084832" y="4553711"/>
            <a:ext cx="1417321" cy="299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/>
            <a:r>
              <a:t>corporate announcements</a:t>
            </a:r>
          </a:p>
        </p:txBody>
      </p:sp>
      <p:sp>
        <p:nvSpPr>
          <p:cNvPr id="72" name="Text 7"/>
          <p:cNvSpPr txBox="1"/>
          <p:nvPr/>
        </p:nvSpPr>
        <p:spPr>
          <a:xfrm>
            <a:off x="3621023" y="4069079"/>
            <a:ext cx="1463041" cy="382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6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1.35M</a:t>
            </a:r>
          </a:p>
        </p:txBody>
      </p:sp>
      <p:sp>
        <p:nvSpPr>
          <p:cNvPr id="73" name="Text 8"/>
          <p:cNvSpPr txBox="1"/>
          <p:nvPr/>
        </p:nvSpPr>
        <p:spPr>
          <a:xfrm>
            <a:off x="3621023" y="4553711"/>
            <a:ext cx="141732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/>
            <a:r>
              <a:t>indexed filing passages</a:t>
            </a:r>
          </a:p>
        </p:txBody>
      </p:sp>
      <p:sp>
        <p:nvSpPr>
          <p:cNvPr id="74" name="Text 9"/>
          <p:cNvSpPr txBox="1"/>
          <p:nvPr/>
        </p:nvSpPr>
        <p:spPr>
          <a:xfrm>
            <a:off x="5157215" y="4069079"/>
            <a:ext cx="1463041" cy="382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6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5,405</a:t>
            </a:r>
          </a:p>
        </p:txBody>
      </p:sp>
      <p:sp>
        <p:nvSpPr>
          <p:cNvPr id="75" name="Text 10"/>
          <p:cNvSpPr txBox="1"/>
          <p:nvPr/>
        </p:nvSpPr>
        <p:spPr>
          <a:xfrm>
            <a:off x="5157215" y="4553711"/>
            <a:ext cx="141732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/>
            <a:r>
              <a:t>active AI profiles</a:t>
            </a:r>
          </a:p>
        </p:txBody>
      </p:sp>
      <p:sp>
        <p:nvSpPr>
          <p:cNvPr id="76" name="Text 11"/>
          <p:cNvSpPr txBox="1"/>
          <p:nvPr/>
        </p:nvSpPr>
        <p:spPr>
          <a:xfrm>
            <a:off x="548640" y="6172199"/>
            <a:ext cx="73152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/>
            <a:r>
              <a:t>Harsh Bhardwaj, Founder  ·  harsh@anvest.in  ·  anvest.in  ·  Seed round, October 2026</a:t>
            </a:r>
          </a:p>
        </p:txBody>
      </p:sp>
      <p:sp>
        <p:nvSpPr>
          <p:cNvPr id="77" name="Anvest home screen frame"/>
          <p:cNvSpPr/>
          <p:nvPr/>
        </p:nvSpPr>
        <p:spPr>
          <a:xfrm>
            <a:off x="6947607" y="1336230"/>
            <a:ext cx="4754881" cy="3147732"/>
          </a:xfrm>
          <a:prstGeom prst="roundRect">
            <a:avLst>
              <a:gd name="adj" fmla="val 3486"/>
            </a:avLst>
          </a:prstGeom>
          <a:solidFill>
            <a:srgbClr val="161A33"/>
          </a:solidFill>
          <a:ln>
            <a:solidFill>
              <a:srgbClr val="2A3060"/>
            </a:solidFill>
          </a:ln>
          <a:effectLst>
            <a:outerShdw sx="100000" sy="100000" kx="0" ky="0" algn="b" rotWithShape="0" blurRad="177800" dist="63500" dir="5400000">
              <a:srgbClr val="0B0E26">
                <a:alpha val="2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" name="Anvest home screen window dot 1"/>
          <p:cNvSpPr/>
          <p:nvPr/>
        </p:nvSpPr>
        <p:spPr>
          <a:xfrm>
            <a:off x="7041242" y="1398994"/>
            <a:ext cx="64667" cy="64667"/>
          </a:xfrm>
          <a:prstGeom prst="ellipse">
            <a:avLst/>
          </a:prstGeom>
          <a:solidFill>
            <a:srgbClr val="FF5F5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9" name="Anvest home screen window dot 2"/>
          <p:cNvSpPr/>
          <p:nvPr/>
        </p:nvSpPr>
        <p:spPr>
          <a:xfrm>
            <a:off x="7151174" y="1398994"/>
            <a:ext cx="64667" cy="64667"/>
          </a:xfrm>
          <a:prstGeom prst="ellipse">
            <a:avLst/>
          </a:prstGeom>
          <a:solidFill>
            <a:srgbClr val="FEBC2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0" name="Anvest home screen window dot 3"/>
          <p:cNvSpPr/>
          <p:nvPr/>
        </p:nvSpPr>
        <p:spPr>
          <a:xfrm>
            <a:off x="7261107" y="1398994"/>
            <a:ext cx="64667" cy="64667"/>
          </a:xfrm>
          <a:prstGeom prst="ellipse">
            <a:avLst/>
          </a:prstGeom>
          <a:solidFill>
            <a:srgbClr val="28C84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81" name="Anvest home screen image" descr="Anvest home screen 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004666" y="1526426"/>
            <a:ext cx="4640764" cy="2900478"/>
          </a:xfrm>
          <a:prstGeom prst="rect">
            <a:avLst/>
          </a:prstGeom>
          <a:ln w="12700">
            <a:miter lim="400000"/>
          </a:ln>
        </p:spPr>
      </p:pic>
      <p:sp>
        <p:nvSpPr>
          <p:cNvPr id="82" name="Text 16"/>
          <p:cNvSpPr txBox="1"/>
          <p:nvPr/>
        </p:nvSpPr>
        <p:spPr>
          <a:xfrm>
            <a:off x="6947607" y="4553711"/>
            <a:ext cx="475488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1100">
                <a:solidFill>
                  <a:schemeClr val="accent6"/>
                </a:solidFill>
              </a:defRPr>
            </a:lvl1pPr>
          </a:lstStyle>
          <a:p>
            <a:pPr/>
            <a:r>
              <a:t>Live at anvest.in  ·  for professional desks &amp; active investors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 0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pPr/>
            <a:r>
              <a:t>THE PROBLEM</a:t>
            </a:r>
          </a:p>
        </p:txBody>
      </p:sp>
      <p:sp>
        <p:nvSpPr>
          <p:cNvPr id="87" name="Text 0"/>
          <p:cNvSpPr txBox="1"/>
          <p:nvPr>
            <p:ph type="title"/>
          </p:nvPr>
        </p:nvSpPr>
        <p:spPr>
          <a:xfrm>
            <a:off x="548639" y="676655"/>
            <a:ext cx="11094417" cy="868682"/>
          </a:xfrm>
          <a:prstGeom prst="rect">
            <a:avLst/>
          </a:prstGeom>
        </p:spPr>
        <p:txBody>
          <a:bodyPr lIns="0" tIns="0" rIns="0" bIns="0"/>
          <a:lstStyle>
            <a:lvl1pPr defTabSz="905255">
              <a:defRPr sz="3168"/>
            </a:lvl1pPr>
          </a:lstStyle>
          <a:p>
            <a:pPr/>
            <a:r>
              <a:t>13.4Cr investors &amp; 3,900 desks lack verified data</a:t>
            </a:r>
          </a:p>
        </p:txBody>
      </p:sp>
      <p:sp>
        <p:nvSpPr>
          <p:cNvPr id="88" name="problem card 1"/>
          <p:cNvSpPr/>
          <p:nvPr/>
        </p:nvSpPr>
        <p:spPr>
          <a:xfrm>
            <a:off x="548640" y="1783079"/>
            <a:ext cx="3520441" cy="3246121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38100" dir="5400000">
              <a:srgbClr val="0B0E26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" name="LuTriangleAlert circle"/>
          <p:cNvSpPr/>
          <p:nvPr/>
        </p:nvSpPr>
        <p:spPr>
          <a:xfrm>
            <a:off x="868680" y="2103120"/>
            <a:ext cx="566929" cy="566929"/>
          </a:xfrm>
          <a:prstGeom prst="ellipse">
            <a:avLst/>
          </a:prstGeom>
          <a:solidFill>
            <a:srgbClr val="F4F7F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90" name="LuTriangleAlert icon" descr="LuTriangleAlert icon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10411" y="2244851"/>
            <a:ext cx="283465" cy="283465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Text 4"/>
          <p:cNvSpPr txBox="1"/>
          <p:nvPr/>
        </p:nvSpPr>
        <p:spPr>
          <a:xfrm>
            <a:off x="868679" y="2816351"/>
            <a:ext cx="2926082" cy="419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 in 10</a:t>
            </a:r>
          </a:p>
        </p:txBody>
      </p:sp>
      <p:sp>
        <p:nvSpPr>
          <p:cNvPr id="92" name="Text 5"/>
          <p:cNvSpPr txBox="1"/>
          <p:nvPr/>
        </p:nvSpPr>
        <p:spPr>
          <a:xfrm>
            <a:off x="868679" y="3383279"/>
            <a:ext cx="292608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/>
            </a:lvl1pPr>
          </a:lstStyle>
          <a:p>
            <a:pPr/>
            <a:r>
              <a:t>active traders lose money</a:t>
            </a:r>
          </a:p>
        </p:txBody>
      </p:sp>
      <p:sp>
        <p:nvSpPr>
          <p:cNvPr id="93" name="Text 6"/>
          <p:cNvSpPr txBox="1"/>
          <p:nvPr/>
        </p:nvSpPr>
        <p:spPr>
          <a:xfrm>
            <a:off x="868679" y="3749040"/>
            <a:ext cx="2926082" cy="7763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434B6B"/>
                </a:solidFill>
              </a:defRPr>
            </a:lvl1pPr>
          </a:lstStyle>
          <a:p>
            <a:pPr/>
            <a:r>
              <a:t>SEBI's FY25–FY26 studies show ₹1.06 lakh crore in annual net losses. Retail and prosumer decisions rely on tips and hunches rather than backtested fundamentals.</a:t>
            </a:r>
          </a:p>
        </p:txBody>
      </p:sp>
      <p:sp>
        <p:nvSpPr>
          <p:cNvPr id="94" name="problem card 2"/>
          <p:cNvSpPr/>
          <p:nvPr/>
        </p:nvSpPr>
        <p:spPr>
          <a:xfrm>
            <a:off x="4315967" y="1783079"/>
            <a:ext cx="3520442" cy="3246121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38100" dir="5400000">
              <a:srgbClr val="0B0E26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" name="LuShuffle circle"/>
          <p:cNvSpPr/>
          <p:nvPr/>
        </p:nvSpPr>
        <p:spPr>
          <a:xfrm>
            <a:off x="4636008" y="2103120"/>
            <a:ext cx="566929" cy="566929"/>
          </a:xfrm>
          <a:prstGeom prst="ellipse">
            <a:avLst/>
          </a:prstGeom>
          <a:solidFill>
            <a:srgbClr val="F4F7F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96" name="LuShuffle icon" descr="LuShuffle icon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777740" y="2244851"/>
            <a:ext cx="283465" cy="283465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Text 9"/>
          <p:cNvSpPr txBox="1"/>
          <p:nvPr/>
        </p:nvSpPr>
        <p:spPr>
          <a:xfrm>
            <a:off x="4636008" y="2816351"/>
            <a:ext cx="2926081" cy="419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Scattered</a:t>
            </a:r>
          </a:p>
        </p:txBody>
      </p:sp>
      <p:sp>
        <p:nvSpPr>
          <p:cNvPr id="98" name="Text 10"/>
          <p:cNvSpPr txBox="1"/>
          <p:nvPr/>
        </p:nvSpPr>
        <p:spPr>
          <a:xfrm>
            <a:off x="4636008" y="3383279"/>
            <a:ext cx="292608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/>
            </a:lvl1pPr>
          </a:lstStyle>
          <a:p>
            <a:pPr/>
            <a:r>
              <a:t>research, backtest &amp; desk tools</a:t>
            </a:r>
          </a:p>
        </p:txBody>
      </p:sp>
      <p:sp>
        <p:nvSpPr>
          <p:cNvPr id="99" name="Text 11"/>
          <p:cNvSpPr txBox="1"/>
          <p:nvPr/>
        </p:nvSpPr>
        <p:spPr>
          <a:xfrm>
            <a:off x="4636008" y="3749040"/>
            <a:ext cx="2926081" cy="7763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434B6B"/>
                </a:solidFill>
              </a:defRPr>
            </a:lvl1pPr>
          </a:lstStyle>
          <a:p>
            <a:pPr/>
            <a:r>
              <a:t>Analysts and investors jump between scanned exchange PDFs, ratio screeners, backtesters and spreadsheets—losing hours and context at every hop.</a:t>
            </a:r>
          </a:p>
        </p:txBody>
      </p:sp>
      <p:sp>
        <p:nvSpPr>
          <p:cNvPr id="100" name="problem card 3"/>
          <p:cNvSpPr/>
          <p:nvPr/>
        </p:nvSpPr>
        <p:spPr>
          <a:xfrm>
            <a:off x="8083295" y="1783079"/>
            <a:ext cx="3520441" cy="3246121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38100" dir="5400000">
              <a:srgbClr val="0B0E26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" name="LuMessageSquareText circle"/>
          <p:cNvSpPr/>
          <p:nvPr/>
        </p:nvSpPr>
        <p:spPr>
          <a:xfrm>
            <a:off x="8403335" y="2103120"/>
            <a:ext cx="566929" cy="566929"/>
          </a:xfrm>
          <a:prstGeom prst="ellipse">
            <a:avLst/>
          </a:prstGeom>
          <a:solidFill>
            <a:srgbClr val="F4F7F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02" name="LuMessageSquareText icon" descr="LuMessageSquareText icon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545068" y="2244851"/>
            <a:ext cx="283465" cy="283465"/>
          </a:xfrm>
          <a:prstGeom prst="rect">
            <a:avLst/>
          </a:prstGeom>
          <a:ln w="12700">
            <a:miter lim="400000"/>
          </a:ln>
        </p:spPr>
      </p:pic>
      <p:sp>
        <p:nvSpPr>
          <p:cNvPr id="103" name="Text 14"/>
          <p:cNvSpPr txBox="1"/>
          <p:nvPr/>
        </p:nvSpPr>
        <p:spPr>
          <a:xfrm>
            <a:off x="8403335" y="2816351"/>
            <a:ext cx="2926082" cy="419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Unverified</a:t>
            </a:r>
          </a:p>
        </p:txBody>
      </p:sp>
      <p:sp>
        <p:nvSpPr>
          <p:cNvPr id="104" name="Text 15"/>
          <p:cNvSpPr txBox="1"/>
          <p:nvPr/>
        </p:nvSpPr>
        <p:spPr>
          <a:xfrm>
            <a:off x="8403335" y="3383279"/>
            <a:ext cx="292608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/>
            </a:lvl1pPr>
          </a:lstStyle>
          <a:p>
            <a:pPr/>
            <a:r>
              <a:t>answers from general-purpose AI</a:t>
            </a:r>
          </a:p>
        </p:txBody>
      </p:sp>
      <p:sp>
        <p:nvSpPr>
          <p:cNvPr id="105" name="Text 16"/>
          <p:cNvSpPr txBox="1"/>
          <p:nvPr/>
        </p:nvSpPr>
        <p:spPr>
          <a:xfrm>
            <a:off x="8403335" y="3749040"/>
            <a:ext cx="2926082" cy="57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434B6B"/>
                </a:solidFill>
              </a:defRPr>
            </a:lvl1pPr>
          </a:lstStyle>
          <a:p>
            <a:pPr/>
            <a:r>
              <a:t>General-purpose chatbots sound confident but hallucinate figures on Indian filings. Without a verified XBRL and filing warehouse, AI cannot be trusted.</a:t>
            </a:r>
          </a:p>
        </p:txBody>
      </p:sp>
      <p:sp>
        <p:nvSpPr>
          <p:cNvPr id="106" name="Text 17"/>
          <p:cNvSpPr txBox="1"/>
          <p:nvPr/>
        </p:nvSpPr>
        <p:spPr>
          <a:xfrm>
            <a:off x="548639" y="5303520"/>
            <a:ext cx="11094417" cy="271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Investors don't lack information. They lack a trustworthy way to turn it into a decision.</a:t>
            </a:r>
          </a:p>
        </p:txBody>
      </p:sp>
      <p:sp>
        <p:nvSpPr>
          <p:cNvPr id="107" name="Text 18"/>
          <p:cNvSpPr txBox="1"/>
          <p:nvPr/>
        </p:nvSpPr>
        <p:spPr>
          <a:xfrm>
            <a:off x="548639" y="6108191"/>
            <a:ext cx="10362897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1000">
                <a:solidFill>
                  <a:schemeClr val="accent5"/>
                </a:solidFill>
              </a:defRPr>
            </a:lvl1pPr>
          </a:lstStyle>
          <a:p>
            <a:pPr/>
            <a:r>
              <a:t>SEBI equity derivatives studies (FY25–FY26) · NSE Market Pulse, Jul 2026: 13.4 Cr registered investors · SEBI intermediary directory (Oct 2026)</a:t>
            </a:r>
          </a:p>
        </p:txBody>
      </p:sp>
      <p:sp>
        <p:nvSpPr>
          <p:cNvPr id="108" name="Slide Number Placeholder 0"/>
          <p:cNvSpPr txBox="1"/>
          <p:nvPr>
            <p:ph type="sldNum" sz="quarter" idx="4294967295"/>
          </p:nvPr>
        </p:nvSpPr>
        <p:spPr>
          <a:xfrm>
            <a:off x="11516055" y="6419088"/>
            <a:ext cx="127001" cy="1370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 0"/>
          <p:cNvSpPr txBox="1"/>
          <p:nvPr>
            <p:ph type="body" sz="quarter" idx="1"/>
          </p:nvPr>
        </p:nvSpPr>
        <p:spPr>
          <a:xfrm>
            <a:off x="548640" y="384047"/>
            <a:ext cx="8229601" cy="274321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THE SOLUTION</a:t>
            </a:r>
          </a:p>
        </p:txBody>
      </p:sp>
      <p:sp>
        <p:nvSpPr>
          <p:cNvPr id="113" name="Text 0"/>
          <p:cNvSpPr txBox="1"/>
          <p:nvPr>
            <p:ph type="title"/>
          </p:nvPr>
        </p:nvSpPr>
        <p:spPr>
          <a:xfrm>
            <a:off x="548639" y="676655"/>
            <a:ext cx="11094417" cy="868681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Anvest: one AI that researches, tests and plans with you</a:t>
            </a:r>
          </a:p>
        </p:txBody>
      </p:sp>
      <p:sp>
        <p:nvSpPr>
          <p:cNvPr id="114" name="LuBadgeCheck circle"/>
          <p:cNvSpPr/>
          <p:nvPr/>
        </p:nvSpPr>
        <p:spPr>
          <a:xfrm>
            <a:off x="548639" y="1828799"/>
            <a:ext cx="640082" cy="640082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15" name="LuBadgeCheck icon" descr="LuBadgeCheck icon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08659" y="1988820"/>
            <a:ext cx="320041" cy="320041"/>
          </a:xfrm>
          <a:prstGeom prst="rect">
            <a:avLst/>
          </a:prstGeom>
          <a:ln w="12700">
            <a:miter lim="400000"/>
          </a:ln>
        </p:spPr>
      </p:pic>
      <p:sp>
        <p:nvSpPr>
          <p:cNvPr id="116" name="Text 3"/>
          <p:cNvSpPr txBox="1"/>
          <p:nvPr/>
        </p:nvSpPr>
        <p:spPr>
          <a:xfrm>
            <a:off x="1417320" y="1810511"/>
            <a:ext cx="4480560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Ask: grounded answers</a:t>
            </a:r>
          </a:p>
        </p:txBody>
      </p:sp>
      <p:sp>
        <p:nvSpPr>
          <p:cNvPr id="117" name="Text 4"/>
          <p:cNvSpPr txBox="1"/>
          <p:nvPr/>
        </p:nvSpPr>
        <p:spPr>
          <a:xfrm>
            <a:off x="1417320" y="2176271"/>
            <a:ext cx="4480560" cy="57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434B6B"/>
                </a:solidFill>
              </a:defRPr>
            </a:lvl1pPr>
          </a:lstStyle>
          <a:p>
            <a:pPr/>
            <a:r>
              <a:t>Plain-English questions answered from exchange filings and results, with the sources shown. If the data isn't there, Anvest says so.</a:t>
            </a:r>
          </a:p>
        </p:txBody>
      </p:sp>
      <p:sp>
        <p:nvSpPr>
          <p:cNvPr id="118" name="LuChartLine circle"/>
          <p:cNvSpPr/>
          <p:nvPr/>
        </p:nvSpPr>
        <p:spPr>
          <a:xfrm>
            <a:off x="548639" y="3127248"/>
            <a:ext cx="640082" cy="640081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19" name="LuChartLine icon" descr="LuChartLine icon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08659" y="3287267"/>
            <a:ext cx="320041" cy="320041"/>
          </a:xfrm>
          <a:prstGeom prst="rect">
            <a:avLst/>
          </a:prstGeom>
          <a:ln w="12700">
            <a:miter lim="400000"/>
          </a:ln>
        </p:spPr>
      </p:pic>
      <p:sp>
        <p:nvSpPr>
          <p:cNvPr id="120" name="Text 6"/>
          <p:cNvSpPr txBox="1"/>
          <p:nvPr/>
        </p:nvSpPr>
        <p:spPr>
          <a:xfrm>
            <a:off x="1417320" y="3108960"/>
            <a:ext cx="4480560" cy="246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Test: ideas become evidence</a:t>
            </a:r>
          </a:p>
        </p:txBody>
      </p:sp>
      <p:sp>
        <p:nvSpPr>
          <p:cNvPr id="121" name="Text 7"/>
          <p:cNvSpPr txBox="1"/>
          <p:nvPr/>
        </p:nvSpPr>
        <p:spPr>
          <a:xfrm>
            <a:off x="1417320" y="3474720"/>
            <a:ext cx="4480560" cy="369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434B6B"/>
                </a:solidFill>
              </a:defRPr>
            </a:lvl1pPr>
          </a:lstStyle>
          <a:p>
            <a:pPr/>
            <a:r>
              <a:t>AI turns an idea into an explicit screen, backtests it with real Indian trading costs, then lets you practise with virtual money.</a:t>
            </a:r>
          </a:p>
        </p:txBody>
      </p:sp>
      <p:sp>
        <p:nvSpPr>
          <p:cNvPr id="122" name="LuWallet circle"/>
          <p:cNvSpPr/>
          <p:nvPr/>
        </p:nvSpPr>
        <p:spPr>
          <a:xfrm>
            <a:off x="548639" y="4425696"/>
            <a:ext cx="640082" cy="640081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23" name="LuWallet icon" descr="LuWallet icon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708659" y="4585715"/>
            <a:ext cx="320041" cy="320041"/>
          </a:xfrm>
          <a:prstGeom prst="rect">
            <a:avLst/>
          </a:prstGeom>
          <a:ln w="12700">
            <a:miter lim="400000"/>
          </a:ln>
        </p:spPr>
      </p:pic>
      <p:sp>
        <p:nvSpPr>
          <p:cNvPr id="124" name="Text 9"/>
          <p:cNvSpPr txBox="1"/>
          <p:nvPr/>
        </p:nvSpPr>
        <p:spPr>
          <a:xfrm>
            <a:off x="1417320" y="4407408"/>
            <a:ext cx="4480560" cy="246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Allocate: one unified workspace</a:t>
            </a:r>
          </a:p>
        </p:txBody>
      </p:sp>
      <p:sp>
        <p:nvSpPr>
          <p:cNvPr id="125" name="Text 10"/>
          <p:cNvSpPr txBox="1"/>
          <p:nvPr/>
        </p:nvSpPr>
        <p:spPr>
          <a:xfrm>
            <a:off x="1417320" y="4773167"/>
            <a:ext cx="4480560" cy="369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434B6B"/>
                </a:solidFill>
              </a:defRPr>
            </a:lvl1pPr>
          </a:lstStyle>
          <a:p>
            <a:pPr/>
            <a:r>
              <a:t>Evaluate stocks, IPOs, mutual funds, bonds and macro stress scenarios on the same verified data engine.</a:t>
            </a:r>
          </a:p>
        </p:txBody>
      </p:sp>
      <p:sp>
        <p:nvSpPr>
          <p:cNvPr id="126" name="Anvest home screen with the AI question box frame"/>
          <p:cNvSpPr/>
          <p:nvPr/>
        </p:nvSpPr>
        <p:spPr>
          <a:xfrm>
            <a:off x="6172200" y="1783079"/>
            <a:ext cx="5468112" cy="3619891"/>
          </a:xfrm>
          <a:prstGeom prst="roundRect">
            <a:avLst>
              <a:gd name="adj" fmla="val 3031"/>
            </a:avLst>
          </a:prstGeom>
          <a:solidFill>
            <a:srgbClr val="161A33"/>
          </a:solidFill>
          <a:ln>
            <a:solidFill>
              <a:srgbClr val="2A3060"/>
            </a:solidFill>
          </a:ln>
          <a:effectLst>
            <a:outerShdw sx="100000" sy="100000" kx="0" ky="0" algn="b" rotWithShape="0" blurRad="177800" dist="63500" dir="5400000">
              <a:srgbClr val="0B0E26">
                <a:alpha val="2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" name="Anvest home screen with the AI question box window dot 1"/>
          <p:cNvSpPr/>
          <p:nvPr/>
        </p:nvSpPr>
        <p:spPr>
          <a:xfrm>
            <a:off x="6274392" y="1855259"/>
            <a:ext cx="74367" cy="74367"/>
          </a:xfrm>
          <a:prstGeom prst="ellipse">
            <a:avLst/>
          </a:prstGeom>
          <a:solidFill>
            <a:srgbClr val="FF5F5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8" name="Anvest home screen with the AI question box window dot 2"/>
          <p:cNvSpPr/>
          <p:nvPr/>
        </p:nvSpPr>
        <p:spPr>
          <a:xfrm>
            <a:off x="6400815" y="1855259"/>
            <a:ext cx="74367" cy="74367"/>
          </a:xfrm>
          <a:prstGeom prst="ellipse">
            <a:avLst/>
          </a:prstGeom>
          <a:solidFill>
            <a:srgbClr val="FEBC2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9" name="Anvest home screen with the AI question box window dot 3"/>
          <p:cNvSpPr/>
          <p:nvPr/>
        </p:nvSpPr>
        <p:spPr>
          <a:xfrm>
            <a:off x="6527238" y="1855259"/>
            <a:ext cx="74367" cy="74367"/>
          </a:xfrm>
          <a:prstGeom prst="ellipse">
            <a:avLst/>
          </a:prstGeom>
          <a:solidFill>
            <a:srgbClr val="28C84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30" name="Anvest home screen with the AI question box image" descr="Anvest home screen with the AI question box image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6237816" y="2001803"/>
            <a:ext cx="5336878" cy="3335549"/>
          </a:xfrm>
          <a:prstGeom prst="rect">
            <a:avLst/>
          </a:prstGeom>
          <a:ln w="12700">
            <a:miter lim="400000"/>
          </a:ln>
        </p:spPr>
      </p:pic>
      <p:sp>
        <p:nvSpPr>
          <p:cNvPr id="131" name="Text 15"/>
          <p:cNvSpPr txBox="1"/>
          <p:nvPr/>
        </p:nvSpPr>
        <p:spPr>
          <a:xfrm>
            <a:off x="6172200" y="5623559"/>
            <a:ext cx="5468112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1100">
                <a:solidFill>
                  <a:schemeClr val="accent5"/>
                </a:solidFill>
              </a:defRPr>
            </a:lvl1pPr>
          </a:lstStyle>
          <a:p>
            <a:pPr/>
            <a:r>
              <a:t>“Every number checked against its source”: live workspace at anvest.in for desks &amp; prosumers</a:t>
            </a:r>
          </a:p>
        </p:txBody>
      </p:sp>
      <p:sp>
        <p:nvSpPr>
          <p:cNvPr id="132" name="Slide Number Placeholder 0"/>
          <p:cNvSpPr txBox="1"/>
          <p:nvPr>
            <p:ph type="sldNum" sz="quarter" idx="4294967295"/>
          </p:nvPr>
        </p:nvSpPr>
        <p:spPr>
          <a:xfrm>
            <a:off x="11516055" y="6419088"/>
            <a:ext cx="127001" cy="1370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 0"/>
          <p:cNvSpPr txBox="1"/>
          <p:nvPr>
            <p:ph type="body" sz="quarter" idx="1"/>
          </p:nvPr>
        </p:nvSpPr>
        <p:spPr>
          <a:xfrm>
            <a:off x="548640" y="384047"/>
            <a:ext cx="8229601" cy="274321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HOW IT WORKS</a:t>
            </a:r>
          </a:p>
        </p:txBody>
      </p:sp>
      <p:sp>
        <p:nvSpPr>
          <p:cNvPr id="137" name="Text 0"/>
          <p:cNvSpPr txBox="1"/>
          <p:nvPr>
            <p:ph type="title"/>
          </p:nvPr>
        </p:nvSpPr>
        <p:spPr>
          <a:xfrm>
            <a:off x="548639" y="676655"/>
            <a:ext cx="11094417" cy="868681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From a question to a tested strategy, in one flow</a:t>
            </a:r>
          </a:p>
        </p:txBody>
      </p:sp>
      <p:sp>
        <p:nvSpPr>
          <p:cNvPr id="138" name="step 1"/>
          <p:cNvSpPr/>
          <p:nvPr/>
        </p:nvSpPr>
        <p:spPr>
          <a:xfrm>
            <a:off x="548640" y="1783079"/>
            <a:ext cx="384049" cy="384049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9" name="Text 3"/>
          <p:cNvSpPr txBox="1"/>
          <p:nvPr/>
        </p:nvSpPr>
        <p:spPr>
          <a:xfrm>
            <a:off x="548640" y="1881825"/>
            <a:ext cx="384049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/>
            </a:lvl1pPr>
          </a:lstStyle>
          <a:p>
            <a:pPr/>
            <a:r>
              <a:t>1</a:t>
            </a:r>
          </a:p>
        </p:txBody>
      </p:sp>
      <p:sp>
        <p:nvSpPr>
          <p:cNvPr id="140" name="Text 4"/>
          <p:cNvSpPr txBox="1"/>
          <p:nvPr/>
        </p:nvSpPr>
        <p:spPr>
          <a:xfrm>
            <a:off x="1051560" y="1847088"/>
            <a:ext cx="2011680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200" sz="1200">
                <a:solidFill>
                  <a:schemeClr val="accent1"/>
                </a:solidFill>
              </a:defRPr>
            </a:lvl1pPr>
          </a:lstStyle>
          <a:p>
            <a:pPr/>
            <a:r>
              <a:t>ASK</a:t>
            </a:r>
          </a:p>
        </p:txBody>
      </p:sp>
      <p:sp>
        <p:nvSpPr>
          <p:cNvPr id="141" name="ASK screenshot frame"/>
          <p:cNvSpPr/>
          <p:nvPr/>
        </p:nvSpPr>
        <p:spPr>
          <a:xfrm>
            <a:off x="548640" y="2331720"/>
            <a:ext cx="2606040" cy="1449325"/>
          </a:xfrm>
          <a:prstGeom prst="roundRect">
            <a:avLst>
              <a:gd name="adj" fmla="val 4495"/>
            </a:avLst>
          </a:prstGeom>
          <a:solidFill>
            <a:srgbClr val="161A33"/>
          </a:solidFill>
          <a:ln>
            <a:solidFill>
              <a:srgbClr val="2A3060"/>
            </a:solidFill>
          </a:ln>
          <a:effectLst>
            <a:outerShdw sx="100000" sy="100000" kx="0" ky="0" algn="b" rotWithShape="0" blurRad="177800" dist="63500" dir="5400000">
              <a:srgbClr val="0B0E26">
                <a:alpha val="2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" name="ASK screenshot window dot 1"/>
          <p:cNvSpPr/>
          <p:nvPr/>
        </p:nvSpPr>
        <p:spPr>
          <a:xfrm>
            <a:off x="621791" y="2380000"/>
            <a:ext cx="49745" cy="49745"/>
          </a:xfrm>
          <a:prstGeom prst="ellipse">
            <a:avLst/>
          </a:prstGeom>
          <a:solidFill>
            <a:srgbClr val="FF5F5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3" name="ASK screenshot window dot 2"/>
          <p:cNvSpPr/>
          <p:nvPr/>
        </p:nvSpPr>
        <p:spPr>
          <a:xfrm>
            <a:off x="706356" y="2380000"/>
            <a:ext cx="49745" cy="49745"/>
          </a:xfrm>
          <a:prstGeom prst="ellipse">
            <a:avLst/>
          </a:prstGeom>
          <a:solidFill>
            <a:srgbClr val="FEBC2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4" name="ASK screenshot window dot 3"/>
          <p:cNvSpPr/>
          <p:nvPr/>
        </p:nvSpPr>
        <p:spPr>
          <a:xfrm>
            <a:off x="790919" y="2380000"/>
            <a:ext cx="49745" cy="49745"/>
          </a:xfrm>
          <a:prstGeom prst="ellipse">
            <a:avLst/>
          </a:prstGeom>
          <a:solidFill>
            <a:srgbClr val="28C84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45" name="ASK screenshot image" descr="ASK screenshot 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5216" y="2478023"/>
            <a:ext cx="2532889" cy="1266445"/>
          </a:xfrm>
          <a:prstGeom prst="rect">
            <a:avLst/>
          </a:prstGeom>
          <a:ln w="12700">
            <a:miter lim="400000"/>
          </a:ln>
        </p:spPr>
      </p:pic>
      <p:sp>
        <p:nvSpPr>
          <p:cNvPr id="146" name="Text 9"/>
          <p:cNvSpPr txBox="1"/>
          <p:nvPr/>
        </p:nvSpPr>
        <p:spPr>
          <a:xfrm>
            <a:off x="548640" y="3977640"/>
            <a:ext cx="2606040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Ask in plain English</a:t>
            </a:r>
          </a:p>
        </p:txBody>
      </p:sp>
      <p:sp>
        <p:nvSpPr>
          <p:cNvPr id="147" name="Text 10"/>
          <p:cNvSpPr txBox="1"/>
          <p:nvPr/>
        </p:nvSpPr>
        <p:spPr>
          <a:xfrm>
            <a:off x="548640" y="4315967"/>
            <a:ext cx="2606040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434B6B"/>
                </a:solidFill>
              </a:defRPr>
            </a:lvl1pPr>
          </a:lstStyle>
          <a:p>
            <a:pPr/>
            <a:r>
              <a:t>“Find profitable companies with high ROE and low debt.”</a:t>
            </a:r>
          </a:p>
        </p:txBody>
      </p:sp>
      <p:sp>
        <p:nvSpPr>
          <p:cNvPr id="148" name="flow arrow 1 circle"/>
          <p:cNvSpPr/>
          <p:nvPr/>
        </p:nvSpPr>
        <p:spPr>
          <a:xfrm>
            <a:off x="3159251" y="2944367"/>
            <a:ext cx="219457" cy="219457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49" name="flow arrow 1 icon" descr="flow arrow 1 icon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214116" y="2999232"/>
            <a:ext cx="109729" cy="109729"/>
          </a:xfrm>
          <a:prstGeom prst="rect">
            <a:avLst/>
          </a:prstGeom>
          <a:ln w="12700">
            <a:miter lim="400000"/>
          </a:ln>
        </p:spPr>
      </p:pic>
      <p:sp>
        <p:nvSpPr>
          <p:cNvPr id="150" name="step 2"/>
          <p:cNvSpPr/>
          <p:nvPr/>
        </p:nvSpPr>
        <p:spPr>
          <a:xfrm>
            <a:off x="3383279" y="1783079"/>
            <a:ext cx="384049" cy="384049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1" name="Text 13"/>
          <p:cNvSpPr txBox="1"/>
          <p:nvPr/>
        </p:nvSpPr>
        <p:spPr>
          <a:xfrm>
            <a:off x="3383279" y="1881825"/>
            <a:ext cx="384049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/>
            </a:lvl1pPr>
          </a:lstStyle>
          <a:p>
            <a:pPr/>
            <a:r>
              <a:t>2</a:t>
            </a:r>
          </a:p>
        </p:txBody>
      </p:sp>
      <p:sp>
        <p:nvSpPr>
          <p:cNvPr id="152" name="Text 14"/>
          <p:cNvSpPr txBox="1"/>
          <p:nvPr/>
        </p:nvSpPr>
        <p:spPr>
          <a:xfrm>
            <a:off x="3886200" y="1847088"/>
            <a:ext cx="2011679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200" sz="1200">
                <a:solidFill>
                  <a:schemeClr val="accent1"/>
                </a:solidFill>
              </a:defRPr>
            </a:lvl1pPr>
          </a:lstStyle>
          <a:p>
            <a:pPr/>
            <a:r>
              <a:t>SCREEN</a:t>
            </a:r>
          </a:p>
        </p:txBody>
      </p:sp>
      <p:sp>
        <p:nvSpPr>
          <p:cNvPr id="153" name="SCREEN screenshot frame"/>
          <p:cNvSpPr/>
          <p:nvPr/>
        </p:nvSpPr>
        <p:spPr>
          <a:xfrm>
            <a:off x="3383279" y="2331720"/>
            <a:ext cx="2606041" cy="1449325"/>
          </a:xfrm>
          <a:prstGeom prst="roundRect">
            <a:avLst>
              <a:gd name="adj" fmla="val 4495"/>
            </a:avLst>
          </a:prstGeom>
          <a:solidFill>
            <a:srgbClr val="161A33"/>
          </a:solidFill>
          <a:ln>
            <a:solidFill>
              <a:srgbClr val="2A3060"/>
            </a:solidFill>
          </a:ln>
          <a:effectLst>
            <a:outerShdw sx="100000" sy="100000" kx="0" ky="0" algn="b" rotWithShape="0" blurRad="177800" dist="63500" dir="5400000">
              <a:srgbClr val="0B0E26">
                <a:alpha val="2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" name="SCREEN screenshot window dot 1"/>
          <p:cNvSpPr/>
          <p:nvPr/>
        </p:nvSpPr>
        <p:spPr>
          <a:xfrm>
            <a:off x="3456432" y="2380000"/>
            <a:ext cx="49745" cy="49745"/>
          </a:xfrm>
          <a:prstGeom prst="ellipse">
            <a:avLst/>
          </a:prstGeom>
          <a:solidFill>
            <a:srgbClr val="FF5F5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5" name="SCREEN screenshot window dot 2"/>
          <p:cNvSpPr/>
          <p:nvPr/>
        </p:nvSpPr>
        <p:spPr>
          <a:xfrm>
            <a:off x="3540995" y="2380000"/>
            <a:ext cx="49745" cy="49745"/>
          </a:xfrm>
          <a:prstGeom prst="ellipse">
            <a:avLst/>
          </a:prstGeom>
          <a:solidFill>
            <a:srgbClr val="FEBC2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6" name="SCREEN screenshot window dot 3"/>
          <p:cNvSpPr/>
          <p:nvPr/>
        </p:nvSpPr>
        <p:spPr>
          <a:xfrm>
            <a:off x="3625558" y="2380000"/>
            <a:ext cx="49745" cy="49745"/>
          </a:xfrm>
          <a:prstGeom prst="ellipse">
            <a:avLst/>
          </a:prstGeom>
          <a:solidFill>
            <a:srgbClr val="28C84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7" name="Text 19"/>
          <p:cNvSpPr txBox="1"/>
          <p:nvPr/>
        </p:nvSpPr>
        <p:spPr>
          <a:xfrm>
            <a:off x="3383279" y="3977640"/>
            <a:ext cx="2606041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AI builds the screen</a:t>
            </a:r>
          </a:p>
        </p:txBody>
      </p:sp>
      <p:sp>
        <p:nvSpPr>
          <p:cNvPr id="158" name="Text 20"/>
          <p:cNvSpPr txBox="1"/>
          <p:nvPr/>
        </p:nvSpPr>
        <p:spPr>
          <a:xfrm>
            <a:off x="3383279" y="4315967"/>
            <a:ext cx="2606041" cy="537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434B6B"/>
                </a:solidFill>
              </a:defRPr>
            </a:lvl1pPr>
          </a:lstStyle>
          <a:p>
            <a:pPr/>
            <a:r>
              <a:t>Intent becomes explicit, editable filters across 6,137 companies, with a one-click backtest.</a:t>
            </a:r>
          </a:p>
        </p:txBody>
      </p:sp>
      <p:sp>
        <p:nvSpPr>
          <p:cNvPr id="159" name="flow arrow 2 circle"/>
          <p:cNvSpPr/>
          <p:nvPr/>
        </p:nvSpPr>
        <p:spPr>
          <a:xfrm>
            <a:off x="5993891" y="2944367"/>
            <a:ext cx="219457" cy="219457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60" name="flow arrow 2 icon" descr="flow arrow 2 icon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048755" y="2999232"/>
            <a:ext cx="109729" cy="109729"/>
          </a:xfrm>
          <a:prstGeom prst="rect">
            <a:avLst/>
          </a:prstGeom>
          <a:ln w="12700">
            <a:miter lim="400000"/>
          </a:ln>
        </p:spPr>
      </p:pic>
      <p:sp>
        <p:nvSpPr>
          <p:cNvPr id="161" name="step 3"/>
          <p:cNvSpPr/>
          <p:nvPr/>
        </p:nvSpPr>
        <p:spPr>
          <a:xfrm>
            <a:off x="6217920" y="1783079"/>
            <a:ext cx="384049" cy="384049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2" name="Text 23"/>
          <p:cNvSpPr txBox="1"/>
          <p:nvPr/>
        </p:nvSpPr>
        <p:spPr>
          <a:xfrm>
            <a:off x="6217920" y="1881825"/>
            <a:ext cx="384049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/>
            </a:lvl1pPr>
          </a:lstStyle>
          <a:p>
            <a:pPr/>
            <a:r>
              <a:t>3</a:t>
            </a:r>
          </a:p>
        </p:txBody>
      </p:sp>
      <p:sp>
        <p:nvSpPr>
          <p:cNvPr id="163" name="Text 24"/>
          <p:cNvSpPr txBox="1"/>
          <p:nvPr/>
        </p:nvSpPr>
        <p:spPr>
          <a:xfrm>
            <a:off x="6720840" y="1847088"/>
            <a:ext cx="2011680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200" sz="1200">
                <a:solidFill>
                  <a:schemeClr val="accent1"/>
                </a:solidFill>
              </a:defRPr>
            </a:lvl1pPr>
          </a:lstStyle>
          <a:p>
            <a:pPr/>
            <a:r>
              <a:t>BACKTEST</a:t>
            </a:r>
          </a:p>
        </p:txBody>
      </p:sp>
      <p:sp>
        <p:nvSpPr>
          <p:cNvPr id="164" name="BACKTEST screenshot frame"/>
          <p:cNvSpPr/>
          <p:nvPr/>
        </p:nvSpPr>
        <p:spPr>
          <a:xfrm>
            <a:off x="6217920" y="2331720"/>
            <a:ext cx="2606041" cy="1449325"/>
          </a:xfrm>
          <a:prstGeom prst="roundRect">
            <a:avLst>
              <a:gd name="adj" fmla="val 4495"/>
            </a:avLst>
          </a:prstGeom>
          <a:solidFill>
            <a:srgbClr val="161A33"/>
          </a:solidFill>
          <a:ln>
            <a:solidFill>
              <a:srgbClr val="2A3060"/>
            </a:solidFill>
          </a:ln>
          <a:effectLst>
            <a:outerShdw sx="100000" sy="100000" kx="0" ky="0" algn="b" rotWithShape="0" blurRad="177800" dist="63500" dir="5400000">
              <a:srgbClr val="0B0E26">
                <a:alpha val="2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" name="BACKTEST screenshot window dot 1"/>
          <p:cNvSpPr/>
          <p:nvPr/>
        </p:nvSpPr>
        <p:spPr>
          <a:xfrm>
            <a:off x="6291071" y="2380000"/>
            <a:ext cx="49745" cy="49745"/>
          </a:xfrm>
          <a:prstGeom prst="ellipse">
            <a:avLst/>
          </a:prstGeom>
          <a:solidFill>
            <a:srgbClr val="FF5F5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6" name="BACKTEST screenshot window dot 2"/>
          <p:cNvSpPr/>
          <p:nvPr/>
        </p:nvSpPr>
        <p:spPr>
          <a:xfrm>
            <a:off x="6375636" y="2380000"/>
            <a:ext cx="49745" cy="49745"/>
          </a:xfrm>
          <a:prstGeom prst="ellipse">
            <a:avLst/>
          </a:prstGeom>
          <a:solidFill>
            <a:srgbClr val="FEBC2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7" name="BACKTEST screenshot window dot 3"/>
          <p:cNvSpPr/>
          <p:nvPr/>
        </p:nvSpPr>
        <p:spPr>
          <a:xfrm>
            <a:off x="6460199" y="2380000"/>
            <a:ext cx="49745" cy="49745"/>
          </a:xfrm>
          <a:prstGeom prst="ellipse">
            <a:avLst/>
          </a:prstGeom>
          <a:solidFill>
            <a:srgbClr val="28C84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8" name="Text 29"/>
          <p:cNvSpPr txBox="1"/>
          <p:nvPr/>
        </p:nvSpPr>
        <p:spPr>
          <a:xfrm>
            <a:off x="6217920" y="3977640"/>
            <a:ext cx="2606041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Test it on history</a:t>
            </a:r>
          </a:p>
        </p:txBody>
      </p:sp>
      <p:sp>
        <p:nvSpPr>
          <p:cNvPr id="169" name="Text 30"/>
          <p:cNvSpPr txBox="1"/>
          <p:nvPr/>
        </p:nvSpPr>
        <p:spPr>
          <a:xfrm>
            <a:off x="6217920" y="4315967"/>
            <a:ext cx="2606041" cy="537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434B6B"/>
                </a:solidFill>
              </a:defRPr>
            </a:lvl1pPr>
          </a:lstStyle>
          <a:p>
            <a:pPr/>
            <a:r>
              <a:t>Brokerage, STT, stamp duty and slippage built in; alpha, drawdown and Sharpe reported, with every rule shown.</a:t>
            </a:r>
          </a:p>
        </p:txBody>
      </p:sp>
      <p:sp>
        <p:nvSpPr>
          <p:cNvPr id="170" name="flow arrow 3 circle"/>
          <p:cNvSpPr/>
          <p:nvPr/>
        </p:nvSpPr>
        <p:spPr>
          <a:xfrm>
            <a:off x="8828531" y="2944367"/>
            <a:ext cx="219457" cy="219457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71" name="flow arrow 3 icon" descr="flow arrow 3 icon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883395" y="2999232"/>
            <a:ext cx="109729" cy="109729"/>
          </a:xfrm>
          <a:prstGeom prst="rect">
            <a:avLst/>
          </a:prstGeom>
          <a:ln w="12700">
            <a:miter lim="400000"/>
          </a:ln>
        </p:spPr>
      </p:pic>
      <p:sp>
        <p:nvSpPr>
          <p:cNvPr id="172" name="step 4"/>
          <p:cNvSpPr/>
          <p:nvPr/>
        </p:nvSpPr>
        <p:spPr>
          <a:xfrm>
            <a:off x="9052559" y="1783079"/>
            <a:ext cx="384049" cy="384049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3" name="Text 33"/>
          <p:cNvSpPr txBox="1"/>
          <p:nvPr/>
        </p:nvSpPr>
        <p:spPr>
          <a:xfrm>
            <a:off x="9052559" y="1881825"/>
            <a:ext cx="384049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/>
            </a:lvl1pPr>
          </a:lstStyle>
          <a:p>
            <a:pPr/>
            <a:r>
              <a:t>4</a:t>
            </a:r>
          </a:p>
        </p:txBody>
      </p:sp>
      <p:sp>
        <p:nvSpPr>
          <p:cNvPr id="174" name="Text 34"/>
          <p:cNvSpPr txBox="1"/>
          <p:nvPr/>
        </p:nvSpPr>
        <p:spPr>
          <a:xfrm>
            <a:off x="9555480" y="1847088"/>
            <a:ext cx="2011680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200" sz="1200">
                <a:solidFill>
                  <a:schemeClr val="accent1"/>
                </a:solidFill>
              </a:defRPr>
            </a:lvl1pPr>
          </a:lstStyle>
          <a:p>
            <a:pPr/>
            <a:r>
              <a:t>PRACTISE</a:t>
            </a:r>
          </a:p>
        </p:txBody>
      </p:sp>
      <p:sp>
        <p:nvSpPr>
          <p:cNvPr id="175" name="PRACTISE screenshot frame"/>
          <p:cNvSpPr/>
          <p:nvPr/>
        </p:nvSpPr>
        <p:spPr>
          <a:xfrm>
            <a:off x="9052559" y="2331720"/>
            <a:ext cx="2606041" cy="1449325"/>
          </a:xfrm>
          <a:prstGeom prst="roundRect">
            <a:avLst>
              <a:gd name="adj" fmla="val 4495"/>
            </a:avLst>
          </a:prstGeom>
          <a:solidFill>
            <a:srgbClr val="161A33"/>
          </a:solidFill>
          <a:ln>
            <a:solidFill>
              <a:srgbClr val="2A3060"/>
            </a:solidFill>
          </a:ln>
          <a:effectLst>
            <a:outerShdw sx="100000" sy="100000" kx="0" ky="0" algn="b" rotWithShape="0" blurRad="177800" dist="63500" dir="5400000">
              <a:srgbClr val="0B0E26">
                <a:alpha val="2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" name="PRACTISE screenshot window dot 1"/>
          <p:cNvSpPr/>
          <p:nvPr/>
        </p:nvSpPr>
        <p:spPr>
          <a:xfrm>
            <a:off x="9125711" y="2380000"/>
            <a:ext cx="49745" cy="49745"/>
          </a:xfrm>
          <a:prstGeom prst="ellipse">
            <a:avLst/>
          </a:prstGeom>
          <a:solidFill>
            <a:srgbClr val="FF5F5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7" name="PRACTISE screenshot window dot 2"/>
          <p:cNvSpPr/>
          <p:nvPr/>
        </p:nvSpPr>
        <p:spPr>
          <a:xfrm>
            <a:off x="9210275" y="2380000"/>
            <a:ext cx="49745" cy="49745"/>
          </a:xfrm>
          <a:prstGeom prst="ellipse">
            <a:avLst/>
          </a:prstGeom>
          <a:solidFill>
            <a:srgbClr val="FEBC2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8" name="PRACTISE screenshot window dot 3"/>
          <p:cNvSpPr/>
          <p:nvPr/>
        </p:nvSpPr>
        <p:spPr>
          <a:xfrm>
            <a:off x="9294838" y="2380000"/>
            <a:ext cx="49745" cy="49745"/>
          </a:xfrm>
          <a:prstGeom prst="ellipse">
            <a:avLst/>
          </a:prstGeom>
          <a:solidFill>
            <a:srgbClr val="28C84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9" name="Text 39"/>
          <p:cNvSpPr txBox="1"/>
          <p:nvPr/>
        </p:nvSpPr>
        <p:spPr>
          <a:xfrm>
            <a:off x="9052559" y="3977640"/>
            <a:ext cx="2606041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Practise, then act</a:t>
            </a:r>
          </a:p>
        </p:txBody>
      </p:sp>
      <p:sp>
        <p:nvSpPr>
          <p:cNvPr id="180" name="Text 40"/>
          <p:cNvSpPr txBox="1"/>
          <p:nvPr/>
        </p:nvSpPr>
        <p:spPr>
          <a:xfrm>
            <a:off x="9052559" y="4315967"/>
            <a:ext cx="2606041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434B6B"/>
                </a:solidFill>
              </a:defRPr>
            </a:lvl1pPr>
          </a:lstStyle>
          <a:p>
            <a:pPr/>
            <a:r>
              <a:t>Paper-trade the strategy with virtual cash and review every decision in a journal.</a:t>
            </a:r>
          </a:p>
        </p:txBody>
      </p:sp>
      <p:sp>
        <p:nvSpPr>
          <p:cNvPr id="181" name="Text 41"/>
          <p:cNvSpPr txBox="1"/>
          <p:nvPr/>
        </p:nvSpPr>
        <p:spPr>
          <a:xfrm>
            <a:off x="548792" y="5049765"/>
            <a:ext cx="11094416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1000">
                <a:solidFill>
                  <a:schemeClr val="accent5"/>
                </a:solidFill>
              </a:defRPr>
            </a:lvl1pPr>
          </a:lstStyle>
          <a:p>
            <a:pPr/>
            <a:r>
              <a:t>Verified live on 19 Oct 2026: this prompt generated a 516-stock screen (ROE &gt; 15%, D/E &lt; 1), a 1Y costed backtest and a 10-stock paper basket.</a:t>
            </a:r>
          </a:p>
        </p:txBody>
      </p:sp>
      <p:sp>
        <p:nvSpPr>
          <p:cNvPr id="182" name="principle band"/>
          <p:cNvSpPr/>
          <p:nvPr/>
        </p:nvSpPr>
        <p:spPr>
          <a:xfrm>
            <a:off x="548640" y="5349240"/>
            <a:ext cx="11094416" cy="65836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38100" dir="5400000">
              <a:srgbClr val="0B0E26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3" name="LuShieldCheck circle"/>
          <p:cNvSpPr/>
          <p:nvPr/>
        </p:nvSpPr>
        <p:spPr>
          <a:xfrm>
            <a:off x="749808" y="5468111"/>
            <a:ext cx="420625" cy="420625"/>
          </a:xfrm>
          <a:prstGeom prst="ellipse">
            <a:avLst/>
          </a:prstGeom>
          <a:solidFill>
            <a:srgbClr val="F4F7F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84" name="LuShieldCheck icon" descr="LuShieldCheck icon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54963" y="5573267"/>
            <a:ext cx="210313" cy="210313"/>
          </a:xfrm>
          <a:prstGeom prst="rect">
            <a:avLst/>
          </a:prstGeom>
          <a:ln w="12700">
            <a:miter lim="400000"/>
          </a:ln>
        </p:spPr>
      </p:pic>
      <p:sp>
        <p:nvSpPr>
          <p:cNvPr id="185" name="Text 44"/>
          <p:cNvSpPr txBox="1"/>
          <p:nvPr/>
        </p:nvSpPr>
        <p:spPr>
          <a:xfrm>
            <a:off x="1325880" y="5585146"/>
            <a:ext cx="10088575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/>
            </a:lvl1pPr>
          </a:lstStyle>
          <a:p>
            <a:pPr/>
            <a:r>
              <a:t>AI interprets. Engines compute: the model never does the arithmetic, and answers link back to their sources.</a:t>
            </a:r>
          </a:p>
        </p:txBody>
      </p:sp>
      <p:sp>
        <p:nvSpPr>
          <p:cNvPr id="186" name="Slide Number Placeholder 0"/>
          <p:cNvSpPr txBox="1"/>
          <p:nvPr>
            <p:ph type="sldNum" sz="quarter" idx="4294967295"/>
          </p:nvPr>
        </p:nvSpPr>
        <p:spPr>
          <a:xfrm>
            <a:off x="11516055" y="6419088"/>
            <a:ext cx="127001" cy="1370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87" name="pasted-movie.png" descr="pasted-movie.png"/>
          <p:cNvPicPr>
            <a:picLocks noChangeAspect="1"/>
          </p:cNvPicPr>
          <p:nvPr/>
        </p:nvPicPr>
        <p:blipFill>
          <a:blip r:embed="rId6">
            <a:extLst/>
          </a:blip>
          <a:srcRect l="0" t="0" r="0" b="19174"/>
          <a:stretch>
            <a:fillRect/>
          </a:stretch>
        </p:blipFill>
        <p:spPr>
          <a:xfrm>
            <a:off x="3379104" y="2473603"/>
            <a:ext cx="2615038" cy="1240435"/>
          </a:xfrm>
          <a:prstGeom prst="rect">
            <a:avLst/>
          </a:prstGeom>
          <a:ln w="12700">
            <a:miter lim="400000"/>
          </a:ln>
        </p:spPr>
      </p:pic>
      <p:pic>
        <p:nvPicPr>
          <p:cNvPr id="188" name="pasted-movie.png" descr="pasted-movie.png"/>
          <p:cNvPicPr>
            <a:picLocks noChangeAspect="1"/>
          </p:cNvPicPr>
          <p:nvPr/>
        </p:nvPicPr>
        <p:blipFill>
          <a:blip r:embed="rId7">
            <a:extLst/>
          </a:blip>
          <a:srcRect l="0" t="7352" r="0" b="979"/>
          <a:stretch>
            <a:fillRect/>
          </a:stretch>
        </p:blipFill>
        <p:spPr>
          <a:xfrm>
            <a:off x="6425503" y="2438750"/>
            <a:ext cx="2190869" cy="1345054"/>
          </a:xfrm>
          <a:prstGeom prst="rect">
            <a:avLst/>
          </a:prstGeom>
          <a:ln w="12700">
            <a:miter lim="400000"/>
          </a:ln>
        </p:spPr>
      </p:pic>
      <p:pic>
        <p:nvPicPr>
          <p:cNvPr id="189" name="pasted-movie.png" descr="pasted-movie.png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9210275" y="2443601"/>
            <a:ext cx="2169129" cy="134501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 0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pPr/>
            <a:r>
              <a:t>LIVE TODAY</a:t>
            </a:r>
          </a:p>
        </p:txBody>
      </p:sp>
      <p:sp>
        <p:nvSpPr>
          <p:cNvPr id="194" name="Text 0"/>
          <p:cNvSpPr txBox="1"/>
          <p:nvPr>
            <p:ph type="title"/>
          </p:nvPr>
        </p:nvSpPr>
        <p:spPr>
          <a:xfrm>
            <a:off x="548639" y="676655"/>
            <a:ext cx="11094417" cy="868682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One unified data engine powering six live workflows</a:t>
            </a:r>
          </a:p>
        </p:txBody>
      </p:sp>
      <p:sp>
        <p:nvSpPr>
          <p:cNvPr id="195" name="Stock intelligence frame"/>
          <p:cNvSpPr/>
          <p:nvPr/>
        </p:nvSpPr>
        <p:spPr>
          <a:xfrm>
            <a:off x="548640" y="1352416"/>
            <a:ext cx="3383281" cy="1837945"/>
          </a:xfrm>
          <a:prstGeom prst="roundRect">
            <a:avLst>
              <a:gd name="adj" fmla="val 4602"/>
            </a:avLst>
          </a:prstGeom>
          <a:solidFill>
            <a:srgbClr val="161A33"/>
          </a:solidFill>
          <a:ln>
            <a:solidFill>
              <a:srgbClr val="2A3060"/>
            </a:solidFill>
          </a:ln>
          <a:effectLst>
            <a:outerShdw sx="100000" sy="100000" kx="0" ky="0" algn="b" rotWithShape="0" blurRad="177800" dist="63500" dir="5400000">
              <a:srgbClr val="0B0E26">
                <a:alpha val="2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6" name="Stock intelligence window dot 1"/>
          <p:cNvSpPr/>
          <p:nvPr/>
        </p:nvSpPr>
        <p:spPr>
          <a:xfrm>
            <a:off x="625814" y="1675912"/>
            <a:ext cx="49746" cy="49745"/>
          </a:xfrm>
          <a:prstGeom prst="ellipse">
            <a:avLst/>
          </a:prstGeom>
          <a:solidFill>
            <a:srgbClr val="FF5F5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7" name="Stock intelligence window dot 2"/>
          <p:cNvSpPr/>
          <p:nvPr/>
        </p:nvSpPr>
        <p:spPr>
          <a:xfrm>
            <a:off x="710379" y="1675912"/>
            <a:ext cx="49745" cy="49745"/>
          </a:xfrm>
          <a:prstGeom prst="ellipse">
            <a:avLst/>
          </a:prstGeom>
          <a:solidFill>
            <a:srgbClr val="FEBC2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8" name="Stock intelligence window dot 3"/>
          <p:cNvSpPr/>
          <p:nvPr/>
        </p:nvSpPr>
        <p:spPr>
          <a:xfrm>
            <a:off x="794942" y="1675912"/>
            <a:ext cx="49746" cy="49745"/>
          </a:xfrm>
          <a:prstGeom prst="ellipse">
            <a:avLst/>
          </a:prstGeom>
          <a:solidFill>
            <a:srgbClr val="28C84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99" name="Stock intelligence image" descr="Stock intelligence 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9239" y="1498720"/>
            <a:ext cx="3302082" cy="1651042"/>
          </a:xfrm>
          <a:prstGeom prst="rect">
            <a:avLst/>
          </a:prstGeom>
          <a:ln w="12700">
            <a:miter lim="400000"/>
          </a:ln>
        </p:spPr>
      </p:pic>
      <p:sp>
        <p:nvSpPr>
          <p:cNvPr id="200" name="Text 6"/>
          <p:cNvSpPr txBox="1"/>
          <p:nvPr/>
        </p:nvSpPr>
        <p:spPr>
          <a:xfrm>
            <a:off x="548640" y="3263512"/>
            <a:ext cx="338328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/>
            </a:lvl1pPr>
          </a:lstStyle>
          <a:p>
            <a:pPr/>
            <a:r>
              <a:t>Stock intelligence</a:t>
            </a:r>
          </a:p>
        </p:txBody>
      </p:sp>
      <p:sp>
        <p:nvSpPr>
          <p:cNvPr id="201" name="Text 7"/>
          <p:cNvSpPr txBox="1"/>
          <p:nvPr/>
        </p:nvSpPr>
        <p:spPr>
          <a:xfrm>
            <a:off x="548640" y="3501256"/>
            <a:ext cx="338328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434B6B"/>
                </a:solidFill>
              </a:defRPr>
            </a:lvl1pPr>
          </a:lstStyle>
          <a:p>
            <a:pPr/>
            <a:r>
              <a:t>Anvest Score, AI profile, financials and filings</a:t>
            </a:r>
          </a:p>
        </p:txBody>
      </p:sp>
      <p:sp>
        <p:nvSpPr>
          <p:cNvPr id="202" name="IPO hub frame"/>
          <p:cNvSpPr/>
          <p:nvPr/>
        </p:nvSpPr>
        <p:spPr>
          <a:xfrm>
            <a:off x="4389120" y="1352416"/>
            <a:ext cx="3383281" cy="1837945"/>
          </a:xfrm>
          <a:prstGeom prst="roundRect">
            <a:avLst>
              <a:gd name="adj" fmla="val 4602"/>
            </a:avLst>
          </a:prstGeom>
          <a:solidFill>
            <a:srgbClr val="161A33"/>
          </a:solidFill>
          <a:ln>
            <a:solidFill>
              <a:srgbClr val="2A3060"/>
            </a:solidFill>
          </a:ln>
          <a:effectLst>
            <a:outerShdw sx="100000" sy="100000" kx="0" ky="0" algn="b" rotWithShape="0" blurRad="177800" dist="63500" dir="5400000">
              <a:srgbClr val="0B0E26">
                <a:alpha val="2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3" name="IPO hub window dot 1"/>
          <p:cNvSpPr/>
          <p:nvPr/>
        </p:nvSpPr>
        <p:spPr>
          <a:xfrm>
            <a:off x="4466294" y="1675912"/>
            <a:ext cx="49745" cy="49745"/>
          </a:xfrm>
          <a:prstGeom prst="ellipse">
            <a:avLst/>
          </a:prstGeom>
          <a:solidFill>
            <a:srgbClr val="FF5F5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4" name="IPO hub window dot 2"/>
          <p:cNvSpPr/>
          <p:nvPr/>
        </p:nvSpPr>
        <p:spPr>
          <a:xfrm>
            <a:off x="4550859" y="1675912"/>
            <a:ext cx="49745" cy="49745"/>
          </a:xfrm>
          <a:prstGeom prst="ellipse">
            <a:avLst/>
          </a:prstGeom>
          <a:solidFill>
            <a:srgbClr val="FEBC2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5" name="IPO hub window dot 3"/>
          <p:cNvSpPr/>
          <p:nvPr/>
        </p:nvSpPr>
        <p:spPr>
          <a:xfrm>
            <a:off x="4635422" y="1675912"/>
            <a:ext cx="49745" cy="49745"/>
          </a:xfrm>
          <a:prstGeom prst="ellipse">
            <a:avLst/>
          </a:prstGeom>
          <a:solidFill>
            <a:srgbClr val="28C84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06" name="IPO hub image" descr="IPO hub image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429719" y="1498720"/>
            <a:ext cx="3302082" cy="1651042"/>
          </a:xfrm>
          <a:prstGeom prst="rect">
            <a:avLst/>
          </a:prstGeom>
          <a:ln w="12700">
            <a:miter lim="400000"/>
          </a:ln>
        </p:spPr>
      </p:pic>
      <p:sp>
        <p:nvSpPr>
          <p:cNvPr id="207" name="Text 12"/>
          <p:cNvSpPr txBox="1"/>
          <p:nvPr/>
        </p:nvSpPr>
        <p:spPr>
          <a:xfrm>
            <a:off x="4389120" y="3263512"/>
            <a:ext cx="338328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/>
            </a:lvl1pPr>
          </a:lstStyle>
          <a:p>
            <a:pPr/>
            <a:r>
              <a:t>IPO hub</a:t>
            </a:r>
          </a:p>
        </p:txBody>
      </p:sp>
      <p:sp>
        <p:nvSpPr>
          <p:cNvPr id="208" name="Text 13"/>
          <p:cNvSpPr txBox="1"/>
          <p:nvPr/>
        </p:nvSpPr>
        <p:spPr>
          <a:xfrm>
            <a:off x="4389120" y="3501256"/>
            <a:ext cx="338328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434B6B"/>
                </a:solidFill>
              </a:defRPr>
            </a:lvl1pPr>
          </a:lstStyle>
          <a:p>
            <a:pPr/>
            <a:r>
              <a:t>Timeline, restated RHP financials and prospectus Q&amp;A</a:t>
            </a:r>
          </a:p>
        </p:txBody>
      </p:sp>
      <p:sp>
        <p:nvSpPr>
          <p:cNvPr id="209" name="Mutual fund X-ray frame"/>
          <p:cNvSpPr/>
          <p:nvPr/>
        </p:nvSpPr>
        <p:spPr>
          <a:xfrm>
            <a:off x="8229600" y="1352416"/>
            <a:ext cx="3383281" cy="1837945"/>
          </a:xfrm>
          <a:prstGeom prst="roundRect">
            <a:avLst>
              <a:gd name="adj" fmla="val 4602"/>
            </a:avLst>
          </a:prstGeom>
          <a:solidFill>
            <a:srgbClr val="161A33"/>
          </a:solidFill>
          <a:ln>
            <a:solidFill>
              <a:srgbClr val="2A3060"/>
            </a:solidFill>
          </a:ln>
          <a:effectLst>
            <a:outerShdw sx="100000" sy="100000" kx="0" ky="0" algn="b" rotWithShape="0" blurRad="177800" dist="63500" dir="5400000">
              <a:srgbClr val="0B0E26">
                <a:alpha val="2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0" name="Mutual fund X-ray window dot 1"/>
          <p:cNvSpPr/>
          <p:nvPr/>
        </p:nvSpPr>
        <p:spPr>
          <a:xfrm>
            <a:off x="8306775" y="1675912"/>
            <a:ext cx="49745" cy="49745"/>
          </a:xfrm>
          <a:prstGeom prst="ellipse">
            <a:avLst/>
          </a:prstGeom>
          <a:solidFill>
            <a:srgbClr val="FF5F5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1" name="Mutual fund X-ray window dot 2"/>
          <p:cNvSpPr/>
          <p:nvPr/>
        </p:nvSpPr>
        <p:spPr>
          <a:xfrm>
            <a:off x="8391338" y="1675912"/>
            <a:ext cx="49745" cy="49745"/>
          </a:xfrm>
          <a:prstGeom prst="ellipse">
            <a:avLst/>
          </a:prstGeom>
          <a:solidFill>
            <a:srgbClr val="FEBC2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2" name="Mutual fund X-ray window dot 3"/>
          <p:cNvSpPr/>
          <p:nvPr/>
        </p:nvSpPr>
        <p:spPr>
          <a:xfrm>
            <a:off x="8475902" y="1675912"/>
            <a:ext cx="49745" cy="49745"/>
          </a:xfrm>
          <a:prstGeom prst="ellipse">
            <a:avLst/>
          </a:prstGeom>
          <a:solidFill>
            <a:srgbClr val="28C84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13" name="Mutual fund X-ray image" descr="Mutual fund X-ray image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270199" y="1498720"/>
            <a:ext cx="3302082" cy="1651042"/>
          </a:xfrm>
          <a:prstGeom prst="rect">
            <a:avLst/>
          </a:prstGeom>
          <a:ln w="12700">
            <a:miter lim="400000"/>
          </a:ln>
        </p:spPr>
      </p:pic>
      <p:sp>
        <p:nvSpPr>
          <p:cNvPr id="214" name="Text 18"/>
          <p:cNvSpPr txBox="1"/>
          <p:nvPr/>
        </p:nvSpPr>
        <p:spPr>
          <a:xfrm>
            <a:off x="8229600" y="3263512"/>
            <a:ext cx="338328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/>
            </a:lvl1pPr>
          </a:lstStyle>
          <a:p>
            <a:pPr/>
            <a:r>
              <a:t>Mutual fund X-ray</a:t>
            </a:r>
          </a:p>
        </p:txBody>
      </p:sp>
      <p:sp>
        <p:nvSpPr>
          <p:cNvPr id="215" name="Text 19"/>
          <p:cNvSpPr txBox="1"/>
          <p:nvPr/>
        </p:nvSpPr>
        <p:spPr>
          <a:xfrm>
            <a:off x="8229600" y="3501256"/>
            <a:ext cx="338328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434B6B"/>
                </a:solidFill>
              </a:defRPr>
            </a:lvl1pPr>
          </a:lstStyle>
          <a:p>
            <a:pPr/>
            <a:r>
              <a:t>991 schemes compared on returns, cost, risk and overlap</a:t>
            </a:r>
          </a:p>
        </p:txBody>
      </p:sp>
      <p:sp>
        <p:nvSpPr>
          <p:cNvPr id="216" name="Bonds and fixed income frame"/>
          <p:cNvSpPr/>
          <p:nvPr/>
        </p:nvSpPr>
        <p:spPr>
          <a:xfrm>
            <a:off x="548640" y="4055481"/>
            <a:ext cx="3383281" cy="1837945"/>
          </a:xfrm>
          <a:prstGeom prst="roundRect">
            <a:avLst>
              <a:gd name="adj" fmla="val 4602"/>
            </a:avLst>
          </a:prstGeom>
          <a:solidFill>
            <a:srgbClr val="161A33"/>
          </a:solidFill>
          <a:ln>
            <a:solidFill>
              <a:srgbClr val="2A3060"/>
            </a:solidFill>
          </a:ln>
          <a:effectLst>
            <a:outerShdw sx="100000" sy="100000" kx="0" ky="0" algn="b" rotWithShape="0" blurRad="177800" dist="63500" dir="5400000">
              <a:srgbClr val="0B0E26">
                <a:alpha val="2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7" name="Bonds and fixed income window dot 1"/>
          <p:cNvSpPr/>
          <p:nvPr/>
        </p:nvSpPr>
        <p:spPr>
          <a:xfrm>
            <a:off x="625814" y="4007632"/>
            <a:ext cx="49746" cy="49745"/>
          </a:xfrm>
          <a:prstGeom prst="ellipse">
            <a:avLst/>
          </a:prstGeom>
          <a:solidFill>
            <a:srgbClr val="FF5F5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8" name="Bonds and fixed income window dot 2"/>
          <p:cNvSpPr/>
          <p:nvPr/>
        </p:nvSpPr>
        <p:spPr>
          <a:xfrm>
            <a:off x="710379" y="4007632"/>
            <a:ext cx="49745" cy="49745"/>
          </a:xfrm>
          <a:prstGeom prst="ellipse">
            <a:avLst/>
          </a:prstGeom>
          <a:solidFill>
            <a:srgbClr val="FEBC2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9" name="Bonds and fixed income window dot 3"/>
          <p:cNvSpPr/>
          <p:nvPr/>
        </p:nvSpPr>
        <p:spPr>
          <a:xfrm>
            <a:off x="794942" y="4007632"/>
            <a:ext cx="49746" cy="49745"/>
          </a:xfrm>
          <a:prstGeom prst="ellipse">
            <a:avLst/>
          </a:prstGeom>
          <a:solidFill>
            <a:srgbClr val="28C84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20" name="Bonds and fixed income image" descr="Bonds and fixed income image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589239" y="4201785"/>
            <a:ext cx="3302082" cy="1651042"/>
          </a:xfrm>
          <a:prstGeom prst="rect">
            <a:avLst/>
          </a:prstGeom>
          <a:ln w="12700">
            <a:miter lim="400000"/>
          </a:ln>
        </p:spPr>
      </p:pic>
      <p:sp>
        <p:nvSpPr>
          <p:cNvPr id="221" name="Text 24"/>
          <p:cNvSpPr txBox="1"/>
          <p:nvPr/>
        </p:nvSpPr>
        <p:spPr>
          <a:xfrm>
            <a:off x="548640" y="5966577"/>
            <a:ext cx="338328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/>
            </a:lvl1pPr>
          </a:lstStyle>
          <a:p>
            <a:pPr/>
            <a:r>
              <a:t>Bonds and fixed income</a:t>
            </a:r>
          </a:p>
        </p:txBody>
      </p:sp>
      <p:sp>
        <p:nvSpPr>
          <p:cNvPr id="222" name="Text 25"/>
          <p:cNvSpPr txBox="1"/>
          <p:nvPr/>
        </p:nvSpPr>
        <p:spPr>
          <a:xfrm>
            <a:off x="548640" y="6204321"/>
            <a:ext cx="338328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434B6B"/>
                </a:solidFill>
              </a:defRPr>
            </a:lvl1pPr>
          </a:lstStyle>
          <a:p>
            <a:pPr/>
            <a:r>
              <a:t>Yields, after-tax returns and the G-Sec benchmark</a:t>
            </a:r>
          </a:p>
        </p:txBody>
      </p:sp>
      <p:sp>
        <p:nvSpPr>
          <p:cNvPr id="223" name="Market stress simulator frame"/>
          <p:cNvSpPr/>
          <p:nvPr/>
        </p:nvSpPr>
        <p:spPr>
          <a:xfrm>
            <a:off x="4389120" y="4055481"/>
            <a:ext cx="3383281" cy="1837945"/>
          </a:xfrm>
          <a:prstGeom prst="roundRect">
            <a:avLst>
              <a:gd name="adj" fmla="val 4602"/>
            </a:avLst>
          </a:prstGeom>
          <a:solidFill>
            <a:srgbClr val="161A33"/>
          </a:solidFill>
          <a:ln>
            <a:solidFill>
              <a:srgbClr val="2A3060"/>
            </a:solidFill>
          </a:ln>
          <a:effectLst>
            <a:outerShdw sx="100000" sy="100000" kx="0" ky="0" algn="b" rotWithShape="0" blurRad="177800" dist="63500" dir="5400000">
              <a:srgbClr val="0B0E26">
                <a:alpha val="2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4" name="Market stress simulator window dot 1"/>
          <p:cNvSpPr/>
          <p:nvPr/>
        </p:nvSpPr>
        <p:spPr>
          <a:xfrm>
            <a:off x="4466294" y="4007632"/>
            <a:ext cx="49745" cy="49745"/>
          </a:xfrm>
          <a:prstGeom prst="ellipse">
            <a:avLst/>
          </a:prstGeom>
          <a:solidFill>
            <a:srgbClr val="FF5F5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5" name="Market stress simulator window dot 2"/>
          <p:cNvSpPr/>
          <p:nvPr/>
        </p:nvSpPr>
        <p:spPr>
          <a:xfrm>
            <a:off x="4550859" y="4007632"/>
            <a:ext cx="49745" cy="49745"/>
          </a:xfrm>
          <a:prstGeom prst="ellipse">
            <a:avLst/>
          </a:prstGeom>
          <a:solidFill>
            <a:srgbClr val="FEBC2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6" name="Market stress simulator window dot 3"/>
          <p:cNvSpPr/>
          <p:nvPr/>
        </p:nvSpPr>
        <p:spPr>
          <a:xfrm>
            <a:off x="4635422" y="4007632"/>
            <a:ext cx="49745" cy="49745"/>
          </a:xfrm>
          <a:prstGeom prst="ellipse">
            <a:avLst/>
          </a:prstGeom>
          <a:solidFill>
            <a:srgbClr val="28C84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27" name="Market stress simulator image" descr="Market stress simulator image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4429719" y="4201785"/>
            <a:ext cx="3302082" cy="1651042"/>
          </a:xfrm>
          <a:prstGeom prst="rect">
            <a:avLst/>
          </a:prstGeom>
          <a:ln w="12700">
            <a:miter lim="400000"/>
          </a:ln>
        </p:spPr>
      </p:pic>
      <p:sp>
        <p:nvSpPr>
          <p:cNvPr id="228" name="Text 30"/>
          <p:cNvSpPr txBox="1"/>
          <p:nvPr/>
        </p:nvSpPr>
        <p:spPr>
          <a:xfrm>
            <a:off x="4389120" y="5966577"/>
            <a:ext cx="338328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/>
            </a:lvl1pPr>
          </a:lstStyle>
          <a:p>
            <a:pPr/>
            <a:r>
              <a:t>Market stress simulator</a:t>
            </a:r>
          </a:p>
        </p:txBody>
      </p:sp>
      <p:sp>
        <p:nvSpPr>
          <p:cNvPr id="229" name="Text 31"/>
          <p:cNvSpPr txBox="1"/>
          <p:nvPr/>
        </p:nvSpPr>
        <p:spPr>
          <a:xfrm>
            <a:off x="4389120" y="6204321"/>
            <a:ext cx="338328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434B6B"/>
                </a:solidFill>
              </a:defRPr>
            </a:lvl1pPr>
          </a:lstStyle>
          <a:p>
            <a:pPr/>
            <a:r>
              <a:t>How a portfolio behaves in a sell-off or an inflation shock</a:t>
            </a:r>
          </a:p>
        </p:txBody>
      </p:sp>
      <p:sp>
        <p:nvSpPr>
          <p:cNvPr id="230" name="Curated screens frame"/>
          <p:cNvSpPr/>
          <p:nvPr/>
        </p:nvSpPr>
        <p:spPr>
          <a:xfrm>
            <a:off x="8229600" y="4055481"/>
            <a:ext cx="3383280" cy="1837945"/>
          </a:xfrm>
          <a:prstGeom prst="roundRect">
            <a:avLst>
              <a:gd name="adj" fmla="val 4602"/>
            </a:avLst>
          </a:prstGeom>
          <a:solidFill>
            <a:srgbClr val="161A33"/>
          </a:solidFill>
          <a:ln>
            <a:solidFill>
              <a:srgbClr val="2A3060"/>
            </a:solidFill>
          </a:ln>
          <a:effectLst>
            <a:outerShdw sx="100000" sy="100000" kx="0" ky="0" algn="b" rotWithShape="0" blurRad="177800" dist="63500" dir="5400000">
              <a:srgbClr val="0B0E26">
                <a:alpha val="2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1" name="Curated screens window dot 1"/>
          <p:cNvSpPr/>
          <p:nvPr/>
        </p:nvSpPr>
        <p:spPr>
          <a:xfrm>
            <a:off x="8306775" y="4007632"/>
            <a:ext cx="49745" cy="49745"/>
          </a:xfrm>
          <a:prstGeom prst="ellipse">
            <a:avLst/>
          </a:prstGeom>
          <a:solidFill>
            <a:srgbClr val="FF5F5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2" name="Curated screens window dot 2"/>
          <p:cNvSpPr/>
          <p:nvPr/>
        </p:nvSpPr>
        <p:spPr>
          <a:xfrm>
            <a:off x="8391338" y="4007632"/>
            <a:ext cx="49745" cy="49745"/>
          </a:xfrm>
          <a:prstGeom prst="ellipse">
            <a:avLst/>
          </a:prstGeom>
          <a:solidFill>
            <a:srgbClr val="FEBC2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3" name="Curated screens window dot 3"/>
          <p:cNvSpPr/>
          <p:nvPr/>
        </p:nvSpPr>
        <p:spPr>
          <a:xfrm>
            <a:off x="8475902" y="4007632"/>
            <a:ext cx="49745" cy="49745"/>
          </a:xfrm>
          <a:prstGeom prst="ellipse">
            <a:avLst/>
          </a:prstGeom>
          <a:solidFill>
            <a:srgbClr val="28C84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34" name="Curated screens image" descr="Curated screens image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8270199" y="4201785"/>
            <a:ext cx="3302082" cy="1651042"/>
          </a:xfrm>
          <a:prstGeom prst="rect">
            <a:avLst/>
          </a:prstGeom>
          <a:ln w="12700">
            <a:miter lim="400000"/>
          </a:ln>
        </p:spPr>
      </p:pic>
      <p:sp>
        <p:nvSpPr>
          <p:cNvPr id="235" name="Text 36"/>
          <p:cNvSpPr txBox="1"/>
          <p:nvPr/>
        </p:nvSpPr>
        <p:spPr>
          <a:xfrm>
            <a:off x="8229600" y="5966577"/>
            <a:ext cx="3383280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/>
            </a:lvl1pPr>
          </a:lstStyle>
          <a:p>
            <a:pPr/>
            <a:r>
              <a:t>Curated screens</a:t>
            </a:r>
          </a:p>
        </p:txBody>
      </p:sp>
      <p:sp>
        <p:nvSpPr>
          <p:cNvPr id="236" name="Text 37"/>
          <p:cNvSpPr txBox="1"/>
          <p:nvPr/>
        </p:nvSpPr>
        <p:spPr>
          <a:xfrm>
            <a:off x="8229600" y="6204321"/>
            <a:ext cx="3383280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434B6B"/>
                </a:solidFill>
              </a:defRPr>
            </a:lvl1pPr>
          </a:lstStyle>
          <a:p>
            <a:pPr/>
            <a:r>
              <a:t>Promoter buying, FII and DII accumulation, quality</a:t>
            </a:r>
          </a:p>
        </p:txBody>
      </p:sp>
      <p:sp>
        <p:nvSpPr>
          <p:cNvPr id="237" name="Slide Number Placeholder 0"/>
          <p:cNvSpPr txBox="1"/>
          <p:nvPr>
            <p:ph type="sldNum" sz="quarter" idx="4294967295"/>
          </p:nvPr>
        </p:nvSpPr>
        <p:spPr>
          <a:xfrm>
            <a:off x="11516055" y="6419088"/>
            <a:ext cx="127001" cy="1370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Text 0"/>
          <p:cNvSpPr txBox="1"/>
          <p:nvPr>
            <p:ph type="body" sz="quarter" idx="1"/>
          </p:nvPr>
        </p:nvSpPr>
        <p:spPr>
          <a:xfrm>
            <a:off x="548640" y="384047"/>
            <a:ext cx="8229601" cy="274321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WHY NOW</a:t>
            </a:r>
          </a:p>
        </p:txBody>
      </p:sp>
      <p:sp>
        <p:nvSpPr>
          <p:cNvPr id="242" name="Text 0"/>
          <p:cNvSpPr txBox="1"/>
          <p:nvPr>
            <p:ph type="title"/>
          </p:nvPr>
        </p:nvSpPr>
        <p:spPr>
          <a:xfrm>
            <a:off x="548639" y="676655"/>
            <a:ext cx="11094417" cy="868681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Four shifts make this the moment</a:t>
            </a:r>
          </a:p>
        </p:txBody>
      </p:sp>
      <p:sp>
        <p:nvSpPr>
          <p:cNvPr id="243" name="why-now card 1"/>
          <p:cNvSpPr/>
          <p:nvPr/>
        </p:nvSpPr>
        <p:spPr>
          <a:xfrm>
            <a:off x="548640" y="1691639"/>
            <a:ext cx="5440680" cy="1645922"/>
          </a:xfrm>
          <a:prstGeom prst="roundRect">
            <a:avLst>
              <a:gd name="adj" fmla="val 6667"/>
            </a:avLst>
          </a:prstGeom>
          <a:solidFill>
            <a:srgbClr val="FFFFFF">
              <a:alpha val="8000"/>
            </a:srgbClr>
          </a:solidFill>
          <a:ln>
            <a:solidFill>
              <a:schemeClr val="accent6">
                <a:alpha val="25000"/>
              </a:scheme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4" name="LuBrainCircuit circle"/>
          <p:cNvSpPr/>
          <p:nvPr/>
        </p:nvSpPr>
        <p:spPr>
          <a:xfrm>
            <a:off x="822960" y="1984248"/>
            <a:ext cx="585217" cy="585217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45" name="LuBrainCircuit icon" descr="LuBrainCircuit icon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69263" y="2130551"/>
            <a:ext cx="292610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46" name="Text 4"/>
          <p:cNvSpPr txBox="1"/>
          <p:nvPr/>
        </p:nvSpPr>
        <p:spPr>
          <a:xfrm>
            <a:off x="1600199" y="1965960"/>
            <a:ext cx="4206242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AI can finally read filings</a:t>
            </a:r>
          </a:p>
        </p:txBody>
      </p:sp>
      <p:sp>
        <p:nvSpPr>
          <p:cNvPr id="247" name="Text 5"/>
          <p:cNvSpPr txBox="1"/>
          <p:nvPr/>
        </p:nvSpPr>
        <p:spPr>
          <a:xfrm>
            <a:off x="1600199" y="2377439"/>
            <a:ext cx="4206242" cy="57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chemeClr val="accent6"/>
                </a:solidFill>
              </a:defRPr>
            </a:lvl1pPr>
          </a:lstStyle>
          <a:p>
            <a:pPr/>
            <a:r>
              <a:t>Language models can now read and explain filings. Trust depends on verified, citable data underneath, which is what Anvest has built.</a:t>
            </a:r>
          </a:p>
        </p:txBody>
      </p:sp>
      <p:sp>
        <p:nvSpPr>
          <p:cNvPr id="248" name="why-now card 2"/>
          <p:cNvSpPr/>
          <p:nvPr/>
        </p:nvSpPr>
        <p:spPr>
          <a:xfrm>
            <a:off x="6217920" y="1691639"/>
            <a:ext cx="5440680" cy="1645922"/>
          </a:xfrm>
          <a:prstGeom prst="roundRect">
            <a:avLst>
              <a:gd name="adj" fmla="val 6667"/>
            </a:avLst>
          </a:prstGeom>
          <a:solidFill>
            <a:srgbClr val="FFFFFF">
              <a:alpha val="8000"/>
            </a:srgbClr>
          </a:solidFill>
          <a:ln>
            <a:solidFill>
              <a:schemeClr val="accent6">
                <a:alpha val="25000"/>
              </a:scheme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9" name="LuScale circle"/>
          <p:cNvSpPr/>
          <p:nvPr/>
        </p:nvSpPr>
        <p:spPr>
          <a:xfrm>
            <a:off x="6492240" y="1984248"/>
            <a:ext cx="585217" cy="585217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50" name="LuScale icon" descr="LuScale icon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638543" y="2130551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51" name="Text 8"/>
          <p:cNvSpPr txBox="1"/>
          <p:nvPr/>
        </p:nvSpPr>
        <p:spPr>
          <a:xfrm>
            <a:off x="7269480" y="1965960"/>
            <a:ext cx="4206241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Retail algo trading is now regulated</a:t>
            </a:r>
          </a:p>
        </p:txBody>
      </p:sp>
      <p:sp>
        <p:nvSpPr>
          <p:cNvPr id="252" name="Text 9"/>
          <p:cNvSpPr txBox="1"/>
          <p:nvPr/>
        </p:nvSpPr>
        <p:spPr>
          <a:xfrm>
            <a:off x="7269480" y="2377439"/>
            <a:ext cx="4206241" cy="57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chemeClr val="accent6"/>
                </a:solidFill>
              </a:defRPr>
            </a:lvl1pPr>
          </a:lstStyle>
          <a:p>
            <a:pPr/>
            <a:r>
              <a:t>SEBI's April 2026 framework mandates exchange-registered algos and SEBI RA registration for strategy providers—creating a compliant moat.</a:t>
            </a:r>
          </a:p>
        </p:txBody>
      </p:sp>
      <p:sp>
        <p:nvSpPr>
          <p:cNvPr id="253" name="why-now card 3"/>
          <p:cNvSpPr/>
          <p:nvPr/>
        </p:nvSpPr>
        <p:spPr>
          <a:xfrm>
            <a:off x="548640" y="3520440"/>
            <a:ext cx="5440680" cy="1645921"/>
          </a:xfrm>
          <a:prstGeom prst="roundRect">
            <a:avLst>
              <a:gd name="adj" fmla="val 6667"/>
            </a:avLst>
          </a:prstGeom>
          <a:solidFill>
            <a:srgbClr val="FFFFFF">
              <a:alpha val="8000"/>
            </a:srgbClr>
          </a:solidFill>
          <a:ln>
            <a:solidFill>
              <a:schemeClr val="accent6">
                <a:alpha val="25000"/>
              </a:scheme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4" name="LuBot circle"/>
          <p:cNvSpPr/>
          <p:nvPr/>
        </p:nvSpPr>
        <p:spPr>
          <a:xfrm>
            <a:off x="822960" y="3813047"/>
            <a:ext cx="585217" cy="585217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55" name="LuBot icon" descr="LuBot icon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969263" y="3959352"/>
            <a:ext cx="292610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56" name="Text 12"/>
          <p:cNvSpPr txBox="1"/>
          <p:nvPr/>
        </p:nvSpPr>
        <p:spPr>
          <a:xfrm>
            <a:off x="1600199" y="3794759"/>
            <a:ext cx="4206242" cy="259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Brokers are going agent-native</a:t>
            </a:r>
          </a:p>
        </p:txBody>
      </p:sp>
      <p:sp>
        <p:nvSpPr>
          <p:cNvPr id="257" name="Text 13"/>
          <p:cNvSpPr txBox="1"/>
          <p:nvPr/>
        </p:nvSpPr>
        <p:spPr>
          <a:xfrm>
            <a:off x="1600199" y="4206240"/>
            <a:ext cx="4206242" cy="57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chemeClr val="accent6"/>
                </a:solidFill>
              </a:defRPr>
            </a:lvl1pPr>
          </a:lstStyle>
          <a:p>
            <a:pPr/>
            <a:r>
              <a:t>Zerodha's Kite MCP and peers now expose accounts to AI agents. Those agents need a grounded research brain behind them.</a:t>
            </a:r>
          </a:p>
        </p:txBody>
      </p:sp>
      <p:sp>
        <p:nvSpPr>
          <p:cNvPr id="258" name="why-now card 4"/>
          <p:cNvSpPr/>
          <p:nvPr/>
        </p:nvSpPr>
        <p:spPr>
          <a:xfrm>
            <a:off x="6217920" y="3520440"/>
            <a:ext cx="5440680" cy="1645921"/>
          </a:xfrm>
          <a:prstGeom prst="roundRect">
            <a:avLst>
              <a:gd name="adj" fmla="val 6667"/>
            </a:avLst>
          </a:prstGeom>
          <a:solidFill>
            <a:srgbClr val="FFFFFF">
              <a:alpha val="8000"/>
            </a:srgbClr>
          </a:solidFill>
          <a:ln>
            <a:solidFill>
              <a:schemeClr val="accent6">
                <a:alpha val="25000"/>
              </a:scheme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9" name="LuUsers circle"/>
          <p:cNvSpPr/>
          <p:nvPr/>
        </p:nvSpPr>
        <p:spPr>
          <a:xfrm>
            <a:off x="6492240" y="3813047"/>
            <a:ext cx="585217" cy="585217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60" name="LuUsers icon" descr="LuUsers icon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6638543" y="3959352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61" name="Text 16"/>
          <p:cNvSpPr txBox="1"/>
          <p:nvPr/>
        </p:nvSpPr>
        <p:spPr>
          <a:xfrm>
            <a:off x="7269480" y="3794759"/>
            <a:ext cx="4206241" cy="259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 new generation of investors</a:t>
            </a:r>
          </a:p>
        </p:txBody>
      </p:sp>
      <p:sp>
        <p:nvSpPr>
          <p:cNvPr id="262" name="Text 17"/>
          <p:cNvSpPr txBox="1"/>
          <p:nvPr/>
        </p:nvSpPr>
        <p:spPr>
          <a:xfrm>
            <a:off x="7269480" y="4206240"/>
            <a:ext cx="4206241" cy="369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chemeClr val="accent6"/>
                </a:solidFill>
              </a:defRPr>
            </a:lvl1pPr>
          </a:lstStyle>
          <a:p>
            <a:pPr/>
            <a:r>
              <a:t>13.4 crore unique investors are registered with NSE, while regulators push for explained, accountable research.</a:t>
            </a:r>
          </a:p>
        </p:txBody>
      </p:sp>
      <p:sp>
        <p:nvSpPr>
          <p:cNvPr id="263" name="category funding band"/>
          <p:cNvSpPr/>
          <p:nvPr/>
        </p:nvSpPr>
        <p:spPr>
          <a:xfrm>
            <a:off x="548640" y="5349240"/>
            <a:ext cx="11094416" cy="566929"/>
          </a:xfrm>
          <a:prstGeom prst="roundRect">
            <a:avLst>
              <a:gd name="adj" fmla="val 19355"/>
            </a:avLst>
          </a:prstGeom>
          <a:solidFill>
            <a:srgbClr val="FFFFFF">
              <a:alpha val="15000"/>
            </a:srgbClr>
          </a:solidFill>
          <a:ln>
            <a:solidFill>
              <a:schemeClr val="accent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4" name="Text 19"/>
          <p:cNvSpPr txBox="1"/>
          <p:nvPr/>
        </p:nvSpPr>
        <p:spPr>
          <a:xfrm>
            <a:off x="822960" y="5447723"/>
            <a:ext cx="10545775" cy="369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300">
                <a:solidFill>
                  <a:schemeClr val="accent2"/>
                </a:solidFill>
              </a:defRPr>
            </a:pPr>
            <a:r>
              <a:t>Proven willingness to pay for grounded AI:  </a:t>
            </a:r>
            <a:r>
              <a:rPr b="0">
                <a:solidFill>
                  <a:srgbClr val="FFFFFF"/>
                </a:solidFill>
              </a:rPr>
              <a:t>AlphaSense reached $600M+ ARR at a $7.5B valuation (Jun 2026). Anvest delivers institutional filing intelligence at Indian Desk &amp; Pro price points.</a:t>
            </a:r>
          </a:p>
        </p:txBody>
      </p:sp>
      <p:sp>
        <p:nvSpPr>
          <p:cNvPr id="265" name="Text 20"/>
          <p:cNvSpPr txBox="1"/>
          <p:nvPr/>
        </p:nvSpPr>
        <p:spPr>
          <a:xfrm>
            <a:off x="548639" y="6108191"/>
            <a:ext cx="10362897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1000">
                <a:solidFill>
                  <a:schemeClr val="accent5"/>
                </a:solidFill>
              </a:defRPr>
            </a:lvl1pPr>
          </a:lstStyle>
          <a:p>
            <a:pPr/>
            <a:r>
              <a:t>SEBI retail algo circular (Feb 2025; glide path Sep 2025) · Zerodha Kite MCP · NSE Market Pulse, Jul 2026 · fintech.global (Jun 2026)</a:t>
            </a:r>
          </a:p>
        </p:txBody>
      </p:sp>
      <p:sp>
        <p:nvSpPr>
          <p:cNvPr id="266" name="Slide Number Placeholder 0"/>
          <p:cNvSpPr txBox="1"/>
          <p:nvPr>
            <p:ph type="sldNum" sz="quarter" idx="4294967295"/>
          </p:nvPr>
        </p:nvSpPr>
        <p:spPr>
          <a:xfrm>
            <a:off x="11516055" y="6419088"/>
            <a:ext cx="127001" cy="1370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Text 0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pPr/>
            <a:r>
              <a:t>MARKET</a:t>
            </a:r>
          </a:p>
        </p:txBody>
      </p:sp>
      <p:sp>
        <p:nvSpPr>
          <p:cNvPr id="271" name="Text 0"/>
          <p:cNvSpPr txBox="1"/>
          <p:nvPr>
            <p:ph type="title"/>
          </p:nvPr>
        </p:nvSpPr>
        <p:spPr>
          <a:xfrm>
            <a:off x="548639" y="676655"/>
            <a:ext cx="11094417" cy="868682"/>
          </a:xfrm>
          <a:prstGeom prst="rect">
            <a:avLst/>
          </a:prstGeom>
        </p:spPr>
        <p:txBody>
          <a:bodyPr lIns="0" tIns="0" rIns="0" bIns="0"/>
          <a:lstStyle>
            <a:lvl1pPr defTabSz="886968">
              <a:defRPr sz="3104"/>
            </a:lvl1pPr>
          </a:lstStyle>
          <a:p>
            <a:pPr/>
            <a:r>
              <a:t>A $1.3B annual market across desks and active traders</a:t>
            </a:r>
          </a:p>
        </p:txBody>
      </p:sp>
      <p:sp>
        <p:nvSpPr>
          <p:cNvPr id="272" name="TAM circle"/>
          <p:cNvSpPr/>
          <p:nvPr/>
        </p:nvSpPr>
        <p:spPr>
          <a:xfrm>
            <a:off x="868680" y="1691639"/>
            <a:ext cx="4297680" cy="4297681"/>
          </a:xfrm>
          <a:prstGeom prst="ellipse">
            <a:avLst/>
          </a:prstGeom>
          <a:solidFill>
            <a:srgbClr val="E4E0F5"/>
          </a:solidFill>
          <a:ln w="1905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3" name="SAM circle"/>
          <p:cNvSpPr/>
          <p:nvPr/>
        </p:nvSpPr>
        <p:spPr>
          <a:xfrm>
            <a:off x="1554479" y="3063239"/>
            <a:ext cx="2926082" cy="2926082"/>
          </a:xfrm>
          <a:prstGeom prst="ellipse">
            <a:avLst/>
          </a:prstGeom>
          <a:solidFill>
            <a:srgbClr val="B7ABE6"/>
          </a:solidFill>
          <a:ln w="1905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4" name="SOM circle"/>
          <p:cNvSpPr/>
          <p:nvPr/>
        </p:nvSpPr>
        <p:spPr>
          <a:xfrm>
            <a:off x="2286000" y="4526279"/>
            <a:ext cx="1463041" cy="1463041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5" name="Text 5"/>
          <p:cNvSpPr txBox="1"/>
          <p:nvPr/>
        </p:nvSpPr>
        <p:spPr>
          <a:xfrm>
            <a:off x="2468879" y="1965960"/>
            <a:ext cx="109728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300">
                <a:solidFill>
                  <a:schemeClr val="accent1"/>
                </a:solidFill>
              </a:defRPr>
            </a:lvl1pPr>
          </a:lstStyle>
          <a:p>
            <a:pPr/>
            <a:r>
              <a:t>TAM</a:t>
            </a:r>
          </a:p>
        </p:txBody>
      </p:sp>
      <p:sp>
        <p:nvSpPr>
          <p:cNvPr id="276" name="Text 6"/>
          <p:cNvSpPr txBox="1"/>
          <p:nvPr/>
        </p:nvSpPr>
        <p:spPr>
          <a:xfrm>
            <a:off x="2468879" y="3337559"/>
            <a:ext cx="109728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300"/>
            </a:lvl1pPr>
          </a:lstStyle>
          <a:p>
            <a:pPr/>
            <a:r>
              <a:t>SAM</a:t>
            </a:r>
          </a:p>
        </p:txBody>
      </p:sp>
      <p:sp>
        <p:nvSpPr>
          <p:cNvPr id="277" name="Text 7"/>
          <p:cNvSpPr txBox="1"/>
          <p:nvPr/>
        </p:nvSpPr>
        <p:spPr>
          <a:xfrm>
            <a:off x="2468879" y="4983479"/>
            <a:ext cx="109728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300"/>
            </a:lvl1pPr>
          </a:lstStyle>
          <a:p>
            <a:pPr/>
            <a:r>
              <a:t>SOM</a:t>
            </a:r>
          </a:p>
        </p:txBody>
      </p:sp>
      <p:sp>
        <p:nvSpPr>
          <p:cNvPr id="278" name="legend dot 1"/>
          <p:cNvSpPr/>
          <p:nvPr/>
        </p:nvSpPr>
        <p:spPr>
          <a:xfrm>
            <a:off x="5806440" y="1874520"/>
            <a:ext cx="201169" cy="201169"/>
          </a:xfrm>
          <a:prstGeom prst="ellipse">
            <a:avLst/>
          </a:prstGeom>
          <a:solidFill>
            <a:srgbClr val="E4E0F5"/>
          </a:solidFill>
          <a:ln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9" name="Text 9"/>
          <p:cNvSpPr txBox="1"/>
          <p:nvPr/>
        </p:nvSpPr>
        <p:spPr>
          <a:xfrm>
            <a:off x="6172200" y="1783079"/>
            <a:ext cx="548640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₹12,269 Cr  ·  $1.3B / yr</a:t>
            </a:r>
          </a:p>
        </p:txBody>
      </p:sp>
      <p:sp>
        <p:nvSpPr>
          <p:cNvPr id="280" name="Text 10"/>
          <p:cNvSpPr txBox="1"/>
          <p:nvPr/>
        </p:nvSpPr>
        <p:spPr>
          <a:xfrm>
            <a:off x="6172200" y="2167127"/>
            <a:ext cx="5486400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434B6B"/>
                </a:solidFill>
              </a:defRPr>
            </a:lvl1pPr>
          </a:lstStyle>
          <a:p>
            <a:pPr/>
            <a:r>
              <a:t>4.6 Cr active NSE investors on Plus, plus 3.55L SEBI advisers, analysts and MF distributors on Desk</a:t>
            </a:r>
          </a:p>
        </p:txBody>
      </p:sp>
      <p:sp>
        <p:nvSpPr>
          <p:cNvPr id="281" name="legend dot 2"/>
          <p:cNvSpPr/>
          <p:nvPr/>
        </p:nvSpPr>
        <p:spPr>
          <a:xfrm>
            <a:off x="5806440" y="2862072"/>
            <a:ext cx="201169" cy="201169"/>
          </a:xfrm>
          <a:prstGeom prst="ellipse">
            <a:avLst/>
          </a:prstGeom>
          <a:solidFill>
            <a:srgbClr val="B7ABE6"/>
          </a:solidFill>
          <a:ln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2" name="Text 12"/>
          <p:cNvSpPr txBox="1"/>
          <p:nvPr/>
        </p:nvSpPr>
        <p:spPr>
          <a:xfrm>
            <a:off x="6172200" y="2770632"/>
            <a:ext cx="548640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₹2,363 Cr  ·  $247M / yr</a:t>
            </a:r>
          </a:p>
        </p:txBody>
      </p:sp>
      <p:sp>
        <p:nvSpPr>
          <p:cNvPr id="283" name="Text 13"/>
          <p:cNvSpPr txBox="1"/>
          <p:nvPr/>
        </p:nvSpPr>
        <p:spPr>
          <a:xfrm>
            <a:off x="6172200" y="3154679"/>
            <a:ext cx="5486400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434B6B"/>
                </a:solidFill>
              </a:defRPr>
            </a:lvl1pPr>
          </a:lstStyle>
          <a:p>
            <a:pPr/>
            <a:r>
              <a:t>96L active equity/F&amp;O traders on Plus &amp; Pro, plus 3,900 SEBI RA, RIA and PMS firms (and top MF distributors) on Desk</a:t>
            </a:r>
          </a:p>
        </p:txBody>
      </p:sp>
      <p:sp>
        <p:nvSpPr>
          <p:cNvPr id="284" name="legend dot 3"/>
          <p:cNvSpPr/>
          <p:nvPr/>
        </p:nvSpPr>
        <p:spPr>
          <a:xfrm>
            <a:off x="5806440" y="3849623"/>
            <a:ext cx="201169" cy="20116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5" name="Text 15"/>
          <p:cNvSpPr txBox="1"/>
          <p:nvPr/>
        </p:nvSpPr>
        <p:spPr>
          <a:xfrm>
            <a:off x="6172200" y="3758184"/>
            <a:ext cx="548640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₹29.9 Cr  ·  $3.1M ARR</a:t>
            </a:r>
          </a:p>
        </p:txBody>
      </p:sp>
      <p:sp>
        <p:nvSpPr>
          <p:cNvPr id="286" name="Text 16"/>
          <p:cNvSpPr txBox="1"/>
          <p:nvPr/>
        </p:nvSpPr>
        <p:spPr>
          <a:xfrm>
            <a:off x="6172200" y="4142232"/>
            <a:ext cx="5486400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434B6B"/>
                </a:solidFill>
              </a:defRPr>
            </a:lvl1pPr>
          </a:lstStyle>
          <a:p>
            <a:pPr/>
            <a:r>
              <a:t>Year-5 scenario across all four engines: ~1.3% of SAM (₹14.6 Cr core SaaS + ₹15.2 Cr partners/algos)</a:t>
            </a:r>
          </a:p>
        </p:txBody>
      </p:sp>
      <p:sp>
        <p:nvSpPr>
          <p:cNvPr id="287" name="first customers card"/>
          <p:cNvSpPr/>
          <p:nvPr/>
        </p:nvSpPr>
        <p:spPr>
          <a:xfrm>
            <a:off x="5806440" y="4800600"/>
            <a:ext cx="5833872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38100" dir="5400000">
              <a:srgbClr val="0B0E26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8" name="Text 18"/>
          <p:cNvSpPr txBox="1"/>
          <p:nvPr/>
        </p:nvSpPr>
        <p:spPr>
          <a:xfrm>
            <a:off x="6035040" y="4937759"/>
            <a:ext cx="1371601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2,304</a:t>
            </a:r>
          </a:p>
        </p:txBody>
      </p:sp>
      <p:sp>
        <p:nvSpPr>
          <p:cNvPr id="289" name="Text 19"/>
          <p:cNvSpPr txBox="1"/>
          <p:nvPr/>
        </p:nvSpPr>
        <p:spPr>
          <a:xfrm>
            <a:off x="6035040" y="5358384"/>
            <a:ext cx="132588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434B6B"/>
                </a:solidFill>
              </a:defRPr>
            </a:lvl1pPr>
          </a:lstStyle>
          <a:p>
            <a:pPr/>
            <a:r>
              <a:t>SEBI research analysts</a:t>
            </a:r>
          </a:p>
        </p:txBody>
      </p:sp>
      <p:sp>
        <p:nvSpPr>
          <p:cNvPr id="290" name="Text 20"/>
          <p:cNvSpPr txBox="1"/>
          <p:nvPr/>
        </p:nvSpPr>
        <p:spPr>
          <a:xfrm>
            <a:off x="7452359" y="4937759"/>
            <a:ext cx="1371601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1,057</a:t>
            </a:r>
          </a:p>
        </p:txBody>
      </p:sp>
      <p:sp>
        <p:nvSpPr>
          <p:cNvPr id="291" name="Text 21"/>
          <p:cNvSpPr txBox="1"/>
          <p:nvPr/>
        </p:nvSpPr>
        <p:spPr>
          <a:xfrm>
            <a:off x="7452359" y="5358384"/>
            <a:ext cx="132588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434B6B"/>
                </a:solidFill>
              </a:defRPr>
            </a:lvl1pPr>
          </a:lstStyle>
          <a:p>
            <a:pPr/>
            <a:r>
              <a:t>investment advisers</a:t>
            </a:r>
          </a:p>
        </p:txBody>
      </p:sp>
      <p:sp>
        <p:nvSpPr>
          <p:cNvPr id="292" name="Text 22"/>
          <p:cNvSpPr txBox="1"/>
          <p:nvPr/>
        </p:nvSpPr>
        <p:spPr>
          <a:xfrm>
            <a:off x="8869680" y="4937759"/>
            <a:ext cx="1371601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539</a:t>
            </a:r>
          </a:p>
        </p:txBody>
      </p:sp>
      <p:sp>
        <p:nvSpPr>
          <p:cNvPr id="293" name="Text 23"/>
          <p:cNvSpPr txBox="1"/>
          <p:nvPr/>
        </p:nvSpPr>
        <p:spPr>
          <a:xfrm>
            <a:off x="8869680" y="5358384"/>
            <a:ext cx="132588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434B6B"/>
                </a:solidFill>
              </a:defRPr>
            </a:lvl1pPr>
          </a:lstStyle>
          <a:p>
            <a:pPr/>
            <a:r>
              <a:t>portfolio managers</a:t>
            </a:r>
          </a:p>
        </p:txBody>
      </p:sp>
      <p:sp>
        <p:nvSpPr>
          <p:cNvPr id="294" name="Text 24"/>
          <p:cNvSpPr txBox="1"/>
          <p:nvPr/>
        </p:nvSpPr>
        <p:spPr>
          <a:xfrm>
            <a:off x="10287000" y="4937759"/>
            <a:ext cx="1371600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3.5 lakh</a:t>
            </a:r>
          </a:p>
        </p:txBody>
      </p:sp>
      <p:sp>
        <p:nvSpPr>
          <p:cNvPr id="295" name="Text 25"/>
          <p:cNvSpPr txBox="1"/>
          <p:nvPr/>
        </p:nvSpPr>
        <p:spPr>
          <a:xfrm>
            <a:off x="10287000" y="5358384"/>
            <a:ext cx="1325881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434B6B"/>
                </a:solidFill>
              </a:defRPr>
            </a:lvl1pPr>
          </a:lstStyle>
          <a:p>
            <a:pPr/>
            <a:r>
              <a:t>MF distribution professionals</a:t>
            </a:r>
          </a:p>
        </p:txBody>
      </p:sp>
      <p:sp>
        <p:nvSpPr>
          <p:cNvPr id="296" name="Text 26"/>
          <p:cNvSpPr txBox="1"/>
          <p:nvPr/>
        </p:nvSpPr>
        <p:spPr>
          <a:xfrm>
            <a:off x="548639" y="6108191"/>
            <a:ext cx="10362897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i="1" sz="1000">
                <a:solidFill>
                  <a:schemeClr val="accent5"/>
                </a:solidFill>
              </a:defRPr>
            </a:pPr>
            <a:r>
              <a:t>List prices: Plus ₹2,388/yr, Desk ₹35,988/seat-yr. NSE Market Pulse (Aug 2026) · SEBI FY25 F&amp;O study · SEBI intermediary directory (Oct 2026) · ARN+EUIN holders, Jun 2026 (Cafemutual)</a:t>
            </a:r>
            <a:br/>
            <a:r>
              <a:rPr b="1"/>
              <a:t>TAM</a:t>
            </a:r>
            <a:r>
              <a:t>: Total Addressable Market,  </a:t>
            </a:r>
            <a:r>
              <a:rPr b="1"/>
              <a:t>SAM</a:t>
            </a:r>
            <a:r>
              <a:t>: Serviceable Available Market,  </a:t>
            </a:r>
            <a:r>
              <a:rPr b="1"/>
              <a:t>SOM</a:t>
            </a:r>
            <a:r>
              <a:t>: Serviceable Obtainable Market</a:t>
            </a:r>
          </a:p>
        </p:txBody>
      </p:sp>
      <p:sp>
        <p:nvSpPr>
          <p:cNvPr id="297" name="Slide Number Placeholder 0"/>
          <p:cNvSpPr txBox="1"/>
          <p:nvPr>
            <p:ph type="sldNum" sz="quarter" idx="4294967295"/>
          </p:nvPr>
        </p:nvSpPr>
        <p:spPr>
          <a:xfrm>
            <a:off x="11516055" y="6419088"/>
            <a:ext cx="127001" cy="1370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Text 0"/>
          <p:cNvSpPr txBox="1"/>
          <p:nvPr>
            <p:ph type="body" sz="quarter" idx="1"/>
          </p:nvPr>
        </p:nvSpPr>
        <p:spPr>
          <a:xfrm>
            <a:off x="548640" y="384047"/>
            <a:ext cx="8229601" cy="274321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COMPETITION</a:t>
            </a:r>
          </a:p>
        </p:txBody>
      </p:sp>
      <p:sp>
        <p:nvSpPr>
          <p:cNvPr id="302" name="Text 0"/>
          <p:cNvSpPr txBox="1"/>
          <p:nvPr>
            <p:ph type="title"/>
          </p:nvPr>
        </p:nvSpPr>
        <p:spPr>
          <a:xfrm>
            <a:off x="548639" y="676655"/>
            <a:ext cx="11094417" cy="868681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Why a customer chooses Anvest</a:t>
            </a:r>
          </a:p>
        </p:txBody>
      </p:sp>
      <p:graphicFrame>
        <p:nvGraphicFramePr>
          <p:cNvPr id="303" name="Table 0"/>
          <p:cNvGraphicFramePr/>
          <p:nvPr/>
        </p:nvGraphicFramePr>
        <p:xfrm>
          <a:off x="548640" y="1691639"/>
          <a:ext cx="11091672" cy="3218689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148840"/>
                <a:gridCol w="2103120"/>
                <a:gridCol w="1737360"/>
                <a:gridCol w="1691640"/>
                <a:gridCol w="1737360"/>
                <a:gridCol w="1673351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0B0E26"/>
                          </a:solidFill>
                        </a:rPr>
                        <a:t>Customer task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Anvest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0B0E26"/>
                          </a:solidFill>
                        </a:rPr>
                        <a:t>Screener.in / Tijori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0B0E26"/>
                          </a:solidFill>
                        </a:rPr>
                        <a:t>Trendlyne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0B0E26"/>
                          </a:solidFill>
                        </a:rPr>
                        <a:t>StockGro / Streak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0B0E26"/>
                          </a:solidFill>
                        </a:rPr>
                        <a:t>General AI chat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0B0E26"/>
                          </a:solidFill>
                        </a:rPr>
                        <a:t>Explain a filing, with its sources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000">
                          <a:solidFill>
                            <a:srgbClr val="0B0E26"/>
                          </a:solidFill>
                        </a:rPr>
                        <a:t>Live: cited answers from XBRL &amp; filings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1EE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434B6B"/>
                          </a:solidFill>
                        </a:rPr>
                        <a:t>Metered AI credits (₹500 in Premium); filing alerts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434B6B"/>
                          </a:solidFill>
                        </a:rPr>
                        <a:t>Earnings call summaries; no full-filing Q&amp;A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434B6B"/>
                          </a:solidFill>
                        </a:rPr>
                        <a:t>Stoxo AI chat; Streak has no filing Q&amp;A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434B6B"/>
                          </a:solidFill>
                        </a:rPr>
                        <a:t>Unverified; hallucinates on Indian filings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0B0E26"/>
                          </a:solidFill>
                        </a:rPr>
                        <a:t>Turn an idea into editable filters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000">
                          <a:solidFill>
                            <a:srgbClr val="0B0E26"/>
                          </a:solidFill>
                        </a:rPr>
                        <a:t>Live: plain English to editable formula screen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1EE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434B6B"/>
                          </a:solidFill>
                        </a:rPr>
                        <a:t>Manual ratio queries; AI screen assistant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434B6B"/>
                          </a:solidFill>
                        </a:rPr>
                        <a:t>AI screener creation (Premium)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434B6B"/>
                          </a:solidFill>
                        </a:rPr>
                        <a:t>Technical scanners only (Streak)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64748B"/>
                          </a:solidFill>
                        </a:rPr>
                        <a:t>No live screening database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0B0E26"/>
                          </a:solidFill>
                        </a:rPr>
                        <a:t>Test it with stated costs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000">
                          <a:solidFill>
                            <a:srgbClr val="0B0E26"/>
                          </a:solidFill>
                        </a:rPr>
                        <a:t>Live: STT, brokerage, stamp duty &amp; slippage built in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1EE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64748B"/>
                          </a:solidFill>
                        </a:rPr>
                        <a:t>No historical strategy backtesting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434B6B"/>
                          </a:solidFill>
                        </a:rPr>
                        <a:t>Screener backtesting (excludes custom slippage)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434B6B"/>
                          </a:solidFill>
                        </a:rPr>
                        <a:t>Technical candle backtests; no XBRL rules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64748B"/>
                          </a:solidFill>
                        </a:rPr>
                        <a:t>No backtesting engine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0B0E26"/>
                          </a:solidFill>
                        </a:rPr>
                        <a:t>Practise with virtual money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000">
                          <a:solidFill>
                            <a:srgbClr val="0B0E26"/>
                          </a:solidFill>
                        </a:rPr>
                        <a:t>Live: virtual capital basket + trade journal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1EE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64748B"/>
                          </a:solidFill>
                        </a:rPr>
                        <a:t>Watchlists only; no paper trading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64748B"/>
                          </a:solidFill>
                        </a:rPr>
                        <a:t>Watchlists only; no paper trading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434B6B"/>
                          </a:solidFill>
                        </a:rPr>
                        <a:t>Technical paper trades; no Stoxo paper trading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64748B"/>
                          </a:solidFill>
                        </a:rPr>
                        <a:t>No paper trading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0B0E26"/>
                          </a:solidFill>
                        </a:rPr>
                        <a:t>See portfolio and planning effects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000">
                          <a:solidFill>
                            <a:srgbClr val="0B0E26"/>
                          </a:solidFill>
                        </a:rPr>
                        <a:t>Live: portfolio X-ray, MF overlap, bonds &amp; stress test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1EE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434B6B"/>
                          </a:solidFill>
                        </a:rPr>
                        <a:t>Equity watchlists; no MF overlap or bond analytics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434B6B"/>
                          </a:solidFill>
                        </a:rPr>
                        <a:t>Portfolio health report &amp; basket execution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434B6B"/>
                          </a:solidFill>
                        </a:rPr>
                        <a:t>Analyst trade calls &amp; technical baskets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64748B"/>
                          </a:solidFill>
                        </a:rPr>
                        <a:t>Generic text guidance only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4" name="reason 1"/>
          <p:cNvSpPr/>
          <p:nvPr/>
        </p:nvSpPr>
        <p:spPr>
          <a:xfrm>
            <a:off x="548640" y="5074920"/>
            <a:ext cx="3566160" cy="676657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38100" dir="5400000">
              <a:srgbClr val="0B0E26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5" name="LuBadgeCheck circle"/>
          <p:cNvSpPr/>
          <p:nvPr/>
        </p:nvSpPr>
        <p:spPr>
          <a:xfrm>
            <a:off x="658368" y="5193791"/>
            <a:ext cx="438912" cy="438913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306" name="LuBadgeCheck icon" descr="LuBadgeCheck icon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68095" y="5303520"/>
            <a:ext cx="219458" cy="219457"/>
          </a:xfrm>
          <a:prstGeom prst="rect">
            <a:avLst/>
          </a:prstGeom>
          <a:ln w="12700">
            <a:miter lim="400000"/>
          </a:ln>
        </p:spPr>
      </p:pic>
      <p:sp>
        <p:nvSpPr>
          <p:cNvPr id="307" name="Text 4"/>
          <p:cNvSpPr txBox="1"/>
          <p:nvPr/>
        </p:nvSpPr>
        <p:spPr>
          <a:xfrm>
            <a:off x="1207007" y="5263564"/>
            <a:ext cx="2788922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/>
            </a:lvl1pPr>
          </a:lstStyle>
          <a:p>
            <a:pPr/>
            <a:r>
              <a:t>One account takes a question from cited evidence to a costed test and a paper trade</a:t>
            </a:r>
          </a:p>
        </p:txBody>
      </p:sp>
      <p:sp>
        <p:nvSpPr>
          <p:cNvPr id="308" name="reason 2"/>
          <p:cNvSpPr/>
          <p:nvPr/>
        </p:nvSpPr>
        <p:spPr>
          <a:xfrm>
            <a:off x="4315967" y="5074920"/>
            <a:ext cx="3566161" cy="676657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38100" dir="5400000">
              <a:srgbClr val="0B0E26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9" name="LuWallet circle"/>
          <p:cNvSpPr/>
          <p:nvPr/>
        </p:nvSpPr>
        <p:spPr>
          <a:xfrm>
            <a:off x="4425696" y="5193791"/>
            <a:ext cx="438913" cy="438913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310" name="LuWallet icon" descr="LuWallet icon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535423" y="5303520"/>
            <a:ext cx="219457" cy="219457"/>
          </a:xfrm>
          <a:prstGeom prst="rect">
            <a:avLst/>
          </a:prstGeom>
          <a:ln w="12700">
            <a:miter lim="400000"/>
          </a:ln>
        </p:spPr>
      </p:pic>
      <p:sp>
        <p:nvSpPr>
          <p:cNvPr id="311" name="Text 7"/>
          <p:cNvSpPr txBox="1"/>
          <p:nvPr/>
        </p:nvSpPr>
        <p:spPr>
          <a:xfrm>
            <a:off x="4974335" y="5263564"/>
            <a:ext cx="2788921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/>
            </a:lvl1pPr>
          </a:lstStyle>
          <a:p>
            <a:pPr/>
            <a:r>
              <a:t>Investing and planning together: stocks, IPOs, funds, bonds and retirement</a:t>
            </a:r>
          </a:p>
        </p:txBody>
      </p:sp>
      <p:sp>
        <p:nvSpPr>
          <p:cNvPr id="312" name="reason 3"/>
          <p:cNvSpPr/>
          <p:nvPr/>
        </p:nvSpPr>
        <p:spPr>
          <a:xfrm>
            <a:off x="8083295" y="5074920"/>
            <a:ext cx="3566161" cy="676657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38100" dir="5400000">
              <a:srgbClr val="0B0E26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3" name="LuSparkles circle"/>
          <p:cNvSpPr/>
          <p:nvPr/>
        </p:nvSpPr>
        <p:spPr>
          <a:xfrm>
            <a:off x="8193023" y="5193791"/>
            <a:ext cx="438913" cy="438913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314" name="LuSparkles icon" descr="LuSparkles icon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302752" y="5303520"/>
            <a:ext cx="219457" cy="219457"/>
          </a:xfrm>
          <a:prstGeom prst="rect">
            <a:avLst/>
          </a:prstGeom>
          <a:ln w="12700">
            <a:miter lim="400000"/>
          </a:ln>
        </p:spPr>
      </p:pic>
      <p:sp>
        <p:nvSpPr>
          <p:cNvPr id="315" name="Text 10"/>
          <p:cNvSpPr txBox="1"/>
          <p:nvPr/>
        </p:nvSpPr>
        <p:spPr>
          <a:xfrm>
            <a:off x="8741664" y="5263564"/>
            <a:ext cx="2788921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/>
            </a:lvl1pPr>
          </a:lstStyle>
          <a:p>
            <a:pPr/>
            <a:r>
              <a:t>Unmetered AI filing research included in Pro and Desk tiers</a:t>
            </a:r>
          </a:p>
        </p:txBody>
      </p:sp>
      <p:sp>
        <p:nvSpPr>
          <p:cNvPr id="316" name="Text 11"/>
          <p:cNvSpPr txBox="1"/>
          <p:nvPr/>
        </p:nvSpPr>
        <p:spPr>
          <a:xfrm>
            <a:off x="548639" y="6108191"/>
            <a:ext cx="10362897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1000">
                <a:solidFill>
                  <a:schemeClr val="accent5"/>
                </a:solidFill>
              </a:defRPr>
            </a:lvl1pPr>
          </a:lstStyle>
          <a:p>
            <a:pPr/>
            <a:r>
              <a:t>Verified across live platforms (Oct 2026): screener.in · tijorifinance.com · trendlyne.com · streak.tech · stockgro.club. 100% match on spot-checked Q2 FY27 NSE XBRL filings.</a:t>
            </a:r>
          </a:p>
        </p:txBody>
      </p:sp>
      <p:sp>
        <p:nvSpPr>
          <p:cNvPr id="317" name="Slide Number Placeholder 0"/>
          <p:cNvSpPr txBox="1"/>
          <p:nvPr>
            <p:ph type="sldNum" sz="quarter" idx="4294967295"/>
          </p:nvPr>
        </p:nvSpPr>
        <p:spPr>
          <a:xfrm>
            <a:off x="11516055" y="6419088"/>
            <a:ext cx="127001" cy="1370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Text 0"/>
          <p:cNvSpPr txBox="1"/>
          <p:nvPr>
            <p:ph type="body" sz="quarter" idx="1"/>
          </p:nvPr>
        </p:nvSpPr>
        <p:spPr>
          <a:xfrm>
            <a:off x="548640" y="384047"/>
            <a:ext cx="8229601" cy="274321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THE MOAT</a:t>
            </a:r>
          </a:p>
        </p:txBody>
      </p:sp>
      <p:sp>
        <p:nvSpPr>
          <p:cNvPr id="322" name="Text 0"/>
          <p:cNvSpPr txBox="1"/>
          <p:nvPr>
            <p:ph type="title"/>
          </p:nvPr>
        </p:nvSpPr>
        <p:spPr>
          <a:xfrm>
            <a:off x="548639" y="676655"/>
            <a:ext cx="11094417" cy="868681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The moat is the data engine beneath the AI</a:t>
            </a:r>
          </a:p>
        </p:txBody>
      </p:sp>
      <p:sp>
        <p:nvSpPr>
          <p:cNvPr id="323" name="pipeline step 1"/>
          <p:cNvSpPr/>
          <p:nvPr/>
        </p:nvSpPr>
        <p:spPr>
          <a:xfrm>
            <a:off x="548640" y="1737360"/>
            <a:ext cx="2057401" cy="1600201"/>
          </a:xfrm>
          <a:prstGeom prst="roundRect">
            <a:avLst>
              <a:gd name="adj" fmla="val 6857"/>
            </a:avLst>
          </a:prstGeom>
          <a:solidFill>
            <a:srgbClr val="FFFFFF">
              <a:alpha val="8000"/>
            </a:srgbClr>
          </a:solidFill>
          <a:ln>
            <a:solidFill>
              <a:schemeClr val="accent6">
                <a:alpha val="25000"/>
              </a:scheme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4" name="LuDatabase circle"/>
          <p:cNvSpPr/>
          <p:nvPr/>
        </p:nvSpPr>
        <p:spPr>
          <a:xfrm>
            <a:off x="749808" y="1901951"/>
            <a:ext cx="457201" cy="457201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325" name="LuDatabase icon" descr="LuDatabase icon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64108" y="2016251"/>
            <a:ext cx="228601" cy="228601"/>
          </a:xfrm>
          <a:prstGeom prst="rect">
            <a:avLst/>
          </a:prstGeom>
          <a:ln w="12700">
            <a:miter lim="400000"/>
          </a:ln>
        </p:spPr>
      </p:pic>
      <p:sp>
        <p:nvSpPr>
          <p:cNvPr id="326" name="Text 4"/>
          <p:cNvSpPr txBox="1"/>
          <p:nvPr/>
        </p:nvSpPr>
        <p:spPr>
          <a:xfrm>
            <a:off x="749807" y="2450592"/>
            <a:ext cx="173736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Ingest</a:t>
            </a:r>
          </a:p>
        </p:txBody>
      </p:sp>
      <p:sp>
        <p:nvSpPr>
          <p:cNvPr id="327" name="Text 5"/>
          <p:cNvSpPr txBox="1"/>
          <p:nvPr/>
        </p:nvSpPr>
        <p:spPr>
          <a:xfrm>
            <a:off x="749807" y="2743200"/>
            <a:ext cx="1737362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/>
            <a:r>
              <a:t>Prices, filings, XBRL, NAVs and prospectuses, every night</a:t>
            </a:r>
          </a:p>
        </p:txBody>
      </p:sp>
      <p:sp>
        <p:nvSpPr>
          <p:cNvPr id="328" name="pipeline arrow 1 circle"/>
          <p:cNvSpPr/>
          <p:nvPr/>
        </p:nvSpPr>
        <p:spPr>
          <a:xfrm>
            <a:off x="2468879" y="2395727"/>
            <a:ext cx="274321" cy="274321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329" name="pipeline arrow 1 icon" descr="pipeline arrow 1 icon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537460" y="2464307"/>
            <a:ext cx="137161" cy="137161"/>
          </a:xfrm>
          <a:prstGeom prst="rect">
            <a:avLst/>
          </a:prstGeom>
          <a:ln w="12700">
            <a:miter lim="400000"/>
          </a:ln>
        </p:spPr>
      </p:pic>
      <p:sp>
        <p:nvSpPr>
          <p:cNvPr id="330" name="pipeline step 2"/>
          <p:cNvSpPr/>
          <p:nvPr/>
        </p:nvSpPr>
        <p:spPr>
          <a:xfrm>
            <a:off x="2788920" y="1737360"/>
            <a:ext cx="2057401" cy="1600201"/>
          </a:xfrm>
          <a:prstGeom prst="roundRect">
            <a:avLst>
              <a:gd name="adj" fmla="val 6857"/>
            </a:avLst>
          </a:prstGeom>
          <a:solidFill>
            <a:srgbClr val="FFFFFF">
              <a:alpha val="8000"/>
            </a:srgbClr>
          </a:solidFill>
          <a:ln>
            <a:solidFill>
              <a:schemeClr val="accent6">
                <a:alpha val="25000"/>
              </a:scheme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1" name="LuScanText circle"/>
          <p:cNvSpPr/>
          <p:nvPr/>
        </p:nvSpPr>
        <p:spPr>
          <a:xfrm>
            <a:off x="2990088" y="1901951"/>
            <a:ext cx="457201" cy="457201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332" name="LuScanText icon" descr="LuScanText icon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3104388" y="2016251"/>
            <a:ext cx="228601" cy="228601"/>
          </a:xfrm>
          <a:prstGeom prst="rect">
            <a:avLst/>
          </a:prstGeom>
          <a:ln w="12700">
            <a:miter lim="400000"/>
          </a:ln>
        </p:spPr>
      </p:pic>
      <p:sp>
        <p:nvSpPr>
          <p:cNvPr id="333" name="Text 9"/>
          <p:cNvSpPr txBox="1"/>
          <p:nvPr/>
        </p:nvSpPr>
        <p:spPr>
          <a:xfrm>
            <a:off x="2990088" y="2450592"/>
            <a:ext cx="173736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Repair and OCR</a:t>
            </a:r>
          </a:p>
        </p:txBody>
      </p:sp>
      <p:sp>
        <p:nvSpPr>
          <p:cNvPr id="334" name="Text 10"/>
          <p:cNvSpPr txBox="1"/>
          <p:nvPr/>
        </p:nvSpPr>
        <p:spPr>
          <a:xfrm>
            <a:off x="2990088" y="2743200"/>
            <a:ext cx="1737361" cy="464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/>
            <a:r>
              <a:t>Fixes malformed exchange filings; reads scanned small-cap PDFs</a:t>
            </a:r>
          </a:p>
        </p:txBody>
      </p:sp>
      <p:sp>
        <p:nvSpPr>
          <p:cNvPr id="335" name="pipeline arrow 2 circle"/>
          <p:cNvSpPr/>
          <p:nvPr/>
        </p:nvSpPr>
        <p:spPr>
          <a:xfrm>
            <a:off x="4709159" y="2395727"/>
            <a:ext cx="274321" cy="274321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336" name="pipeline arrow 2 icon" descr="pipeline arrow 2 icon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777740" y="2464307"/>
            <a:ext cx="137161" cy="137161"/>
          </a:xfrm>
          <a:prstGeom prst="rect">
            <a:avLst/>
          </a:prstGeom>
          <a:ln w="12700">
            <a:miter lim="400000"/>
          </a:ln>
        </p:spPr>
      </p:pic>
      <p:sp>
        <p:nvSpPr>
          <p:cNvPr id="337" name="pipeline step 3"/>
          <p:cNvSpPr/>
          <p:nvPr/>
        </p:nvSpPr>
        <p:spPr>
          <a:xfrm>
            <a:off x="5029200" y="1737360"/>
            <a:ext cx="2057400" cy="1600201"/>
          </a:xfrm>
          <a:prstGeom prst="roundRect">
            <a:avLst>
              <a:gd name="adj" fmla="val 6857"/>
            </a:avLst>
          </a:prstGeom>
          <a:solidFill>
            <a:srgbClr val="FFFFFF">
              <a:alpha val="8000"/>
            </a:srgbClr>
          </a:solidFill>
          <a:ln>
            <a:solidFill>
              <a:schemeClr val="accent6">
                <a:alpha val="25000"/>
              </a:scheme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8" name="LuBadgeCheck circle"/>
          <p:cNvSpPr/>
          <p:nvPr/>
        </p:nvSpPr>
        <p:spPr>
          <a:xfrm>
            <a:off x="5230367" y="1901951"/>
            <a:ext cx="457201" cy="457201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339" name="LuBadgeCheck icon" descr="LuBadgeCheck icon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5344667" y="2016251"/>
            <a:ext cx="228601" cy="228601"/>
          </a:xfrm>
          <a:prstGeom prst="rect">
            <a:avLst/>
          </a:prstGeom>
          <a:ln w="12700">
            <a:miter lim="400000"/>
          </a:ln>
        </p:spPr>
      </p:pic>
      <p:sp>
        <p:nvSpPr>
          <p:cNvPr id="340" name="Text 14"/>
          <p:cNvSpPr txBox="1"/>
          <p:nvPr/>
        </p:nvSpPr>
        <p:spPr>
          <a:xfrm>
            <a:off x="5230367" y="2450592"/>
            <a:ext cx="173736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Verify</a:t>
            </a:r>
          </a:p>
        </p:txBody>
      </p:sp>
      <p:sp>
        <p:nvSpPr>
          <p:cNvPr id="341" name="Text 15"/>
          <p:cNvSpPr txBox="1"/>
          <p:nvPr/>
        </p:nvSpPr>
        <p:spPr>
          <a:xfrm>
            <a:off x="5230367" y="2743200"/>
            <a:ext cx="1737361" cy="464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/>
            <a:r>
              <a:t>Identity checks, cross-validation and sector-aware rules</a:t>
            </a:r>
          </a:p>
        </p:txBody>
      </p:sp>
      <p:sp>
        <p:nvSpPr>
          <p:cNvPr id="342" name="pipeline arrow 3 circle"/>
          <p:cNvSpPr/>
          <p:nvPr/>
        </p:nvSpPr>
        <p:spPr>
          <a:xfrm>
            <a:off x="6949440" y="2395727"/>
            <a:ext cx="274321" cy="274321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343" name="pipeline arrow 3 icon" descr="pipeline arrow 3 icon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018019" y="2464307"/>
            <a:ext cx="137161" cy="137161"/>
          </a:xfrm>
          <a:prstGeom prst="rect">
            <a:avLst/>
          </a:prstGeom>
          <a:ln w="12700">
            <a:miter lim="400000"/>
          </a:ln>
        </p:spPr>
      </p:pic>
      <p:sp>
        <p:nvSpPr>
          <p:cNvPr id="344" name="pipeline step 4"/>
          <p:cNvSpPr/>
          <p:nvPr/>
        </p:nvSpPr>
        <p:spPr>
          <a:xfrm>
            <a:off x="7269480" y="1737360"/>
            <a:ext cx="2057401" cy="1600201"/>
          </a:xfrm>
          <a:prstGeom prst="roundRect">
            <a:avLst>
              <a:gd name="adj" fmla="val 6857"/>
            </a:avLst>
          </a:prstGeom>
          <a:solidFill>
            <a:srgbClr val="FFFFFF">
              <a:alpha val="8000"/>
            </a:srgbClr>
          </a:solidFill>
          <a:ln>
            <a:solidFill>
              <a:schemeClr val="accent6">
                <a:alpha val="25000"/>
              </a:scheme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5" name="LuShieldCheck circle"/>
          <p:cNvSpPr/>
          <p:nvPr/>
        </p:nvSpPr>
        <p:spPr>
          <a:xfrm>
            <a:off x="7470647" y="1901951"/>
            <a:ext cx="457201" cy="457201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346" name="LuShieldCheck icon" descr="LuShieldCheck icon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7584947" y="2016251"/>
            <a:ext cx="228601" cy="228601"/>
          </a:xfrm>
          <a:prstGeom prst="rect">
            <a:avLst/>
          </a:prstGeom>
          <a:ln w="12700">
            <a:miter lim="400000"/>
          </a:ln>
        </p:spPr>
      </p:pic>
      <p:sp>
        <p:nvSpPr>
          <p:cNvPr id="347" name="Text 19"/>
          <p:cNvSpPr txBox="1"/>
          <p:nvPr/>
        </p:nvSpPr>
        <p:spPr>
          <a:xfrm>
            <a:off x="7470647" y="2450592"/>
            <a:ext cx="173736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Ground</a:t>
            </a:r>
          </a:p>
        </p:txBody>
      </p:sp>
      <p:sp>
        <p:nvSpPr>
          <p:cNvPr id="348" name="Text 20"/>
          <p:cNvSpPr txBox="1"/>
          <p:nvPr/>
        </p:nvSpPr>
        <p:spPr>
          <a:xfrm>
            <a:off x="7470647" y="2743200"/>
            <a:ext cx="1737361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/>
            <a:r>
              <a:t>Cite the filing, or say the data isn't there</a:t>
            </a:r>
          </a:p>
        </p:txBody>
      </p:sp>
      <p:sp>
        <p:nvSpPr>
          <p:cNvPr id="349" name="pipeline arrow 4 circle"/>
          <p:cNvSpPr/>
          <p:nvPr/>
        </p:nvSpPr>
        <p:spPr>
          <a:xfrm>
            <a:off x="9189719" y="2395727"/>
            <a:ext cx="274321" cy="274321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350" name="pipeline arrow 4 icon" descr="pipeline arrow 4 icon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9258300" y="2464307"/>
            <a:ext cx="137161" cy="137161"/>
          </a:xfrm>
          <a:prstGeom prst="rect">
            <a:avLst/>
          </a:prstGeom>
          <a:ln w="12700">
            <a:miter lim="400000"/>
          </a:ln>
        </p:spPr>
      </p:pic>
      <p:sp>
        <p:nvSpPr>
          <p:cNvPr id="351" name="pipeline step 5"/>
          <p:cNvSpPr/>
          <p:nvPr/>
        </p:nvSpPr>
        <p:spPr>
          <a:xfrm>
            <a:off x="9509759" y="1737360"/>
            <a:ext cx="2057401" cy="1600201"/>
          </a:xfrm>
          <a:prstGeom prst="roundRect">
            <a:avLst>
              <a:gd name="adj" fmla="val 6857"/>
            </a:avLst>
          </a:prstGeom>
          <a:solidFill>
            <a:srgbClr val="FFFFFF">
              <a:alpha val="8000"/>
            </a:srgbClr>
          </a:solidFill>
          <a:ln>
            <a:solidFill>
              <a:schemeClr val="accent6">
                <a:alpha val="25000"/>
              </a:scheme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2" name="LuSparkles circle"/>
          <p:cNvSpPr/>
          <p:nvPr/>
        </p:nvSpPr>
        <p:spPr>
          <a:xfrm>
            <a:off x="9710928" y="1901951"/>
            <a:ext cx="457201" cy="457201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353" name="LuSparkles icon" descr="LuSparkles icon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9825228" y="2016251"/>
            <a:ext cx="228601" cy="228601"/>
          </a:xfrm>
          <a:prstGeom prst="rect">
            <a:avLst/>
          </a:prstGeom>
          <a:ln w="12700">
            <a:miter lim="400000"/>
          </a:ln>
        </p:spPr>
      </p:pic>
      <p:sp>
        <p:nvSpPr>
          <p:cNvPr id="354" name="Text 24"/>
          <p:cNvSpPr txBox="1"/>
          <p:nvPr/>
        </p:nvSpPr>
        <p:spPr>
          <a:xfrm>
            <a:off x="9710928" y="2450592"/>
            <a:ext cx="173736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Serve</a:t>
            </a:r>
          </a:p>
        </p:txBody>
      </p:sp>
      <p:sp>
        <p:nvSpPr>
          <p:cNvPr id="355" name="Text 25"/>
          <p:cNvSpPr txBox="1"/>
          <p:nvPr/>
        </p:nvSpPr>
        <p:spPr>
          <a:xfrm>
            <a:off x="9710928" y="2743200"/>
            <a:ext cx="1737361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/>
            <a:r>
              <a:t>One AI across research, screens, backtests and plans</a:t>
            </a:r>
          </a:p>
        </p:txBody>
      </p:sp>
      <p:sp>
        <p:nvSpPr>
          <p:cNvPr id="356" name="Text 26"/>
          <p:cNvSpPr txBox="1"/>
          <p:nvPr/>
        </p:nvSpPr>
        <p:spPr>
          <a:xfrm>
            <a:off x="548639" y="3611879"/>
            <a:ext cx="2103122" cy="419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6,137</a:t>
            </a:r>
          </a:p>
        </p:txBody>
      </p:sp>
      <p:sp>
        <p:nvSpPr>
          <p:cNvPr id="357" name="Text 27"/>
          <p:cNvSpPr txBox="1"/>
          <p:nvPr/>
        </p:nvSpPr>
        <p:spPr>
          <a:xfrm>
            <a:off x="548640" y="4114800"/>
            <a:ext cx="2011679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/>
            <a:r>
              <a:t>listed companies, full-universe XBRL</a:t>
            </a:r>
          </a:p>
        </p:txBody>
      </p:sp>
      <p:sp>
        <p:nvSpPr>
          <p:cNvPr id="358" name="Text 28"/>
          <p:cNvSpPr txBox="1"/>
          <p:nvPr/>
        </p:nvSpPr>
        <p:spPr>
          <a:xfrm>
            <a:off x="2788920" y="3611879"/>
            <a:ext cx="2103121" cy="419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2.89M</a:t>
            </a:r>
          </a:p>
        </p:txBody>
      </p:sp>
      <p:sp>
        <p:nvSpPr>
          <p:cNvPr id="359" name="Text 29"/>
          <p:cNvSpPr txBox="1"/>
          <p:nvPr/>
        </p:nvSpPr>
        <p:spPr>
          <a:xfrm>
            <a:off x="2788920" y="4114800"/>
            <a:ext cx="201168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/>
            <a:r>
              <a:t>corporate announcements</a:t>
            </a:r>
          </a:p>
        </p:txBody>
      </p:sp>
      <p:sp>
        <p:nvSpPr>
          <p:cNvPr id="360" name="Text 30"/>
          <p:cNvSpPr txBox="1"/>
          <p:nvPr/>
        </p:nvSpPr>
        <p:spPr>
          <a:xfrm>
            <a:off x="5029199" y="3611879"/>
            <a:ext cx="2103122" cy="419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1.35M</a:t>
            </a:r>
          </a:p>
        </p:txBody>
      </p:sp>
      <p:sp>
        <p:nvSpPr>
          <p:cNvPr id="361" name="Text 31"/>
          <p:cNvSpPr txBox="1"/>
          <p:nvPr/>
        </p:nvSpPr>
        <p:spPr>
          <a:xfrm>
            <a:off x="5029200" y="4114800"/>
            <a:ext cx="2011679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/>
            <a:r>
              <a:t>indexed passages, refreshed daily</a:t>
            </a:r>
          </a:p>
        </p:txBody>
      </p:sp>
      <p:sp>
        <p:nvSpPr>
          <p:cNvPr id="362" name="Text 32"/>
          <p:cNvSpPr txBox="1"/>
          <p:nvPr/>
        </p:nvSpPr>
        <p:spPr>
          <a:xfrm>
            <a:off x="7269480" y="3611879"/>
            <a:ext cx="2103121" cy="419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5,405</a:t>
            </a:r>
          </a:p>
        </p:txBody>
      </p:sp>
      <p:sp>
        <p:nvSpPr>
          <p:cNvPr id="363" name="Text 33"/>
          <p:cNvSpPr txBox="1"/>
          <p:nvPr/>
        </p:nvSpPr>
        <p:spPr>
          <a:xfrm>
            <a:off x="7269480" y="4114800"/>
            <a:ext cx="201168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/>
            <a:r>
              <a:t>active AI company profiles</a:t>
            </a:r>
          </a:p>
        </p:txBody>
      </p:sp>
      <p:sp>
        <p:nvSpPr>
          <p:cNvPr id="364" name="Text 34"/>
          <p:cNvSpPr txBox="1"/>
          <p:nvPr/>
        </p:nvSpPr>
        <p:spPr>
          <a:xfrm>
            <a:off x="9509759" y="3611879"/>
            <a:ext cx="2103121" cy="419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991</a:t>
            </a:r>
          </a:p>
        </p:txBody>
      </p:sp>
      <p:sp>
        <p:nvSpPr>
          <p:cNvPr id="365" name="Text 35"/>
          <p:cNvSpPr txBox="1"/>
          <p:nvPr/>
        </p:nvSpPr>
        <p:spPr>
          <a:xfrm>
            <a:off x="9509759" y="4114800"/>
            <a:ext cx="201168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/>
            <a:r>
              <a:t>mutual fund schemes</a:t>
            </a:r>
          </a:p>
        </p:txBody>
      </p:sp>
      <p:sp>
        <p:nvSpPr>
          <p:cNvPr id="366" name="lesson card"/>
          <p:cNvSpPr/>
          <p:nvPr/>
        </p:nvSpPr>
        <p:spPr>
          <a:xfrm>
            <a:off x="548640" y="4800600"/>
            <a:ext cx="11094416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38100" dir="5400000">
              <a:srgbClr val="0B0E26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7" name="LuQuote circle"/>
          <p:cNvSpPr/>
          <p:nvPr/>
        </p:nvSpPr>
        <p:spPr>
          <a:xfrm>
            <a:off x="822960" y="5074920"/>
            <a:ext cx="566929" cy="566929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368" name="LuQuote icon" descr="LuQuote icon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964691" y="5216652"/>
            <a:ext cx="283465" cy="283465"/>
          </a:xfrm>
          <a:prstGeom prst="rect">
            <a:avLst/>
          </a:prstGeom>
          <a:ln w="12700">
            <a:miter lim="400000"/>
          </a:ln>
        </p:spPr>
      </p:pic>
      <p:sp>
        <p:nvSpPr>
          <p:cNvPr id="369" name="Text 38"/>
          <p:cNvSpPr txBox="1"/>
          <p:nvPr/>
        </p:nvSpPr>
        <p:spPr>
          <a:xfrm>
            <a:off x="1645920" y="5163120"/>
            <a:ext cx="9722816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400"/>
            </a:lvl1pPr>
          </a:lstStyle>
          <a:p>
            <a:pPr/>
            <a:r>
              <a:t>NSE's post-FY23 XBRL carries malformed context dates. Annual figures hide inside Q4 filings. Small-cap filings are often scans. Our deterministic repair + OCR pipeline resolves these across 6,137 companies with 100% source traceability.</a:t>
            </a:r>
          </a:p>
        </p:txBody>
      </p:sp>
      <p:sp>
        <p:nvSpPr>
          <p:cNvPr id="370" name="Slide Number Placeholder 0"/>
          <p:cNvSpPr txBox="1"/>
          <p:nvPr>
            <p:ph type="sldNum" sz="quarter" idx="4294967295"/>
          </p:nvPr>
        </p:nvSpPr>
        <p:spPr>
          <a:xfrm>
            <a:off x="11516055" y="6419088"/>
            <a:ext cx="127001" cy="1370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Text 0"/>
          <p:cNvSpPr txBox="1"/>
          <p:nvPr>
            <p:ph type="body" sz="quarter" idx="1"/>
          </p:nvPr>
        </p:nvSpPr>
        <p:spPr>
          <a:xfrm>
            <a:off x="548640" y="384047"/>
            <a:ext cx="8229601" cy="274321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THE FUTURE OF TRADING</a:t>
            </a:r>
          </a:p>
        </p:txBody>
      </p:sp>
      <p:sp>
        <p:nvSpPr>
          <p:cNvPr id="375" name="Text 0"/>
          <p:cNvSpPr txBox="1"/>
          <p:nvPr>
            <p:ph type="title"/>
          </p:nvPr>
        </p:nvSpPr>
        <p:spPr>
          <a:xfrm>
            <a:off x="548639" y="676655"/>
            <a:ext cx="11094417" cy="868681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Retail trading is going algorithmic. Anvest is the on-ramp</a:t>
            </a:r>
          </a:p>
        </p:txBody>
      </p:sp>
      <p:sp>
        <p:nvSpPr>
          <p:cNvPr id="376" name="Text 2"/>
          <p:cNvSpPr txBox="1"/>
          <p:nvPr/>
        </p:nvSpPr>
        <p:spPr>
          <a:xfrm>
            <a:off x="548639" y="1806440"/>
            <a:ext cx="3931922" cy="5303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>
              <a:defRPr b="1" sz="4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54%</a:t>
            </a:r>
          </a:p>
        </p:txBody>
      </p:sp>
      <p:sp>
        <p:nvSpPr>
          <p:cNvPr id="377" name="Text 3"/>
          <p:cNvSpPr txBox="1"/>
          <p:nvPr/>
        </p:nvSpPr>
        <p:spPr>
          <a:xfrm>
            <a:off x="548639" y="2478024"/>
            <a:ext cx="3931922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chemeClr val="accent6"/>
                </a:solidFill>
              </a:defRPr>
            </a:lvl1pPr>
          </a:lstStyle>
          <a:p>
            <a:pPr/>
            <a:r>
              <a:t>of NSE cash-market turnover is algorithmic</a:t>
            </a:r>
          </a:p>
        </p:txBody>
      </p:sp>
      <p:sp>
        <p:nvSpPr>
          <p:cNvPr id="378" name="Text 4"/>
          <p:cNvSpPr txBox="1"/>
          <p:nvPr/>
        </p:nvSpPr>
        <p:spPr>
          <a:xfrm>
            <a:off x="548639" y="3013449"/>
            <a:ext cx="3931922" cy="5303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>
              <a:defRPr b="1" sz="4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67%</a:t>
            </a:r>
          </a:p>
        </p:txBody>
      </p:sp>
      <p:sp>
        <p:nvSpPr>
          <p:cNvPr id="379" name="Text 5"/>
          <p:cNvSpPr txBox="1"/>
          <p:nvPr/>
        </p:nvSpPr>
        <p:spPr>
          <a:xfrm>
            <a:off x="548639" y="3685032"/>
            <a:ext cx="393192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chemeClr val="accent6"/>
                </a:solidFill>
              </a:defRPr>
            </a:lvl1pPr>
          </a:lstStyle>
          <a:p>
            <a:pPr/>
            <a:r>
              <a:t>of equity-derivatives turnover (73% in stock futures)</a:t>
            </a:r>
          </a:p>
        </p:txBody>
      </p:sp>
      <p:sp>
        <p:nvSpPr>
          <p:cNvPr id="380" name="Text 6"/>
          <p:cNvSpPr txBox="1"/>
          <p:nvPr/>
        </p:nvSpPr>
        <p:spPr>
          <a:xfrm>
            <a:off x="548639" y="4417840"/>
            <a:ext cx="3931922" cy="384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>
              <a:defRPr b="1" sz="3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 Apr 2026</a:t>
            </a:r>
          </a:p>
        </p:txBody>
      </p:sp>
      <p:sp>
        <p:nvSpPr>
          <p:cNvPr id="381" name="Text 7"/>
          <p:cNvSpPr txBox="1"/>
          <p:nvPr/>
        </p:nvSpPr>
        <p:spPr>
          <a:xfrm>
            <a:off x="548639" y="4892040"/>
            <a:ext cx="3931922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chemeClr val="accent6"/>
                </a:solidFill>
              </a:defRPr>
            </a:lvl1pPr>
          </a:lstStyle>
          <a:p>
            <a:pPr/>
            <a:r>
              <a:t>SEBI's retail algo framework applies to all brokers</a:t>
            </a:r>
          </a:p>
        </p:txBody>
      </p:sp>
      <p:sp>
        <p:nvSpPr>
          <p:cNvPr id="382" name="Text 8"/>
          <p:cNvSpPr txBox="1"/>
          <p:nvPr/>
        </p:nvSpPr>
        <p:spPr>
          <a:xfrm>
            <a:off x="548639" y="5138928"/>
            <a:ext cx="402336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1100">
                <a:solidFill>
                  <a:schemeClr val="accent6"/>
                </a:solidFill>
              </a:defRPr>
            </a:lvl1pPr>
          </a:lstStyle>
          <a:p>
            <a:pPr/>
            <a:r>
              <a:t>Execution is regulated; pre-trade testing is the open white space.</a:t>
            </a:r>
          </a:p>
        </p:txBody>
      </p:sp>
      <p:sp>
        <p:nvSpPr>
          <p:cNvPr id="383" name="algo step 1"/>
          <p:cNvSpPr/>
          <p:nvPr/>
        </p:nvSpPr>
        <p:spPr>
          <a:xfrm>
            <a:off x="4846320" y="1691639"/>
            <a:ext cx="6793993" cy="640081"/>
          </a:xfrm>
          <a:prstGeom prst="roundRect">
            <a:avLst>
              <a:gd name="adj" fmla="val 17143"/>
            </a:avLst>
          </a:prstGeom>
          <a:solidFill>
            <a:srgbClr val="FFFFFF">
              <a:alpha val="10000"/>
            </a:srgbClr>
          </a:solidFill>
          <a:ln>
            <a:solidFill>
              <a:schemeClr val="accent6">
                <a:alpha val="25000"/>
              </a:scheme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4" name="LuMessageSquareText circle"/>
          <p:cNvSpPr/>
          <p:nvPr/>
        </p:nvSpPr>
        <p:spPr>
          <a:xfrm>
            <a:off x="4983479" y="1792223"/>
            <a:ext cx="438913" cy="438913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385" name="LuMessageSquareText icon" descr="LuMessageSquareText icon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093208" y="1901951"/>
            <a:ext cx="219457" cy="219457"/>
          </a:xfrm>
          <a:prstGeom prst="rect">
            <a:avLst/>
          </a:prstGeom>
          <a:ln w="12700">
            <a:miter lim="400000"/>
          </a:ln>
        </p:spPr>
      </p:pic>
      <p:sp>
        <p:nvSpPr>
          <p:cNvPr id="386" name="Text 11"/>
          <p:cNvSpPr txBox="1"/>
          <p:nvPr/>
        </p:nvSpPr>
        <p:spPr>
          <a:xfrm>
            <a:off x="5577840" y="1918401"/>
            <a:ext cx="118872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Idea</a:t>
            </a:r>
          </a:p>
        </p:txBody>
      </p:sp>
      <p:sp>
        <p:nvSpPr>
          <p:cNvPr id="387" name="Text 12"/>
          <p:cNvSpPr txBox="1"/>
          <p:nvPr/>
        </p:nvSpPr>
        <p:spPr>
          <a:xfrm>
            <a:off x="6766559" y="1928299"/>
            <a:ext cx="384048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chemeClr val="accent6"/>
                </a:solidFill>
              </a:defRPr>
            </a:lvl1pPr>
          </a:lstStyle>
          <a:p>
            <a:pPr/>
            <a:r>
              <a:t>Ask in plain English</a:t>
            </a:r>
          </a:p>
        </p:txBody>
      </p:sp>
      <p:sp>
        <p:nvSpPr>
          <p:cNvPr id="388" name="chip LIVE"/>
          <p:cNvSpPr/>
          <p:nvPr/>
        </p:nvSpPr>
        <p:spPr>
          <a:xfrm>
            <a:off x="10789919" y="1883664"/>
            <a:ext cx="685801" cy="256033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9" name="chip text LIVE"/>
          <p:cNvSpPr txBox="1"/>
          <p:nvPr/>
        </p:nvSpPr>
        <p:spPr>
          <a:xfrm>
            <a:off x="10789919" y="1943144"/>
            <a:ext cx="6858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100" sz="1000">
                <a:solidFill>
                  <a:srgbClr val="FFFFFF"/>
                </a:solidFill>
              </a:defRPr>
            </a:lvl1pPr>
          </a:lstStyle>
          <a:p>
            <a:pPr/>
            <a:r>
              <a:t>LIVE</a:t>
            </a:r>
          </a:p>
        </p:txBody>
      </p:sp>
      <p:sp>
        <p:nvSpPr>
          <p:cNvPr id="390" name="algo step 2"/>
          <p:cNvSpPr/>
          <p:nvPr/>
        </p:nvSpPr>
        <p:spPr>
          <a:xfrm>
            <a:off x="4846320" y="2450592"/>
            <a:ext cx="6793993" cy="640081"/>
          </a:xfrm>
          <a:prstGeom prst="roundRect">
            <a:avLst>
              <a:gd name="adj" fmla="val 17143"/>
            </a:avLst>
          </a:prstGeom>
          <a:solidFill>
            <a:srgbClr val="FFFFFF">
              <a:alpha val="10000"/>
            </a:srgbClr>
          </a:solidFill>
          <a:ln>
            <a:solidFill>
              <a:schemeClr val="accent6">
                <a:alpha val="25000"/>
              </a:scheme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1" name="LuCode circle"/>
          <p:cNvSpPr/>
          <p:nvPr/>
        </p:nvSpPr>
        <p:spPr>
          <a:xfrm>
            <a:off x="4983479" y="2551176"/>
            <a:ext cx="438913" cy="438913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392" name="LuCode icon" descr="LuCode icon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093208" y="2660904"/>
            <a:ext cx="219457" cy="219457"/>
          </a:xfrm>
          <a:prstGeom prst="rect">
            <a:avLst/>
          </a:prstGeom>
          <a:ln w="12700">
            <a:miter lim="400000"/>
          </a:ln>
        </p:spPr>
      </p:pic>
      <p:sp>
        <p:nvSpPr>
          <p:cNvPr id="393" name="Text 17"/>
          <p:cNvSpPr txBox="1"/>
          <p:nvPr/>
        </p:nvSpPr>
        <p:spPr>
          <a:xfrm>
            <a:off x="5577840" y="2677354"/>
            <a:ext cx="118872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Rules</a:t>
            </a:r>
          </a:p>
        </p:txBody>
      </p:sp>
      <p:sp>
        <p:nvSpPr>
          <p:cNvPr id="394" name="Text 18"/>
          <p:cNvSpPr txBox="1"/>
          <p:nvPr/>
        </p:nvSpPr>
        <p:spPr>
          <a:xfrm>
            <a:off x="6766559" y="2687251"/>
            <a:ext cx="384048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chemeClr val="accent6"/>
                </a:solidFill>
              </a:defRPr>
            </a:lvl1pPr>
          </a:lstStyle>
          <a:p>
            <a:pPr/>
            <a:r>
              <a:t>AI writes transparent, white-box rules</a:t>
            </a:r>
          </a:p>
        </p:txBody>
      </p:sp>
      <p:sp>
        <p:nvSpPr>
          <p:cNvPr id="395" name="chip LIVE"/>
          <p:cNvSpPr/>
          <p:nvPr/>
        </p:nvSpPr>
        <p:spPr>
          <a:xfrm>
            <a:off x="10789919" y="2642616"/>
            <a:ext cx="685801" cy="256033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96" name="chip text LIVE"/>
          <p:cNvSpPr txBox="1"/>
          <p:nvPr/>
        </p:nvSpPr>
        <p:spPr>
          <a:xfrm>
            <a:off x="10789919" y="2702096"/>
            <a:ext cx="6858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100" sz="1000">
                <a:solidFill>
                  <a:srgbClr val="FFFFFF"/>
                </a:solidFill>
              </a:defRPr>
            </a:lvl1pPr>
          </a:lstStyle>
          <a:p>
            <a:pPr/>
            <a:r>
              <a:t>LIVE</a:t>
            </a:r>
          </a:p>
        </p:txBody>
      </p:sp>
      <p:sp>
        <p:nvSpPr>
          <p:cNvPr id="397" name="algo step 3"/>
          <p:cNvSpPr/>
          <p:nvPr/>
        </p:nvSpPr>
        <p:spPr>
          <a:xfrm>
            <a:off x="4846320" y="3209544"/>
            <a:ext cx="6793993" cy="640081"/>
          </a:xfrm>
          <a:prstGeom prst="roundRect">
            <a:avLst>
              <a:gd name="adj" fmla="val 17143"/>
            </a:avLst>
          </a:prstGeom>
          <a:solidFill>
            <a:srgbClr val="FFFFFF">
              <a:alpha val="10000"/>
            </a:srgbClr>
          </a:solidFill>
          <a:ln>
            <a:solidFill>
              <a:schemeClr val="accent6">
                <a:alpha val="25000"/>
              </a:scheme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8" name="LuHistory circle"/>
          <p:cNvSpPr/>
          <p:nvPr/>
        </p:nvSpPr>
        <p:spPr>
          <a:xfrm>
            <a:off x="4983479" y="3310128"/>
            <a:ext cx="438913" cy="438913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399" name="LuHistory icon" descr="LuHistory icon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093208" y="3419855"/>
            <a:ext cx="219457" cy="219457"/>
          </a:xfrm>
          <a:prstGeom prst="rect">
            <a:avLst/>
          </a:prstGeom>
          <a:ln w="12700">
            <a:miter lim="400000"/>
          </a:ln>
        </p:spPr>
      </p:pic>
      <p:sp>
        <p:nvSpPr>
          <p:cNvPr id="400" name="Text 23"/>
          <p:cNvSpPr txBox="1"/>
          <p:nvPr/>
        </p:nvSpPr>
        <p:spPr>
          <a:xfrm>
            <a:off x="5577840" y="3436305"/>
            <a:ext cx="1188721" cy="18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Evidence</a:t>
            </a:r>
          </a:p>
        </p:txBody>
      </p:sp>
      <p:sp>
        <p:nvSpPr>
          <p:cNvPr id="401" name="Text 24"/>
          <p:cNvSpPr txBox="1"/>
          <p:nvPr/>
        </p:nvSpPr>
        <p:spPr>
          <a:xfrm>
            <a:off x="6766559" y="3446203"/>
            <a:ext cx="384048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chemeClr val="accent6"/>
                </a:solidFill>
              </a:defRPr>
            </a:lvl1pPr>
          </a:lstStyle>
          <a:p>
            <a:pPr/>
            <a:r>
              <a:t>Backtest with real Indian costs</a:t>
            </a:r>
          </a:p>
        </p:txBody>
      </p:sp>
      <p:sp>
        <p:nvSpPr>
          <p:cNvPr id="402" name="chip LIVE"/>
          <p:cNvSpPr/>
          <p:nvPr/>
        </p:nvSpPr>
        <p:spPr>
          <a:xfrm>
            <a:off x="10789919" y="3401567"/>
            <a:ext cx="685801" cy="256033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03" name="chip text LIVE"/>
          <p:cNvSpPr txBox="1"/>
          <p:nvPr/>
        </p:nvSpPr>
        <p:spPr>
          <a:xfrm>
            <a:off x="10789919" y="3461048"/>
            <a:ext cx="6858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100" sz="1000">
                <a:solidFill>
                  <a:srgbClr val="FFFFFF"/>
                </a:solidFill>
              </a:defRPr>
            </a:lvl1pPr>
          </a:lstStyle>
          <a:p>
            <a:pPr/>
            <a:r>
              <a:t>LIVE</a:t>
            </a:r>
          </a:p>
        </p:txBody>
      </p:sp>
      <p:sp>
        <p:nvSpPr>
          <p:cNvPr id="404" name="algo step 4"/>
          <p:cNvSpPr/>
          <p:nvPr/>
        </p:nvSpPr>
        <p:spPr>
          <a:xfrm>
            <a:off x="4846320" y="3968496"/>
            <a:ext cx="6793993" cy="640081"/>
          </a:xfrm>
          <a:prstGeom prst="roundRect">
            <a:avLst>
              <a:gd name="adj" fmla="val 17143"/>
            </a:avLst>
          </a:prstGeom>
          <a:solidFill>
            <a:srgbClr val="FFFFFF">
              <a:alpha val="10000"/>
            </a:srgbClr>
          </a:solidFill>
          <a:ln>
            <a:solidFill>
              <a:schemeClr val="accent6">
                <a:alpha val="25000"/>
              </a:scheme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5" name="LuTarget circle"/>
          <p:cNvSpPr/>
          <p:nvPr/>
        </p:nvSpPr>
        <p:spPr>
          <a:xfrm>
            <a:off x="4983479" y="4069079"/>
            <a:ext cx="438913" cy="438913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406" name="LuTarget icon" descr="LuTarget icon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5093208" y="4178808"/>
            <a:ext cx="219457" cy="219457"/>
          </a:xfrm>
          <a:prstGeom prst="rect">
            <a:avLst/>
          </a:prstGeom>
          <a:ln w="12700">
            <a:miter lim="400000"/>
          </a:ln>
        </p:spPr>
      </p:pic>
      <p:sp>
        <p:nvSpPr>
          <p:cNvPr id="407" name="Text 29"/>
          <p:cNvSpPr txBox="1"/>
          <p:nvPr/>
        </p:nvSpPr>
        <p:spPr>
          <a:xfrm>
            <a:off x="5577840" y="4195258"/>
            <a:ext cx="118872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Practice</a:t>
            </a:r>
          </a:p>
        </p:txBody>
      </p:sp>
      <p:sp>
        <p:nvSpPr>
          <p:cNvPr id="408" name="Text 30"/>
          <p:cNvSpPr txBox="1"/>
          <p:nvPr/>
        </p:nvSpPr>
        <p:spPr>
          <a:xfrm>
            <a:off x="6766559" y="4205155"/>
            <a:ext cx="384048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chemeClr val="accent6"/>
                </a:solidFill>
              </a:defRPr>
            </a:lvl1pPr>
          </a:lstStyle>
          <a:p>
            <a:pPr/>
            <a:r>
              <a:t>Paper-trade with virtual cash</a:t>
            </a:r>
          </a:p>
        </p:txBody>
      </p:sp>
      <p:sp>
        <p:nvSpPr>
          <p:cNvPr id="409" name="chip LIVE"/>
          <p:cNvSpPr/>
          <p:nvPr/>
        </p:nvSpPr>
        <p:spPr>
          <a:xfrm>
            <a:off x="10789919" y="4160520"/>
            <a:ext cx="685801" cy="256033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10" name="chip text LIVE"/>
          <p:cNvSpPr txBox="1"/>
          <p:nvPr/>
        </p:nvSpPr>
        <p:spPr>
          <a:xfrm>
            <a:off x="10789919" y="4220000"/>
            <a:ext cx="6858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100" sz="1000">
                <a:solidFill>
                  <a:srgbClr val="FFFFFF"/>
                </a:solidFill>
              </a:defRPr>
            </a:lvl1pPr>
          </a:lstStyle>
          <a:p>
            <a:pPr/>
            <a:r>
              <a:t>LIVE</a:t>
            </a:r>
          </a:p>
        </p:txBody>
      </p:sp>
      <p:sp>
        <p:nvSpPr>
          <p:cNvPr id="411" name="algo step 5"/>
          <p:cNvSpPr/>
          <p:nvPr/>
        </p:nvSpPr>
        <p:spPr>
          <a:xfrm>
            <a:off x="4846320" y="4727447"/>
            <a:ext cx="6793993" cy="640081"/>
          </a:xfrm>
          <a:prstGeom prst="roundRect">
            <a:avLst>
              <a:gd name="adj" fmla="val 17143"/>
            </a:avLst>
          </a:prstGeom>
          <a:solidFill>
            <a:srgbClr val="FFFFFF">
              <a:alpha val="20000"/>
            </a:srgbClr>
          </a:solidFill>
          <a:ln>
            <a:solidFill>
              <a:schemeClr val="accent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2" name="LuRocket circle"/>
          <p:cNvSpPr/>
          <p:nvPr/>
        </p:nvSpPr>
        <p:spPr>
          <a:xfrm>
            <a:off x="4983479" y="4828032"/>
            <a:ext cx="438913" cy="438913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413" name="LuRocket icon" descr="LuRocket icon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5093208" y="4937759"/>
            <a:ext cx="219457" cy="219457"/>
          </a:xfrm>
          <a:prstGeom prst="rect">
            <a:avLst/>
          </a:prstGeom>
          <a:ln w="12700">
            <a:miter lim="400000"/>
          </a:ln>
        </p:spPr>
      </p:pic>
      <p:sp>
        <p:nvSpPr>
          <p:cNvPr id="414" name="Text 35"/>
          <p:cNvSpPr txBox="1"/>
          <p:nvPr/>
        </p:nvSpPr>
        <p:spPr>
          <a:xfrm>
            <a:off x="5577840" y="4954209"/>
            <a:ext cx="118872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Live</a:t>
            </a:r>
          </a:p>
        </p:txBody>
      </p:sp>
      <p:sp>
        <p:nvSpPr>
          <p:cNvPr id="415" name="Text 36"/>
          <p:cNvSpPr txBox="1"/>
          <p:nvPr/>
        </p:nvSpPr>
        <p:spPr>
          <a:xfrm>
            <a:off x="6766559" y="4862506"/>
            <a:ext cx="3840481" cy="369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chemeClr val="accent6"/>
                </a:solidFill>
              </a:defRPr>
            </a:lvl1pPr>
          </a:lstStyle>
          <a:p>
            <a:pPr/>
            <a:r>
              <a:t>Deploy through partner brokers, subject to empanelment and approvals</a:t>
            </a:r>
          </a:p>
        </p:txBody>
      </p:sp>
      <p:sp>
        <p:nvSpPr>
          <p:cNvPr id="416" name="chip NEXT"/>
          <p:cNvSpPr/>
          <p:nvPr/>
        </p:nvSpPr>
        <p:spPr>
          <a:xfrm>
            <a:off x="10789919" y="4919471"/>
            <a:ext cx="685801" cy="25603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17" name="chip text NEXT"/>
          <p:cNvSpPr txBox="1"/>
          <p:nvPr/>
        </p:nvSpPr>
        <p:spPr>
          <a:xfrm>
            <a:off x="10789919" y="4978952"/>
            <a:ext cx="6858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100" sz="1000"/>
            </a:lvl1pPr>
          </a:lstStyle>
          <a:p>
            <a:pPr/>
            <a:r>
              <a:t>NEXT</a:t>
            </a:r>
          </a:p>
        </p:txBody>
      </p:sp>
      <p:sp>
        <p:nvSpPr>
          <p:cNvPr id="418" name="algo edge band"/>
          <p:cNvSpPr/>
          <p:nvPr/>
        </p:nvSpPr>
        <p:spPr>
          <a:xfrm>
            <a:off x="548640" y="5623559"/>
            <a:ext cx="11094416" cy="713233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38100" dir="5400000">
              <a:srgbClr val="0B0E26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9" name="Text 40"/>
          <p:cNvSpPr txBox="1"/>
          <p:nvPr/>
        </p:nvSpPr>
        <p:spPr>
          <a:xfrm>
            <a:off x="822960" y="5693594"/>
            <a:ext cx="10545775" cy="57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300"/>
            </a:pPr>
            <a:r>
              <a:t>The opportunity: bridge fundamental filing intelligence with rule-based strategy testing. </a:t>
            </a:r>
            <a:r>
              <a:rPr b="0">
                <a:solidFill>
                  <a:srgbClr val="434B6B"/>
                </a:solidFill>
              </a:rPr>
              <a:t>Investors build and paper-trade white-box rules today; live deployment unlocks via partner brokers upon SEBI RA registration (funded this round) and exchange empanelment.</a:t>
            </a:r>
          </a:p>
        </p:txBody>
      </p:sp>
      <p:sp>
        <p:nvSpPr>
          <p:cNvPr id="420" name="Text 41"/>
          <p:cNvSpPr txBox="1"/>
          <p:nvPr/>
        </p:nvSpPr>
        <p:spPr>
          <a:xfrm>
            <a:off x="548640" y="6419088"/>
            <a:ext cx="822960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1000">
                <a:solidFill>
                  <a:schemeClr val="accent6"/>
                </a:solidFill>
              </a:defRPr>
            </a:lvl1pPr>
          </a:lstStyle>
          <a:p>
            <a:pPr/>
            <a:r>
              <a:t>NSE Market Pulse, Dec 2025 (turnover share, FY26 to Nov) · SEBI retail algo circulars of 4 Feb 2025 and 30 Sep 2025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Text 0"/>
          <p:cNvSpPr txBox="1"/>
          <p:nvPr>
            <p:ph type="body" sz="quarter" idx="1"/>
          </p:nvPr>
        </p:nvSpPr>
        <p:spPr>
          <a:xfrm>
            <a:off x="548640" y="384047"/>
            <a:ext cx="8229601" cy="274321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BUSINESS MODEL</a:t>
            </a:r>
          </a:p>
        </p:txBody>
      </p:sp>
      <p:sp>
        <p:nvSpPr>
          <p:cNvPr id="425" name="Text 0"/>
          <p:cNvSpPr txBox="1"/>
          <p:nvPr>
            <p:ph type="title"/>
          </p:nvPr>
        </p:nvSpPr>
        <p:spPr>
          <a:xfrm>
            <a:off x="548639" y="676655"/>
            <a:ext cx="11094417" cy="868681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Four revenue engines on one platform</a:t>
            </a:r>
          </a:p>
        </p:txBody>
      </p:sp>
      <p:sp>
        <p:nvSpPr>
          <p:cNvPr id="426" name="engine card 1"/>
          <p:cNvSpPr/>
          <p:nvPr/>
        </p:nvSpPr>
        <p:spPr>
          <a:xfrm>
            <a:off x="548640" y="1783079"/>
            <a:ext cx="2633473" cy="379476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38100" dir="5400000">
              <a:srgbClr val="0B0E26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7" name="LuSparkles circle"/>
          <p:cNvSpPr/>
          <p:nvPr/>
        </p:nvSpPr>
        <p:spPr>
          <a:xfrm>
            <a:off x="804672" y="2029967"/>
            <a:ext cx="566929" cy="566929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428" name="LuSparkles icon" descr="LuSparkles icon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46403" y="2171700"/>
            <a:ext cx="283465" cy="283464"/>
          </a:xfrm>
          <a:prstGeom prst="rect">
            <a:avLst/>
          </a:prstGeom>
          <a:ln w="12700">
            <a:miter lim="400000"/>
          </a:ln>
        </p:spPr>
      </p:pic>
      <p:sp>
        <p:nvSpPr>
          <p:cNvPr id="429" name="Text 4"/>
          <p:cNvSpPr txBox="1"/>
          <p:nvPr/>
        </p:nvSpPr>
        <p:spPr>
          <a:xfrm>
            <a:off x="804671" y="2761488"/>
            <a:ext cx="2194562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Anvest Plus and Pro</a:t>
            </a:r>
          </a:p>
        </p:txBody>
      </p:sp>
      <p:sp>
        <p:nvSpPr>
          <p:cNvPr id="430" name="Text 5"/>
          <p:cNvSpPr txBox="1"/>
          <p:nvPr/>
        </p:nvSpPr>
        <p:spPr>
          <a:xfrm>
            <a:off x="804671" y="3310128"/>
            <a:ext cx="219456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chemeClr val="accent1"/>
                </a:solidFill>
              </a:defRPr>
            </a:lvl1pPr>
          </a:lstStyle>
          <a:p>
            <a:pPr/>
            <a:r>
              <a:t>₹199–₹599 / month</a:t>
            </a:r>
          </a:p>
        </p:txBody>
      </p:sp>
      <p:sp>
        <p:nvSpPr>
          <p:cNvPr id="431" name="Text 6"/>
          <p:cNvSpPr txBox="1"/>
          <p:nvPr/>
        </p:nvSpPr>
        <p:spPr>
          <a:xfrm>
            <a:off x="804671" y="3730752"/>
            <a:ext cx="2194562" cy="11093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434B6B"/>
                </a:solidFill>
              </a:defRPr>
            </a:lvl1pPr>
          </a:lstStyle>
          <a:p>
            <a:pPr/>
            <a:r>
              <a:t>Self-serve tiers: unmetered AI filing Q&amp;A, costed backtests, alerts and portfolio X-ray. Pro matches Screener's ₹4,999/yr with AI included.</a:t>
            </a:r>
          </a:p>
        </p:txBody>
      </p:sp>
      <p:sp>
        <p:nvSpPr>
          <p:cNvPr id="432" name="chip PLANNED PRICING"/>
          <p:cNvSpPr/>
          <p:nvPr/>
        </p:nvSpPr>
        <p:spPr>
          <a:xfrm>
            <a:off x="804672" y="5138928"/>
            <a:ext cx="1367028" cy="256033"/>
          </a:xfrm>
          <a:prstGeom prst="roundRect">
            <a:avLst>
              <a:gd name="adj" fmla="val 50000"/>
            </a:avLst>
          </a:prstGeom>
          <a:solidFill>
            <a:srgbClr val="E4E0F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33" name="chip text PLANNED PRICING"/>
          <p:cNvSpPr txBox="1"/>
          <p:nvPr/>
        </p:nvSpPr>
        <p:spPr>
          <a:xfrm>
            <a:off x="804672" y="5198408"/>
            <a:ext cx="1367029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100" sz="1000"/>
            </a:lvl1pPr>
          </a:lstStyle>
          <a:p>
            <a:pPr/>
            <a:r>
              <a:t>SELF-SERVE SAAS</a:t>
            </a:r>
          </a:p>
        </p:txBody>
      </p:sp>
      <p:sp>
        <p:nvSpPr>
          <p:cNvPr id="434" name="engine card 2"/>
          <p:cNvSpPr/>
          <p:nvPr/>
        </p:nvSpPr>
        <p:spPr>
          <a:xfrm>
            <a:off x="3364991" y="1783079"/>
            <a:ext cx="2633473" cy="379476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38100" dir="5400000">
              <a:srgbClr val="0B0E26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5" name="LuBriefcase circle"/>
          <p:cNvSpPr/>
          <p:nvPr/>
        </p:nvSpPr>
        <p:spPr>
          <a:xfrm>
            <a:off x="3621023" y="2029967"/>
            <a:ext cx="566929" cy="566929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436" name="LuBriefcase icon" descr="LuBriefcase icon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762755" y="2171700"/>
            <a:ext cx="283465" cy="283464"/>
          </a:xfrm>
          <a:prstGeom prst="rect">
            <a:avLst/>
          </a:prstGeom>
          <a:ln w="12700">
            <a:miter lim="400000"/>
          </a:ln>
        </p:spPr>
      </p:pic>
      <p:sp>
        <p:nvSpPr>
          <p:cNvPr id="437" name="Text 11"/>
          <p:cNvSpPr txBox="1"/>
          <p:nvPr/>
        </p:nvSpPr>
        <p:spPr>
          <a:xfrm>
            <a:off x="3621023" y="2761488"/>
            <a:ext cx="2194561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Anvest Desk</a:t>
            </a:r>
          </a:p>
        </p:txBody>
      </p:sp>
      <p:sp>
        <p:nvSpPr>
          <p:cNvPr id="438" name="Text 12"/>
          <p:cNvSpPr txBox="1"/>
          <p:nvPr/>
        </p:nvSpPr>
        <p:spPr>
          <a:xfrm>
            <a:off x="3621023" y="3310128"/>
            <a:ext cx="219456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chemeClr val="accent1"/>
                </a:solidFill>
              </a:defRPr>
            </a:lvl1pPr>
          </a:lstStyle>
          <a:p>
            <a:pPr/>
            <a:r>
              <a:t>₹2,999 / seat / month</a:t>
            </a:r>
          </a:p>
        </p:txBody>
      </p:sp>
      <p:sp>
        <p:nvSpPr>
          <p:cNvPr id="439" name="Text 13"/>
          <p:cNvSpPr txBox="1"/>
          <p:nvPr/>
        </p:nvSpPr>
        <p:spPr>
          <a:xfrm>
            <a:off x="3621023" y="3730752"/>
            <a:ext cx="2194561" cy="7283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434B6B"/>
                </a:solidFill>
              </a:defRPr>
            </a:lvl1pPr>
          </a:lstStyle>
          <a:p>
            <a:pPr/>
            <a:r>
              <a:t>For SEBI RAs, RIAs, PMS desks and distributors: coverage-list filing digests, cited research and shared workspaces (1-to-5+ seat tiers).</a:t>
            </a:r>
          </a:p>
        </p:txBody>
      </p:sp>
      <p:sp>
        <p:nvSpPr>
          <p:cNvPr id="440" name="chip FIRST REVENUE"/>
          <p:cNvSpPr/>
          <p:nvPr/>
        </p:nvSpPr>
        <p:spPr>
          <a:xfrm>
            <a:off x="3621023" y="5138928"/>
            <a:ext cx="1211581" cy="25603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41" name="chip text FIRST REVENUE"/>
          <p:cNvSpPr txBox="1"/>
          <p:nvPr/>
        </p:nvSpPr>
        <p:spPr>
          <a:xfrm>
            <a:off x="3621023" y="5198408"/>
            <a:ext cx="121158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100" sz="1000"/>
            </a:lvl1pPr>
          </a:lstStyle>
          <a:p>
            <a:pPr/>
            <a:r>
              <a:t>FIRST REVENUE</a:t>
            </a:r>
          </a:p>
        </p:txBody>
      </p:sp>
      <p:sp>
        <p:nvSpPr>
          <p:cNvPr id="442" name="engine card 3"/>
          <p:cNvSpPr/>
          <p:nvPr/>
        </p:nvSpPr>
        <p:spPr>
          <a:xfrm>
            <a:off x="6181344" y="1783079"/>
            <a:ext cx="2633473" cy="379476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38100" dir="5400000">
              <a:srgbClr val="0B0E26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3" name="LuPlug circle"/>
          <p:cNvSpPr/>
          <p:nvPr/>
        </p:nvSpPr>
        <p:spPr>
          <a:xfrm>
            <a:off x="6437376" y="2029967"/>
            <a:ext cx="566929" cy="566929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444" name="LuPlug icon" descr="LuPlug icon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579107" y="2171700"/>
            <a:ext cx="283465" cy="283464"/>
          </a:xfrm>
          <a:prstGeom prst="rect">
            <a:avLst/>
          </a:prstGeom>
          <a:ln w="12700">
            <a:miter lim="400000"/>
          </a:ln>
        </p:spPr>
      </p:pic>
      <p:sp>
        <p:nvSpPr>
          <p:cNvPr id="445" name="Text 18"/>
          <p:cNvSpPr txBox="1"/>
          <p:nvPr/>
        </p:nvSpPr>
        <p:spPr>
          <a:xfrm>
            <a:off x="6437376" y="2761488"/>
            <a:ext cx="2194561" cy="450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Intelligence API and MCP</a:t>
            </a:r>
          </a:p>
        </p:txBody>
      </p:sp>
      <p:sp>
        <p:nvSpPr>
          <p:cNvPr id="446" name="Text 19"/>
          <p:cNvSpPr txBox="1"/>
          <p:nvPr/>
        </p:nvSpPr>
        <p:spPr>
          <a:xfrm>
            <a:off x="6437376" y="3310128"/>
            <a:ext cx="219456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chemeClr val="accent1"/>
                </a:solidFill>
              </a:defRPr>
            </a:lvl1pPr>
          </a:lstStyle>
          <a:p>
            <a:pPr/>
            <a:r>
              <a:t>Licence + usage</a:t>
            </a:r>
          </a:p>
        </p:txBody>
      </p:sp>
      <p:sp>
        <p:nvSpPr>
          <p:cNvPr id="447" name="Text 20"/>
          <p:cNvSpPr txBox="1"/>
          <p:nvPr/>
        </p:nvSpPr>
        <p:spPr>
          <a:xfrm>
            <a:off x="6437376" y="3730752"/>
            <a:ext cx="2194561" cy="537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434B6B"/>
                </a:solidFill>
              </a:defRPr>
            </a:lvl1pPr>
          </a:lstStyle>
          <a:p>
            <a:pPr/>
            <a:r>
              <a:t>Brokers, wealth apps and AI agents embed Anvest's grounded answers, or license its cleaned filings data.</a:t>
            </a:r>
          </a:p>
        </p:txBody>
      </p:sp>
      <p:sp>
        <p:nvSpPr>
          <p:cNvPr id="448" name="chip PILOT-READY"/>
          <p:cNvSpPr/>
          <p:nvPr/>
        </p:nvSpPr>
        <p:spPr>
          <a:xfrm>
            <a:off x="6437376" y="5138928"/>
            <a:ext cx="1056133" cy="256033"/>
          </a:xfrm>
          <a:prstGeom prst="roundRect">
            <a:avLst>
              <a:gd name="adj" fmla="val 50000"/>
            </a:avLst>
          </a:prstGeom>
          <a:solidFill>
            <a:srgbClr val="E4E0F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49" name="chip text PILOT-READY"/>
          <p:cNvSpPr txBox="1"/>
          <p:nvPr/>
        </p:nvSpPr>
        <p:spPr>
          <a:xfrm>
            <a:off x="6437376" y="5198408"/>
            <a:ext cx="1056133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100" sz="1000"/>
            </a:lvl1pPr>
          </a:lstStyle>
          <a:p>
            <a:pPr/>
            <a:r>
              <a:t>PILOT-READY</a:t>
            </a:r>
          </a:p>
        </p:txBody>
      </p:sp>
      <p:sp>
        <p:nvSpPr>
          <p:cNvPr id="450" name="engine card 4"/>
          <p:cNvSpPr/>
          <p:nvPr/>
        </p:nvSpPr>
        <p:spPr>
          <a:xfrm>
            <a:off x="8997695" y="1783079"/>
            <a:ext cx="2633473" cy="379476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38100" dir="5400000">
              <a:srgbClr val="0B0E26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1" name="LuRocket circle"/>
          <p:cNvSpPr/>
          <p:nvPr/>
        </p:nvSpPr>
        <p:spPr>
          <a:xfrm>
            <a:off x="9253728" y="2029967"/>
            <a:ext cx="566929" cy="566929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452" name="LuRocket icon" descr="LuRocket icon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9395459" y="2171700"/>
            <a:ext cx="283465" cy="283464"/>
          </a:xfrm>
          <a:prstGeom prst="rect">
            <a:avLst/>
          </a:prstGeom>
          <a:ln w="12700">
            <a:miter lim="400000"/>
          </a:ln>
        </p:spPr>
      </p:pic>
      <p:sp>
        <p:nvSpPr>
          <p:cNvPr id="453" name="Text 25"/>
          <p:cNvSpPr txBox="1"/>
          <p:nvPr/>
        </p:nvSpPr>
        <p:spPr>
          <a:xfrm>
            <a:off x="9253728" y="2761488"/>
            <a:ext cx="2194561" cy="450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Strategies, baskets and algo</a:t>
            </a:r>
          </a:p>
        </p:txBody>
      </p:sp>
      <p:sp>
        <p:nvSpPr>
          <p:cNvPr id="454" name="Text 26"/>
          <p:cNvSpPr txBox="1"/>
          <p:nvPr/>
        </p:nvSpPr>
        <p:spPr>
          <a:xfrm>
            <a:off x="9253728" y="3310128"/>
            <a:ext cx="219456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chemeClr val="accent1"/>
                </a:solidFill>
              </a:defRPr>
            </a:lvl1pPr>
          </a:lstStyle>
          <a:p>
            <a:pPr/>
            <a:r>
              <a:t>Subscription + revenue share</a:t>
            </a:r>
          </a:p>
        </p:txBody>
      </p:sp>
      <p:sp>
        <p:nvSpPr>
          <p:cNvPr id="455" name="Text 27"/>
          <p:cNvSpPr txBox="1"/>
          <p:nvPr/>
        </p:nvSpPr>
        <p:spPr>
          <a:xfrm>
            <a:off x="9253728" y="3730752"/>
            <a:ext cx="2194561" cy="537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434B6B"/>
                </a:solidFill>
              </a:defRPr>
            </a:lvl1pPr>
          </a:lstStyle>
          <a:p>
            <a:pPr/>
            <a:r>
              <a:t>RA-backed model baskets and exchange-registered strategies, deployed through partner brokers.</a:t>
            </a:r>
          </a:p>
        </p:txBody>
      </p:sp>
      <p:sp>
        <p:nvSpPr>
          <p:cNvPr id="456" name="chip AFTER APPROVALS"/>
          <p:cNvSpPr/>
          <p:nvPr/>
        </p:nvSpPr>
        <p:spPr>
          <a:xfrm>
            <a:off x="9253728" y="5138928"/>
            <a:ext cx="1367029" cy="256033"/>
          </a:xfrm>
          <a:prstGeom prst="roundRect">
            <a:avLst>
              <a:gd name="adj" fmla="val 50000"/>
            </a:avLst>
          </a:prstGeom>
          <a:solidFill>
            <a:srgbClr val="E4E0F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57" name="chip text AFTER APPROVALS"/>
          <p:cNvSpPr txBox="1"/>
          <p:nvPr/>
        </p:nvSpPr>
        <p:spPr>
          <a:xfrm>
            <a:off x="9253728" y="5198408"/>
            <a:ext cx="1367029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100" sz="1000"/>
            </a:lvl1pPr>
          </a:lstStyle>
          <a:p>
            <a:pPr/>
            <a:r>
              <a:t>AFTER APPROVALS</a:t>
            </a:r>
          </a:p>
        </p:txBody>
      </p:sp>
      <p:sp>
        <p:nvSpPr>
          <p:cNvPr id="458" name="Text 30"/>
          <p:cNvSpPr txBox="1"/>
          <p:nvPr/>
        </p:nvSpPr>
        <p:spPr>
          <a:xfrm>
            <a:off x="548639" y="5760720"/>
            <a:ext cx="11094417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/>
            </a:lvl1pPr>
          </a:lstStyle>
          <a:p>
            <a:pPr/>
            <a:r>
              <a:t>Rollout sequence: Desk B2B seats and self-serve Pro first, followed by broker MCP/API licensing and post-RA strategies.</a:t>
            </a:r>
          </a:p>
        </p:txBody>
      </p:sp>
      <p:sp>
        <p:nvSpPr>
          <p:cNvPr id="459" name="Slide Number Placeholder 0"/>
          <p:cNvSpPr txBox="1"/>
          <p:nvPr>
            <p:ph type="sldNum" sz="quarter" idx="4294967295"/>
          </p:nvPr>
        </p:nvSpPr>
        <p:spPr>
          <a:xfrm>
            <a:off x="11501618" y="6419088"/>
            <a:ext cx="141438" cy="1370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Text 0"/>
          <p:cNvSpPr txBox="1"/>
          <p:nvPr>
            <p:ph type="body" sz="quarter" idx="1"/>
          </p:nvPr>
        </p:nvSpPr>
        <p:spPr>
          <a:xfrm>
            <a:off x="548640" y="384047"/>
            <a:ext cx="8229601" cy="274321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TRACTION</a:t>
            </a:r>
          </a:p>
        </p:txBody>
      </p:sp>
      <p:sp>
        <p:nvSpPr>
          <p:cNvPr id="464" name="Text 0"/>
          <p:cNvSpPr txBox="1"/>
          <p:nvPr>
            <p:ph type="title"/>
          </p:nvPr>
        </p:nvSpPr>
        <p:spPr>
          <a:xfrm>
            <a:off x="548639" y="676655"/>
            <a:ext cx="11094417" cy="868681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Built, live and growing without a marketing rupee</a:t>
            </a:r>
          </a:p>
        </p:txBody>
      </p:sp>
      <p:sp>
        <p:nvSpPr>
          <p:cNvPr id="465" name="shipped card"/>
          <p:cNvSpPr/>
          <p:nvPr/>
        </p:nvSpPr>
        <p:spPr>
          <a:xfrm>
            <a:off x="416976" y="1792223"/>
            <a:ext cx="6675121" cy="4169665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38100" dir="5400000">
              <a:srgbClr val="0B0E26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66" name="chip SHIPPED AND LIVE"/>
          <p:cNvSpPr/>
          <p:nvPr/>
        </p:nvSpPr>
        <p:spPr>
          <a:xfrm>
            <a:off x="822960" y="2011679"/>
            <a:ext cx="1444753" cy="256033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7" name="chip text SHIPPED AND LIVE"/>
          <p:cNvSpPr txBox="1"/>
          <p:nvPr/>
        </p:nvSpPr>
        <p:spPr>
          <a:xfrm>
            <a:off x="822960" y="2071160"/>
            <a:ext cx="1444753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100" sz="1000">
                <a:solidFill>
                  <a:srgbClr val="FFFFFF"/>
                </a:solidFill>
              </a:defRPr>
            </a:lvl1pPr>
          </a:lstStyle>
          <a:p>
            <a:pPr/>
            <a:r>
              <a:t>SHIPPED AND LIVE</a:t>
            </a:r>
          </a:p>
        </p:txBody>
      </p:sp>
      <p:pic>
        <p:nvPicPr>
          <p:cNvPr id="468" name="check 1" descr="check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32104" y="2416185"/>
            <a:ext cx="237745" cy="237745"/>
          </a:xfrm>
          <a:prstGeom prst="rect">
            <a:avLst/>
          </a:prstGeom>
          <a:ln w="12700">
            <a:miter lim="400000"/>
          </a:ln>
        </p:spPr>
      </p:pic>
      <p:sp>
        <p:nvSpPr>
          <p:cNvPr id="469" name="Text 5"/>
          <p:cNvSpPr txBox="1"/>
          <p:nvPr/>
        </p:nvSpPr>
        <p:spPr>
          <a:xfrm>
            <a:off x="1152143" y="2487167"/>
            <a:ext cx="278892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/>
            </a:lvl1pPr>
          </a:lstStyle>
          <a:p>
            <a:pPr/>
            <a:r>
              <a:t>Grounded AI research copilot</a:t>
            </a:r>
          </a:p>
        </p:txBody>
      </p:sp>
      <p:pic>
        <p:nvPicPr>
          <p:cNvPr id="470" name="check 2" descr="check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027932" y="2420896"/>
            <a:ext cx="237745" cy="237745"/>
          </a:xfrm>
          <a:prstGeom prst="rect">
            <a:avLst/>
          </a:prstGeom>
          <a:ln w="12700">
            <a:miter lim="400000"/>
          </a:ln>
        </p:spPr>
      </p:pic>
      <p:sp>
        <p:nvSpPr>
          <p:cNvPr id="471" name="Text 6"/>
          <p:cNvSpPr txBox="1"/>
          <p:nvPr/>
        </p:nvSpPr>
        <p:spPr>
          <a:xfrm>
            <a:off x="4352543" y="2487167"/>
            <a:ext cx="278892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/>
            </a:lvl1pPr>
          </a:lstStyle>
          <a:p>
            <a:pPr/>
            <a:r>
              <a:t>Natural-language stock screener</a:t>
            </a:r>
          </a:p>
        </p:txBody>
      </p:sp>
      <p:pic>
        <p:nvPicPr>
          <p:cNvPr id="472" name="check 3" descr="check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32104" y="3101985"/>
            <a:ext cx="237745" cy="237745"/>
          </a:xfrm>
          <a:prstGeom prst="rect">
            <a:avLst/>
          </a:prstGeom>
          <a:ln w="12700">
            <a:miter lim="400000"/>
          </a:ln>
        </p:spPr>
      </p:pic>
      <p:sp>
        <p:nvSpPr>
          <p:cNvPr id="473" name="Text 7"/>
          <p:cNvSpPr txBox="1"/>
          <p:nvPr/>
        </p:nvSpPr>
        <p:spPr>
          <a:xfrm>
            <a:off x="1152143" y="3172967"/>
            <a:ext cx="2788922" cy="369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/>
            </a:lvl1pPr>
          </a:lstStyle>
          <a:p>
            <a:pPr/>
            <a:r>
              <a:t>6,137 stock pages with Anvest Score and AI profiles</a:t>
            </a:r>
          </a:p>
        </p:txBody>
      </p:sp>
      <p:pic>
        <p:nvPicPr>
          <p:cNvPr id="474" name="check 4" descr="check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027932" y="3106696"/>
            <a:ext cx="237745" cy="237745"/>
          </a:xfrm>
          <a:prstGeom prst="rect">
            <a:avLst/>
          </a:prstGeom>
          <a:ln w="12700">
            <a:miter lim="400000"/>
          </a:ln>
        </p:spPr>
      </p:pic>
      <p:sp>
        <p:nvSpPr>
          <p:cNvPr id="475" name="Text 8"/>
          <p:cNvSpPr txBox="1"/>
          <p:nvPr/>
        </p:nvSpPr>
        <p:spPr>
          <a:xfrm>
            <a:off x="4352543" y="3172967"/>
            <a:ext cx="278892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/>
            </a:lvl1pPr>
          </a:lstStyle>
          <a:p>
            <a:pPr/>
            <a:r>
              <a:t>Strategy backtesting with Indian costs</a:t>
            </a:r>
          </a:p>
        </p:txBody>
      </p:sp>
      <p:pic>
        <p:nvPicPr>
          <p:cNvPr id="476" name="check 5" descr="check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32104" y="3787785"/>
            <a:ext cx="237745" cy="237745"/>
          </a:xfrm>
          <a:prstGeom prst="rect">
            <a:avLst/>
          </a:prstGeom>
          <a:ln w="12700">
            <a:miter lim="400000"/>
          </a:ln>
        </p:spPr>
      </p:pic>
      <p:sp>
        <p:nvSpPr>
          <p:cNvPr id="477" name="Text 9"/>
          <p:cNvSpPr txBox="1"/>
          <p:nvPr/>
        </p:nvSpPr>
        <p:spPr>
          <a:xfrm>
            <a:off x="1152143" y="3858767"/>
            <a:ext cx="278892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/>
            </a:lvl1pPr>
          </a:lstStyle>
          <a:p>
            <a:pPr/>
            <a:r>
              <a:t>Paper trading and trade journal</a:t>
            </a:r>
          </a:p>
        </p:txBody>
      </p:sp>
      <p:pic>
        <p:nvPicPr>
          <p:cNvPr id="478" name="check 6" descr="check 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027932" y="3792496"/>
            <a:ext cx="237745" cy="237745"/>
          </a:xfrm>
          <a:prstGeom prst="rect">
            <a:avLst/>
          </a:prstGeom>
          <a:ln w="12700">
            <a:miter lim="400000"/>
          </a:ln>
        </p:spPr>
      </p:pic>
      <p:sp>
        <p:nvSpPr>
          <p:cNvPr id="479" name="Text 10"/>
          <p:cNvSpPr txBox="1"/>
          <p:nvPr/>
        </p:nvSpPr>
        <p:spPr>
          <a:xfrm>
            <a:off x="4352543" y="3858767"/>
            <a:ext cx="278892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/>
            </a:lvl1pPr>
          </a:lstStyle>
          <a:p>
            <a:pPr/>
            <a:r>
              <a:t>IPO hub with prospectus analysis</a:t>
            </a:r>
          </a:p>
        </p:txBody>
      </p:sp>
      <p:pic>
        <p:nvPicPr>
          <p:cNvPr id="480" name="check 7" descr="chec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32104" y="4473585"/>
            <a:ext cx="237745" cy="237745"/>
          </a:xfrm>
          <a:prstGeom prst="rect">
            <a:avLst/>
          </a:prstGeom>
          <a:ln w="12700">
            <a:miter lim="400000"/>
          </a:ln>
        </p:spPr>
      </p:pic>
      <p:sp>
        <p:nvSpPr>
          <p:cNvPr id="481" name="Text 11"/>
          <p:cNvSpPr txBox="1"/>
          <p:nvPr/>
        </p:nvSpPr>
        <p:spPr>
          <a:xfrm>
            <a:off x="1152143" y="4544567"/>
            <a:ext cx="278892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/>
            </a:lvl1pPr>
          </a:lstStyle>
          <a:p>
            <a:pPr/>
            <a:r>
              <a:t>Mutual fund X-ray: cost and overlap</a:t>
            </a:r>
          </a:p>
        </p:txBody>
      </p:sp>
      <p:pic>
        <p:nvPicPr>
          <p:cNvPr id="482" name="check 8" descr="check 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027932" y="4478296"/>
            <a:ext cx="237745" cy="237745"/>
          </a:xfrm>
          <a:prstGeom prst="rect">
            <a:avLst/>
          </a:prstGeom>
          <a:ln w="12700">
            <a:miter lim="400000"/>
          </a:ln>
        </p:spPr>
      </p:pic>
      <p:sp>
        <p:nvSpPr>
          <p:cNvPr id="483" name="Text 12"/>
          <p:cNvSpPr txBox="1"/>
          <p:nvPr/>
        </p:nvSpPr>
        <p:spPr>
          <a:xfrm>
            <a:off x="4352543" y="4544567"/>
            <a:ext cx="278892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/>
            </a:lvl1pPr>
          </a:lstStyle>
          <a:p>
            <a:pPr/>
            <a:r>
              <a:t>Bonds, G-Secs and yield calculators</a:t>
            </a:r>
          </a:p>
        </p:txBody>
      </p:sp>
      <p:pic>
        <p:nvPicPr>
          <p:cNvPr id="484" name="check 9" descr="check 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32104" y="5159385"/>
            <a:ext cx="237745" cy="237745"/>
          </a:xfrm>
          <a:prstGeom prst="rect">
            <a:avLst/>
          </a:prstGeom>
          <a:ln w="12700">
            <a:miter lim="400000"/>
          </a:ln>
        </p:spPr>
      </p:pic>
      <p:sp>
        <p:nvSpPr>
          <p:cNvPr id="485" name="Text 13"/>
          <p:cNvSpPr txBox="1"/>
          <p:nvPr/>
        </p:nvSpPr>
        <p:spPr>
          <a:xfrm>
            <a:off x="1152143" y="5230367"/>
            <a:ext cx="278892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/>
            </a:lvl1pPr>
          </a:lstStyle>
          <a:p>
            <a:pPr/>
            <a:r>
              <a:t>Wealth, retirement and stress simulators</a:t>
            </a:r>
          </a:p>
        </p:txBody>
      </p:sp>
      <p:sp>
        <p:nvSpPr>
          <p:cNvPr id="486" name="traction stat 1"/>
          <p:cNvSpPr/>
          <p:nvPr/>
        </p:nvSpPr>
        <p:spPr>
          <a:xfrm>
            <a:off x="7452359" y="1783079"/>
            <a:ext cx="4187953" cy="941833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38100" dir="5400000">
              <a:srgbClr val="0B0E26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7" name="Text 16"/>
          <p:cNvSpPr txBox="1"/>
          <p:nvPr/>
        </p:nvSpPr>
        <p:spPr>
          <a:xfrm>
            <a:off x="7680959" y="2081181"/>
            <a:ext cx="1737361" cy="345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~100</a:t>
            </a:r>
          </a:p>
        </p:txBody>
      </p:sp>
      <p:sp>
        <p:nvSpPr>
          <p:cNvPr id="488" name="Text 17"/>
          <p:cNvSpPr txBox="1"/>
          <p:nvPr/>
        </p:nvSpPr>
        <p:spPr>
          <a:xfrm>
            <a:off x="9418319" y="1985063"/>
            <a:ext cx="2103121" cy="537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434B6B"/>
                </a:solidFill>
              </a:defRPr>
            </a:lvl1pPr>
          </a:lstStyle>
          <a:p>
            <a:pPr/>
            <a:r>
              <a:t>early organic sign-ups (Oct 2026) with zero CAC; Desk pilot outreach underway</a:t>
            </a:r>
          </a:p>
        </p:txBody>
      </p:sp>
      <p:sp>
        <p:nvSpPr>
          <p:cNvPr id="489" name="traction stat 2"/>
          <p:cNvSpPr/>
          <p:nvPr/>
        </p:nvSpPr>
        <p:spPr>
          <a:xfrm>
            <a:off x="7452359" y="2862072"/>
            <a:ext cx="4187953" cy="941833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38100" dir="5400000">
              <a:srgbClr val="0B0E26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0" name="Text 19"/>
          <p:cNvSpPr txBox="1"/>
          <p:nvPr/>
        </p:nvSpPr>
        <p:spPr>
          <a:xfrm>
            <a:off x="7680959" y="3160173"/>
            <a:ext cx="1737361" cy="345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Nightly</a:t>
            </a:r>
          </a:p>
        </p:txBody>
      </p:sp>
      <p:sp>
        <p:nvSpPr>
          <p:cNvPr id="491" name="Text 20"/>
          <p:cNvSpPr txBox="1"/>
          <p:nvPr/>
        </p:nvSpPr>
        <p:spPr>
          <a:xfrm>
            <a:off x="9418319" y="3159305"/>
            <a:ext cx="2103121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434B6B"/>
                </a:solidFill>
              </a:defRPr>
            </a:lvl1pPr>
          </a:lstStyle>
          <a:p>
            <a:pPr/>
            <a:r>
              <a:t>ingestion of prices, filings, NAVs and news</a:t>
            </a:r>
          </a:p>
        </p:txBody>
      </p:sp>
      <p:sp>
        <p:nvSpPr>
          <p:cNvPr id="492" name="traction stat 3"/>
          <p:cNvSpPr/>
          <p:nvPr/>
        </p:nvSpPr>
        <p:spPr>
          <a:xfrm>
            <a:off x="7452359" y="3941064"/>
            <a:ext cx="4187953" cy="941833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38100" dir="5400000">
              <a:srgbClr val="0B0E26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3" name="Text 22"/>
          <p:cNvSpPr txBox="1"/>
          <p:nvPr/>
        </p:nvSpPr>
        <p:spPr>
          <a:xfrm>
            <a:off x="7680959" y="4239165"/>
            <a:ext cx="1737361" cy="345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 tools</a:t>
            </a:r>
          </a:p>
        </p:txBody>
      </p:sp>
      <p:sp>
        <p:nvSpPr>
          <p:cNvPr id="494" name="Text 23"/>
          <p:cNvSpPr txBox="1"/>
          <p:nvPr/>
        </p:nvSpPr>
        <p:spPr>
          <a:xfrm>
            <a:off x="9418319" y="4238297"/>
            <a:ext cx="2103121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434B6B"/>
                </a:solidFill>
              </a:defRPr>
            </a:lvl1pPr>
          </a:lstStyle>
          <a:p>
            <a:pPr/>
            <a:r>
              <a:t>live across stocks, IPOs, MFs, bonds, backtesting &amp; paper trading</a:t>
            </a:r>
          </a:p>
        </p:txBody>
      </p:sp>
      <p:sp>
        <p:nvSpPr>
          <p:cNvPr id="495" name="traction stat 4"/>
          <p:cNvSpPr/>
          <p:nvPr/>
        </p:nvSpPr>
        <p:spPr>
          <a:xfrm>
            <a:off x="7452359" y="5020055"/>
            <a:ext cx="4187953" cy="941834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38100" dir="5400000">
              <a:srgbClr val="0B0E26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6" name="Text 25"/>
          <p:cNvSpPr txBox="1"/>
          <p:nvPr/>
        </p:nvSpPr>
        <p:spPr>
          <a:xfrm>
            <a:off x="7680959" y="5318157"/>
            <a:ext cx="1737361" cy="345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 months</a:t>
            </a:r>
          </a:p>
        </p:txBody>
      </p:sp>
      <p:sp>
        <p:nvSpPr>
          <p:cNvPr id="497" name="Text 26"/>
          <p:cNvSpPr txBox="1"/>
          <p:nvPr/>
        </p:nvSpPr>
        <p:spPr>
          <a:xfrm>
            <a:off x="9418319" y="5317289"/>
            <a:ext cx="2103121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434B6B"/>
                </a:solidFill>
              </a:defRPr>
            </a:lvl1pPr>
          </a:lstStyle>
          <a:p>
            <a:pPr/>
            <a:r>
              <a:t>from first commit to full platform, no outside capital</a:t>
            </a:r>
          </a:p>
        </p:txBody>
      </p:sp>
      <p:sp>
        <p:nvSpPr>
          <p:cNvPr id="498" name="Text 27"/>
          <p:cNvSpPr txBox="1"/>
          <p:nvPr/>
        </p:nvSpPr>
        <p:spPr>
          <a:xfrm>
            <a:off x="548639" y="6144767"/>
            <a:ext cx="10362897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chemeClr val="accent1"/>
                </a:solidFill>
              </a:defRPr>
            </a:pPr>
            <a:r>
              <a:t>Next 90 days: </a:t>
            </a:r>
            <a:r>
              <a:rPr b="0">
                <a:solidFill>
                  <a:srgbClr val="0B0E26"/>
                </a:solidFill>
              </a:rPr>
              <a:t>convert first 10 paid Desk pilots  ·  public checkout launch  ·  full 6,137-page SEO indexing  ·  first broker MCP pilot</a:t>
            </a:r>
          </a:p>
        </p:txBody>
      </p:sp>
      <p:sp>
        <p:nvSpPr>
          <p:cNvPr id="499" name="Slide Number Placeholder 0"/>
          <p:cNvSpPr txBox="1"/>
          <p:nvPr>
            <p:ph type="sldNum" sz="quarter" idx="4294967295"/>
          </p:nvPr>
        </p:nvSpPr>
        <p:spPr>
          <a:xfrm>
            <a:off x="11501618" y="6419088"/>
            <a:ext cx="141438" cy="1370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Text 0"/>
          <p:cNvSpPr txBox="1"/>
          <p:nvPr>
            <p:ph type="body" sz="quarter" idx="1"/>
          </p:nvPr>
        </p:nvSpPr>
        <p:spPr>
          <a:xfrm>
            <a:off x="548640" y="384047"/>
            <a:ext cx="8229601" cy="274321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GO-TO-MARKET</a:t>
            </a:r>
          </a:p>
        </p:txBody>
      </p:sp>
      <p:sp>
        <p:nvSpPr>
          <p:cNvPr id="504" name="Text 0"/>
          <p:cNvSpPr txBox="1"/>
          <p:nvPr>
            <p:ph type="title"/>
          </p:nvPr>
        </p:nvSpPr>
        <p:spPr>
          <a:xfrm>
            <a:off x="548639" y="676655"/>
            <a:ext cx="11094417" cy="868681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Land with professionals. Compound through partners</a:t>
            </a:r>
          </a:p>
        </p:txBody>
      </p:sp>
      <p:sp>
        <p:nvSpPr>
          <p:cNvPr id="505" name="channel 1"/>
          <p:cNvSpPr/>
          <p:nvPr/>
        </p:nvSpPr>
        <p:spPr>
          <a:xfrm>
            <a:off x="548640" y="1755648"/>
            <a:ext cx="6949441" cy="896113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38100" dir="5400000">
              <a:srgbClr val="0B0E26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6" name="LuBriefcase circle"/>
          <p:cNvSpPr/>
          <p:nvPr/>
        </p:nvSpPr>
        <p:spPr>
          <a:xfrm>
            <a:off x="749808" y="1938528"/>
            <a:ext cx="530353" cy="530352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507" name="LuBriefcase icon" descr="LuBriefcase icon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82396" y="2071116"/>
            <a:ext cx="265177" cy="265177"/>
          </a:xfrm>
          <a:prstGeom prst="rect">
            <a:avLst/>
          </a:prstGeom>
          <a:ln w="12700">
            <a:miter lim="400000"/>
          </a:ln>
        </p:spPr>
      </p:pic>
      <p:sp>
        <p:nvSpPr>
          <p:cNvPr id="508" name="Text 4"/>
          <p:cNvSpPr txBox="1"/>
          <p:nvPr/>
        </p:nvSpPr>
        <p:spPr>
          <a:xfrm>
            <a:off x="1463039" y="1847088"/>
            <a:ext cx="585216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500"/>
            </a:lvl1pPr>
          </a:lstStyle>
          <a:p>
            <a:pPr/>
            <a:r>
              <a:t>Professional seats</a:t>
            </a:r>
          </a:p>
        </p:txBody>
      </p:sp>
      <p:sp>
        <p:nvSpPr>
          <p:cNvPr id="509" name="Text 5"/>
          <p:cNvSpPr txBox="1"/>
          <p:nvPr/>
        </p:nvSpPr>
        <p:spPr>
          <a:xfrm>
            <a:off x="1463039" y="2139695"/>
            <a:ext cx="5852162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434B6B"/>
                </a:solidFill>
              </a:defRPr>
            </a:lvl1pPr>
          </a:lstStyle>
          <a:p>
            <a:pPr/>
            <a:r>
              <a:t>Founder-led sales to 3,900 SEBI-registered RA, RIA and PMS firms (starting with 1-to-5 seat boutique desks), expanding to 3.5L distribution professionals.</a:t>
            </a:r>
          </a:p>
        </p:txBody>
      </p:sp>
      <p:sp>
        <p:nvSpPr>
          <p:cNvPr id="510" name="channel 2"/>
          <p:cNvSpPr/>
          <p:nvPr/>
        </p:nvSpPr>
        <p:spPr>
          <a:xfrm>
            <a:off x="548640" y="2779776"/>
            <a:ext cx="6949441" cy="896113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38100" dir="5400000">
              <a:srgbClr val="0B0E26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1" name="LuSearch circle"/>
          <p:cNvSpPr/>
          <p:nvPr/>
        </p:nvSpPr>
        <p:spPr>
          <a:xfrm>
            <a:off x="749808" y="2962655"/>
            <a:ext cx="530353" cy="530353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512" name="LuSearch icon" descr="LuSearch icon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82396" y="3095244"/>
            <a:ext cx="265177" cy="265177"/>
          </a:xfrm>
          <a:prstGeom prst="rect">
            <a:avLst/>
          </a:prstGeom>
          <a:ln w="12700">
            <a:miter lim="400000"/>
          </a:ln>
        </p:spPr>
      </p:pic>
      <p:sp>
        <p:nvSpPr>
          <p:cNvPr id="513" name="Text 8"/>
          <p:cNvSpPr txBox="1"/>
          <p:nvPr/>
        </p:nvSpPr>
        <p:spPr>
          <a:xfrm>
            <a:off x="1463039" y="2871216"/>
            <a:ext cx="585216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500"/>
            </a:lvl1pPr>
          </a:lstStyle>
          <a:p>
            <a:pPr/>
            <a:r>
              <a:t>Search built from source data</a:t>
            </a:r>
          </a:p>
        </p:txBody>
      </p:sp>
      <p:sp>
        <p:nvSpPr>
          <p:cNvPr id="514" name="Text 9"/>
          <p:cNvSpPr txBox="1"/>
          <p:nvPr/>
        </p:nvSpPr>
        <p:spPr>
          <a:xfrm>
            <a:off x="1463039" y="3163823"/>
            <a:ext cx="5852162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434B6B"/>
                </a:solidFill>
              </a:defRPr>
            </a:lvl1pPr>
          </a:lstStyle>
          <a:p>
            <a:pPr/>
            <a:r>
              <a:t>6,137 stock, 991 mutual fund, IPO and bond pages answer long-tail filing queries for high-intent, zero-CAC organic acquisition.</a:t>
            </a:r>
          </a:p>
        </p:txBody>
      </p:sp>
      <p:sp>
        <p:nvSpPr>
          <p:cNvPr id="515" name="channel 3"/>
          <p:cNvSpPr/>
          <p:nvPr/>
        </p:nvSpPr>
        <p:spPr>
          <a:xfrm>
            <a:off x="548640" y="3803903"/>
            <a:ext cx="6949441" cy="896113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38100" dir="5400000">
              <a:srgbClr val="0B0E26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6" name="LuPlug circle"/>
          <p:cNvSpPr/>
          <p:nvPr/>
        </p:nvSpPr>
        <p:spPr>
          <a:xfrm>
            <a:off x="749808" y="3986784"/>
            <a:ext cx="530353" cy="530353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517" name="LuPlug icon" descr="LuPlug icon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82396" y="4119371"/>
            <a:ext cx="265177" cy="265177"/>
          </a:xfrm>
          <a:prstGeom prst="rect">
            <a:avLst/>
          </a:prstGeom>
          <a:ln w="12700">
            <a:miter lim="400000"/>
          </a:ln>
        </p:spPr>
      </p:pic>
      <p:sp>
        <p:nvSpPr>
          <p:cNvPr id="518" name="Text 12"/>
          <p:cNvSpPr txBox="1"/>
          <p:nvPr/>
        </p:nvSpPr>
        <p:spPr>
          <a:xfrm>
            <a:off x="1463039" y="3895344"/>
            <a:ext cx="585216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500"/>
            </a:lvl1pPr>
          </a:lstStyle>
          <a:p>
            <a:pPr/>
            <a:r>
              <a:t>Partners and AI agents</a:t>
            </a:r>
          </a:p>
        </p:txBody>
      </p:sp>
      <p:sp>
        <p:nvSpPr>
          <p:cNvPr id="519" name="Text 13"/>
          <p:cNvSpPr txBox="1"/>
          <p:nvPr/>
        </p:nvSpPr>
        <p:spPr>
          <a:xfrm>
            <a:off x="1463039" y="4187952"/>
            <a:ext cx="5852162" cy="3473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434B6B"/>
                </a:solidFill>
              </a:defRPr>
            </a:lvl1pPr>
          </a:lstStyle>
          <a:p>
            <a:pPr/>
            <a:r>
              <a:t>Broker and wealth-app integrations through API and MCP reach millions of investors without paid acquisition.</a:t>
            </a:r>
          </a:p>
        </p:txBody>
      </p:sp>
      <p:sp>
        <p:nvSpPr>
          <p:cNvPr id="520" name="channel 4"/>
          <p:cNvSpPr/>
          <p:nvPr/>
        </p:nvSpPr>
        <p:spPr>
          <a:xfrm>
            <a:off x="548640" y="4828032"/>
            <a:ext cx="6949441" cy="896113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38100" dir="5400000">
              <a:srgbClr val="0B0E26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1" name="LuShare2 circle"/>
          <p:cNvSpPr/>
          <p:nvPr/>
        </p:nvSpPr>
        <p:spPr>
          <a:xfrm>
            <a:off x="749808" y="5010911"/>
            <a:ext cx="530353" cy="530353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522" name="LuShare2 icon" descr="LuShare2 icon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882396" y="5143500"/>
            <a:ext cx="265177" cy="265176"/>
          </a:xfrm>
          <a:prstGeom prst="rect">
            <a:avLst/>
          </a:prstGeom>
          <a:ln w="12700">
            <a:miter lim="400000"/>
          </a:ln>
        </p:spPr>
      </p:pic>
      <p:sp>
        <p:nvSpPr>
          <p:cNvPr id="523" name="Text 16"/>
          <p:cNvSpPr txBox="1"/>
          <p:nvPr/>
        </p:nvSpPr>
        <p:spPr>
          <a:xfrm>
            <a:off x="1463039" y="4919471"/>
            <a:ext cx="585216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500"/>
            </a:lvl1pPr>
          </a:lstStyle>
          <a:p>
            <a:pPr/>
            <a:r>
              <a:t>Shareable answers and creators</a:t>
            </a:r>
          </a:p>
        </p:txBody>
      </p:sp>
      <p:sp>
        <p:nvSpPr>
          <p:cNvPr id="524" name="Text 17"/>
          <p:cNvSpPr txBox="1"/>
          <p:nvPr/>
        </p:nvSpPr>
        <p:spPr>
          <a:xfrm>
            <a:off x="1463039" y="5212079"/>
            <a:ext cx="5852162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434B6B"/>
                </a:solidFill>
              </a:defRPr>
            </a:lvl1pPr>
          </a:lstStyle>
          <a:p>
            <a:pPr/>
            <a:r>
              <a:t>Every cited answer, screen and backtest is a shareable link. Education creators join on referral terms, within SEBI's finfluencer rules.</a:t>
            </a:r>
          </a:p>
        </p:txBody>
      </p:sp>
      <p:sp>
        <p:nvSpPr>
          <p:cNvPr id="525" name="pricing ladder"/>
          <p:cNvSpPr/>
          <p:nvPr/>
        </p:nvSpPr>
        <p:spPr>
          <a:xfrm>
            <a:off x="7818119" y="1755648"/>
            <a:ext cx="3822193" cy="3968497"/>
          </a:xfrm>
          <a:prstGeom prst="roundRect">
            <a:avLst>
              <a:gd name="adj" fmla="val 2871"/>
            </a:avLst>
          </a:prstGeom>
          <a:solidFill>
            <a:schemeClr val="accent3"/>
          </a:solidFill>
          <a:ln w="12700">
            <a:miter lim="400000"/>
          </a:ln>
          <a:effectLst>
            <a:outerShdw sx="100000" sy="100000" kx="0" ky="0" algn="b" rotWithShape="0" blurRad="127000" dist="38100" dir="5400000">
              <a:srgbClr val="0B0E26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6" name="Text 19"/>
          <p:cNvSpPr txBox="1"/>
          <p:nvPr/>
        </p:nvSpPr>
        <p:spPr>
          <a:xfrm>
            <a:off x="8092440" y="1965960"/>
            <a:ext cx="329184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200" sz="1100">
                <a:solidFill>
                  <a:schemeClr val="accent2"/>
                </a:solidFill>
              </a:defRPr>
            </a:lvl1pPr>
          </a:lstStyle>
          <a:p>
            <a:pPr/>
            <a:r>
              <a:t>SUBSCRIPTION TIERS</a:t>
            </a:r>
          </a:p>
        </p:txBody>
      </p:sp>
      <p:sp>
        <p:nvSpPr>
          <p:cNvPr id="527" name="ladder rung 1"/>
          <p:cNvSpPr/>
          <p:nvPr/>
        </p:nvSpPr>
        <p:spPr>
          <a:xfrm>
            <a:off x="8092440" y="2432304"/>
            <a:ext cx="73153" cy="566929"/>
          </a:xfrm>
          <a:prstGeom prst="rect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28" name="Text 21"/>
          <p:cNvSpPr txBox="1"/>
          <p:nvPr/>
        </p:nvSpPr>
        <p:spPr>
          <a:xfrm>
            <a:off x="8321040" y="2377439"/>
            <a:ext cx="3108961" cy="209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Free</a:t>
            </a:r>
          </a:p>
        </p:txBody>
      </p:sp>
      <p:sp>
        <p:nvSpPr>
          <p:cNvPr id="529" name="Text 22"/>
          <p:cNvSpPr txBox="1"/>
          <p:nvPr/>
        </p:nvSpPr>
        <p:spPr>
          <a:xfrm>
            <a:off x="8321040" y="2706623"/>
            <a:ext cx="310896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/>
            <a:r>
              <a:t>Public pages, screens, 3 AI queries/month</a:t>
            </a:r>
          </a:p>
        </p:txBody>
      </p:sp>
      <p:sp>
        <p:nvSpPr>
          <p:cNvPr id="530" name="ladder rung 2"/>
          <p:cNvSpPr/>
          <p:nvPr/>
        </p:nvSpPr>
        <p:spPr>
          <a:xfrm>
            <a:off x="8092440" y="3236976"/>
            <a:ext cx="73153" cy="566929"/>
          </a:xfrm>
          <a:prstGeom prst="rect">
            <a:avLst/>
          </a:prstGeom>
          <a:solidFill>
            <a:schemeClr val="accent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31" name="Text 24"/>
          <p:cNvSpPr txBox="1"/>
          <p:nvPr/>
        </p:nvSpPr>
        <p:spPr>
          <a:xfrm>
            <a:off x="8321040" y="3182111"/>
            <a:ext cx="3108961" cy="209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Plus  ₹199/mo</a:t>
            </a:r>
          </a:p>
        </p:txBody>
      </p:sp>
      <p:sp>
        <p:nvSpPr>
          <p:cNvPr id="532" name="Text 25"/>
          <p:cNvSpPr txBox="1"/>
          <p:nvPr/>
        </p:nvSpPr>
        <p:spPr>
          <a:xfrm>
            <a:off x="8321040" y="3511296"/>
            <a:ext cx="310896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/>
            <a:r>
              <a:t>Weekly researchers: portfolio X-ray &amp; alerts</a:t>
            </a:r>
          </a:p>
        </p:txBody>
      </p:sp>
      <p:sp>
        <p:nvSpPr>
          <p:cNvPr id="533" name="ladder rung 3"/>
          <p:cNvSpPr/>
          <p:nvPr/>
        </p:nvSpPr>
        <p:spPr>
          <a:xfrm>
            <a:off x="8092440" y="4041647"/>
            <a:ext cx="73153" cy="566929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34" name="Text 27"/>
          <p:cNvSpPr txBox="1"/>
          <p:nvPr/>
        </p:nvSpPr>
        <p:spPr>
          <a:xfrm>
            <a:off x="8321040" y="3986784"/>
            <a:ext cx="310896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Pro  ₹599/mo</a:t>
            </a:r>
          </a:p>
        </p:txBody>
      </p:sp>
      <p:sp>
        <p:nvSpPr>
          <p:cNvPr id="535" name="Text 28"/>
          <p:cNvSpPr txBox="1"/>
          <p:nvPr/>
        </p:nvSpPr>
        <p:spPr>
          <a:xfrm>
            <a:off x="8321040" y="4315967"/>
            <a:ext cx="310896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/>
            <a:r>
              <a:t>Unmetered AI Q&amp;A, backtests &amp; paper trading</a:t>
            </a:r>
          </a:p>
        </p:txBody>
      </p:sp>
      <p:sp>
        <p:nvSpPr>
          <p:cNvPr id="536" name="ladder rung 4"/>
          <p:cNvSpPr/>
          <p:nvPr/>
        </p:nvSpPr>
        <p:spPr>
          <a:xfrm>
            <a:off x="8092440" y="4846320"/>
            <a:ext cx="73153" cy="566929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37" name="Text 30"/>
          <p:cNvSpPr txBox="1"/>
          <p:nvPr/>
        </p:nvSpPr>
        <p:spPr>
          <a:xfrm>
            <a:off x="8321040" y="4791455"/>
            <a:ext cx="3108961" cy="209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Desk  ₹2,999/seat</a:t>
            </a:r>
          </a:p>
        </p:txBody>
      </p:sp>
      <p:sp>
        <p:nvSpPr>
          <p:cNvPr id="538" name="Text 31"/>
          <p:cNvSpPr txBox="1"/>
          <p:nvPr/>
        </p:nvSpPr>
        <p:spPr>
          <a:xfrm>
            <a:off x="8321040" y="5120640"/>
            <a:ext cx="310896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/>
            <a:r>
              <a:t>Analyst &amp; adviser desks (1 to 5+ seat teams)</a:t>
            </a:r>
          </a:p>
        </p:txBody>
      </p:sp>
      <p:sp>
        <p:nvSpPr>
          <p:cNvPr id="539" name="Text 32"/>
          <p:cNvSpPr txBox="1"/>
          <p:nvPr/>
        </p:nvSpPr>
        <p:spPr>
          <a:xfrm>
            <a:off x="548639" y="5870447"/>
            <a:ext cx="11094417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1100">
                <a:solidFill>
                  <a:schemeClr val="accent5"/>
                </a:solidFill>
              </a:defRPr>
            </a:lvl1pPr>
          </a:lstStyle>
          <a:p>
            <a:pPr/>
            <a:r>
              <a:t>Screener Premium charges ₹4,999/yr with metered ₹500 AI credits; Anvest Pro includes unmetered grounded AI answers and costed strategy backtesting.</a:t>
            </a:r>
          </a:p>
        </p:txBody>
      </p:sp>
      <p:sp>
        <p:nvSpPr>
          <p:cNvPr id="540" name="Slide Number Placeholder 0"/>
          <p:cNvSpPr txBox="1"/>
          <p:nvPr>
            <p:ph type="sldNum" sz="quarter" idx="4294967295"/>
          </p:nvPr>
        </p:nvSpPr>
        <p:spPr>
          <a:xfrm>
            <a:off x="11501618" y="6419088"/>
            <a:ext cx="141438" cy="1370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Text 0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pPr/>
            <a:r>
              <a:t>FINANCIAL PLAN</a:t>
            </a:r>
          </a:p>
        </p:txBody>
      </p:sp>
      <p:sp>
        <p:nvSpPr>
          <p:cNvPr id="545" name="Text 0"/>
          <p:cNvSpPr txBox="1"/>
          <p:nvPr>
            <p:ph type="title"/>
          </p:nvPr>
        </p:nvSpPr>
        <p:spPr>
          <a:xfrm>
            <a:off x="548639" y="676655"/>
            <a:ext cx="11094417" cy="868682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A base plan for this round, and a path to ~₹30 Cr ARR</a:t>
            </a:r>
          </a:p>
        </p:txBody>
      </p:sp>
      <p:sp>
        <p:nvSpPr>
          <p:cNvPr id="546" name="operating model card"/>
          <p:cNvSpPr/>
          <p:nvPr/>
        </p:nvSpPr>
        <p:spPr>
          <a:xfrm>
            <a:off x="7863840" y="1691639"/>
            <a:ext cx="3776472" cy="4343401"/>
          </a:xfrm>
          <a:prstGeom prst="roundRect">
            <a:avLst>
              <a:gd name="adj" fmla="val 2906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38100" dir="5400000">
              <a:srgbClr val="0B0E26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7" name="Text 3"/>
          <p:cNvSpPr txBox="1"/>
          <p:nvPr/>
        </p:nvSpPr>
        <p:spPr>
          <a:xfrm>
            <a:off x="8092440" y="1847088"/>
            <a:ext cx="338328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200" sz="1100">
                <a:solidFill>
                  <a:schemeClr val="accent1"/>
                </a:solidFill>
              </a:defRPr>
            </a:lvl1pPr>
          </a:lstStyle>
          <a:p>
            <a:pPr/>
            <a:r>
              <a:t>THIS ROUND · MONTH 15</a:t>
            </a:r>
          </a:p>
        </p:txBody>
      </p:sp>
      <p:sp>
        <p:nvSpPr>
          <p:cNvPr id="548" name="Text 5"/>
          <p:cNvSpPr txBox="1"/>
          <p:nvPr/>
        </p:nvSpPr>
        <p:spPr>
          <a:xfrm>
            <a:off x="9555480" y="2292018"/>
            <a:ext cx="1005840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chemeClr val="accent5"/>
                </a:solidFill>
              </a:defRPr>
            </a:lvl1pPr>
          </a:lstStyle>
          <a:p>
            <a:pPr/>
            <a:r>
              <a:t>$400K base</a:t>
            </a:r>
          </a:p>
        </p:txBody>
      </p:sp>
      <p:sp>
        <p:nvSpPr>
          <p:cNvPr id="549" name="Text 6"/>
          <p:cNvSpPr txBox="1"/>
          <p:nvPr/>
        </p:nvSpPr>
        <p:spPr>
          <a:xfrm>
            <a:off x="10561319" y="2292018"/>
            <a:ext cx="1005840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chemeClr val="accent5"/>
                </a:solidFill>
              </a:defRPr>
            </a:lvl1pPr>
          </a:lstStyle>
          <a:p>
            <a:pPr/>
            <a:r>
              <a:t>$700K upsize</a:t>
            </a:r>
          </a:p>
        </p:txBody>
      </p:sp>
      <p:sp>
        <p:nvSpPr>
          <p:cNvPr id="550" name="Text 7"/>
          <p:cNvSpPr txBox="1"/>
          <p:nvPr/>
        </p:nvSpPr>
        <p:spPr>
          <a:xfrm>
            <a:off x="8092440" y="2664767"/>
            <a:ext cx="146304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434B6B"/>
                </a:solidFill>
              </a:defRPr>
            </a:lvl1pPr>
          </a:lstStyle>
          <a:p>
            <a:pPr/>
            <a:r>
              <a:t>ARR run-rate</a:t>
            </a:r>
          </a:p>
        </p:txBody>
      </p:sp>
      <p:sp>
        <p:nvSpPr>
          <p:cNvPr id="551" name="Text 8"/>
          <p:cNvSpPr txBox="1"/>
          <p:nvPr/>
        </p:nvSpPr>
        <p:spPr>
          <a:xfrm>
            <a:off x="9555480" y="2664767"/>
            <a:ext cx="100584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/>
            </a:lvl1pPr>
          </a:lstStyle>
          <a:p>
            <a:pPr/>
            <a:r>
              <a:t>₹83 L</a:t>
            </a:r>
          </a:p>
        </p:txBody>
      </p:sp>
      <p:sp>
        <p:nvSpPr>
          <p:cNvPr id="552" name="Text 9"/>
          <p:cNvSpPr txBox="1"/>
          <p:nvPr/>
        </p:nvSpPr>
        <p:spPr>
          <a:xfrm>
            <a:off x="10561319" y="2664767"/>
            <a:ext cx="100584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chemeClr val="accent1"/>
                </a:solidFill>
              </a:defRPr>
            </a:lvl1pPr>
          </a:lstStyle>
          <a:p>
            <a:pPr/>
            <a:r>
              <a:t>₹1.2 Cr</a:t>
            </a:r>
          </a:p>
        </p:txBody>
      </p:sp>
      <p:sp>
        <p:nvSpPr>
          <p:cNvPr id="553" name="Text 10"/>
          <p:cNvSpPr txBox="1"/>
          <p:nvPr/>
        </p:nvSpPr>
        <p:spPr>
          <a:xfrm>
            <a:off x="8092440" y="3048815"/>
            <a:ext cx="146304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434B6B"/>
                </a:solidFill>
              </a:defRPr>
            </a:lvl1pPr>
          </a:lstStyle>
          <a:p>
            <a:pPr/>
            <a:r>
              <a:t>Desk teams</a:t>
            </a:r>
          </a:p>
        </p:txBody>
      </p:sp>
      <p:sp>
        <p:nvSpPr>
          <p:cNvPr id="554" name="Text 11"/>
          <p:cNvSpPr txBox="1"/>
          <p:nvPr/>
        </p:nvSpPr>
        <p:spPr>
          <a:xfrm>
            <a:off x="9555480" y="3048815"/>
            <a:ext cx="100584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/>
            </a:lvl1pPr>
          </a:lstStyle>
          <a:p>
            <a:pPr/>
            <a:r>
              <a:t>43</a:t>
            </a:r>
          </a:p>
        </p:txBody>
      </p:sp>
      <p:sp>
        <p:nvSpPr>
          <p:cNvPr id="555" name="Text 12"/>
          <p:cNvSpPr txBox="1"/>
          <p:nvPr/>
        </p:nvSpPr>
        <p:spPr>
          <a:xfrm>
            <a:off x="10561319" y="3048815"/>
            <a:ext cx="100584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chemeClr val="accent1"/>
                </a:solidFill>
              </a:defRPr>
            </a:lvl1pPr>
          </a:lstStyle>
          <a:p>
            <a:pPr/>
            <a:r>
              <a:t>62</a:t>
            </a:r>
          </a:p>
        </p:txBody>
      </p:sp>
      <p:sp>
        <p:nvSpPr>
          <p:cNvPr id="556" name="Text 13"/>
          <p:cNvSpPr txBox="1"/>
          <p:nvPr/>
        </p:nvSpPr>
        <p:spPr>
          <a:xfrm>
            <a:off x="8092440" y="3432863"/>
            <a:ext cx="146304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434B6B"/>
                </a:solidFill>
              </a:defRPr>
            </a:lvl1pPr>
          </a:lstStyle>
          <a:p>
            <a:pPr/>
            <a:r>
              <a:t>Paying partners</a:t>
            </a:r>
          </a:p>
        </p:txBody>
      </p:sp>
      <p:sp>
        <p:nvSpPr>
          <p:cNvPr id="557" name="Text 14"/>
          <p:cNvSpPr txBox="1"/>
          <p:nvPr/>
        </p:nvSpPr>
        <p:spPr>
          <a:xfrm>
            <a:off x="9555480" y="3432863"/>
            <a:ext cx="100584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/>
            </a:lvl1pPr>
          </a:lstStyle>
          <a:p>
            <a:pPr/>
            <a:r>
              <a:t>2</a:t>
            </a:r>
          </a:p>
        </p:txBody>
      </p:sp>
      <p:sp>
        <p:nvSpPr>
          <p:cNvPr id="558" name="Text 15"/>
          <p:cNvSpPr txBox="1"/>
          <p:nvPr/>
        </p:nvSpPr>
        <p:spPr>
          <a:xfrm>
            <a:off x="10561319" y="3432863"/>
            <a:ext cx="100584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chemeClr val="accent1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559" name="Text 16"/>
          <p:cNvSpPr txBox="1"/>
          <p:nvPr/>
        </p:nvSpPr>
        <p:spPr>
          <a:xfrm>
            <a:off x="8092440" y="3816911"/>
            <a:ext cx="146304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434B6B"/>
                </a:solidFill>
              </a:defRPr>
            </a:lvl1pPr>
          </a:lstStyle>
          <a:p>
            <a:pPr/>
            <a:r>
              <a:t>Total cash runway</a:t>
            </a:r>
          </a:p>
        </p:txBody>
      </p:sp>
      <p:sp>
        <p:nvSpPr>
          <p:cNvPr id="560" name="Text 17"/>
          <p:cNvSpPr txBox="1"/>
          <p:nvPr/>
        </p:nvSpPr>
        <p:spPr>
          <a:xfrm>
            <a:off x="9555480" y="3816911"/>
            <a:ext cx="100584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/>
            </a:lvl1pPr>
          </a:lstStyle>
          <a:p>
            <a:pPr/>
            <a:r>
              <a:t>~22 months</a:t>
            </a:r>
          </a:p>
        </p:txBody>
      </p:sp>
      <p:sp>
        <p:nvSpPr>
          <p:cNvPr id="561" name="Text 18"/>
          <p:cNvSpPr txBox="1"/>
          <p:nvPr/>
        </p:nvSpPr>
        <p:spPr>
          <a:xfrm>
            <a:off x="10561319" y="3816911"/>
            <a:ext cx="100584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chemeClr val="accent1"/>
                </a:solidFill>
              </a:defRPr>
            </a:lvl1pPr>
          </a:lstStyle>
          <a:p>
            <a:pPr/>
            <a:r>
              <a:t>~30 months</a:t>
            </a:r>
          </a:p>
        </p:txBody>
      </p:sp>
      <p:sp>
        <p:nvSpPr>
          <p:cNvPr id="562" name="Text 19"/>
          <p:cNvSpPr txBox="1"/>
          <p:nvPr/>
        </p:nvSpPr>
        <p:spPr>
          <a:xfrm>
            <a:off x="8092440" y="4206240"/>
            <a:ext cx="338328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200" sz="1100">
                <a:solidFill>
                  <a:schemeClr val="accent1"/>
                </a:solidFill>
              </a:defRPr>
            </a:lvl1pPr>
          </a:lstStyle>
          <a:p>
            <a:pPr/>
            <a:r>
              <a:t>SCENARIO CONDITIONS</a:t>
            </a:r>
          </a:p>
        </p:txBody>
      </p:sp>
      <p:sp>
        <p:nvSpPr>
          <p:cNvPr id="563" name="Text 20"/>
          <p:cNvSpPr txBox="1"/>
          <p:nvPr/>
        </p:nvSpPr>
        <p:spPr>
          <a:xfrm>
            <a:off x="8092440" y="4498847"/>
            <a:ext cx="3383281" cy="705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spcBef>
                <a:spcPts val="300"/>
              </a:spcBef>
              <a:buSzPct val="100000"/>
              <a:buChar char="•"/>
              <a:defRPr sz="1100">
                <a:solidFill>
                  <a:srgbClr val="434B6B"/>
                </a:solidFill>
              </a:defRPr>
            </a:pPr>
            <a:r>
              <a:t>Series A near Month 18 funds 13 sellers by Year 5</a:t>
            </a:r>
          </a:p>
          <a:p>
            <a:pPr marL="342900" indent="-342900">
              <a:spcBef>
                <a:spcPts val="300"/>
              </a:spcBef>
              <a:buSzPct val="100000"/>
              <a:buChar char="•"/>
              <a:defRPr sz="1100">
                <a:solidFill>
                  <a:srgbClr val="434B6B"/>
                </a:solidFill>
              </a:defRPr>
            </a:pPr>
            <a:r>
              <a:t>Strategies launch after SEBI RA &amp; broker empanelment</a:t>
            </a:r>
          </a:p>
          <a:p>
            <a:pPr marL="342900" indent="-342900">
              <a:spcBef>
                <a:spcPts val="300"/>
              </a:spcBef>
              <a:buSzPct val="100000"/>
              <a:buChar char="•"/>
              <a:defRPr sz="1100">
                <a:solidFill>
                  <a:srgbClr val="434B6B"/>
                </a:solidFill>
              </a:defRPr>
            </a:pPr>
            <a:r>
              <a:t>Partner API contracts use tiered per-user pricing</a:t>
            </a:r>
          </a:p>
        </p:txBody>
      </p:sp>
      <p:sp>
        <p:nvSpPr>
          <p:cNvPr id="564" name="Text 21"/>
          <p:cNvSpPr txBox="1"/>
          <p:nvPr/>
        </p:nvSpPr>
        <p:spPr>
          <a:xfrm>
            <a:off x="548639" y="6108191"/>
            <a:ext cx="10362897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1000">
                <a:solidFill>
                  <a:schemeClr val="accent5"/>
                </a:solidFill>
              </a:defRPr>
            </a:lvl1pPr>
          </a:lstStyle>
          <a:p>
            <a:pPr/>
            <a:r>
              <a:t>Bottom-up operating plan: core SaaS (Desk + Retail) reaches ₹14.6 Cr ARR by Year 5; B2B API partners and RA strategies add ₹15.2 Cr as gates clear.</a:t>
            </a:r>
          </a:p>
        </p:txBody>
      </p:sp>
      <p:sp>
        <p:nvSpPr>
          <p:cNvPr id="565" name="Slide Number Placeholder 0"/>
          <p:cNvSpPr txBox="1"/>
          <p:nvPr>
            <p:ph type="sldNum" sz="quarter" idx="4294967295"/>
          </p:nvPr>
        </p:nvSpPr>
        <p:spPr>
          <a:xfrm>
            <a:off x="11501618" y="6419088"/>
            <a:ext cx="141438" cy="1370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aphicFrame>
        <p:nvGraphicFramePr>
          <p:cNvPr id="566" name="ARR by revenue engine chart"/>
          <p:cNvGraphicFramePr/>
          <p:nvPr/>
        </p:nvGraphicFramePr>
        <p:xfrm>
          <a:off x="616373" y="1793239"/>
          <a:ext cx="6853767" cy="422340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Text 0"/>
          <p:cNvSpPr txBox="1"/>
          <p:nvPr>
            <p:ph type="body" sz="quarter" idx="1"/>
          </p:nvPr>
        </p:nvSpPr>
        <p:spPr>
          <a:xfrm>
            <a:off x="548640" y="384047"/>
            <a:ext cx="8229601" cy="274321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TEAM</a:t>
            </a:r>
          </a:p>
        </p:txBody>
      </p:sp>
      <p:sp>
        <p:nvSpPr>
          <p:cNvPr id="571" name="Text 0"/>
          <p:cNvSpPr txBox="1"/>
          <p:nvPr>
            <p:ph type="title"/>
          </p:nvPr>
        </p:nvSpPr>
        <p:spPr>
          <a:xfrm>
            <a:off x="548639" y="676655"/>
            <a:ext cx="11094417" cy="868681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A founder who has already built the hard part</a:t>
            </a:r>
          </a:p>
        </p:txBody>
      </p:sp>
      <p:sp>
        <p:nvSpPr>
          <p:cNvPr id="572" name="founder card"/>
          <p:cNvSpPr/>
          <p:nvPr/>
        </p:nvSpPr>
        <p:spPr>
          <a:xfrm>
            <a:off x="594359" y="1764792"/>
            <a:ext cx="6035042" cy="4160521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38100" dir="5400000">
              <a:srgbClr val="0B0E26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3" name="Text 3"/>
          <p:cNvSpPr txBox="1"/>
          <p:nvPr/>
        </p:nvSpPr>
        <p:spPr>
          <a:xfrm>
            <a:off x="868680" y="2011679"/>
            <a:ext cx="5486401" cy="382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Harsh Bhardwaj</a:t>
            </a:r>
          </a:p>
        </p:txBody>
      </p:sp>
      <p:sp>
        <p:nvSpPr>
          <p:cNvPr id="574" name="Text 4"/>
          <p:cNvSpPr txBox="1"/>
          <p:nvPr/>
        </p:nvSpPr>
        <p:spPr>
          <a:xfrm>
            <a:off x="868680" y="2514599"/>
            <a:ext cx="54864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>
                <a:solidFill>
                  <a:schemeClr val="accent1"/>
                </a:solidFill>
              </a:defRPr>
            </a:lvl1pPr>
          </a:lstStyle>
          <a:p>
            <a:pPr/>
            <a:r>
              <a:t>Founder</a:t>
            </a:r>
          </a:p>
        </p:txBody>
      </p:sp>
      <p:pic>
        <p:nvPicPr>
          <p:cNvPr id="575" name="bio check 1" descr="bio check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68680" y="2982029"/>
            <a:ext cx="237745" cy="237745"/>
          </a:xfrm>
          <a:prstGeom prst="rect">
            <a:avLst/>
          </a:prstGeom>
          <a:ln w="12700">
            <a:miter lim="400000"/>
          </a:ln>
        </p:spPr>
      </p:pic>
      <p:sp>
        <p:nvSpPr>
          <p:cNvPr id="576" name="Text 5"/>
          <p:cNvSpPr txBox="1"/>
          <p:nvPr/>
        </p:nvSpPr>
        <p:spPr>
          <a:xfrm>
            <a:off x="1234439" y="3017520"/>
            <a:ext cx="5120642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434B6B"/>
                </a:solidFill>
              </a:defRPr>
            </a:lvl1pPr>
          </a:lstStyle>
          <a:p>
            <a:pPr/>
            <a:r>
              <a:t>B.Tech, Electronics and Communication, IIT Guwahati (2015–19)</a:t>
            </a:r>
          </a:p>
        </p:txBody>
      </p:sp>
      <p:pic>
        <p:nvPicPr>
          <p:cNvPr id="577" name="bio check 2" descr="bio check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68680" y="3492086"/>
            <a:ext cx="237745" cy="237745"/>
          </a:xfrm>
          <a:prstGeom prst="rect">
            <a:avLst/>
          </a:prstGeom>
          <a:ln w="12700">
            <a:miter lim="400000"/>
          </a:ln>
        </p:spPr>
      </p:pic>
      <p:sp>
        <p:nvSpPr>
          <p:cNvPr id="578" name="Text 6"/>
          <p:cNvSpPr txBox="1"/>
          <p:nvPr/>
        </p:nvSpPr>
        <p:spPr>
          <a:xfrm>
            <a:off x="1234439" y="3530505"/>
            <a:ext cx="512064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434B6B"/>
                </a:solidFill>
              </a:defRPr>
            </a:lvl1pPr>
          </a:lstStyle>
          <a:p>
            <a:pPr/>
            <a:r>
              <a:t>Senior Engineering Lead building production agentic LLM systems</a:t>
            </a:r>
          </a:p>
        </p:txBody>
      </p:sp>
      <p:pic>
        <p:nvPicPr>
          <p:cNvPr id="579" name="bio check 3" descr="bio check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68680" y="4042569"/>
            <a:ext cx="237744" cy="237745"/>
          </a:xfrm>
          <a:prstGeom prst="rect">
            <a:avLst/>
          </a:prstGeom>
          <a:ln w="12700">
            <a:miter lim="400000"/>
          </a:ln>
        </p:spPr>
      </p:pic>
      <p:sp>
        <p:nvSpPr>
          <p:cNvPr id="580" name="Text 7"/>
          <p:cNvSpPr txBox="1"/>
          <p:nvPr/>
        </p:nvSpPr>
        <p:spPr>
          <a:xfrm>
            <a:off x="1234439" y="4015137"/>
            <a:ext cx="5120642" cy="369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434B6B"/>
                </a:solidFill>
              </a:defRPr>
            </a:lvl1pPr>
          </a:lstStyle>
          <a:p>
            <a:pPr/>
            <a:r>
              <a:t>Seven years building high-throughput backend and distributed systems at New Relic, Shiprocket, Weave and Jaguar Land Rover.</a:t>
            </a:r>
          </a:p>
        </p:txBody>
      </p:sp>
      <p:pic>
        <p:nvPicPr>
          <p:cNvPr id="581" name="bio check 4" descr="bio check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68680" y="4728369"/>
            <a:ext cx="237744" cy="237745"/>
          </a:xfrm>
          <a:prstGeom prst="rect">
            <a:avLst/>
          </a:prstGeom>
          <a:ln w="12700">
            <a:miter lim="400000"/>
          </a:ln>
        </p:spPr>
      </p:pic>
      <p:sp>
        <p:nvSpPr>
          <p:cNvPr id="582" name="Text 8"/>
          <p:cNvSpPr txBox="1"/>
          <p:nvPr/>
        </p:nvSpPr>
        <p:spPr>
          <a:xfrm>
            <a:off x="1234439" y="4700937"/>
            <a:ext cx="5120642" cy="369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434B6B"/>
                </a:solidFill>
              </a:defRPr>
            </a:lvl1pPr>
          </a:lstStyle>
          <a:p>
            <a:pPr/>
            <a:r>
              <a:t>Solo-built Anvest's XBRL repair pipeline, verification engine and 9-module platform in 12 months with zero outside capital</a:t>
            </a:r>
          </a:p>
        </p:txBody>
      </p:sp>
      <p:sp>
        <p:nvSpPr>
          <p:cNvPr id="583" name="hiring card"/>
          <p:cNvSpPr/>
          <p:nvPr/>
        </p:nvSpPr>
        <p:spPr>
          <a:xfrm>
            <a:off x="6812280" y="1783079"/>
            <a:ext cx="4828033" cy="4160521"/>
          </a:xfrm>
          <a:prstGeom prst="roundRect">
            <a:avLst>
              <a:gd name="adj" fmla="val 2637"/>
            </a:avLst>
          </a:prstGeom>
          <a:solidFill>
            <a:schemeClr val="accent3"/>
          </a:solidFill>
          <a:ln w="12700">
            <a:miter lim="400000"/>
          </a:ln>
          <a:effectLst>
            <a:outerShdw sx="100000" sy="100000" kx="0" ky="0" algn="b" rotWithShape="0" blurRad="127000" dist="38100" dir="5400000">
              <a:srgbClr val="0B0E26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4" name="Text 10"/>
          <p:cNvSpPr txBox="1"/>
          <p:nvPr/>
        </p:nvSpPr>
        <p:spPr>
          <a:xfrm>
            <a:off x="7086599" y="2011679"/>
            <a:ext cx="4389122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200" sz="1100">
                <a:solidFill>
                  <a:schemeClr val="accent2"/>
                </a:solidFill>
              </a:defRPr>
            </a:lvl1pPr>
          </a:lstStyle>
          <a:p>
            <a:pPr/>
            <a:r>
              <a:t>FIRST HIRES FROM THIS ROUND</a:t>
            </a:r>
          </a:p>
        </p:txBody>
      </p:sp>
      <p:sp>
        <p:nvSpPr>
          <p:cNvPr id="585" name="Text 11"/>
          <p:cNvSpPr txBox="1"/>
          <p:nvPr/>
        </p:nvSpPr>
        <p:spPr>
          <a:xfrm>
            <a:off x="7086599" y="2450592"/>
            <a:ext cx="365762" cy="345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586" name="Text 12"/>
          <p:cNvSpPr txBox="1"/>
          <p:nvPr/>
        </p:nvSpPr>
        <p:spPr>
          <a:xfrm>
            <a:off x="7543799" y="2450592"/>
            <a:ext cx="393192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Growth and partnerships lead</a:t>
            </a:r>
          </a:p>
        </p:txBody>
      </p:sp>
      <p:sp>
        <p:nvSpPr>
          <p:cNvPr id="587" name="Text 13"/>
          <p:cNvSpPr txBox="1"/>
          <p:nvPr/>
        </p:nvSpPr>
        <p:spPr>
          <a:xfrm>
            <a:off x="7543799" y="2743199"/>
            <a:ext cx="393192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/>
            <a:r>
              <a:t>Sells Desk pilots and broker integrations</a:t>
            </a:r>
          </a:p>
        </p:txBody>
      </p:sp>
      <p:sp>
        <p:nvSpPr>
          <p:cNvPr id="588" name="Text 14"/>
          <p:cNvSpPr txBox="1"/>
          <p:nvPr/>
        </p:nvSpPr>
        <p:spPr>
          <a:xfrm>
            <a:off x="7086599" y="3319271"/>
            <a:ext cx="365762" cy="345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589" name="Text 15"/>
          <p:cNvSpPr txBox="1"/>
          <p:nvPr/>
        </p:nvSpPr>
        <p:spPr>
          <a:xfrm>
            <a:off x="7543799" y="3319271"/>
            <a:ext cx="393192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Data engineer</a:t>
            </a:r>
          </a:p>
        </p:txBody>
      </p:sp>
      <p:sp>
        <p:nvSpPr>
          <p:cNvPr id="590" name="Text 16"/>
          <p:cNvSpPr txBox="1"/>
          <p:nvPr/>
        </p:nvSpPr>
        <p:spPr>
          <a:xfrm>
            <a:off x="7543799" y="3611879"/>
            <a:ext cx="393192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/>
            <a:r>
              <a:t>Owns ingestion, coverage and data quality</a:t>
            </a:r>
          </a:p>
        </p:txBody>
      </p:sp>
      <p:sp>
        <p:nvSpPr>
          <p:cNvPr id="591" name="Text 17"/>
          <p:cNvSpPr txBox="1"/>
          <p:nvPr/>
        </p:nvSpPr>
        <p:spPr>
          <a:xfrm>
            <a:off x="7086599" y="4187952"/>
            <a:ext cx="365762" cy="345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592" name="Text 18"/>
          <p:cNvSpPr txBox="1"/>
          <p:nvPr/>
        </p:nvSpPr>
        <p:spPr>
          <a:xfrm>
            <a:off x="7543799" y="4187952"/>
            <a:ext cx="393192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Full-stack and quant engineer</a:t>
            </a:r>
          </a:p>
        </p:txBody>
      </p:sp>
      <p:sp>
        <p:nvSpPr>
          <p:cNvPr id="593" name="Text 19"/>
          <p:cNvSpPr txBox="1"/>
          <p:nvPr/>
        </p:nvSpPr>
        <p:spPr>
          <a:xfrm>
            <a:off x="7543799" y="4480559"/>
            <a:ext cx="393192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/>
            <a:r>
              <a:t>Strategies, alerts and the path to live algos</a:t>
            </a:r>
          </a:p>
        </p:txBody>
      </p:sp>
      <p:sp>
        <p:nvSpPr>
          <p:cNvPr id="594" name="Text 20"/>
          <p:cNvSpPr txBox="1"/>
          <p:nvPr/>
        </p:nvSpPr>
        <p:spPr>
          <a:xfrm>
            <a:off x="7086599" y="5074920"/>
            <a:ext cx="4389122" cy="3473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1200">
                <a:solidFill>
                  <a:schemeClr val="accent6"/>
                </a:solidFill>
              </a:defRPr>
            </a:lvl1pPr>
          </a:lstStyle>
          <a:p>
            <a:pPr/>
            <a:r>
              <a:t>With $700K upsize: adds second B2B seller in Month 8. Onboarding SEBI compliance counsel and capital-markets advisory bench.</a:t>
            </a:r>
          </a:p>
        </p:txBody>
      </p:sp>
      <p:sp>
        <p:nvSpPr>
          <p:cNvPr id="595" name="Text 21"/>
          <p:cNvSpPr txBox="1"/>
          <p:nvPr/>
        </p:nvSpPr>
        <p:spPr>
          <a:xfrm>
            <a:off x="539862" y="6144768"/>
            <a:ext cx="10362896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1200">
                <a:solidFill>
                  <a:srgbClr val="434B6B"/>
                </a:solidFill>
              </a:defRPr>
            </a:lvl1pPr>
          </a:lstStyle>
          <a:p>
            <a:pPr/>
            <a:r>
              <a:t>Domain edge already earned in production: malformed XBRL dates, Q4-only annual figures and scanned PDFs, all solved.</a:t>
            </a:r>
          </a:p>
        </p:txBody>
      </p:sp>
      <p:sp>
        <p:nvSpPr>
          <p:cNvPr id="596" name="Slide Number Placeholder 0"/>
          <p:cNvSpPr txBox="1"/>
          <p:nvPr>
            <p:ph type="sldNum" sz="quarter" idx="4294967295"/>
          </p:nvPr>
        </p:nvSpPr>
        <p:spPr>
          <a:xfrm>
            <a:off x="11501618" y="6419088"/>
            <a:ext cx="141438" cy="1370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Text 0"/>
          <p:cNvSpPr txBox="1"/>
          <p:nvPr>
            <p:ph type="body" sz="quarter" idx="1"/>
          </p:nvPr>
        </p:nvSpPr>
        <p:spPr>
          <a:xfrm>
            <a:off x="548640" y="384047"/>
            <a:ext cx="8229601" cy="274321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THE ASK</a:t>
            </a:r>
          </a:p>
        </p:txBody>
      </p:sp>
      <p:sp>
        <p:nvSpPr>
          <p:cNvPr id="601" name="Text 0"/>
          <p:cNvSpPr txBox="1"/>
          <p:nvPr>
            <p:ph type="title"/>
          </p:nvPr>
        </p:nvSpPr>
        <p:spPr>
          <a:xfrm>
            <a:off x="548639" y="676655"/>
            <a:ext cx="11094417" cy="868681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Raising $400K–$700K Seed: what each amount proves</a:t>
            </a:r>
          </a:p>
        </p:txBody>
      </p:sp>
      <p:sp>
        <p:nvSpPr>
          <p:cNvPr id="602" name="Text 2"/>
          <p:cNvSpPr txBox="1"/>
          <p:nvPr/>
        </p:nvSpPr>
        <p:spPr>
          <a:xfrm>
            <a:off x="548640" y="1481327"/>
            <a:ext cx="8229601" cy="18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500">
                <a:solidFill>
                  <a:schemeClr val="accent6"/>
                </a:solidFill>
              </a:defRPr>
            </a:lvl1pPr>
          </a:lstStyle>
          <a:p>
            <a:pPr/>
            <a:r>
              <a:t>$3.5M post-money cap  ·  CCD/CCPS  ·  identical terms for every investor</a:t>
            </a:r>
          </a:p>
        </p:txBody>
      </p:sp>
      <p:sp>
        <p:nvSpPr>
          <p:cNvPr id="603" name="use of funds 1"/>
          <p:cNvSpPr/>
          <p:nvPr/>
        </p:nvSpPr>
        <p:spPr>
          <a:xfrm>
            <a:off x="548640" y="2011679"/>
            <a:ext cx="5120641" cy="941833"/>
          </a:xfrm>
          <a:prstGeom prst="roundRect">
            <a:avLst>
              <a:gd name="adj" fmla="val 11650"/>
            </a:avLst>
          </a:prstGeom>
          <a:solidFill>
            <a:srgbClr val="FFFFFF">
              <a:alpha val="10000"/>
            </a:srgbClr>
          </a:solidFill>
          <a:ln>
            <a:solidFill>
              <a:schemeClr val="accent6">
                <a:alpha val="25000"/>
              </a:scheme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04" name="Text 4"/>
          <p:cNvSpPr txBox="1"/>
          <p:nvPr/>
        </p:nvSpPr>
        <p:spPr>
          <a:xfrm>
            <a:off x="749807" y="2103120"/>
            <a:ext cx="1280162" cy="345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$155K</a:t>
            </a:r>
          </a:p>
        </p:txBody>
      </p:sp>
      <p:sp>
        <p:nvSpPr>
          <p:cNvPr id="605" name="Text 5"/>
          <p:cNvSpPr txBox="1"/>
          <p:nvPr/>
        </p:nvSpPr>
        <p:spPr>
          <a:xfrm>
            <a:off x="749808" y="2560320"/>
            <a:ext cx="137160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/>
            <a:r>
              <a:t>38.75% of $400K</a:t>
            </a:r>
          </a:p>
        </p:txBody>
      </p:sp>
      <p:sp>
        <p:nvSpPr>
          <p:cNvPr id="606" name="Text 6"/>
          <p:cNvSpPr txBox="1"/>
          <p:nvPr/>
        </p:nvSpPr>
        <p:spPr>
          <a:xfrm>
            <a:off x="2103120" y="2103120"/>
            <a:ext cx="34290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Team</a:t>
            </a:r>
          </a:p>
        </p:txBody>
      </p:sp>
      <p:sp>
        <p:nvSpPr>
          <p:cNvPr id="607" name="Text 7"/>
          <p:cNvSpPr txBox="1"/>
          <p:nvPr/>
        </p:nvSpPr>
        <p:spPr>
          <a:xfrm>
            <a:off x="2103120" y="2395728"/>
            <a:ext cx="34290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/>
            <a:r>
              <a:t>Growth lead, data engineer, full-stack and quant engineer</a:t>
            </a:r>
          </a:p>
        </p:txBody>
      </p:sp>
      <p:sp>
        <p:nvSpPr>
          <p:cNvPr id="608" name="use of funds 2"/>
          <p:cNvSpPr/>
          <p:nvPr/>
        </p:nvSpPr>
        <p:spPr>
          <a:xfrm>
            <a:off x="548640" y="3090672"/>
            <a:ext cx="5120641" cy="941833"/>
          </a:xfrm>
          <a:prstGeom prst="roundRect">
            <a:avLst>
              <a:gd name="adj" fmla="val 11650"/>
            </a:avLst>
          </a:prstGeom>
          <a:solidFill>
            <a:srgbClr val="FFFFFF">
              <a:alpha val="10000"/>
            </a:srgbClr>
          </a:solidFill>
          <a:ln>
            <a:solidFill>
              <a:schemeClr val="accent6">
                <a:alpha val="25000"/>
              </a:scheme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09" name="Text 9"/>
          <p:cNvSpPr txBox="1"/>
          <p:nvPr/>
        </p:nvSpPr>
        <p:spPr>
          <a:xfrm>
            <a:off x="749807" y="3182111"/>
            <a:ext cx="1280162" cy="345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$70K</a:t>
            </a:r>
          </a:p>
        </p:txBody>
      </p:sp>
      <p:sp>
        <p:nvSpPr>
          <p:cNvPr id="610" name="Text 10"/>
          <p:cNvSpPr txBox="1"/>
          <p:nvPr/>
        </p:nvSpPr>
        <p:spPr>
          <a:xfrm>
            <a:off x="749808" y="3639311"/>
            <a:ext cx="13716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/>
            <a:r>
              <a:t>17.50% of $400K</a:t>
            </a:r>
          </a:p>
        </p:txBody>
      </p:sp>
      <p:sp>
        <p:nvSpPr>
          <p:cNvPr id="611" name="Text 11"/>
          <p:cNvSpPr txBox="1"/>
          <p:nvPr/>
        </p:nvSpPr>
        <p:spPr>
          <a:xfrm>
            <a:off x="2103120" y="3182111"/>
            <a:ext cx="34290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Compliance and infrastructure</a:t>
            </a:r>
          </a:p>
        </p:txBody>
      </p:sp>
      <p:sp>
        <p:nvSpPr>
          <p:cNvPr id="612" name="Text 12"/>
          <p:cNvSpPr txBox="1"/>
          <p:nvPr/>
        </p:nvSpPr>
        <p:spPr>
          <a:xfrm>
            <a:off x="2103120" y="3474720"/>
            <a:ext cx="3429001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/>
            <a:r>
              <a:t>SEBI RA registration, exchange data licence, scaled serving and inference</a:t>
            </a:r>
          </a:p>
        </p:txBody>
      </p:sp>
      <p:sp>
        <p:nvSpPr>
          <p:cNvPr id="613" name="use of funds 3"/>
          <p:cNvSpPr/>
          <p:nvPr/>
        </p:nvSpPr>
        <p:spPr>
          <a:xfrm>
            <a:off x="548640" y="4169664"/>
            <a:ext cx="5120641" cy="941833"/>
          </a:xfrm>
          <a:prstGeom prst="roundRect">
            <a:avLst>
              <a:gd name="adj" fmla="val 11650"/>
            </a:avLst>
          </a:prstGeom>
          <a:solidFill>
            <a:srgbClr val="FFFFFF">
              <a:alpha val="10000"/>
            </a:srgbClr>
          </a:solidFill>
          <a:ln>
            <a:solidFill>
              <a:schemeClr val="accent6">
                <a:alpha val="25000"/>
              </a:scheme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14" name="Text 14"/>
          <p:cNvSpPr txBox="1"/>
          <p:nvPr/>
        </p:nvSpPr>
        <p:spPr>
          <a:xfrm>
            <a:off x="749807" y="4261103"/>
            <a:ext cx="1280162" cy="345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$175K</a:t>
            </a:r>
          </a:p>
        </p:txBody>
      </p:sp>
      <p:sp>
        <p:nvSpPr>
          <p:cNvPr id="615" name="Text 15"/>
          <p:cNvSpPr txBox="1"/>
          <p:nvPr/>
        </p:nvSpPr>
        <p:spPr>
          <a:xfrm>
            <a:off x="749808" y="4718303"/>
            <a:ext cx="13716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/>
            <a:r>
              <a:t>43.75% of $400K</a:t>
            </a:r>
          </a:p>
        </p:txBody>
      </p:sp>
      <p:sp>
        <p:nvSpPr>
          <p:cNvPr id="616" name="Text 16"/>
          <p:cNvSpPr txBox="1"/>
          <p:nvPr/>
        </p:nvSpPr>
        <p:spPr>
          <a:xfrm>
            <a:off x="2103120" y="4261103"/>
            <a:ext cx="34290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Growth, founder and reserve</a:t>
            </a:r>
          </a:p>
        </p:txBody>
      </p:sp>
      <p:sp>
        <p:nvSpPr>
          <p:cNvPr id="617" name="Text 17"/>
          <p:cNvSpPr txBox="1"/>
          <p:nvPr/>
        </p:nvSpPr>
        <p:spPr>
          <a:xfrm>
            <a:off x="2103120" y="4553711"/>
            <a:ext cx="3429001" cy="299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/>
            <a:r>
              <a:t>Desk pilots, launch, CAC tests, founder salary and a 17.5% reserve</a:t>
            </a:r>
          </a:p>
        </p:txBody>
      </p:sp>
      <p:sp>
        <p:nvSpPr>
          <p:cNvPr id="618" name="Text 18"/>
          <p:cNvSpPr txBox="1"/>
          <p:nvPr/>
        </p:nvSpPr>
        <p:spPr>
          <a:xfrm>
            <a:off x="548639" y="5349240"/>
            <a:ext cx="512064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1100">
                <a:solidFill>
                  <a:schemeClr val="accent6"/>
                </a:solidFill>
              </a:defRPr>
            </a:lvl1pPr>
          </a:lstStyle>
          <a:p>
            <a:pPr/>
            <a:r>
              <a:t>Plan spend M1–18: $330K (₹2.85 Cr) base · $410K (₹3.55 Cr) upsize.</a:t>
            </a:r>
          </a:p>
        </p:txBody>
      </p:sp>
      <p:sp>
        <p:nvSpPr>
          <p:cNvPr id="619" name="milestones card"/>
          <p:cNvSpPr/>
          <p:nvPr/>
        </p:nvSpPr>
        <p:spPr>
          <a:xfrm>
            <a:off x="5943600" y="2006917"/>
            <a:ext cx="5815585" cy="3816037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38100" dir="5400000">
              <a:srgbClr val="0B0E26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0" name="Text 20"/>
          <p:cNvSpPr txBox="1"/>
          <p:nvPr/>
        </p:nvSpPr>
        <p:spPr>
          <a:xfrm>
            <a:off x="6199631" y="2176272"/>
            <a:ext cx="292608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150" sz="1000">
                <a:solidFill>
                  <a:schemeClr val="accent1"/>
                </a:solidFill>
              </a:defRPr>
            </a:lvl1pPr>
          </a:lstStyle>
          <a:p>
            <a:pPr/>
            <a:r>
              <a:t>$400K BASE PROVES BY MONTH 15</a:t>
            </a:r>
          </a:p>
        </p:txBody>
      </p:sp>
      <p:sp>
        <p:nvSpPr>
          <p:cNvPr id="621" name="Text 21"/>
          <p:cNvSpPr txBox="1"/>
          <p:nvPr/>
        </p:nvSpPr>
        <p:spPr>
          <a:xfrm>
            <a:off x="9098280" y="2176272"/>
            <a:ext cx="237744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150" sz="1000">
                <a:solidFill>
                  <a:schemeClr val="accent1"/>
                </a:solidFill>
              </a:defRPr>
            </a:lvl1pPr>
          </a:lstStyle>
          <a:p>
            <a:pPr/>
            <a:r>
              <a:t>$700K UPSIZE ADDS</a:t>
            </a:r>
          </a:p>
        </p:txBody>
      </p:sp>
      <p:sp>
        <p:nvSpPr>
          <p:cNvPr id="622" name="Text 22"/>
          <p:cNvSpPr txBox="1"/>
          <p:nvPr/>
        </p:nvSpPr>
        <p:spPr>
          <a:xfrm>
            <a:off x="6199632" y="2514599"/>
            <a:ext cx="114300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₹83 L</a:t>
            </a:r>
          </a:p>
        </p:txBody>
      </p:sp>
      <p:sp>
        <p:nvSpPr>
          <p:cNvPr id="623" name="Text 23"/>
          <p:cNvSpPr txBox="1"/>
          <p:nvPr/>
        </p:nvSpPr>
        <p:spPr>
          <a:xfrm>
            <a:off x="7157204" y="2585764"/>
            <a:ext cx="16916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434B6B"/>
                </a:solidFill>
              </a:defRPr>
            </a:lvl1pPr>
          </a:lstStyle>
          <a:p>
            <a:pPr/>
            <a:r>
              <a:t>ARR run-rate (~$87K)</a:t>
            </a:r>
          </a:p>
        </p:txBody>
      </p:sp>
      <p:sp>
        <p:nvSpPr>
          <p:cNvPr id="624" name="Text 24"/>
          <p:cNvSpPr txBox="1"/>
          <p:nvPr/>
        </p:nvSpPr>
        <p:spPr>
          <a:xfrm>
            <a:off x="6199632" y="3063239"/>
            <a:ext cx="1143001" cy="259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43</a:t>
            </a:r>
          </a:p>
        </p:txBody>
      </p:sp>
      <p:sp>
        <p:nvSpPr>
          <p:cNvPr id="625" name="Text 25"/>
          <p:cNvSpPr txBox="1"/>
          <p:nvPr/>
        </p:nvSpPr>
        <p:spPr>
          <a:xfrm>
            <a:off x="7157204" y="3124315"/>
            <a:ext cx="169164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434B6B"/>
                </a:solidFill>
              </a:defRPr>
            </a:lvl1pPr>
          </a:lstStyle>
          <a:p>
            <a:pPr/>
            <a:r>
              <a:t>Desk teams (~227 seats)</a:t>
            </a:r>
          </a:p>
        </p:txBody>
      </p:sp>
      <p:sp>
        <p:nvSpPr>
          <p:cNvPr id="626" name="Text 26"/>
          <p:cNvSpPr txBox="1"/>
          <p:nvPr/>
        </p:nvSpPr>
        <p:spPr>
          <a:xfrm>
            <a:off x="6199632" y="3611879"/>
            <a:ext cx="1143001" cy="259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627" name="Text 27"/>
          <p:cNvSpPr txBox="1"/>
          <p:nvPr/>
        </p:nvSpPr>
        <p:spPr>
          <a:xfrm>
            <a:off x="7157204" y="3672955"/>
            <a:ext cx="169164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434B6B"/>
                </a:solidFill>
              </a:defRPr>
            </a:lvl1pPr>
          </a:lstStyle>
          <a:p>
            <a:pPr/>
            <a:r>
              <a:t>paying partner integrations</a:t>
            </a:r>
          </a:p>
        </p:txBody>
      </p:sp>
      <p:sp>
        <p:nvSpPr>
          <p:cNvPr id="628" name="Text 28"/>
          <p:cNvSpPr txBox="1"/>
          <p:nvPr/>
        </p:nvSpPr>
        <p:spPr>
          <a:xfrm>
            <a:off x="6199632" y="4160520"/>
            <a:ext cx="1143001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RA</a:t>
            </a:r>
          </a:p>
        </p:txBody>
      </p:sp>
      <p:sp>
        <p:nvSpPr>
          <p:cNvPr id="629" name="Text 29"/>
          <p:cNvSpPr txBox="1"/>
          <p:nvPr/>
        </p:nvSpPr>
        <p:spPr>
          <a:xfrm>
            <a:off x="7157204" y="4164345"/>
            <a:ext cx="169164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434B6B"/>
                </a:solidFill>
              </a:defRPr>
            </a:lvl1pPr>
          </a:lstStyle>
          <a:p>
            <a:pPr/>
            <a:r>
              <a:t>SEBI research-analyst registration</a:t>
            </a:r>
          </a:p>
        </p:txBody>
      </p:sp>
      <p:sp>
        <p:nvSpPr>
          <p:cNvPr id="630" name="Text 30"/>
          <p:cNvSpPr txBox="1"/>
          <p:nvPr/>
        </p:nvSpPr>
        <p:spPr>
          <a:xfrm>
            <a:off x="6199632" y="4709159"/>
            <a:ext cx="1143001" cy="259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Public</a:t>
            </a:r>
          </a:p>
        </p:txBody>
      </p:sp>
      <p:sp>
        <p:nvSpPr>
          <p:cNvPr id="631" name="Text 31"/>
          <p:cNvSpPr txBox="1"/>
          <p:nvPr/>
        </p:nvSpPr>
        <p:spPr>
          <a:xfrm>
            <a:off x="7157204" y="4712985"/>
            <a:ext cx="1691641" cy="302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434B6B"/>
                </a:solidFill>
              </a:defRPr>
            </a:lvl1pPr>
          </a:lstStyle>
          <a:p>
            <a:pPr/>
            <a:r>
              <a:t>head-to-head benchmark, published</a:t>
            </a:r>
          </a:p>
        </p:txBody>
      </p:sp>
      <p:sp>
        <p:nvSpPr>
          <p:cNvPr id="632" name="Text 32"/>
          <p:cNvSpPr txBox="1"/>
          <p:nvPr/>
        </p:nvSpPr>
        <p:spPr>
          <a:xfrm>
            <a:off x="9098280" y="2514599"/>
            <a:ext cx="105156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₹1.2 Cr</a:t>
            </a:r>
          </a:p>
        </p:txBody>
      </p:sp>
      <p:sp>
        <p:nvSpPr>
          <p:cNvPr id="633" name="Text 33"/>
          <p:cNvSpPr txBox="1"/>
          <p:nvPr/>
        </p:nvSpPr>
        <p:spPr>
          <a:xfrm>
            <a:off x="10149840" y="2585764"/>
            <a:ext cx="13716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434B6B"/>
                </a:solidFill>
              </a:defRPr>
            </a:lvl1pPr>
          </a:lstStyle>
          <a:p>
            <a:pPr/>
            <a:r>
              <a:t>ARR run-rate (~$124K)</a:t>
            </a:r>
          </a:p>
        </p:txBody>
      </p:sp>
      <p:sp>
        <p:nvSpPr>
          <p:cNvPr id="634" name="Text 34"/>
          <p:cNvSpPr txBox="1"/>
          <p:nvPr/>
        </p:nvSpPr>
        <p:spPr>
          <a:xfrm>
            <a:off x="9098280" y="3063239"/>
            <a:ext cx="1051561" cy="259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62</a:t>
            </a:r>
          </a:p>
        </p:txBody>
      </p:sp>
      <p:sp>
        <p:nvSpPr>
          <p:cNvPr id="635" name="Text 35"/>
          <p:cNvSpPr txBox="1"/>
          <p:nvPr/>
        </p:nvSpPr>
        <p:spPr>
          <a:xfrm>
            <a:off x="10149840" y="3081527"/>
            <a:ext cx="137160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434B6B"/>
                </a:solidFill>
              </a:defRPr>
            </a:lvl1pPr>
          </a:lstStyle>
          <a:p>
            <a:pPr/>
            <a:r>
              <a:t>Desk teams, with a second seller</a:t>
            </a:r>
          </a:p>
        </p:txBody>
      </p:sp>
      <p:sp>
        <p:nvSpPr>
          <p:cNvPr id="636" name="Text 36"/>
          <p:cNvSpPr txBox="1"/>
          <p:nvPr/>
        </p:nvSpPr>
        <p:spPr>
          <a:xfrm>
            <a:off x="9098280" y="3611879"/>
            <a:ext cx="1051561" cy="259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637" name="Text 37"/>
          <p:cNvSpPr txBox="1"/>
          <p:nvPr/>
        </p:nvSpPr>
        <p:spPr>
          <a:xfrm>
            <a:off x="10149840" y="3630167"/>
            <a:ext cx="137160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434B6B"/>
                </a:solidFill>
              </a:defRPr>
            </a:lvl1pPr>
          </a:lstStyle>
          <a:p>
            <a:pPr/>
            <a:r>
              <a:t>paying partner integrations</a:t>
            </a:r>
          </a:p>
        </p:txBody>
      </p:sp>
      <p:sp>
        <p:nvSpPr>
          <p:cNvPr id="638" name="Text 38"/>
          <p:cNvSpPr txBox="1"/>
          <p:nvPr/>
        </p:nvSpPr>
        <p:spPr>
          <a:xfrm>
            <a:off x="9098280" y="4160520"/>
            <a:ext cx="1051561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~30 mo</a:t>
            </a:r>
          </a:p>
        </p:txBody>
      </p:sp>
      <p:sp>
        <p:nvSpPr>
          <p:cNvPr id="639" name="Text 39"/>
          <p:cNvSpPr txBox="1"/>
          <p:nvPr/>
        </p:nvSpPr>
        <p:spPr>
          <a:xfrm>
            <a:off x="10149840" y="4246895"/>
            <a:ext cx="13716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434B6B"/>
                </a:solidFill>
              </a:defRPr>
            </a:lvl1pPr>
          </a:lstStyle>
          <a:p>
            <a:pPr/>
            <a:r>
              <a:t>total cash runway</a:t>
            </a:r>
          </a:p>
        </p:txBody>
      </p:sp>
      <p:sp>
        <p:nvSpPr>
          <p:cNvPr id="640" name="Text 40"/>
          <p:cNvSpPr txBox="1"/>
          <p:nvPr/>
        </p:nvSpPr>
        <p:spPr>
          <a:xfrm>
            <a:off x="6199632" y="5349240"/>
            <a:ext cx="5303521" cy="302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1000">
                <a:solidFill>
                  <a:schemeClr val="accent5"/>
                </a:solidFill>
              </a:defRPr>
            </a:lvl1pPr>
          </a:lstStyle>
          <a:p>
            <a:pPr/>
            <a:r>
              <a:t>Base raise provides ~22 months of total cash runway (~25+ months at Month-18 net burn), leaving the 17.5% reserve untouched.</a:t>
            </a:r>
          </a:p>
        </p:txBody>
      </p:sp>
      <p:sp>
        <p:nvSpPr>
          <p:cNvPr id="641" name="Text 41"/>
          <p:cNvSpPr txBox="1"/>
          <p:nvPr/>
        </p:nvSpPr>
        <p:spPr>
          <a:xfrm>
            <a:off x="5943600" y="5989320"/>
            <a:ext cx="569671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500">
                <a:solidFill>
                  <a:schemeClr val="accent2"/>
                </a:solidFill>
              </a:defRPr>
            </a:lvl1pPr>
          </a:lstStyle>
          <a:p>
            <a:pPr/>
            <a:r>
              <a:t>Series A-ready in 15–18 months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Text 0"/>
          <p:cNvSpPr txBox="1"/>
          <p:nvPr>
            <p:ph type="title"/>
          </p:nvPr>
        </p:nvSpPr>
        <p:spPr>
          <a:xfrm>
            <a:off x="548639" y="1737360"/>
            <a:ext cx="10607042" cy="1783079"/>
          </a:xfrm>
          <a:prstGeom prst="rect">
            <a:avLst/>
          </a:prstGeom>
        </p:spPr>
        <p:txBody>
          <a:bodyPr lIns="0" tIns="0" rIns="0" bIns="0" anchor="b"/>
          <a:lstStyle/>
          <a:p>
            <a:pPr/>
            <a:r>
              <a:t>Every Indian investor deserves an analyst, a quant and a planner.</a:t>
            </a:r>
          </a:p>
        </p:txBody>
      </p:sp>
      <p:sp>
        <p:nvSpPr>
          <p:cNvPr id="646" name="Text 1"/>
          <p:cNvSpPr txBox="1"/>
          <p:nvPr/>
        </p:nvSpPr>
        <p:spPr>
          <a:xfrm>
            <a:off x="548640" y="3657600"/>
            <a:ext cx="10058401" cy="3828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6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Anvest puts all three behind one question.</a:t>
            </a:r>
          </a:p>
        </p:txBody>
      </p:sp>
      <p:sp>
        <p:nvSpPr>
          <p:cNvPr id="647" name="Text 2"/>
          <p:cNvSpPr txBox="1"/>
          <p:nvPr/>
        </p:nvSpPr>
        <p:spPr>
          <a:xfrm>
            <a:off x="548640" y="4343400"/>
            <a:ext cx="10058401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Institutional depth. Retail reach. One verified data engine.</a:t>
            </a:r>
          </a:p>
        </p:txBody>
      </p:sp>
      <p:sp>
        <p:nvSpPr>
          <p:cNvPr id="648" name="Text 3"/>
          <p:cNvSpPr txBox="1"/>
          <p:nvPr/>
        </p:nvSpPr>
        <p:spPr>
          <a:xfrm>
            <a:off x="548640" y="4846320"/>
            <a:ext cx="1005840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500">
                <a:solidFill>
                  <a:schemeClr val="accent6"/>
                </a:solidFill>
              </a:defRPr>
            </a:lvl1pPr>
          </a:lstStyle>
          <a:p>
            <a:pPr/>
            <a:r>
              <a:t>Explore live at anvest.in  ·  Book a live workflow demo and data-room walkthrough: harsh@anvest.in</a:t>
            </a:r>
          </a:p>
        </p:txBody>
      </p:sp>
      <p:sp>
        <p:nvSpPr>
          <p:cNvPr id="649" name="Text 4"/>
          <p:cNvSpPr txBox="1"/>
          <p:nvPr/>
        </p:nvSpPr>
        <p:spPr>
          <a:xfrm>
            <a:off x="548640" y="6172200"/>
            <a:ext cx="731520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/>
            <a:r>
              <a:t>Harsh Bhardwaj  ·  harsh@anvest.in  ·  live at anvest.in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Text 0"/>
          <p:cNvSpPr txBox="1"/>
          <p:nvPr>
            <p:ph type="body" sz="quarter" idx="1"/>
          </p:nvPr>
        </p:nvSpPr>
        <p:spPr>
          <a:xfrm>
            <a:off x="548640" y="384047"/>
            <a:ext cx="8229601" cy="274321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APPENDIX</a:t>
            </a:r>
          </a:p>
        </p:txBody>
      </p:sp>
      <p:sp>
        <p:nvSpPr>
          <p:cNvPr id="654" name="Text 0"/>
          <p:cNvSpPr txBox="1"/>
          <p:nvPr>
            <p:ph type="title"/>
          </p:nvPr>
        </p:nvSpPr>
        <p:spPr>
          <a:xfrm>
            <a:off x="548639" y="676655"/>
            <a:ext cx="11094417" cy="868681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Trust and compliance, built in</a:t>
            </a:r>
          </a:p>
        </p:txBody>
      </p:sp>
      <p:sp>
        <p:nvSpPr>
          <p:cNvPr id="655" name="trust row 1"/>
          <p:cNvSpPr/>
          <p:nvPr/>
        </p:nvSpPr>
        <p:spPr>
          <a:xfrm>
            <a:off x="548640" y="1737360"/>
            <a:ext cx="11094416" cy="749809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38100" dir="5400000">
              <a:srgbClr val="0B0E26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6" name="LuBadgeCheck circle"/>
          <p:cNvSpPr/>
          <p:nvPr/>
        </p:nvSpPr>
        <p:spPr>
          <a:xfrm>
            <a:off x="731519" y="1865376"/>
            <a:ext cx="493777" cy="493777"/>
          </a:xfrm>
          <a:prstGeom prst="ellipse">
            <a:avLst/>
          </a:prstGeom>
          <a:solidFill>
            <a:srgbClr val="F4F7F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657" name="LuBadgeCheck icon" descr="LuBadgeCheck icon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54963" y="1988820"/>
            <a:ext cx="246890" cy="246889"/>
          </a:xfrm>
          <a:prstGeom prst="rect">
            <a:avLst/>
          </a:prstGeom>
          <a:ln w="12700">
            <a:miter lim="400000"/>
          </a:ln>
        </p:spPr>
      </p:pic>
      <p:sp>
        <p:nvSpPr>
          <p:cNvPr id="658" name="Text 4"/>
          <p:cNvSpPr txBox="1"/>
          <p:nvPr/>
        </p:nvSpPr>
        <p:spPr>
          <a:xfrm>
            <a:off x="1417319" y="2018986"/>
            <a:ext cx="219456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/>
            </a:lvl1pPr>
          </a:lstStyle>
          <a:p>
            <a:pPr/>
            <a:r>
              <a:t>Data accuracy</a:t>
            </a:r>
          </a:p>
        </p:txBody>
      </p:sp>
      <p:sp>
        <p:nvSpPr>
          <p:cNvPr id="659" name="Text 5"/>
          <p:cNvSpPr txBox="1"/>
          <p:nvPr/>
        </p:nvSpPr>
        <p:spPr>
          <a:xfrm>
            <a:off x="3657600" y="1938581"/>
            <a:ext cx="7772400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434B6B"/>
                </a:solidFill>
              </a:defRPr>
            </a:lvl1pPr>
          </a:lstStyle>
          <a:p>
            <a:pPr/>
            <a:r>
              <a:t>Answers show the filings they draw on and pass a numerical check against that evidence before they are returned. Coverage gaps are shown, not estimated. Corrections ship as versioned releases.</a:t>
            </a:r>
          </a:p>
        </p:txBody>
      </p:sp>
      <p:sp>
        <p:nvSpPr>
          <p:cNvPr id="660" name="trust row 2"/>
          <p:cNvSpPr/>
          <p:nvPr/>
        </p:nvSpPr>
        <p:spPr>
          <a:xfrm>
            <a:off x="548640" y="2606039"/>
            <a:ext cx="11094416" cy="749809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38100" dir="5400000">
              <a:srgbClr val="0B0E26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1" name="LuScale circle"/>
          <p:cNvSpPr/>
          <p:nvPr/>
        </p:nvSpPr>
        <p:spPr>
          <a:xfrm>
            <a:off x="731519" y="2734055"/>
            <a:ext cx="493777" cy="493777"/>
          </a:xfrm>
          <a:prstGeom prst="ellipse">
            <a:avLst/>
          </a:prstGeom>
          <a:solidFill>
            <a:srgbClr val="F4F7F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662" name="LuScale icon" descr="LuScale icon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54963" y="2857500"/>
            <a:ext cx="246890" cy="246889"/>
          </a:xfrm>
          <a:prstGeom prst="rect">
            <a:avLst/>
          </a:prstGeom>
          <a:ln w="12700">
            <a:miter lim="400000"/>
          </a:ln>
        </p:spPr>
      </p:pic>
      <p:sp>
        <p:nvSpPr>
          <p:cNvPr id="663" name="Text 8"/>
          <p:cNvSpPr txBox="1"/>
          <p:nvPr/>
        </p:nvSpPr>
        <p:spPr>
          <a:xfrm>
            <a:off x="1417319" y="2887665"/>
            <a:ext cx="219456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/>
            </a:lvl1pPr>
          </a:lstStyle>
          <a:p>
            <a:pPr/>
            <a:r>
              <a:t>Regulation</a:t>
            </a:r>
          </a:p>
        </p:txBody>
      </p:sp>
      <p:sp>
        <p:nvSpPr>
          <p:cNvPr id="664" name="Text 9"/>
          <p:cNvSpPr txBox="1"/>
          <p:nvPr/>
        </p:nvSpPr>
        <p:spPr>
          <a:xfrm>
            <a:off x="3657600" y="2807261"/>
            <a:ext cx="7772400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434B6B"/>
                </a:solidFill>
              </a:defRPr>
            </a:lvl1pPr>
          </a:lstStyle>
          <a:p>
            <a:pPr/>
            <a:r>
              <a:t>Informational by design: no buy, sell or hold calls and no target prices. SEBI RA registration is funded in this round and positions Anvest for the retail algo framework.</a:t>
            </a:r>
          </a:p>
        </p:txBody>
      </p:sp>
      <p:sp>
        <p:nvSpPr>
          <p:cNvPr id="665" name="trust row 3"/>
          <p:cNvSpPr/>
          <p:nvPr/>
        </p:nvSpPr>
        <p:spPr>
          <a:xfrm>
            <a:off x="548640" y="3474720"/>
            <a:ext cx="11094416" cy="749809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38100" dir="5400000">
              <a:srgbClr val="0B0E26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6" name="LuNewspaper circle"/>
          <p:cNvSpPr/>
          <p:nvPr/>
        </p:nvSpPr>
        <p:spPr>
          <a:xfrm>
            <a:off x="731519" y="3602735"/>
            <a:ext cx="493777" cy="493777"/>
          </a:xfrm>
          <a:prstGeom prst="ellipse">
            <a:avLst/>
          </a:prstGeom>
          <a:solidFill>
            <a:srgbClr val="F4F7F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667" name="LuNewspaper icon" descr="LuNewspaper icon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54963" y="3726179"/>
            <a:ext cx="246890" cy="246889"/>
          </a:xfrm>
          <a:prstGeom prst="rect">
            <a:avLst/>
          </a:prstGeom>
          <a:ln w="12700">
            <a:miter lim="400000"/>
          </a:ln>
        </p:spPr>
      </p:pic>
      <p:sp>
        <p:nvSpPr>
          <p:cNvPr id="668" name="Text 12"/>
          <p:cNvSpPr txBox="1"/>
          <p:nvPr/>
        </p:nvSpPr>
        <p:spPr>
          <a:xfrm>
            <a:off x="1417319" y="3756346"/>
            <a:ext cx="219456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/>
            </a:lvl1pPr>
          </a:lstStyle>
          <a:p>
            <a:pPr/>
            <a:r>
              <a:t>Market data</a:t>
            </a:r>
          </a:p>
        </p:txBody>
      </p:sp>
      <p:sp>
        <p:nvSpPr>
          <p:cNvPr id="669" name="Text 13"/>
          <p:cNvSpPr txBox="1"/>
          <p:nvPr/>
        </p:nvSpPr>
        <p:spPr>
          <a:xfrm>
            <a:off x="3657600" y="3675941"/>
            <a:ext cx="7772400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434B6B"/>
                </a:solidFill>
              </a:defRPr>
            </a:lvl1pPr>
          </a:lstStyle>
          <a:p>
            <a:pPr/>
            <a:r>
              <a:t>End-of-day exchange data today; licensed institutional &amp; delayed feeds budgeted this round for Desk teams and public pages, plus broker OAuth for retail.</a:t>
            </a:r>
          </a:p>
        </p:txBody>
      </p:sp>
      <p:sp>
        <p:nvSpPr>
          <p:cNvPr id="670" name="trust row 4"/>
          <p:cNvSpPr/>
          <p:nvPr/>
        </p:nvSpPr>
        <p:spPr>
          <a:xfrm>
            <a:off x="548640" y="4343400"/>
            <a:ext cx="11094416" cy="749809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38100" dir="5400000">
              <a:srgbClr val="0B0E26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1" name="LuGauge circle"/>
          <p:cNvSpPr/>
          <p:nvPr/>
        </p:nvSpPr>
        <p:spPr>
          <a:xfrm>
            <a:off x="731519" y="4471415"/>
            <a:ext cx="493777" cy="493777"/>
          </a:xfrm>
          <a:prstGeom prst="ellipse">
            <a:avLst/>
          </a:prstGeom>
          <a:solidFill>
            <a:srgbClr val="F4F7F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672" name="LuGauge icon" descr="LuGauge icon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54963" y="4594859"/>
            <a:ext cx="246890" cy="246889"/>
          </a:xfrm>
          <a:prstGeom prst="rect">
            <a:avLst/>
          </a:prstGeom>
          <a:ln w="12700">
            <a:miter lim="400000"/>
          </a:ln>
        </p:spPr>
      </p:pic>
      <p:sp>
        <p:nvSpPr>
          <p:cNvPr id="673" name="Text 16"/>
          <p:cNvSpPr txBox="1"/>
          <p:nvPr/>
        </p:nvSpPr>
        <p:spPr>
          <a:xfrm>
            <a:off x="1417319" y="4625025"/>
            <a:ext cx="2194561" cy="18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/>
            </a:lvl1pPr>
          </a:lstStyle>
          <a:p>
            <a:pPr/>
            <a:r>
              <a:t>Verification proof</a:t>
            </a:r>
          </a:p>
        </p:txBody>
      </p:sp>
      <p:sp>
        <p:nvSpPr>
          <p:cNvPr id="674" name="Text 17"/>
          <p:cNvSpPr txBox="1"/>
          <p:nvPr/>
        </p:nvSpPr>
        <p:spPr>
          <a:xfrm>
            <a:off x="3657600" y="4544621"/>
            <a:ext cx="7772400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434B6B"/>
                </a:solidFill>
              </a:defRPr>
            </a:lvl1pPr>
          </a:lstStyle>
          <a:p>
            <a:pPr/>
            <a:r>
              <a:t>100% exact match on spot-checked Q2 FY27 NSE XBRL filings; publishing a 100-task head-to-head benchmark (accuracy, latency, cost) vs. Screener, Tijori &amp; Trendlyne.</a:t>
            </a:r>
          </a:p>
        </p:txBody>
      </p:sp>
      <p:sp>
        <p:nvSpPr>
          <p:cNvPr id="675" name="trust row 5"/>
          <p:cNvSpPr/>
          <p:nvPr/>
        </p:nvSpPr>
        <p:spPr>
          <a:xfrm>
            <a:off x="548640" y="5212079"/>
            <a:ext cx="11094416" cy="749809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38100" dir="5400000">
              <a:srgbClr val="0B0E26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6" name="LuUsers circle"/>
          <p:cNvSpPr/>
          <p:nvPr/>
        </p:nvSpPr>
        <p:spPr>
          <a:xfrm>
            <a:off x="731519" y="5340096"/>
            <a:ext cx="493777" cy="493777"/>
          </a:xfrm>
          <a:prstGeom prst="ellipse">
            <a:avLst/>
          </a:prstGeom>
          <a:solidFill>
            <a:srgbClr val="F4F7F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677" name="LuUsers icon" descr="LuUsers icon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854963" y="5463540"/>
            <a:ext cx="246890" cy="246889"/>
          </a:xfrm>
          <a:prstGeom prst="rect">
            <a:avLst/>
          </a:prstGeom>
          <a:ln w="12700">
            <a:miter lim="400000"/>
          </a:ln>
        </p:spPr>
      </p:pic>
      <p:sp>
        <p:nvSpPr>
          <p:cNvPr id="678" name="Text 20"/>
          <p:cNvSpPr txBox="1"/>
          <p:nvPr/>
        </p:nvSpPr>
        <p:spPr>
          <a:xfrm>
            <a:off x="1417319" y="5493705"/>
            <a:ext cx="219456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/>
            </a:lvl1pPr>
          </a:lstStyle>
          <a:p>
            <a:pPr/>
            <a:r>
              <a:t>Key-person depth</a:t>
            </a:r>
          </a:p>
        </p:txBody>
      </p:sp>
      <p:sp>
        <p:nvSpPr>
          <p:cNvPr id="679" name="Text 21"/>
          <p:cNvSpPr txBox="1"/>
          <p:nvPr/>
        </p:nvSpPr>
        <p:spPr>
          <a:xfrm>
            <a:off x="3657600" y="5508551"/>
            <a:ext cx="777240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434B6B"/>
                </a:solidFill>
              </a:defRPr>
            </a:lvl1pPr>
          </a:lstStyle>
          <a:p>
            <a:pPr/>
            <a:r>
              <a:t>Runbooks, health-checked nightly jobs and documented architecture. The first hires add data and customer-facing depth.</a:t>
            </a:r>
          </a:p>
        </p:txBody>
      </p:sp>
      <p:sp>
        <p:nvSpPr>
          <p:cNvPr id="680" name="Slide Number Placeholder 0"/>
          <p:cNvSpPr txBox="1"/>
          <p:nvPr>
            <p:ph type="sldNum" sz="quarter" idx="4294967295"/>
          </p:nvPr>
        </p:nvSpPr>
        <p:spPr>
          <a:xfrm>
            <a:off x="11501618" y="6419088"/>
            <a:ext cx="141438" cy="1370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Text 0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pPr/>
            <a:r>
              <a:t>APPENDIX</a:t>
            </a:r>
          </a:p>
        </p:txBody>
      </p:sp>
      <p:sp>
        <p:nvSpPr>
          <p:cNvPr id="683" name="Text 0"/>
          <p:cNvSpPr txBox="1"/>
          <p:nvPr>
            <p:ph type="title"/>
          </p:nvPr>
        </p:nvSpPr>
        <p:spPr>
          <a:xfrm>
            <a:off x="548639" y="676655"/>
            <a:ext cx="11094417" cy="868682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Operating model: the month-15 bridge</a:t>
            </a:r>
          </a:p>
        </p:txBody>
      </p:sp>
      <p:graphicFrame>
        <p:nvGraphicFramePr>
          <p:cNvPr id="684" name="Table 0"/>
          <p:cNvGraphicFramePr/>
          <p:nvPr/>
        </p:nvGraphicFramePr>
        <p:xfrm>
          <a:off x="548640" y="1737360"/>
          <a:ext cx="11091673" cy="2935224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737360"/>
                <a:gridCol w="6428232"/>
                <a:gridCol w="1463040"/>
                <a:gridCol w="146304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Engine</a:t>
                      </a:r>
                    </a:p>
                  </a:txBody>
                  <a:tcPr marL="50800" marR="50800" marT="50800" marB="508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Base drivers ($400K)</a:t>
                      </a:r>
                    </a:p>
                  </a:txBody>
                  <a:tcPr marL="50800" marR="50800" marT="50800" marB="508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Base</a:t>
                      </a:r>
                    </a:p>
                  </a:txBody>
                  <a:tcPr marL="50800" marR="50800" marT="50800" marB="508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Upsize ($700K)</a:t>
                      </a:r>
                    </a:p>
                  </a:txBody>
                  <a:tcPr marL="50800" marR="50800" marT="50800" marB="508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chemeClr val="accent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300">
                          <a:solidFill>
                            <a:srgbClr val="0B0E26"/>
                          </a:solidFill>
                        </a:rPr>
                        <a:t>Desk seats</a:t>
                      </a:r>
                    </a:p>
                  </a:txBody>
                  <a:tcPr marL="50800" marR="50800" marT="50800" marB="508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rgbClr val="434B6B"/>
                          </a:solidFill>
                        </a:rPr>
                        <a:t>Founder 1 team/mo; seller 3 teams/mo once ramped; 2% monthly churn; 1–5 seat Desk plans averaging ~₹2,245 net/seat</a:t>
                      </a:r>
                    </a:p>
                  </a:txBody>
                  <a:tcPr marL="50800" marR="50800" marT="50800" marB="508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0B0E26"/>
                          </a:solidFill>
                        </a:rPr>
                        <a:t>₹5.1 L</a:t>
                      </a:r>
                    </a:p>
                  </a:txBody>
                  <a:tcPr marL="50800" marR="50800" marT="50800" marB="508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chemeClr val="accent1"/>
                          </a:solidFill>
                        </a:rPr>
                        <a:t>₹7.3 L</a:t>
                      </a:r>
                    </a:p>
                  </a:txBody>
                  <a:tcPr marL="50800" marR="50800" marT="50800" marB="508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300">
                          <a:solidFill>
                            <a:srgbClr val="0B0E26"/>
                          </a:solidFill>
                        </a:rPr>
                        <a:t>Partners</a:t>
                      </a:r>
                    </a:p>
                  </a:txBody>
                  <a:tcPr marL="50800" marR="50800" marT="50800" marB="508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rgbClr val="434B6B"/>
                          </a:solidFill>
                        </a:rPr>
                        <a:t>2 integrations live (months 10 and 14); 4,000 active users each, growing 6%/month, at ₹15 per user</a:t>
                      </a:r>
                    </a:p>
                  </a:txBody>
                  <a:tcPr marL="50800" marR="50800" marT="50800" marB="508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0B0E26"/>
                          </a:solidFill>
                        </a:rPr>
                        <a:t>₹1.4 L</a:t>
                      </a:r>
                    </a:p>
                  </a:txBody>
                  <a:tcPr marL="50800" marR="50800" marT="50800" marB="508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chemeClr val="accent1"/>
                          </a:solidFill>
                        </a:rPr>
                        <a:t>₹2.2 L</a:t>
                      </a:r>
                    </a:p>
                  </a:txBody>
                  <a:tcPr marL="50800" marR="50800" marT="50800" marB="508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4F7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300">
                          <a:solidFill>
                            <a:srgbClr val="0B0E26"/>
                          </a:solidFill>
                        </a:rPr>
                        <a:t>Retail</a:t>
                      </a:r>
                    </a:p>
                  </a:txBody>
                  <a:tcPr marL="50800" marR="50800" marT="50800" marB="508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rgbClr val="434B6B"/>
                          </a:solidFill>
                        </a:rPr>
                        <a:t>10,192 monthly users; 0.3% convert each month; 5% monthly churn; ~₹200 net per subscriber</a:t>
                      </a:r>
                    </a:p>
                  </a:txBody>
                  <a:tcPr marL="50800" marR="50800" marT="50800" marB="508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0B0E26"/>
                          </a:solidFill>
                        </a:rPr>
                        <a:t>₹0.4 L</a:t>
                      </a:r>
                    </a:p>
                  </a:txBody>
                  <a:tcPr marL="50800" marR="50800" marT="50800" marB="508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chemeClr val="accent1"/>
                          </a:solidFill>
                        </a:rPr>
                        <a:t>₹0.5 L</a:t>
                      </a:r>
                    </a:p>
                  </a:txBody>
                  <a:tcPr marL="50800" marR="50800" marT="50800" marB="508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Net MRR at month 15</a:t>
                      </a:r>
                    </a:p>
                  </a:txBody>
                  <a:tcPr marL="50800" marR="50800" marT="50800" marB="508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rgbClr val="FFFFFF"/>
                          </a:solidFill>
                        </a:rPr>
                        <a:t>After 18% GST and launch discounts; ARR run-rate = MRR × 12</a:t>
                      </a:r>
                    </a:p>
                  </a:txBody>
                  <a:tcPr marL="50800" marR="50800" marT="50800" marB="508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500">
                          <a:solidFill>
                            <a:srgbClr val="FFFFFF"/>
                          </a:solidFill>
                        </a:rPr>
                        <a:t>₹6.9 L</a:t>
                      </a:r>
                    </a:p>
                  </a:txBody>
                  <a:tcPr marL="50800" marR="50800" marT="50800" marB="508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500">
                          <a:solidFill>
                            <a:schemeClr val="accent2"/>
                          </a:solidFill>
                        </a:rPr>
                        <a:t>₹9.9 L</a:t>
                      </a:r>
                    </a:p>
                  </a:txBody>
                  <a:tcPr marL="50800" marR="50800" marT="50800" marB="508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685" name="unit economics band"/>
          <p:cNvSpPr/>
          <p:nvPr/>
        </p:nvSpPr>
        <p:spPr>
          <a:xfrm>
            <a:off x="548640" y="4983479"/>
            <a:ext cx="11094416" cy="868681"/>
          </a:xfrm>
          <a:prstGeom prst="roundRect">
            <a:avLst>
              <a:gd name="adj" fmla="val 12632"/>
            </a:avLst>
          </a:prstGeom>
          <a:solidFill>
            <a:srgbClr val="F4F7F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86" name="Text 3"/>
          <p:cNvSpPr txBox="1"/>
          <p:nvPr/>
        </p:nvSpPr>
        <p:spPr>
          <a:xfrm>
            <a:off x="822960" y="5244137"/>
            <a:ext cx="10545776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chemeClr val="accent1"/>
                </a:solidFill>
              </a:defRPr>
            </a:pPr>
            <a:r>
              <a:t>Unit economics (base):  </a:t>
            </a:r>
            <a:r>
              <a:rPr b="0">
                <a:solidFill>
                  <a:srgbClr val="0B0E26"/>
                </a:solidFill>
              </a:rPr>
              <a:t>gross margin ~44% at Month 15 (amortizing fixed data/serving base), scaling to ~85% by Year 5  ·  Desk CAC ≈ ₹0.85 L per 5-seat team (~8-month payback)</a:t>
            </a:r>
          </a:p>
        </p:txBody>
      </p:sp>
      <p:sp>
        <p:nvSpPr>
          <p:cNvPr id="687" name="Text 4"/>
          <p:cNvSpPr txBox="1"/>
          <p:nvPr/>
        </p:nvSpPr>
        <p:spPr>
          <a:xfrm>
            <a:off x="548639" y="6108191"/>
            <a:ext cx="10362897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1000">
                <a:solidFill>
                  <a:schemeClr val="accent5"/>
                </a:solidFill>
              </a:defRPr>
            </a:lvl1pPr>
          </a:lstStyle>
          <a:p>
            <a:pPr/>
            <a:r>
              <a:t>Bottom-up monthly operating model factoring 18% GST, payment gateway fees, semantic query caching and exchange data licensing.</a:t>
            </a:r>
          </a:p>
        </p:txBody>
      </p:sp>
      <p:sp>
        <p:nvSpPr>
          <p:cNvPr id="688" name="Slide Number Placeholder 0"/>
          <p:cNvSpPr txBox="1"/>
          <p:nvPr>
            <p:ph type="sldNum" sz="quarter" idx="4294967295"/>
          </p:nvPr>
        </p:nvSpPr>
        <p:spPr>
          <a:xfrm>
            <a:off x="11501618" y="6419088"/>
            <a:ext cx="141438" cy="1370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Text 0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pPr/>
            <a:r>
              <a:t>APPENDIX</a:t>
            </a:r>
          </a:p>
        </p:txBody>
      </p:sp>
      <p:sp>
        <p:nvSpPr>
          <p:cNvPr id="691" name="Text 0"/>
          <p:cNvSpPr txBox="1"/>
          <p:nvPr>
            <p:ph type="title"/>
          </p:nvPr>
        </p:nvSpPr>
        <p:spPr>
          <a:xfrm>
            <a:off x="548639" y="676655"/>
            <a:ext cx="11094417" cy="868682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Long-term scenario: drivers and conditions</a:t>
            </a:r>
          </a:p>
        </p:txBody>
      </p:sp>
      <p:graphicFrame>
        <p:nvGraphicFramePr>
          <p:cNvPr id="692" name="Table 0"/>
          <p:cNvGraphicFramePr/>
          <p:nvPr/>
        </p:nvGraphicFramePr>
        <p:xfrm>
          <a:off x="548640" y="1737360"/>
          <a:ext cx="11091673" cy="274320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280160"/>
                <a:gridCol w="1005839"/>
                <a:gridCol w="1417320"/>
                <a:gridCol w="1280160"/>
                <a:gridCol w="1280160"/>
                <a:gridCol w="1828800"/>
                <a:gridCol w="1463040"/>
                <a:gridCol w="1536192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Exit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Sellers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Monthly users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Retail subs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Desk seats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Partners (users)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Strategy subs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ARR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chemeClr val="accent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0B0E26"/>
                          </a:solidFill>
                        </a:rPr>
                        <a:t>Month 15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0B0E26"/>
                          </a:solidFill>
                        </a:rPr>
                        <a:t>2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0B0E26"/>
                          </a:solidFill>
                        </a:rPr>
                        <a:t>10,192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0B0E26"/>
                          </a:solidFill>
                        </a:rPr>
                        <a:t>186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0B0E26"/>
                          </a:solidFill>
                        </a:rPr>
                        <a:t>227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0B0E26"/>
                          </a:solidFill>
                        </a:rPr>
                        <a:t>2 (9,593)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0B0E26"/>
                          </a:solidFill>
                        </a:rPr>
                        <a:t>—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chemeClr val="accent1"/>
                          </a:solidFill>
                        </a:rPr>
                        <a:t>₹83 L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0B0E26"/>
                          </a:solidFill>
                        </a:rPr>
                        <a:t>Year 2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0B0E26"/>
                          </a:solidFill>
                        </a:rPr>
                        <a:t>5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0B0E26"/>
                          </a:solidFill>
                        </a:rPr>
                        <a:t>24,015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0B0E26"/>
                          </a:solidFill>
                        </a:rPr>
                        <a:t>496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0B0E26"/>
                          </a:solidFill>
                        </a:rPr>
                        <a:t>464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0B0E26"/>
                          </a:solidFill>
                        </a:rPr>
                        <a:t>4 (38,832)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0B0E26"/>
                          </a:solidFill>
                        </a:rPr>
                        <a:t>374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chemeClr val="accent1"/>
                          </a:solidFill>
                        </a:rPr>
                        <a:t>₹2.2 Cr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4F7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0B0E26"/>
                          </a:solidFill>
                        </a:rPr>
                        <a:t>Year 3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0B0E26"/>
                          </a:solidFill>
                        </a:rPr>
                        <a:t>9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0B0E26"/>
                          </a:solidFill>
                        </a:rPr>
                        <a:t>84,016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0B0E26"/>
                          </a:solidFill>
                        </a:rPr>
                        <a:t>1,746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0B0E26"/>
                          </a:solidFill>
                        </a:rPr>
                        <a:t>1,391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0B0E26"/>
                          </a:solidFill>
                        </a:rPr>
                        <a:t>6 (1,06,700)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0B0E26"/>
                          </a:solidFill>
                        </a:rPr>
                        <a:t>3,056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chemeClr val="accent1"/>
                          </a:solidFill>
                        </a:rPr>
                        <a:t>₹7.0 Cr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0B0E26"/>
                          </a:solidFill>
                        </a:rPr>
                        <a:t>Year 4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0B0E26"/>
                          </a:solidFill>
                        </a:rPr>
                        <a:t>12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0B0E26"/>
                          </a:solidFill>
                        </a:rPr>
                        <a:t>1,69,058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0B0E26"/>
                          </a:solidFill>
                        </a:rPr>
                        <a:t>4,519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0B0E26"/>
                          </a:solidFill>
                        </a:rPr>
                        <a:t>2,810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0B0E26"/>
                          </a:solidFill>
                        </a:rPr>
                        <a:t>8 (2,45,235)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0B0E26"/>
                          </a:solidFill>
                        </a:rPr>
                        <a:t>8,487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chemeClr val="accent1"/>
                          </a:solidFill>
                        </a:rPr>
                        <a:t>₹15.6 Cr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4F7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0B0E26"/>
                          </a:solidFill>
                        </a:rPr>
                        <a:t>Year 5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0B0E26"/>
                          </a:solidFill>
                        </a:rPr>
                        <a:t>14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0B0E26"/>
                          </a:solidFill>
                        </a:rPr>
                        <a:t>3,40,177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0B0E26"/>
                          </a:solidFill>
                        </a:rPr>
                        <a:t>9,635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0B0E26"/>
                          </a:solidFill>
                        </a:rPr>
                        <a:t>4,571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0B0E26"/>
                          </a:solidFill>
                        </a:rPr>
                        <a:t>10 (5,23,995)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0B0E26"/>
                          </a:solidFill>
                        </a:rPr>
                        <a:t>19,298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chemeClr val="accent1"/>
                          </a:solidFill>
                        </a:rPr>
                        <a:t>₹29.9 Cr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93" name="Text 2"/>
          <p:cNvSpPr txBox="1"/>
          <p:nvPr/>
        </p:nvSpPr>
        <p:spPr>
          <a:xfrm>
            <a:off x="548640" y="4526279"/>
            <a:ext cx="54864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1000">
                <a:solidFill>
                  <a:schemeClr val="accent5"/>
                </a:solidFill>
              </a:defRPr>
            </a:lvl1pPr>
          </a:lstStyle>
          <a:p>
            <a:pPr/>
            <a:r>
              <a:t>Sellers include the founder.</a:t>
            </a:r>
          </a:p>
        </p:txBody>
      </p:sp>
      <p:sp>
        <p:nvSpPr>
          <p:cNvPr id="694" name="condition 1"/>
          <p:cNvSpPr/>
          <p:nvPr/>
        </p:nvSpPr>
        <p:spPr>
          <a:xfrm>
            <a:off x="548640" y="4846320"/>
            <a:ext cx="3566160" cy="1143001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38100" dir="5400000">
              <a:srgbClr val="0B0E26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5" name="Text 4"/>
          <p:cNvSpPr txBox="1"/>
          <p:nvPr/>
        </p:nvSpPr>
        <p:spPr>
          <a:xfrm>
            <a:off x="777239" y="4937759"/>
            <a:ext cx="315468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/>
            </a:lvl1pPr>
          </a:lstStyle>
          <a:p>
            <a:pPr/>
            <a:r>
              <a:t>Series A near month 18</a:t>
            </a:r>
          </a:p>
        </p:txBody>
      </p:sp>
      <p:sp>
        <p:nvSpPr>
          <p:cNvPr id="696" name="Text 5"/>
          <p:cNvSpPr txBox="1"/>
          <p:nvPr/>
        </p:nvSpPr>
        <p:spPr>
          <a:xfrm>
            <a:off x="777239" y="5230367"/>
            <a:ext cx="3154682" cy="299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434B6B"/>
                </a:solidFill>
              </a:defRPr>
            </a:lvl1pPr>
          </a:lstStyle>
          <a:p>
            <a:pPr/>
            <a:r>
              <a:t>Funds sellers and Series A marketing; monthly-user growth 11% a month to month 36, then 6%</a:t>
            </a:r>
          </a:p>
        </p:txBody>
      </p:sp>
      <p:sp>
        <p:nvSpPr>
          <p:cNvPr id="697" name="condition 2"/>
          <p:cNvSpPr/>
          <p:nvPr/>
        </p:nvSpPr>
        <p:spPr>
          <a:xfrm>
            <a:off x="4315967" y="4846320"/>
            <a:ext cx="3566161" cy="1143001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38100" dir="5400000">
              <a:srgbClr val="0B0E26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8" name="Text 7"/>
          <p:cNvSpPr txBox="1"/>
          <p:nvPr/>
        </p:nvSpPr>
        <p:spPr>
          <a:xfrm>
            <a:off x="4544567" y="4937759"/>
            <a:ext cx="315468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/>
            </a:lvl1pPr>
          </a:lstStyle>
          <a:p>
            <a:pPr/>
            <a:r>
              <a:t>Partner contracts</a:t>
            </a:r>
          </a:p>
        </p:txBody>
      </p:sp>
      <p:sp>
        <p:nvSpPr>
          <p:cNvPr id="699" name="Text 8"/>
          <p:cNvSpPr txBox="1"/>
          <p:nvPr/>
        </p:nvSpPr>
        <p:spPr>
          <a:xfrm>
            <a:off x="4544567" y="5230367"/>
            <a:ext cx="3154682" cy="299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434B6B"/>
                </a:solidFill>
              </a:defRPr>
            </a:lvl1pPr>
          </a:lstStyle>
          <a:p>
            <a:pPr/>
            <a:r>
              <a:t>Eight more integrations from Month 20, using tiered per-active-user and enterprise licensing as partner volume scales</a:t>
            </a:r>
          </a:p>
        </p:txBody>
      </p:sp>
      <p:sp>
        <p:nvSpPr>
          <p:cNvPr id="700" name="condition 3"/>
          <p:cNvSpPr/>
          <p:nvPr/>
        </p:nvSpPr>
        <p:spPr>
          <a:xfrm>
            <a:off x="8083295" y="4846320"/>
            <a:ext cx="3566161" cy="1143001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38100" dir="5400000">
              <a:srgbClr val="0B0E26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1" name="Text 10"/>
          <p:cNvSpPr txBox="1"/>
          <p:nvPr/>
        </p:nvSpPr>
        <p:spPr>
          <a:xfrm>
            <a:off x="8311895" y="4937759"/>
            <a:ext cx="315468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/>
            </a:lvl1pPr>
          </a:lstStyle>
          <a:p>
            <a:pPr/>
            <a:r>
              <a:t>Strategies</a:t>
            </a:r>
          </a:p>
        </p:txBody>
      </p:sp>
      <p:sp>
        <p:nvSpPr>
          <p:cNvPr id="702" name="Text 11"/>
          <p:cNvSpPr txBox="1"/>
          <p:nvPr/>
        </p:nvSpPr>
        <p:spPr>
          <a:xfrm>
            <a:off x="8311895" y="5230367"/>
            <a:ext cx="3154681" cy="4644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434B6B"/>
                </a:solidFill>
              </a:defRPr>
            </a:lvl1pPr>
          </a:lstStyle>
          <a:p>
            <a:pPr/>
            <a:r>
              <a:t>Start at month 22 only after SEBI RA registration, exchange empanelment and a partner broker; ₹250 a month net per subscriber</a:t>
            </a:r>
          </a:p>
        </p:txBody>
      </p:sp>
      <p:sp>
        <p:nvSpPr>
          <p:cNvPr id="703" name="Slide Number Placeholder 0"/>
          <p:cNvSpPr txBox="1"/>
          <p:nvPr>
            <p:ph type="sldNum" sz="quarter" idx="4294967295"/>
          </p:nvPr>
        </p:nvSpPr>
        <p:spPr>
          <a:xfrm>
            <a:off x="11501618" y="6419088"/>
            <a:ext cx="141438" cy="1370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Text 0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pPr/>
            <a:r>
              <a:t>APPENDIX</a:t>
            </a:r>
          </a:p>
        </p:txBody>
      </p:sp>
      <p:sp>
        <p:nvSpPr>
          <p:cNvPr id="706" name="Text 0"/>
          <p:cNvSpPr txBox="1"/>
          <p:nvPr>
            <p:ph type="title"/>
          </p:nvPr>
        </p:nvSpPr>
        <p:spPr>
          <a:xfrm>
            <a:off x="548639" y="676655"/>
            <a:ext cx="11094417" cy="868682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Every capability has a commercial job</a:t>
            </a:r>
          </a:p>
        </p:txBody>
      </p:sp>
      <p:graphicFrame>
        <p:nvGraphicFramePr>
          <p:cNvPr id="707" name="Table 0"/>
          <p:cNvGraphicFramePr/>
          <p:nvPr/>
        </p:nvGraphicFramePr>
        <p:xfrm>
          <a:off x="548640" y="1737360"/>
          <a:ext cx="11091672" cy="3584449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3840480"/>
                <a:gridCol w="4937760"/>
                <a:gridCol w="2313432"/>
              </a:tblGrid>
              <a:tr h="512064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Product capability (live today)</a:t>
                      </a:r>
                    </a:p>
                  </a:txBody>
                  <a:tcPr marL="50800" marR="50800" marT="50800" marB="508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Commercial role to test</a:t>
                      </a:r>
                    </a:p>
                  </a:txBody>
                  <a:tcPr marL="50800" marR="50800" marT="50800" marB="508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Engine</a:t>
                      </a:r>
                    </a:p>
                  </a:txBody>
                  <a:tcPr marL="50800" marR="50800" marT="50800" marB="508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chemeClr val="accent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300">
                          <a:solidFill>
                            <a:srgbClr val="0B0E26"/>
                          </a:solidFill>
                        </a:rPr>
                        <a:t>AI research and screening</a:t>
                      </a:r>
                    </a:p>
                  </a:txBody>
                  <a:tcPr marL="50800" marR="50800" marT="50800" marB="508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300">
                          <a:solidFill>
                            <a:srgbClr val="0B0E26"/>
                          </a:solidFill>
                        </a:rPr>
                        <a:t>Frequent research tasks that support subscription demand</a:t>
                      </a:r>
                    </a:p>
                  </a:txBody>
                  <a:tcPr marL="50800" marR="50800" marT="50800" marB="508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300">
                          <a:solidFill>
                            <a:schemeClr val="accent1"/>
                          </a:solidFill>
                        </a:rPr>
                        <a:t>Plus, Pro, Desk</a:t>
                      </a:r>
                    </a:p>
                  </a:txBody>
                  <a:tcPr marL="50800" marR="50800" marT="50800" marB="508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300">
                          <a:solidFill>
                            <a:srgbClr val="0B0E26"/>
                          </a:solidFill>
                        </a:rPr>
                        <a:t>Backtesting, paper trading and journal</a:t>
                      </a:r>
                    </a:p>
                  </a:txBody>
                  <a:tcPr marL="50800" marR="50800" marT="50800" marB="508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300">
                          <a:solidFill>
                            <a:srgbClr val="0B0E26"/>
                          </a:solidFill>
                        </a:rPr>
                        <a:t>Repeated strategy evaluation and a reason to upgrade</a:t>
                      </a:r>
                    </a:p>
                  </a:txBody>
                  <a:tcPr marL="50800" marR="50800" marT="50800" marB="508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300">
                          <a:solidFill>
                            <a:schemeClr val="accent1"/>
                          </a:solidFill>
                        </a:rPr>
                        <a:t>Pro</a:t>
                      </a:r>
                    </a:p>
                  </a:txBody>
                  <a:tcPr marL="50800" marR="50800" marT="50800" marB="508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4F7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300">
                          <a:solidFill>
                            <a:srgbClr val="0B0E26"/>
                          </a:solidFill>
                        </a:rPr>
                        <a:t>Wealth planning, calculators and guides</a:t>
                      </a:r>
                    </a:p>
                  </a:txBody>
                  <a:tcPr marL="50800" marR="50800" marT="50800" marB="508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300">
                          <a:solidFill>
                            <a:srgbClr val="0B0E26"/>
                          </a:solidFill>
                        </a:rPr>
                        <a:t>Broader acquisition and recurring planning needs</a:t>
                      </a:r>
                    </a:p>
                  </a:txBody>
                  <a:tcPr marL="50800" marR="50800" marT="50800" marB="508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300">
                          <a:solidFill>
                            <a:schemeClr val="accent1"/>
                          </a:solidFill>
                        </a:rPr>
                        <a:t>Free to Plus</a:t>
                      </a:r>
                    </a:p>
                  </a:txBody>
                  <a:tcPr marL="50800" marR="50800" marT="50800" marB="508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300">
                          <a:solidFill>
                            <a:srgbClr val="0B0E26"/>
                          </a:solidFill>
                        </a:rPr>
                        <a:t>Professional coverage lists and team workspaces</a:t>
                      </a:r>
                    </a:p>
                  </a:txBody>
                  <a:tcPr marL="50800" marR="50800" marT="50800" marB="508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300">
                          <a:solidFill>
                            <a:srgbClr val="0B0E26"/>
                          </a:solidFill>
                        </a:rPr>
                        <a:t>Higher-value team subscriptions</a:t>
                      </a:r>
                    </a:p>
                  </a:txBody>
                  <a:tcPr marL="50800" marR="50800" marT="50800" marB="508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300">
                          <a:solidFill>
                            <a:schemeClr val="accent1"/>
                          </a:solidFill>
                        </a:rPr>
                        <a:t>Desk</a:t>
                      </a:r>
                    </a:p>
                  </a:txBody>
                  <a:tcPr marL="50800" marR="50800" marT="50800" marB="508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4F7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300">
                          <a:solidFill>
                            <a:srgbClr val="0B0E26"/>
                          </a:solidFill>
                        </a:rPr>
                        <a:t>Broker and API integration</a:t>
                      </a:r>
                    </a:p>
                  </a:txBody>
                  <a:tcPr marL="50800" marR="50800" marT="50800" marB="508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300">
                          <a:solidFill>
                            <a:srgbClr val="0B0E26"/>
                          </a:solidFill>
                        </a:rPr>
                        <a:t>Paid distribution of proven research capabilities</a:t>
                      </a:r>
                    </a:p>
                  </a:txBody>
                  <a:tcPr marL="50800" marR="50800" marT="50800" marB="508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300">
                          <a:solidFill>
                            <a:schemeClr val="accent1"/>
                          </a:solidFill>
                        </a:rPr>
                        <a:t>Partners and API</a:t>
                      </a:r>
                    </a:p>
                  </a:txBody>
                  <a:tcPr marL="50800" marR="50800" marT="50800" marB="508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300">
                          <a:solidFill>
                            <a:srgbClr val="0B0E26"/>
                          </a:solidFill>
                        </a:rPr>
                        <a:t>Approved strategy execution (future)</a:t>
                      </a:r>
                    </a:p>
                  </a:txBody>
                  <a:tcPr marL="50800" marR="50800" marT="50800" marB="508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300">
                          <a:solidFill>
                            <a:srgbClr val="0B0E26"/>
                          </a:solidFill>
                        </a:rPr>
                        <a:t>Later monetisation of an established testing workflow</a:t>
                      </a:r>
                    </a:p>
                  </a:txBody>
                  <a:tcPr marL="50800" marR="50800" marT="50800" marB="508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300">
                          <a:solidFill>
                            <a:schemeClr val="accent1"/>
                          </a:solidFill>
                        </a:rPr>
                        <a:t>Strategies</a:t>
                      </a:r>
                    </a:p>
                  </a:txBody>
                  <a:tcPr marL="50800" marR="50800" marT="50800" marB="50800" anchor="ctr" anchorCtr="0" horzOverflow="overflow">
                    <a:lnL>
                      <a:solidFill>
                        <a:srgbClr val="E3E7F2"/>
                      </a:solidFill>
                    </a:lnL>
                    <a:lnR>
                      <a:solidFill>
                        <a:srgbClr val="E3E7F2"/>
                      </a:solidFill>
                    </a:lnR>
                    <a:lnT>
                      <a:solidFill>
                        <a:srgbClr val="E3E7F2"/>
                      </a:solidFill>
                    </a:lnT>
                    <a:lnB>
                      <a:solidFill>
                        <a:srgbClr val="E3E7F2"/>
                      </a:solidFill>
                    </a:lnB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708" name="Text 2"/>
          <p:cNvSpPr txBox="1"/>
          <p:nvPr/>
        </p:nvSpPr>
        <p:spPr>
          <a:xfrm>
            <a:off x="548639" y="5532120"/>
            <a:ext cx="10362897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1200">
                <a:solidFill>
                  <a:srgbClr val="434B6B"/>
                </a:solidFill>
              </a:defRPr>
            </a:lvl1pPr>
          </a:lstStyle>
          <a:p>
            <a:pPr/>
            <a:r>
              <a:t>Product-led funnel: free calculators, IPO hub and curated screens drive zero-CAC organic discovery, converting power users and analysts into Pro and Desk tiers.</a:t>
            </a:r>
          </a:p>
        </p:txBody>
      </p:sp>
      <p:sp>
        <p:nvSpPr>
          <p:cNvPr id="709" name="Slide Number Placeholder 0"/>
          <p:cNvSpPr txBox="1"/>
          <p:nvPr>
            <p:ph type="sldNum" sz="quarter" idx="4294967295"/>
          </p:nvPr>
        </p:nvSpPr>
        <p:spPr>
          <a:xfrm>
            <a:off x="11501618" y="6419088"/>
            <a:ext cx="141438" cy="1370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Text 0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pPr/>
            <a:r>
              <a:t>APPENDIX</a:t>
            </a:r>
          </a:p>
        </p:txBody>
      </p:sp>
      <p:sp>
        <p:nvSpPr>
          <p:cNvPr id="712" name="Text 0"/>
          <p:cNvSpPr txBox="1"/>
          <p:nvPr>
            <p:ph type="title"/>
          </p:nvPr>
        </p:nvSpPr>
        <p:spPr>
          <a:xfrm>
            <a:off x="548639" y="676655"/>
            <a:ext cx="11094417" cy="868682"/>
          </a:xfrm>
          <a:prstGeom prst="rect">
            <a:avLst/>
          </a:prstGeom>
        </p:spPr>
        <p:txBody>
          <a:bodyPr lIns="0" tIns="0" rIns="0" bIns="0"/>
          <a:lstStyle/>
          <a:p>
            <a:pPr/>
            <a:r>
              <a:t>Expansion roadmap</a:t>
            </a:r>
          </a:p>
        </p:txBody>
      </p:sp>
      <p:sp>
        <p:nvSpPr>
          <p:cNvPr id="713" name="horizon H1"/>
          <p:cNvSpPr/>
          <p:nvPr/>
        </p:nvSpPr>
        <p:spPr>
          <a:xfrm>
            <a:off x="548640" y="1783079"/>
            <a:ext cx="11094416" cy="1143001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38100" dir="5400000">
              <a:srgbClr val="0B0E26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4" name="horizon tag H1"/>
          <p:cNvSpPr/>
          <p:nvPr/>
        </p:nvSpPr>
        <p:spPr>
          <a:xfrm>
            <a:off x="822960" y="2057400"/>
            <a:ext cx="603505" cy="603505"/>
          </a:xfrm>
          <a:prstGeom prst="roundRect">
            <a:avLst>
              <a:gd name="adj" fmla="val 15152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15" name="Text 4"/>
          <p:cNvSpPr txBox="1"/>
          <p:nvPr/>
        </p:nvSpPr>
        <p:spPr>
          <a:xfrm>
            <a:off x="822960" y="2238328"/>
            <a:ext cx="603505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/>
            </a:lvl1pPr>
          </a:lstStyle>
          <a:p>
            <a:pPr/>
            <a:r>
              <a:t>H1</a:t>
            </a:r>
          </a:p>
        </p:txBody>
      </p:sp>
      <p:sp>
        <p:nvSpPr>
          <p:cNvPr id="716" name="Text 5"/>
          <p:cNvSpPr txBox="1"/>
          <p:nvPr/>
        </p:nvSpPr>
        <p:spPr>
          <a:xfrm>
            <a:off x="1691639" y="1984248"/>
            <a:ext cx="292608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150" sz="1000">
                <a:solidFill>
                  <a:schemeClr val="accent1"/>
                </a:solidFill>
              </a:defRPr>
            </a:lvl1pPr>
          </a:lstStyle>
          <a:p>
            <a:pPr/>
            <a:r>
              <a:t>THIS ROUND: 0–18 MONTHS</a:t>
            </a:r>
          </a:p>
        </p:txBody>
      </p:sp>
      <p:sp>
        <p:nvSpPr>
          <p:cNvPr id="717" name="Text 6"/>
          <p:cNvSpPr txBox="1"/>
          <p:nvPr/>
        </p:nvSpPr>
        <p:spPr>
          <a:xfrm>
            <a:off x="1691639" y="2240279"/>
            <a:ext cx="2926082" cy="209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/>
            </a:lvl1pPr>
          </a:lstStyle>
          <a:p>
            <a:pPr/>
            <a:r>
              <a:t>Launch and validate</a:t>
            </a:r>
          </a:p>
        </p:txBody>
      </p:sp>
      <p:sp>
        <p:nvSpPr>
          <p:cNvPr id="718" name="Text 7"/>
          <p:cNvSpPr txBox="1"/>
          <p:nvPr/>
        </p:nvSpPr>
        <p:spPr>
          <a:xfrm>
            <a:off x="4754879" y="2169598"/>
            <a:ext cx="6675120" cy="369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434B6B"/>
                </a:solidFill>
              </a:defRPr>
            </a:lvl1pPr>
          </a:lstStyle>
          <a:p>
            <a:pPr/>
            <a:r>
              <a:t>M1–M6: First 10 paid Desk teams, public checkout, 100-task benchmark &amp; SEBI RA filing  ·  M7–M12: First broker MCP/API pilot &amp; 25 Desk teams  ·  M13–M18: RA approval &amp; ₹83L–₹1.2Cr ARR.</a:t>
            </a:r>
          </a:p>
        </p:txBody>
      </p:sp>
      <p:sp>
        <p:nvSpPr>
          <p:cNvPr id="719" name="horizon H2"/>
          <p:cNvSpPr/>
          <p:nvPr/>
        </p:nvSpPr>
        <p:spPr>
          <a:xfrm>
            <a:off x="548640" y="3108960"/>
            <a:ext cx="11094416" cy="1143001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38100" dir="5400000">
              <a:srgbClr val="0B0E26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0" name="horizon tag H2"/>
          <p:cNvSpPr/>
          <p:nvPr/>
        </p:nvSpPr>
        <p:spPr>
          <a:xfrm>
            <a:off x="822960" y="3383279"/>
            <a:ext cx="603505" cy="603505"/>
          </a:xfrm>
          <a:prstGeom prst="roundRect">
            <a:avLst>
              <a:gd name="adj" fmla="val 15152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21" name="Text 10"/>
          <p:cNvSpPr txBox="1"/>
          <p:nvPr/>
        </p:nvSpPr>
        <p:spPr>
          <a:xfrm>
            <a:off x="822960" y="3564208"/>
            <a:ext cx="603505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H2</a:t>
            </a:r>
          </a:p>
        </p:txBody>
      </p:sp>
      <p:sp>
        <p:nvSpPr>
          <p:cNvPr id="722" name="Text 11"/>
          <p:cNvSpPr txBox="1"/>
          <p:nvPr/>
        </p:nvSpPr>
        <p:spPr>
          <a:xfrm>
            <a:off x="1691639" y="3310128"/>
            <a:ext cx="292608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150" sz="1000">
                <a:solidFill>
                  <a:schemeClr val="accent1"/>
                </a:solidFill>
              </a:defRPr>
            </a:lvl1pPr>
          </a:lstStyle>
          <a:p>
            <a:pPr/>
            <a:r>
              <a:t>SERIES A</a:t>
            </a:r>
          </a:p>
        </p:txBody>
      </p:sp>
      <p:sp>
        <p:nvSpPr>
          <p:cNvPr id="723" name="Text 12"/>
          <p:cNvSpPr txBox="1"/>
          <p:nvPr/>
        </p:nvSpPr>
        <p:spPr>
          <a:xfrm>
            <a:off x="1691639" y="3566159"/>
            <a:ext cx="2926082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/>
            </a:lvl1pPr>
          </a:lstStyle>
          <a:p>
            <a:pPr/>
            <a:r>
              <a:t>Scale the platform</a:t>
            </a:r>
          </a:p>
        </p:txBody>
      </p:sp>
      <p:sp>
        <p:nvSpPr>
          <p:cNvPr id="724" name="Text 13"/>
          <p:cNvSpPr txBox="1"/>
          <p:nvPr/>
        </p:nvSpPr>
        <p:spPr>
          <a:xfrm>
            <a:off x="4754879" y="3495478"/>
            <a:ext cx="6675120" cy="369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434B6B"/>
                </a:solidFill>
              </a:defRPr>
            </a:lvl1pPr>
          </a:lstStyle>
          <a:p>
            <a:pPr/>
            <a:r>
              <a:t>Wealth and learning depth, more partners and AI-agent distribution, team plans for advisers and distributors, alerts on every holding.</a:t>
            </a:r>
          </a:p>
        </p:txBody>
      </p:sp>
      <p:sp>
        <p:nvSpPr>
          <p:cNvPr id="725" name="horizon H3"/>
          <p:cNvSpPr/>
          <p:nvPr/>
        </p:nvSpPr>
        <p:spPr>
          <a:xfrm>
            <a:off x="548640" y="4434840"/>
            <a:ext cx="11094416" cy="1143001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27000" dist="38100" dir="5400000">
              <a:srgbClr val="0B0E26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6" name="horizon tag H3"/>
          <p:cNvSpPr/>
          <p:nvPr/>
        </p:nvSpPr>
        <p:spPr>
          <a:xfrm>
            <a:off x="822960" y="4709159"/>
            <a:ext cx="603505" cy="603505"/>
          </a:xfrm>
          <a:prstGeom prst="roundRect">
            <a:avLst>
              <a:gd name="adj" fmla="val 15152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27" name="Text 16"/>
          <p:cNvSpPr txBox="1"/>
          <p:nvPr/>
        </p:nvSpPr>
        <p:spPr>
          <a:xfrm>
            <a:off x="822960" y="4890088"/>
            <a:ext cx="603505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H3</a:t>
            </a:r>
          </a:p>
        </p:txBody>
      </p:sp>
      <p:sp>
        <p:nvSpPr>
          <p:cNvPr id="728" name="Text 17"/>
          <p:cNvSpPr txBox="1"/>
          <p:nvPr/>
        </p:nvSpPr>
        <p:spPr>
          <a:xfrm>
            <a:off x="1691639" y="4636008"/>
            <a:ext cx="292608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150" sz="1000">
                <a:solidFill>
                  <a:schemeClr val="accent1"/>
                </a:solidFill>
              </a:defRPr>
            </a:lvl1pPr>
          </a:lstStyle>
          <a:p>
            <a:pPr/>
            <a:r>
              <a:t>GROWTH</a:t>
            </a:r>
          </a:p>
        </p:txBody>
      </p:sp>
      <p:sp>
        <p:nvSpPr>
          <p:cNvPr id="729" name="Text 18"/>
          <p:cNvSpPr txBox="1"/>
          <p:nvPr/>
        </p:nvSpPr>
        <p:spPr>
          <a:xfrm>
            <a:off x="1691639" y="4892040"/>
            <a:ext cx="2926082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/>
            </a:lvl1pPr>
          </a:lstStyle>
          <a:p>
            <a:pPr/>
            <a:r>
              <a:t>From insight to execution</a:t>
            </a:r>
          </a:p>
        </p:txBody>
      </p:sp>
      <p:sp>
        <p:nvSpPr>
          <p:cNvPr id="730" name="Text 19"/>
          <p:cNvSpPr txBox="1"/>
          <p:nvPr/>
        </p:nvSpPr>
        <p:spPr>
          <a:xfrm>
            <a:off x="4754879" y="4821359"/>
            <a:ext cx="6675120" cy="369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434B6B"/>
                </a:solidFill>
              </a:defRPr>
            </a:lvl1pPr>
          </a:lstStyle>
          <a:p>
            <a:pPr/>
            <a:r>
              <a:t>Exchange-registered strategies through partner brokers, a strategy marketplace, more markets, and advanced quant research for professional desks.</a:t>
            </a:r>
          </a:p>
        </p:txBody>
      </p:sp>
      <p:sp>
        <p:nvSpPr>
          <p:cNvPr id="731" name="Text 20"/>
          <p:cNvSpPr txBox="1"/>
          <p:nvPr/>
        </p:nvSpPr>
        <p:spPr>
          <a:xfrm>
            <a:off x="548639" y="5870447"/>
            <a:ext cx="10362897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1100">
                <a:solidFill>
                  <a:schemeClr val="accent5"/>
                </a:solidFill>
              </a:defRPr>
            </a:lvl1pPr>
          </a:lstStyle>
          <a:p>
            <a:pPr/>
            <a:r>
              <a:t>Each new business line carries its own approvals and business case; this round's budget funds H1.</a:t>
            </a:r>
          </a:p>
        </p:txBody>
      </p:sp>
      <p:sp>
        <p:nvSpPr>
          <p:cNvPr id="732" name="Slide Number Placeholder 0"/>
          <p:cNvSpPr txBox="1"/>
          <p:nvPr>
            <p:ph type="sldNum" sz="quarter" idx="4294967295"/>
          </p:nvPr>
        </p:nvSpPr>
        <p:spPr>
          <a:xfrm>
            <a:off x="11501618" y="6419088"/>
            <a:ext cx="141438" cy="1370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Anvest">
  <a:themeElements>
    <a:clrScheme name="Anvest">
      <a:dk1>
        <a:srgbClr val="0B0E26"/>
      </a:dk1>
      <a:lt1>
        <a:srgbClr val="26251B"/>
      </a:lt1>
      <a:dk2>
        <a:srgbClr val="A7A7A7"/>
      </a:dk2>
      <a:lt2>
        <a:srgbClr val="535353"/>
      </a:lt2>
      <a:accent1>
        <a:srgbClr val="4A3699"/>
      </a:accent1>
      <a:accent2>
        <a:srgbClr val="F5A623"/>
      </a:accent2>
      <a:accent3>
        <a:srgbClr val="1E2761"/>
      </a:accent3>
      <a:accent4>
        <a:srgbClr val="1FA971"/>
      </a:accent4>
      <a:accent5>
        <a:srgbClr val="7C88B0"/>
      </a:accent5>
      <a:accent6>
        <a:srgbClr val="C9D3F0"/>
      </a:accent6>
      <a:hlink>
        <a:srgbClr val="0000FF"/>
      </a:hlink>
      <a:folHlink>
        <a:srgbClr val="FF00FF"/>
      </a:folHlink>
    </a:clrScheme>
    <a:fontScheme name="Anvest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Anves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B0E26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B0E26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Anvest">
  <a:themeElements>
    <a:clrScheme name="Anvest">
      <a:dk1>
        <a:srgbClr val="0B0E26"/>
      </a:dk1>
      <a:lt1>
        <a:srgbClr val="26251B"/>
      </a:lt1>
      <a:dk2>
        <a:srgbClr val="A7A7A7"/>
      </a:dk2>
      <a:lt2>
        <a:srgbClr val="535353"/>
      </a:lt2>
      <a:accent1>
        <a:srgbClr val="4A3699"/>
      </a:accent1>
      <a:accent2>
        <a:srgbClr val="F5A623"/>
      </a:accent2>
      <a:accent3>
        <a:srgbClr val="1E2761"/>
      </a:accent3>
      <a:accent4>
        <a:srgbClr val="1FA971"/>
      </a:accent4>
      <a:accent5>
        <a:srgbClr val="7C88B0"/>
      </a:accent5>
      <a:accent6>
        <a:srgbClr val="C9D3F0"/>
      </a:accent6>
      <a:hlink>
        <a:srgbClr val="0000FF"/>
      </a:hlink>
      <a:folHlink>
        <a:srgbClr val="FF00FF"/>
      </a:folHlink>
    </a:clrScheme>
    <a:fontScheme name="Anvest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Anves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B0E26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B0E26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