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rtner pilot" id="{8d056d81-4589-5ce9-f72b-631797573d9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Partner-specific: the cover, slide 4 and the closing slide name Zerodha and Kite. Rewrite them before sending to another broker. There is no equity component to this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TATEMENT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HERO-image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51560"/>
            <a:ext cx="60350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060704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Anvest  ·  Confidential  ·  Version 19 Oct 2026 (r4)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Anvest  ·  Confidential  ·  Version 19 Oct 2026 (r4)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5156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Anvest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grounded AI research layer for your users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4612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F0"/>
                </a:solidFill>
              </a:rPr>
              <a:t>Cited answers, portfolio-aware research and tested strategies, inside the product your users already trust.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6,137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3F0"/>
                </a:solidFill>
              </a:rPr>
              <a:t>listed companies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2.89M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3F0"/>
                </a:solidFill>
              </a:rPr>
              <a:t>corporate announcements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1.35M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4681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3F0"/>
                </a:solidFill>
              </a:rPr>
              <a:t>indexed filing passages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Prepared for Zerodha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F0"/>
                </a:solidFill>
              </a:rPr>
              <a:t>Harsh Bhardwaj, Founder  ·  harsh@anvest.in  ·  anvest.in</a:t>
            </a:r>
            <a:endParaRPr lang="en-US" sz="1200" dirty="0"/>
          </a:p>
        </p:txBody>
      </p:sp>
      <p:sp>
        <p:nvSpPr>
          <p:cNvPr id="13" name="Anvest research assistant frame"/>
          <p:cNvSpPr/>
          <p:nvPr/>
        </p:nvSpPr>
        <p:spPr>
          <a:xfrm>
            <a:off x="6903720" y="1371600"/>
            <a:ext cx="4754880" cy="2567635"/>
          </a:xfrm>
          <a:prstGeom prst="roundRect">
            <a:avLst>
              <a:gd name="adj" fmla="val 4274"/>
            </a:avLst>
          </a:prstGeom>
          <a:solidFill>
            <a:srgbClr val="161A33"/>
          </a:solidFill>
          <a:ln w="9525">
            <a:solidFill>
              <a:srgbClr val="2A3060"/>
            </a:solidFill>
            <a:prstDash val="solid"/>
          </a:ln>
          <a:effectLst>
            <a:outerShdw sx="100000" sy="100000" kx="0" ky="0" algn="bl" rotWithShape="0" blurRad="177800" dist="63500" dir="5400000">
              <a:srgbClr val="0B0E26">
                <a:alpha val="28000"/>
              </a:srgbClr>
            </a:outerShdw>
          </a:effectLst>
        </p:spPr>
      </p:sp>
      <p:sp>
        <p:nvSpPr>
          <p:cNvPr id="14" name="Anvest research assistant window dot 1"/>
          <p:cNvSpPr/>
          <p:nvPr/>
        </p:nvSpPr>
        <p:spPr>
          <a:xfrm>
            <a:off x="6997355" y="1434364"/>
            <a:ext cx="64666" cy="6466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5" name="Anvest research assistant window dot 2"/>
          <p:cNvSpPr/>
          <p:nvPr/>
        </p:nvSpPr>
        <p:spPr>
          <a:xfrm>
            <a:off x="7107287" y="1434364"/>
            <a:ext cx="64666" cy="6466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6" name="Anvest research assistant window dot 3"/>
          <p:cNvSpPr/>
          <p:nvPr/>
        </p:nvSpPr>
        <p:spPr>
          <a:xfrm>
            <a:off x="7217220" y="1434364"/>
            <a:ext cx="64666" cy="64666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7" name="Anvest research assistant image" descr="Anvest research assist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779" y="1561795"/>
            <a:ext cx="4640763" cy="23203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OPPORTUNITY, FROM YOUR SIDE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Your users own companies. Few read what they file</a:t>
            </a:r>
            <a:endParaRPr lang="en-US" sz="3200" dirty="0"/>
          </a:p>
        </p:txBody>
      </p:sp>
      <p:sp>
        <p:nvSpPr>
          <p:cNvPr id="4" name="opportunity card 1"/>
          <p:cNvSpPr/>
          <p:nvPr/>
        </p:nvSpPr>
        <p:spPr>
          <a:xfrm>
            <a:off x="548640" y="178308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5" name="LuNewspaper circle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6" name="LuNewspap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24485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8163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A3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~17,000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83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E26"/>
                </a:solidFill>
              </a:rPr>
              <a:t>new filings every month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7490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B6B"/>
                </a:solidFill>
              </a:rPr>
              <a:t>Results, pledges and board notices land on the exchanges daily. The filing behind a price move seldom reaches the user who holds the stock.</a:t>
            </a:r>
            <a:endParaRPr lang="en-US" sz="1300" dirty="0"/>
          </a:p>
        </p:txBody>
      </p:sp>
      <p:sp>
        <p:nvSpPr>
          <p:cNvPr id="10" name="opportunity card 2"/>
          <p:cNvSpPr/>
          <p:nvPr/>
        </p:nvSpPr>
        <p:spPr>
          <a:xfrm>
            <a:off x="4315968" y="178308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11" name="LuChartPie circle"/>
          <p:cNvSpPr/>
          <p:nvPr/>
        </p:nvSpPr>
        <p:spPr>
          <a:xfrm>
            <a:off x="4636008" y="2103120"/>
            <a:ext cx="566928" cy="566928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12" name="LuChartPi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24485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36008" y="28163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A3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What, not why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4636008" y="3383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E26"/>
                </a:solidFill>
              </a:rPr>
              <a:t>is all a ratio table can say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636008" y="37490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B6B"/>
                </a:solidFill>
              </a:rPr>
              <a:t>Charts and ratios show what changed. Why it changed still sits in a PDF the user has to find and read.</a:t>
            </a:r>
            <a:endParaRPr lang="en-US" sz="1300" dirty="0"/>
          </a:p>
        </p:txBody>
      </p:sp>
      <p:sp>
        <p:nvSpPr>
          <p:cNvPr id="16" name="opportunity card 3"/>
          <p:cNvSpPr/>
          <p:nvPr/>
        </p:nvSpPr>
        <p:spPr>
          <a:xfrm>
            <a:off x="8083296" y="178308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17" name="LuScale circle"/>
          <p:cNvSpPr/>
          <p:nvPr/>
        </p:nvSpPr>
        <p:spPr>
          <a:xfrm>
            <a:off x="8403336" y="2103120"/>
            <a:ext cx="566928" cy="566928"/>
          </a:xfrm>
          <a:prstGeom prst="ellipse">
            <a:avLst/>
          </a:prstGeom>
          <a:solidFill>
            <a:srgbClr val="F4F7FC"/>
          </a:solidFill>
          <a:ln/>
        </p:spPr>
      </p:sp>
      <p:pic>
        <p:nvPicPr>
          <p:cNvPr id="18" name="LuScal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68" y="224485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03336" y="281635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4A3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Explained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8403336" y="3383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E26"/>
                </a:solidFill>
              </a:rPr>
              <a:t>research is where regulation is heading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403336" y="374904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B6B"/>
                </a:solidFill>
              </a:rPr>
              <a:t>SEBI's studies of retail derivatives losses and its AI-disclosure rules point to explained, accountable research. A cited answer provides that by design.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B0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broker that best explains its users' holdings earns their trust and their daily attention.</a:t>
            </a:r>
            <a:endParaRPr lang="en-US" sz="19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108192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C88B0"/>
                </a:solidFill>
              </a:rPr>
              <a:t>Announcement volume: Anvest warehouse, June–July 2026 (15,718 and 17,300) · SEBI F&amp;O studies (FY25, FY26) · SEBI AI-disclosure amendments, Dec 2024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WHAT WE BRING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grounded answer, not another dashboard</a:t>
            </a:r>
            <a:endParaRPr lang="en-US" sz="3200" dirty="0"/>
          </a:p>
        </p:txBody>
      </p:sp>
      <p:sp>
        <p:nvSpPr>
          <p:cNvPr id="4" name="question bubble"/>
          <p:cNvSpPr/>
          <p:nvPr/>
        </p:nvSpPr>
        <p:spPr>
          <a:xfrm>
            <a:off x="548640" y="1783080"/>
            <a:ext cx="539496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0E26"/>
                </a:solidFill>
              </a:rPr>
              <a:t>“Why did operating margin fall last quarter?”</a:t>
            </a:r>
            <a:endParaRPr lang="en-US" sz="1500" dirty="0"/>
          </a:p>
        </p:txBody>
      </p:sp>
      <p:sp>
        <p:nvSpPr>
          <p:cNvPr id="6" name="answer card"/>
          <p:cNvSpPr/>
          <p:nvPr/>
        </p:nvSpPr>
        <p:spPr>
          <a:xfrm>
            <a:off x="548640" y="2560320"/>
            <a:ext cx="5394960" cy="301752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7889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</a:rPr>
              <a:t>ANSWER  ·  ILLUSTRATIVE EXAMPLE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546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Operating margin fell 210 bps to 14.3% on higher raw-material costs, per the company's Q1 FY27 results filing dated 24 Jul 2026.</a:t>
            </a:r>
            <a:endParaRPr lang="en-US" sz="1600" dirty="0"/>
          </a:p>
        </p:txBody>
      </p:sp>
      <p:sp>
        <p:nvSpPr>
          <p:cNvPr id="9" name="source button"/>
          <p:cNvSpPr/>
          <p:nvPr/>
        </p:nvSpPr>
        <p:spPr>
          <a:xfrm>
            <a:off x="868680" y="4297680"/>
            <a:ext cx="3017520" cy="411480"/>
          </a:xfrm>
          <a:prstGeom prst="roundRect">
            <a:avLst>
              <a:gd name="adj" fmla="val 17778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0E26"/>
                </a:solidFill>
              </a:rPr>
              <a:t>Source: Q1 FY27 Results.pdf, p.4  →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937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9D3F0"/>
                </a:solidFill>
              </a:rPr>
              <a:t>Numbers are read from the warehouse. The model never calculates.</a:t>
            </a:r>
            <a:endParaRPr lang="en-US" sz="1250" dirty="0"/>
          </a:p>
        </p:txBody>
      </p:sp>
      <p:sp>
        <p:nvSpPr>
          <p:cNvPr id="12" name="LuDatabase circle"/>
          <p:cNvSpPr/>
          <p:nvPr/>
        </p:nvSpPr>
        <p:spPr>
          <a:xfrm>
            <a:off x="6355080" y="1783080"/>
            <a:ext cx="512064" cy="512064"/>
          </a:xfrm>
          <a:prstGeom prst="ellipse">
            <a:avLst/>
          </a:prstGeom>
          <a:solidFill>
            <a:srgbClr val="4A3699"/>
          </a:solidFill>
          <a:ln/>
        </p:spPr>
      </p:sp>
      <p:pic>
        <p:nvPicPr>
          <p:cNvPr id="13" name="LuDataba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3096" y="1911096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040880" y="1764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E26"/>
                </a:solidFill>
              </a:rPr>
              <a:t>A full-universe warehouse, already built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0756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B6B"/>
                </a:solidFill>
              </a:rPr>
              <a:t>6,137 NSE/BSE companies with filings OCR'd and indexed: a data-engineering investment your team would otherwise fund.</a:t>
            </a:r>
            <a:endParaRPr lang="en-US" sz="1200" dirty="0"/>
          </a:p>
        </p:txBody>
      </p:sp>
      <p:sp>
        <p:nvSpPr>
          <p:cNvPr id="16" name="LuShieldCheck circle"/>
          <p:cNvSpPr/>
          <p:nvPr/>
        </p:nvSpPr>
        <p:spPr>
          <a:xfrm>
            <a:off x="6355080" y="2770632"/>
            <a:ext cx="512064" cy="512064"/>
          </a:xfrm>
          <a:prstGeom prst="ellipse">
            <a:avLst/>
          </a:prstGeom>
          <a:solidFill>
            <a:srgbClr val="4A3699"/>
          </a:solidFill>
          <a:ln/>
        </p:spPr>
      </p:sp>
      <p:pic>
        <p:nvPicPr>
          <p:cNvPr id="17" name="LuShieldCheck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2898648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040880" y="2752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E26"/>
                </a:solidFill>
              </a:rPr>
              <a:t>Grounded or silent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040880" y="3063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B6B"/>
                </a:solidFill>
              </a:rPr>
              <a:t>If coverage is missing, Anvest says so rather than estimating: the property that matters most when your logo is beside the answer.</a:t>
            </a:r>
            <a:endParaRPr lang="en-US" sz="1200" dirty="0"/>
          </a:p>
        </p:txBody>
      </p:sp>
      <p:sp>
        <p:nvSpPr>
          <p:cNvPr id="20" name="LuLink circle"/>
          <p:cNvSpPr/>
          <p:nvPr/>
        </p:nvSpPr>
        <p:spPr>
          <a:xfrm>
            <a:off x="6355080" y="3758184"/>
            <a:ext cx="512064" cy="512064"/>
          </a:xfrm>
          <a:prstGeom prst="ellipse">
            <a:avLst/>
          </a:prstGeom>
          <a:solidFill>
            <a:srgbClr val="4A3699"/>
          </a:solidFill>
          <a:ln/>
        </p:spPr>
      </p:sp>
      <p:pic>
        <p:nvPicPr>
          <p:cNvPr id="21" name="LuLink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3886200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040880" y="37398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E26"/>
                </a:solidFill>
              </a:rPr>
              <a:t>Portfolio-aware, on a read-only link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7040880" y="40507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B6B"/>
                </a:solidFill>
              </a:rPr>
              <a:t>Answers ranked by what the user owns, through your approved API, with token handling agreed with you.</a:t>
            </a:r>
            <a:endParaRPr lang="en-US" sz="1200" dirty="0"/>
          </a:p>
        </p:txBody>
      </p:sp>
      <p:sp>
        <p:nvSpPr>
          <p:cNvPr id="24" name="LuChartLine circle"/>
          <p:cNvSpPr/>
          <p:nvPr/>
        </p:nvSpPr>
        <p:spPr>
          <a:xfrm>
            <a:off x="6355080" y="4745736"/>
            <a:ext cx="512064" cy="512064"/>
          </a:xfrm>
          <a:prstGeom prst="ellipse">
            <a:avLst/>
          </a:prstGeom>
          <a:solidFill>
            <a:srgbClr val="4A3699"/>
          </a:solidFill>
          <a:ln/>
        </p:spPr>
      </p:sp>
      <p:pic>
        <p:nvPicPr>
          <p:cNvPr id="25" name="LuChartLine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4873752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040880" y="4727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E26"/>
                </a:solidFill>
              </a:rPr>
              <a:t>From answer to action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7040880" y="50383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34B6B"/>
                </a:solidFill>
              </a:rPr>
              <a:t>Answers link to prepared screens, backtests with real costs and paper trading.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THE INTEGRATION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Kite MCP opened the door. Anvest adds the research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F0"/>
                </a:solidFill>
              </a:rPr>
              <a:t>Kite Connect exposes account data to authorised software, and Kite MCP makes it readable by AI agents. Anvest is built to sit exactly behind that interface.</a:t>
            </a:r>
            <a:endParaRPr lang="en-US" sz="1400" dirty="0"/>
          </a:p>
        </p:txBody>
      </p:sp>
      <p:sp>
        <p:nvSpPr>
          <p:cNvPr id="5" name="integration step 1"/>
          <p:cNvSpPr/>
          <p:nvPr/>
        </p:nvSpPr>
        <p:spPr>
          <a:xfrm>
            <a:off x="548640" y="224028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D3F0">
                <a:alpha val="25000"/>
              </a:srgbClr>
            </a:solidFill>
            <a:prstDash val="solid"/>
          </a:ln>
        </p:spPr>
      </p:sp>
      <p:sp>
        <p:nvSpPr>
          <p:cNvPr id="6" name="LuLink circle"/>
          <p:cNvSpPr/>
          <p:nvPr/>
        </p:nvSpPr>
        <p:spPr>
          <a:xfrm>
            <a:off x="822960" y="2487168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7" name="LuLin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628900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004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Live account link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47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Kite Connect / Kite MCP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858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3F0"/>
                </a:solidFill>
              </a:rPr>
              <a:t>Holdings, positions and orders: read-only and user-authorised, on terms agreed with you.</a:t>
            </a:r>
            <a:endParaRPr lang="en-US" sz="1250" dirty="0"/>
          </a:p>
        </p:txBody>
      </p:sp>
      <p:sp>
        <p:nvSpPr>
          <p:cNvPr id="11" name="integration arrow 1 circle"/>
          <p:cNvSpPr/>
          <p:nvPr/>
        </p:nvSpPr>
        <p:spPr>
          <a:xfrm>
            <a:off x="4041648" y="3291840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2" name="integration arrow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372" y="3369564"/>
            <a:ext cx="155448" cy="155448"/>
          </a:xfrm>
          <a:prstGeom prst="rect">
            <a:avLst/>
          </a:prstGeom>
        </p:spPr>
      </p:pic>
      <p:sp>
        <p:nvSpPr>
          <p:cNvPr id="13" name="integration step 2"/>
          <p:cNvSpPr/>
          <p:nvPr/>
        </p:nvSpPr>
        <p:spPr>
          <a:xfrm>
            <a:off x="4315968" y="224028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D3F0">
                <a:alpha val="25000"/>
              </a:srgbClr>
            </a:solidFill>
            <a:prstDash val="solid"/>
          </a:ln>
        </p:spPr>
      </p:sp>
      <p:sp>
        <p:nvSpPr>
          <p:cNvPr id="14" name="LuBrainCircuit circle"/>
          <p:cNvSpPr/>
          <p:nvPr/>
        </p:nvSpPr>
        <p:spPr>
          <a:xfrm>
            <a:off x="4590288" y="2487168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15" name="LuBrainCircui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2628900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90288" y="32004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Grounded reasoning layer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590288" y="3547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Anvest warehouse + retrieval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590288" y="3858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3F0"/>
                </a:solidFill>
              </a:rPr>
              <a:t>Every holding is matched to the filing that explains it, which turns generic research into personal research.</a:t>
            </a:r>
            <a:endParaRPr lang="en-US" sz="1250" dirty="0"/>
          </a:p>
        </p:txBody>
      </p:sp>
      <p:sp>
        <p:nvSpPr>
          <p:cNvPr id="19" name="integration arrow 2 circle"/>
          <p:cNvSpPr/>
          <p:nvPr/>
        </p:nvSpPr>
        <p:spPr>
          <a:xfrm>
            <a:off x="7808976" y="3291840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0" name="integration arrow 2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0" y="3369564"/>
            <a:ext cx="155448" cy="155448"/>
          </a:xfrm>
          <a:prstGeom prst="rect">
            <a:avLst/>
          </a:prstGeom>
        </p:spPr>
      </p:pic>
      <p:sp>
        <p:nvSpPr>
          <p:cNvPr id="21" name="integration step 3"/>
          <p:cNvSpPr/>
          <p:nvPr/>
        </p:nvSpPr>
        <p:spPr>
          <a:xfrm>
            <a:off x="8083296" y="224028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C9D3F0">
                <a:alpha val="25000"/>
              </a:srgbClr>
            </a:solidFill>
            <a:prstDash val="solid"/>
          </a:ln>
        </p:spPr>
      </p:sp>
      <p:sp>
        <p:nvSpPr>
          <p:cNvPr id="22" name="LuBot circle"/>
          <p:cNvSpPr/>
          <p:nvPr/>
        </p:nvSpPr>
        <p:spPr>
          <a:xfrm>
            <a:off x="8357616" y="2487168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3" name="LuBo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348" y="2628900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357616" y="32004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Agent-native surface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8357616" y="3547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Your assistant, or a user's own agent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8357616" y="3858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3F0"/>
                </a:solidFill>
              </a:rPr>
              <a:t>An AI agent asks Anvest about a position it already sees and gets a cited answer, not a guess.</a:t>
            </a:r>
            <a:endParaRPr lang="en-US" sz="1250" dirty="0"/>
          </a:p>
        </p:txBody>
      </p:sp>
      <p:sp>
        <p:nvSpPr>
          <p:cNvPr id="27" name="example band"/>
          <p:cNvSpPr/>
          <p:nvPr/>
        </p:nvSpPr>
        <p:spPr>
          <a:xfrm>
            <a:off x="548640" y="502920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868680" y="5029200"/>
            <a:ext cx="10454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4B6B"/>
                </a:solidFill>
              </a:rPr>
              <a:t>A user asks their Kite-connected assistant: </a:t>
            </a:r>
            <a:pPr indent="0" marL="0">
              <a:buNone/>
            </a:pPr>
            <a:r>
              <a:rPr lang="en-US" sz="1400" b="1" dirty="0">
                <a:solidFill>
                  <a:srgbClr val="0B0E26"/>
                </a:solidFill>
              </a:rPr>
              <a:t>“What did the companies I hold disclose this week?” </a:t>
            </a:r>
            <a:pPr indent="0" marL="0">
              <a:buNone/>
            </a:pPr>
            <a:r>
              <a:rPr lang="en-US" sz="1400" dirty="0">
                <a:solidFill>
                  <a:srgbClr val="434B6B"/>
                </a:solidFill>
              </a:rPr>
              <a:t>The answer comes from Anvest's filing-grounded warehouse, with each point cited to its filing.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BEYOND RESEARCH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From insight to disciplined action</a:t>
            </a:r>
            <a:endParaRPr lang="en-US" sz="3200" dirty="0"/>
          </a:p>
        </p:txBody>
      </p:sp>
      <p:sp>
        <p:nvSpPr>
          <p:cNvPr id="4" name="Screens users can test frame"/>
          <p:cNvSpPr/>
          <p:nvPr/>
        </p:nvSpPr>
        <p:spPr>
          <a:xfrm>
            <a:off x="548640" y="1783080"/>
            <a:ext cx="3520440" cy="1906524"/>
          </a:xfrm>
          <a:prstGeom prst="roundRect">
            <a:avLst>
              <a:gd name="adj" fmla="val 4616"/>
            </a:avLst>
          </a:prstGeom>
          <a:solidFill>
            <a:srgbClr val="161A33"/>
          </a:solidFill>
          <a:ln w="9525">
            <a:solidFill>
              <a:srgbClr val="2A3060"/>
            </a:solidFill>
            <a:prstDash val="solid"/>
          </a:ln>
          <a:effectLst>
            <a:outerShdw sx="100000" sy="100000" kx="0" ky="0" algn="bl" rotWithShape="0" blurRad="177800" dist="63500" dir="5400000">
              <a:srgbClr val="0B0E26">
                <a:alpha val="28000"/>
              </a:srgbClr>
            </a:outerShdw>
          </a:effectLst>
        </p:spPr>
      </p:sp>
      <p:sp>
        <p:nvSpPr>
          <p:cNvPr id="5" name="Screens users can test window dot 1"/>
          <p:cNvSpPr/>
          <p:nvPr/>
        </p:nvSpPr>
        <p:spPr>
          <a:xfrm>
            <a:off x="627461" y="1831360"/>
            <a:ext cx="49743" cy="49743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creens users can test window dot 2"/>
          <p:cNvSpPr/>
          <p:nvPr/>
        </p:nvSpPr>
        <p:spPr>
          <a:xfrm>
            <a:off x="712025" y="1831360"/>
            <a:ext cx="49743" cy="49743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creens users can test window dot 3"/>
          <p:cNvSpPr/>
          <p:nvPr/>
        </p:nvSpPr>
        <p:spPr>
          <a:xfrm>
            <a:off x="796589" y="1831360"/>
            <a:ext cx="49743" cy="49743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8" name="Screens users can test image" descr="Screens users can te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885" y="1929384"/>
            <a:ext cx="3435949" cy="171797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37993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E26"/>
                </a:solidFill>
              </a:rPr>
              <a:t>Screens users can test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10108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</a:rPr>
              <a:t>Natural-language criteria become editable filters across 6,137 companies.</a:t>
            </a:r>
            <a:endParaRPr lang="en-US" sz="1250" dirty="0"/>
          </a:p>
        </p:txBody>
      </p:sp>
      <p:sp>
        <p:nvSpPr>
          <p:cNvPr id="11" name="Backtests with real Indian costs frame"/>
          <p:cNvSpPr/>
          <p:nvPr/>
        </p:nvSpPr>
        <p:spPr>
          <a:xfrm>
            <a:off x="4315968" y="1783080"/>
            <a:ext cx="3520440" cy="1906524"/>
          </a:xfrm>
          <a:prstGeom prst="roundRect">
            <a:avLst>
              <a:gd name="adj" fmla="val 4616"/>
            </a:avLst>
          </a:prstGeom>
          <a:solidFill>
            <a:srgbClr val="161A33"/>
          </a:solidFill>
          <a:ln w="9525">
            <a:solidFill>
              <a:srgbClr val="2A3060"/>
            </a:solidFill>
            <a:prstDash val="solid"/>
          </a:ln>
          <a:effectLst>
            <a:outerShdw sx="100000" sy="100000" kx="0" ky="0" algn="bl" rotWithShape="0" blurRad="177800" dist="63500" dir="5400000">
              <a:srgbClr val="0B0E26">
                <a:alpha val="28000"/>
              </a:srgbClr>
            </a:outerShdw>
          </a:effectLst>
        </p:spPr>
      </p:sp>
      <p:sp>
        <p:nvSpPr>
          <p:cNvPr id="12" name="Backtests with real Indian costs window dot 1"/>
          <p:cNvSpPr/>
          <p:nvPr/>
        </p:nvSpPr>
        <p:spPr>
          <a:xfrm>
            <a:off x="4394789" y="1831360"/>
            <a:ext cx="49743" cy="49743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3" name="Backtests with real Indian costs window dot 2"/>
          <p:cNvSpPr/>
          <p:nvPr/>
        </p:nvSpPr>
        <p:spPr>
          <a:xfrm>
            <a:off x="4479353" y="1831360"/>
            <a:ext cx="49743" cy="49743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4" name="Backtests with real Indian costs window dot 3"/>
          <p:cNvSpPr/>
          <p:nvPr/>
        </p:nvSpPr>
        <p:spPr>
          <a:xfrm>
            <a:off x="4563917" y="1831360"/>
            <a:ext cx="49743" cy="49743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15" name="Backtests with real Indian costs image" descr="Backtests with real Indian cos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213" y="1929384"/>
            <a:ext cx="3435949" cy="171797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315968" y="37993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E26"/>
                </a:solidFill>
              </a:rPr>
              <a:t>Backtests with real Indian costs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315968" y="410108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</a:rPr>
              <a:t>Brokerage, STT, stamp duty and slippage built in, with the formula visible.</a:t>
            </a:r>
            <a:endParaRPr lang="en-US" sz="1250" dirty="0"/>
          </a:p>
        </p:txBody>
      </p:sp>
      <p:sp>
        <p:nvSpPr>
          <p:cNvPr id="18" name="Practice before real money frame"/>
          <p:cNvSpPr/>
          <p:nvPr/>
        </p:nvSpPr>
        <p:spPr>
          <a:xfrm>
            <a:off x="8083296" y="1783080"/>
            <a:ext cx="3520440" cy="1906524"/>
          </a:xfrm>
          <a:prstGeom prst="roundRect">
            <a:avLst>
              <a:gd name="adj" fmla="val 4616"/>
            </a:avLst>
          </a:prstGeom>
          <a:solidFill>
            <a:srgbClr val="161A33"/>
          </a:solidFill>
          <a:ln w="9525">
            <a:solidFill>
              <a:srgbClr val="2A3060"/>
            </a:solidFill>
            <a:prstDash val="solid"/>
          </a:ln>
          <a:effectLst>
            <a:outerShdw sx="100000" sy="100000" kx="0" ky="0" algn="bl" rotWithShape="0" blurRad="177800" dist="63500" dir="5400000">
              <a:srgbClr val="0B0E26">
                <a:alpha val="28000"/>
              </a:srgbClr>
            </a:outerShdw>
          </a:effectLst>
        </p:spPr>
      </p:sp>
      <p:sp>
        <p:nvSpPr>
          <p:cNvPr id="19" name="Practice before real money window dot 1"/>
          <p:cNvSpPr/>
          <p:nvPr/>
        </p:nvSpPr>
        <p:spPr>
          <a:xfrm>
            <a:off x="8162117" y="1831360"/>
            <a:ext cx="49743" cy="49743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20" name="Practice before real money window dot 2"/>
          <p:cNvSpPr/>
          <p:nvPr/>
        </p:nvSpPr>
        <p:spPr>
          <a:xfrm>
            <a:off x="8246681" y="1831360"/>
            <a:ext cx="49743" cy="49743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1" name="Practice before real money window dot 3"/>
          <p:cNvSpPr/>
          <p:nvPr/>
        </p:nvSpPr>
        <p:spPr>
          <a:xfrm>
            <a:off x="8331245" y="1831360"/>
            <a:ext cx="49743" cy="49743"/>
          </a:xfrm>
          <a:prstGeom prst="ellipse">
            <a:avLst/>
          </a:prstGeom>
          <a:solidFill>
            <a:srgbClr val="28C840"/>
          </a:solidFill>
          <a:ln/>
        </p:spPr>
      </p:sp>
      <p:pic>
        <p:nvPicPr>
          <p:cNvPr id="22" name="Practice before real money image" descr="Practice before real mon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541" y="1929384"/>
            <a:ext cx="3435949" cy="1717975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083296" y="37993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0E26"/>
                </a:solidFill>
              </a:rPr>
              <a:t>Practice before real money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8083296" y="410108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34B6B"/>
                </a:solidFill>
              </a:rPr>
              <a:t>Paper-trade a strategy with virtual cash and keep a journal of every decision.</a:t>
            </a:r>
            <a:endParaRPr lang="en-US" sz="1250" dirty="0"/>
          </a:p>
        </p:txBody>
      </p:sp>
      <p:sp>
        <p:nvSpPr>
          <p:cNvPr id="25" name="algo band"/>
          <p:cNvSpPr/>
          <p:nvPr/>
        </p:nvSpPr>
        <p:spPr>
          <a:xfrm>
            <a:off x="548640" y="512064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26" name="LuRocket circle"/>
          <p:cNvSpPr/>
          <p:nvPr/>
        </p:nvSpPr>
        <p:spPr>
          <a:xfrm>
            <a:off x="777240" y="5294376"/>
            <a:ext cx="512064" cy="512064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7" name="LuRocke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422392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508760" y="512064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0E26"/>
                </a:solidFill>
              </a:rPr>
              <a:t>Under SEBI's retail algo framework, tested strategies could later run on your platform as exchange-registered algos, inside your risk controls, subject to empanelment and approvals.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PARTNER OR BUILD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Partnering is the faster path to an AI research layer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69080"/>
                <a:gridCol w="46451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in-house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with Anvest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9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0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launch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a year of ingestion, OCR and verification 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pilot in weeks, on a live 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0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engine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team and new pipelines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6,137 companies, 2.89M announcements and 1.35M indexed passages, refreshed nightly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0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cases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Rediscover malformed XBRL, Q4-only annual figures and scanned PDFs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solved in production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0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citation and verification from scratch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or silent, by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B0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research surface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34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Unchanged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E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Complemented: your ratios and charts show what changed; Anvest answers 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52400" marR="152400" marT="50800" marB="50800" anchor="ctr">
                    <a:lnL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E26"/>
                </a:solidFill>
              </a:rPr>
              <a:t>A scoped pilot measures exactly this, on answer accuracy, citation quality, coverage of difficult filings and cost per answer, so the decision rests on evidence.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WHERE WE ARE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Built, live and ready to pilot</a:t>
            </a:r>
            <a:endParaRPr lang="en-US" sz="3200" dirty="0"/>
          </a:p>
        </p:txBody>
      </p:sp>
      <p:sp>
        <p:nvSpPr>
          <p:cNvPr id="4" name="shipped card"/>
          <p:cNvSpPr/>
          <p:nvPr/>
        </p:nvSpPr>
        <p:spPr>
          <a:xfrm>
            <a:off x="548640" y="1783080"/>
            <a:ext cx="66751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5" name="chip SHIPPED AND LIVE"/>
          <p:cNvSpPr/>
          <p:nvPr/>
        </p:nvSpPr>
        <p:spPr>
          <a:xfrm>
            <a:off x="822960" y="2011680"/>
            <a:ext cx="1444752" cy="256032"/>
          </a:xfrm>
          <a:prstGeom prst="roundRect">
            <a:avLst>
              <a:gd name="adj" fmla="val 50000"/>
            </a:avLst>
          </a:prstGeom>
          <a:solidFill>
            <a:srgbClr val="1FA971"/>
          </a:solidFill>
          <a:ln/>
        </p:spPr>
      </p:sp>
      <p:sp>
        <p:nvSpPr>
          <p:cNvPr id="6" name="chip text SHIPPED AND LIVE"/>
          <p:cNvSpPr txBox="1"/>
          <p:nvPr/>
        </p:nvSpPr>
        <p:spPr>
          <a:xfrm>
            <a:off x="822960" y="201168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SHIPPED AND LIVE</a:t>
            </a:r>
            <a:endParaRPr lang="en-US" sz="1000" dirty="0"/>
          </a:p>
        </p:txBody>
      </p:sp>
      <p:pic>
        <p:nvPicPr>
          <p:cNvPr id="7" name="check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42032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52144" y="25146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0E26"/>
                </a:solidFill>
              </a:rPr>
              <a:t>Full-universe filings warehouse, nightly ingestion</a:t>
            </a:r>
            <a:endParaRPr lang="en-US" sz="1300" dirty="0"/>
          </a:p>
        </p:txBody>
      </p:sp>
      <p:pic>
        <p:nvPicPr>
          <p:cNvPr id="9" name="check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254203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52544" y="251460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0E26"/>
                </a:solidFill>
              </a:rPr>
              <a:t>OCR and vector index over filings</a:t>
            </a:r>
            <a:endParaRPr lang="en-US" sz="1300" dirty="0"/>
          </a:p>
        </p:txBody>
      </p:sp>
      <p:pic>
        <p:nvPicPr>
          <p:cNvPr id="11" name="check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64992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52144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0E26"/>
                </a:solidFill>
              </a:rPr>
              <a:t>Grounded copilot with verify-and-repair loops</a:t>
            </a:r>
            <a:endParaRPr lang="en-US" sz="1300" dirty="0"/>
          </a:p>
        </p:txBody>
      </p:sp>
      <p:pic>
        <p:nvPicPr>
          <p:cNvPr id="13" name="check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3364992"/>
            <a:ext cx="237744" cy="23774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352544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0E26"/>
                </a:solidFill>
              </a:rPr>
              <a:t>Natural-language stock screener</a:t>
            </a:r>
            <a:endParaRPr lang="en-US" sz="1300" dirty="0"/>
          </a:p>
        </p:txBody>
      </p:sp>
      <p:pic>
        <p:nvPicPr>
          <p:cNvPr id="15" name="check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87952"/>
            <a:ext cx="237744" cy="23774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52144" y="41605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0E26"/>
                </a:solidFill>
              </a:rPr>
              <a:t>Backtesting and paper trading</a:t>
            </a:r>
            <a:endParaRPr lang="en-US" sz="1300" dirty="0"/>
          </a:p>
        </p:txBody>
      </p:sp>
      <p:pic>
        <p:nvPicPr>
          <p:cNvPr id="17" name="check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0" y="4187952"/>
            <a:ext cx="237744" cy="237744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4352544" y="416052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0E26"/>
                </a:solidFill>
              </a:rPr>
              <a:t>Portfolio X-ray on a read-only broker link</a:t>
            </a:r>
            <a:endParaRPr lang="en-US" sz="1300" dirty="0"/>
          </a:p>
        </p:txBody>
      </p:sp>
      <p:pic>
        <p:nvPicPr>
          <p:cNvPr id="19" name="check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010912"/>
            <a:ext cx="237744" cy="237744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152144" y="49834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0E26"/>
                </a:solidFill>
              </a:rPr>
              <a:t>IPO, mutual fund and bond analytics</a:t>
            </a:r>
            <a:endParaRPr lang="en-US" sz="1300" dirty="0"/>
          </a:p>
        </p:txBody>
      </p:sp>
      <p:pic>
        <p:nvPicPr>
          <p:cNvPr id="21" name="check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3360" y="5010912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4352544" y="49834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0E26"/>
                </a:solidFill>
              </a:rPr>
              <a:t>Wealth planning and calculators</a:t>
            </a:r>
            <a:endParaRPr lang="en-US" sz="1300" dirty="0"/>
          </a:p>
        </p:txBody>
      </p:sp>
      <p:sp>
        <p:nvSpPr>
          <p:cNvPr id="23" name="status 1"/>
          <p:cNvSpPr/>
          <p:nvPr/>
        </p:nvSpPr>
        <p:spPr>
          <a:xfrm>
            <a:off x="7452360" y="1783080"/>
            <a:ext cx="418795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24" name="Text 14"/>
          <p:cNvSpPr txBox="1"/>
          <p:nvPr/>
        </p:nvSpPr>
        <p:spPr>
          <a:xfrm>
            <a:off x="7680960" y="191109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2000" dirty="0"/>
          </a:p>
        </p:txBody>
      </p:sp>
      <p:sp>
        <p:nvSpPr>
          <p:cNvPr id="25" name="Text 15"/>
          <p:cNvSpPr txBox="1"/>
          <p:nvPr/>
        </p:nvSpPr>
        <p:spPr>
          <a:xfrm>
            <a:off x="9418320" y="189280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B6B"/>
                </a:solidFill>
              </a:rPr>
              <a:t>anvest.in on Google Cloud (Mumbai) and Vercel</a:t>
            </a:r>
            <a:endParaRPr lang="en-US" sz="1150" dirty="0"/>
          </a:p>
        </p:txBody>
      </p:sp>
      <p:sp>
        <p:nvSpPr>
          <p:cNvPr id="26" name="status 2"/>
          <p:cNvSpPr/>
          <p:nvPr/>
        </p:nvSpPr>
        <p:spPr>
          <a:xfrm>
            <a:off x="7452360" y="2852928"/>
            <a:ext cx="418795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27" name="Text 17"/>
          <p:cNvSpPr txBox="1"/>
          <p:nvPr/>
        </p:nvSpPr>
        <p:spPr>
          <a:xfrm>
            <a:off x="7680960" y="2980944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</a:t>
            </a:r>
            <a:endParaRPr lang="en-US" sz="2000" dirty="0"/>
          </a:p>
        </p:txBody>
      </p:sp>
      <p:sp>
        <p:nvSpPr>
          <p:cNvPr id="28" name="Text 18"/>
          <p:cNvSpPr txBox="1"/>
          <p:nvPr/>
        </p:nvSpPr>
        <p:spPr>
          <a:xfrm>
            <a:off x="9418320" y="2962656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B6B"/>
                </a:solidFill>
              </a:rPr>
              <a:t>prices, filings, NAVs and news</a:t>
            </a:r>
            <a:endParaRPr lang="en-US" sz="1150" dirty="0"/>
          </a:p>
        </p:txBody>
      </p:sp>
      <p:sp>
        <p:nvSpPr>
          <p:cNvPr id="29" name="status 3"/>
          <p:cNvSpPr/>
          <p:nvPr/>
        </p:nvSpPr>
        <p:spPr>
          <a:xfrm>
            <a:off x="7452360" y="3922776"/>
            <a:ext cx="418795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30" name="Text 20"/>
          <p:cNvSpPr txBox="1"/>
          <p:nvPr/>
        </p:nvSpPr>
        <p:spPr>
          <a:xfrm>
            <a:off x="7680960" y="40507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en-US" sz="2000" dirty="0"/>
          </a:p>
        </p:txBody>
      </p:sp>
      <p:sp>
        <p:nvSpPr>
          <p:cNvPr id="31" name="Text 21"/>
          <p:cNvSpPr txBox="1"/>
          <p:nvPr/>
        </p:nvSpPr>
        <p:spPr>
          <a:xfrm>
            <a:off x="9418320" y="403250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B6B"/>
                </a:solidFill>
              </a:rPr>
              <a:t>Zerodha and Groww link pattern built; partner access agreed with you</a:t>
            </a:r>
            <a:endParaRPr lang="en-US" sz="1150" dirty="0"/>
          </a:p>
        </p:txBody>
      </p:sp>
      <p:sp>
        <p:nvSpPr>
          <p:cNvPr id="32" name="status 4"/>
          <p:cNvSpPr/>
          <p:nvPr/>
        </p:nvSpPr>
        <p:spPr>
          <a:xfrm>
            <a:off x="7452360" y="4992624"/>
            <a:ext cx="418795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33" name="Text 23"/>
          <p:cNvSpPr txBox="1"/>
          <p:nvPr/>
        </p:nvSpPr>
        <p:spPr>
          <a:xfrm>
            <a:off x="7680960" y="5120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tips</a:t>
            </a:r>
            <a:endParaRPr lang="en-US" sz="2000" dirty="0"/>
          </a:p>
        </p:txBody>
      </p:sp>
      <p:sp>
        <p:nvSpPr>
          <p:cNvPr id="34" name="Text 24"/>
          <p:cNvSpPr txBox="1"/>
          <p:nvPr/>
        </p:nvSpPr>
        <p:spPr>
          <a:xfrm>
            <a:off x="9418320" y="510235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B6B"/>
                </a:solidFill>
              </a:rPr>
              <a:t>no target prices: research, explained and cited</a:t>
            </a:r>
            <a:endParaRPr lang="en-US" sz="1150" dirty="0"/>
          </a:p>
        </p:txBody>
      </p:sp>
      <p:sp>
        <p:nvSpPr>
          <p:cNvPr id="35" name="Text 25"/>
          <p:cNvSpPr txBox="1"/>
          <p:nvPr/>
        </p:nvSpPr>
        <p:spPr>
          <a:xfrm>
            <a:off x="548640" y="6144768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3699"/>
                </a:solidFill>
              </a:rPr>
              <a:t>Next 90 days: </a:t>
            </a:r>
            <a:pPr indent="0" marL="0">
              <a:buNone/>
            </a:pPr>
            <a:r>
              <a:rPr lang="en-US" sz="1300" dirty="0">
                <a:solidFill>
                  <a:srgbClr val="0B0E26"/>
                </a:solidFill>
              </a:rPr>
              <a:t>live filing alerts  ·  broker-connected portfolios  ·  professional seats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PARTNER VALUE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your users and your business gain</a:t>
            </a:r>
            <a:endParaRPr lang="en-US" sz="3200" dirty="0"/>
          </a:p>
        </p:txBody>
      </p:sp>
      <p:sp>
        <p:nvSpPr>
          <p:cNvPr id="4" name="value card 1"/>
          <p:cNvSpPr/>
          <p:nvPr/>
        </p:nvSpPr>
        <p:spPr>
          <a:xfrm>
            <a:off x="548640" y="178308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5" name="LuBell circle"/>
          <p:cNvSpPr/>
          <p:nvPr/>
        </p:nvSpPr>
        <p:spPr>
          <a:xfrm>
            <a:off x="822960" y="2075688"/>
            <a:ext cx="603504" cy="603504"/>
          </a:xfrm>
          <a:prstGeom prst="ellipse">
            <a:avLst/>
          </a:prstGeom>
          <a:solidFill>
            <a:srgbClr val="4A3699"/>
          </a:solidFill>
          <a:ln/>
        </p:spPr>
      </p:sp>
      <p:pic>
        <p:nvPicPr>
          <p:cNvPr id="6" name="LuBell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22265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57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0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daily reason to open the app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459736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B6B"/>
                </a:solidFill>
              </a:rPr>
              <a:t>A digest of what each holding disclosed, grounded in filings rather than price alerts, with the source one tap away.</a:t>
            </a:r>
            <a:endParaRPr lang="en-US" sz="1300" dirty="0"/>
          </a:p>
        </p:txBody>
      </p:sp>
      <p:sp>
        <p:nvSpPr>
          <p:cNvPr id="9" name="value card 2"/>
          <p:cNvSpPr/>
          <p:nvPr/>
        </p:nvSpPr>
        <p:spPr>
          <a:xfrm>
            <a:off x="6217920" y="178308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10" name="LuBadgeCheck circle"/>
          <p:cNvSpPr/>
          <p:nvPr/>
        </p:nvSpPr>
        <p:spPr>
          <a:xfrm>
            <a:off x="6492240" y="2075688"/>
            <a:ext cx="603504" cy="603504"/>
          </a:xfrm>
          <a:prstGeom prst="ellipse">
            <a:avLst/>
          </a:prstGeom>
          <a:solidFill>
            <a:srgbClr val="4A3699"/>
          </a:solidFill>
          <a:ln/>
        </p:spPr>
      </p:sp>
      <p:pic>
        <p:nvPicPr>
          <p:cNvPr id="11" name="LuBadgeCheck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22265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2057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0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you can show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2459736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B6B"/>
                </a:solidFill>
              </a:rPr>
              <a:t>Answers traceable to filings, with gaps disclosed. Research your compliance team can stand behind.</a:t>
            </a:r>
            <a:endParaRPr lang="en-US" sz="1300" dirty="0"/>
          </a:p>
        </p:txBody>
      </p:sp>
      <p:sp>
        <p:nvSpPr>
          <p:cNvPr id="14" name="value card 3"/>
          <p:cNvSpPr/>
          <p:nvPr/>
        </p:nvSpPr>
        <p:spPr>
          <a:xfrm>
            <a:off x="548640" y="384048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15" name="LuBot circle"/>
          <p:cNvSpPr/>
          <p:nvPr/>
        </p:nvSpPr>
        <p:spPr>
          <a:xfrm>
            <a:off x="822960" y="4133088"/>
            <a:ext cx="603504" cy="603504"/>
          </a:xfrm>
          <a:prstGeom prst="ellipse">
            <a:avLst/>
          </a:prstGeom>
          <a:solidFill>
            <a:srgbClr val="4A3699"/>
          </a:solidFill>
          <a:ln/>
        </p:spPr>
      </p:sp>
      <p:pic>
        <p:nvPicPr>
          <p:cNvPr id="16" name="LuBo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42839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114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0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AI agents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517136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B6B"/>
                </a:solidFill>
              </a:rPr>
              <a:t>A grounded research layer for Kite MCP and assistants, ahead of the shift to agent-native investing.</a:t>
            </a:r>
            <a:endParaRPr lang="en-US" sz="1300" dirty="0"/>
          </a:p>
        </p:txBody>
      </p:sp>
      <p:sp>
        <p:nvSpPr>
          <p:cNvPr id="19" name="value card 4"/>
          <p:cNvSpPr/>
          <p:nvPr/>
        </p:nvSpPr>
        <p:spPr>
          <a:xfrm>
            <a:off x="6217920" y="384048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20" name="LuTarget circle"/>
          <p:cNvSpPr/>
          <p:nvPr/>
        </p:nvSpPr>
        <p:spPr>
          <a:xfrm>
            <a:off x="6492240" y="4133088"/>
            <a:ext cx="603504" cy="603504"/>
          </a:xfrm>
          <a:prstGeom prst="ellipse">
            <a:avLst/>
          </a:prstGeom>
          <a:solidFill>
            <a:srgbClr val="4A3699"/>
          </a:solidFill>
          <a:ln/>
        </p:spPr>
      </p:sp>
      <p:pic>
        <p:nvPicPr>
          <p:cNvPr id="21" name="LuTarget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428396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4114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0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who test first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4517136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B6B"/>
                </a:solidFill>
              </a:rPr>
              <a:t>Screens, backtests and paper trading let users check assumptions and scenarios before they risk money.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9893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C88B0"/>
                </a:solidFill>
              </a:rPr>
              <a:t>Whether users value each of these is exactly what the pilot measures.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PROPOSAL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scoped pilot, not a big commitment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A3699"/>
                </a:solidFill>
              </a:rPr>
              <a:t>8–12 weeks  ·  a small opted-in cohort of your users  ·  read-only  ·  success criteria agreed up front</a:t>
            </a:r>
            <a:endParaRPr lang="en-US" sz="1500" dirty="0"/>
          </a:p>
        </p:txBody>
      </p:sp>
      <p:sp>
        <p:nvSpPr>
          <p:cNvPr id="5" name="pilot term 1"/>
          <p:cNvSpPr/>
          <p:nvPr/>
        </p:nvSpPr>
        <p:spPr>
          <a:xfrm>
            <a:off x="548640" y="20116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A3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8–12 weeks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0E26"/>
                </a:solidFill>
              </a:rPr>
              <a:t>PILOT WINDOW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9067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B6B"/>
                </a:solidFill>
              </a:rPr>
              <a:t>A small opted-in cohort. Dates and cohort size set together.</a:t>
            </a:r>
            <a:endParaRPr lang="en-US" sz="1300" dirty="0"/>
          </a:p>
        </p:txBody>
      </p:sp>
      <p:sp>
        <p:nvSpPr>
          <p:cNvPr id="9" name="pilot term 2"/>
          <p:cNvSpPr/>
          <p:nvPr/>
        </p:nvSpPr>
        <p:spPr>
          <a:xfrm>
            <a:off x="4315968" y="20116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36008" y="2194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A3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0E26"/>
                </a:solidFill>
              </a:rPr>
              <a:t>ACCESS PATH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309067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B6B"/>
                </a:solidFill>
              </a:rPr>
              <a:t>Your approved API or sandbox. Token handling and approvals agreed up front; no unofficial access.</a:t>
            </a:r>
            <a:endParaRPr lang="en-US" sz="1300" dirty="0"/>
          </a:p>
        </p:txBody>
      </p:sp>
      <p:sp>
        <p:nvSpPr>
          <p:cNvPr id="13" name="pilot term 3"/>
          <p:cNvSpPr/>
          <p:nvPr/>
        </p:nvSpPr>
        <p:spPr>
          <a:xfrm>
            <a:off x="8083296" y="20116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03336" y="2194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4A36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metrics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8403336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0E26"/>
                </a:solidFill>
              </a:rPr>
              <a:t>SUCCESS CRITERIA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403336" y="309067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34B6B"/>
                </a:solidFill>
              </a:rPr>
              <a:t>Accuracy and citation quality · weekly repeat use · cost per answered question.</a:t>
            </a:r>
            <a:endParaRPr lang="en-US" sz="1300" dirty="0"/>
          </a:p>
        </p:txBody>
      </p:sp>
      <p:sp>
        <p:nvSpPr>
          <p:cNvPr id="17" name="after pilot card"/>
          <p:cNvSpPr/>
          <p:nvPr/>
        </p:nvSpPr>
        <p:spPr>
          <a:xfrm>
            <a:off x="548640" y="4389120"/>
            <a:ext cx="11094415" cy="146304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0B0E26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</a:rPr>
              <a:t>IF THE RESULTS JUSTIFY IT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892040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Commercial terms follow the evidence: a per-active-user licence, API usage pricing or a white-label research layer. Nothing about equity is part of this proposal.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10607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Kite MCP means you are already building for an agent-native brokerage.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Anvest is the grounded research layer that future needs.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F0"/>
                </a:solidFill>
              </a:rPr>
              <a:t>Let's scope a pilot inside your product.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F0"/>
                </a:solidFill>
              </a:rPr>
              <a:t>Harsh Bhardwaj  ·  harsh@anvest.in  ·  anvest.in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vest">
  <a:themeElements>
    <a:clrScheme name="Anvest">
      <a:dk1>
        <a:srgbClr val="0B0E26"/>
      </a:dk1>
      <a:lt1>
        <a:srgbClr val="FFFFFF"/>
      </a:lt1>
      <a:dk2>
        <a:srgbClr val="434B6B"/>
      </a:dk2>
      <a:lt2>
        <a:srgbClr val="F4F7FC"/>
      </a:lt2>
      <a:accent1>
        <a:srgbClr val="4A3699"/>
      </a:accent1>
      <a:accent2>
        <a:srgbClr val="F5A623"/>
      </a:accent2>
      <a:accent3>
        <a:srgbClr val="1E2761"/>
      </a:accent3>
      <a:accent4>
        <a:srgbClr val="1FA971"/>
      </a:accent4>
      <a:accent5>
        <a:srgbClr val="7C88B0"/>
      </a:accent5>
      <a:accent6>
        <a:srgbClr val="C9D3F0"/>
      </a:accent6>
      <a:hlink>
        <a:srgbClr val="4A3699"/>
      </a:hlink>
      <a:folHlink>
        <a:srgbClr val="1E2761"/>
      </a:folHlink>
    </a:clrScheme>
    <a:fontScheme name="Anves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Anvest Fintech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Anvest — Strategic Integration Pilot</dc:title>
  <dc:subject>PptxGenJS Presentation</dc:subject>
  <dc:creator>Harsh Bhardwaj</dc:creator>
  <cp:lastModifiedBy>Harsh Bhardwaj</cp:lastModifiedBy>
  <cp:revision>1</cp:revision>
  <dcterms:created xsi:type="dcterms:W3CDTF">2026-10-19T06:19:30Z</dcterms:created>
  <dcterms:modified xsi:type="dcterms:W3CDTF">2026-10-19T06:19:30Z</dcterms:modified>
</cp:coreProperties>
</file>