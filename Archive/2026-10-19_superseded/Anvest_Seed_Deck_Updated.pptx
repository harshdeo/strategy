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" name="Shape 3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HERO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ARK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IGH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 txBox="1"/>
          <p:nvPr/>
        </p:nvSpPr>
        <p:spPr>
          <a:xfrm>
            <a:off x="640080" y="1645920"/>
            <a:ext cx="8229601" cy="137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400" sz="8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Anvest</a:t>
            </a:r>
          </a:p>
        </p:txBody>
      </p:sp>
      <p:sp>
        <p:nvSpPr>
          <p:cNvPr id="42" name="Text 1"/>
          <p:cNvSpPr txBox="1"/>
          <p:nvPr/>
        </p:nvSpPr>
        <p:spPr>
          <a:xfrm>
            <a:off x="640079" y="3246120"/>
            <a:ext cx="9601200" cy="1005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400"/>
              </a:lnSpc>
              <a:defRPr sz="2300">
                <a:solidFill>
                  <a:srgbClr val="C9D3F0"/>
                </a:solidFill>
              </a:defRPr>
            </a:pPr>
            <a:r>
              <a:t>India’s Full-Stack AI Investing &amp; Quant Workspace.</a:t>
            </a:r>
          </a:p>
          <a:p>
            <a:pPr>
              <a:lnSpc>
                <a:spcPts val="3400"/>
              </a:lnSpc>
              <a:defRPr sz="2300">
                <a:solidFill>
                  <a:srgbClr val="C9D3F0"/>
                </a:solidFill>
              </a:defRPr>
            </a:pPr>
            <a:r>
              <a:t>From cited corporate filings to backtested strategies and algo execution.</a:t>
            </a:r>
          </a:p>
        </p:txBody>
      </p:sp>
      <p:sp>
        <p:nvSpPr>
          <p:cNvPr id="43" name="Shape 2"/>
          <p:cNvSpPr/>
          <p:nvPr/>
        </p:nvSpPr>
        <p:spPr>
          <a:xfrm>
            <a:off x="640080" y="4571136"/>
            <a:ext cx="1005840" cy="12701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4" name="Text 3"/>
          <p:cNvSpPr txBox="1"/>
          <p:nvPr/>
        </p:nvSpPr>
        <p:spPr>
          <a:xfrm>
            <a:off x="613747" y="4875707"/>
            <a:ext cx="2468881" cy="55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200" sz="4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6,137</a:t>
            </a:r>
          </a:p>
        </p:txBody>
      </p:sp>
      <p:sp>
        <p:nvSpPr>
          <p:cNvPr id="45" name="Text 4"/>
          <p:cNvSpPr txBox="1"/>
          <p:nvPr/>
        </p:nvSpPr>
        <p:spPr>
          <a:xfrm>
            <a:off x="613747" y="5681595"/>
            <a:ext cx="2468881" cy="186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400"/>
              </a:lnSpc>
              <a:defRPr sz="1400">
                <a:solidFill>
                  <a:srgbClr val="7C88B0"/>
                </a:solidFill>
              </a:defRPr>
            </a:lvl1pPr>
          </a:lstStyle>
          <a:p>
            <a:pPr/>
            <a:r>
              <a:t>Listed Companies (XBRL)</a:t>
            </a:r>
          </a:p>
        </p:txBody>
      </p:sp>
      <p:sp>
        <p:nvSpPr>
          <p:cNvPr id="46" name="Text 5"/>
          <p:cNvSpPr txBox="1"/>
          <p:nvPr/>
        </p:nvSpPr>
        <p:spPr>
          <a:xfrm>
            <a:off x="3311227" y="4875707"/>
            <a:ext cx="2468881" cy="55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200" sz="4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2.89M</a:t>
            </a:r>
          </a:p>
        </p:txBody>
      </p:sp>
      <p:sp>
        <p:nvSpPr>
          <p:cNvPr id="47" name="Text 6"/>
          <p:cNvSpPr txBox="1"/>
          <p:nvPr/>
        </p:nvSpPr>
        <p:spPr>
          <a:xfrm>
            <a:off x="3311227" y="5681595"/>
            <a:ext cx="2468881" cy="186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400"/>
              </a:lnSpc>
              <a:defRPr sz="1400">
                <a:solidFill>
                  <a:srgbClr val="7C88B0"/>
                </a:solidFill>
              </a:defRPr>
            </a:lvl1pPr>
          </a:lstStyle>
          <a:p>
            <a:pPr/>
            <a:r>
              <a:t>Filings &amp; Disclosures OCR’d</a:t>
            </a:r>
          </a:p>
        </p:txBody>
      </p:sp>
      <p:sp>
        <p:nvSpPr>
          <p:cNvPr id="48" name="Text 7"/>
          <p:cNvSpPr txBox="1"/>
          <p:nvPr/>
        </p:nvSpPr>
        <p:spPr>
          <a:xfrm>
            <a:off x="6008707" y="4875707"/>
            <a:ext cx="2468881" cy="55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-200" sz="4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1.35M</a:t>
            </a:r>
          </a:p>
        </p:txBody>
      </p:sp>
      <p:sp>
        <p:nvSpPr>
          <p:cNvPr id="49" name="Text 8"/>
          <p:cNvSpPr txBox="1"/>
          <p:nvPr/>
        </p:nvSpPr>
        <p:spPr>
          <a:xfrm>
            <a:off x="6008707" y="5681595"/>
            <a:ext cx="2468881" cy="186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400"/>
              </a:lnSpc>
              <a:defRPr sz="1400">
                <a:solidFill>
                  <a:srgbClr val="7C88B0"/>
                </a:solidFill>
              </a:defRPr>
            </a:lvl1pPr>
          </a:lstStyle>
          <a:p>
            <a:pPr/>
            <a:r>
              <a:t>Live Vectors Indexed</a:t>
            </a:r>
          </a:p>
        </p:txBody>
      </p:sp>
      <p:sp>
        <p:nvSpPr>
          <p:cNvPr id="50" name="Text 11"/>
          <p:cNvSpPr txBox="1"/>
          <p:nvPr/>
        </p:nvSpPr>
        <p:spPr>
          <a:xfrm>
            <a:off x="640079" y="6355079"/>
            <a:ext cx="10908794" cy="21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400">
                <a:solidFill>
                  <a:srgbClr val="7C88B0"/>
                </a:solidFill>
              </a:defRPr>
            </a:lvl1pPr>
          </a:lstStyle>
          <a:p>
            <a:pPr/>
            <a:r>
              <a:t>Harsh Bhardwaj · harsh@anvest.in · anvest.in · Seed Round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1"/>
          <p:cNvSpPr txBox="1"/>
          <p:nvPr/>
        </p:nvSpPr>
        <p:spPr>
          <a:xfrm>
            <a:off x="640079" y="914400"/>
            <a:ext cx="10908794" cy="1159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Indian investors are forced to choose</a:t>
            </a:r>
          </a:p>
          <a:p>
            <a: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between blind tips and fragmented tools.</a:t>
            </a:r>
          </a:p>
        </p:txBody>
      </p:sp>
      <p:sp>
        <p:nvSpPr>
          <p:cNvPr id="53" name="Shape 5"/>
          <p:cNvSpPr/>
          <p:nvPr/>
        </p:nvSpPr>
        <p:spPr>
          <a:xfrm>
            <a:off x="717353" y="2724461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" name="Text 6"/>
          <p:cNvSpPr txBox="1"/>
          <p:nvPr/>
        </p:nvSpPr>
        <p:spPr>
          <a:xfrm>
            <a:off x="983995" y="2633472"/>
            <a:ext cx="8229600" cy="274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2100">
                <a:solidFill>
                  <a:srgbClr val="FFFFFF"/>
                </a:solidFill>
              </a:defRPr>
            </a:lvl1pPr>
          </a:lstStyle>
          <a:p>
            <a:pPr/>
            <a:r>
              <a:t>Siloed tools break decision conviction</a:t>
            </a:r>
          </a:p>
        </p:txBody>
      </p:sp>
      <p:sp>
        <p:nvSpPr>
          <p:cNvPr id="55" name="Text 7"/>
          <p:cNvSpPr txBox="1"/>
          <p:nvPr/>
        </p:nvSpPr>
        <p:spPr>
          <a:xfrm>
            <a:off x="983995" y="3035808"/>
            <a:ext cx="9326880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400">
                <a:solidFill>
                  <a:srgbClr val="7C88B0"/>
                </a:solidFill>
              </a:defRPr>
            </a:lvl1pPr>
          </a:lstStyle>
          <a:p>
            <a:pPr/>
            <a:r>
              <a:t>Investors jump between raw PDF filings, static screeners, backtesters, and broker apps—losing speed and context at every step.</a:t>
            </a:r>
          </a:p>
        </p:txBody>
      </p:sp>
      <p:sp>
        <p:nvSpPr>
          <p:cNvPr id="56" name="Shape 9"/>
          <p:cNvSpPr/>
          <p:nvPr/>
        </p:nvSpPr>
        <p:spPr>
          <a:xfrm>
            <a:off x="708575" y="3812047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7" name="Text 10"/>
          <p:cNvSpPr txBox="1"/>
          <p:nvPr/>
        </p:nvSpPr>
        <p:spPr>
          <a:xfrm>
            <a:off x="975217" y="3730752"/>
            <a:ext cx="8229600" cy="274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2100">
                <a:solidFill>
                  <a:srgbClr val="FFFFFF"/>
                </a:solidFill>
              </a:defRPr>
            </a:lvl1pPr>
          </a:lstStyle>
          <a:p>
            <a:pPr/>
            <a:r>
              <a:t>Unverified social tips &amp; black-box calls</a:t>
            </a:r>
          </a:p>
        </p:txBody>
      </p:sp>
      <p:sp>
        <p:nvSpPr>
          <p:cNvPr id="58" name="Text 11"/>
          <p:cNvSpPr txBox="1"/>
          <p:nvPr/>
        </p:nvSpPr>
        <p:spPr>
          <a:xfrm>
            <a:off x="975217" y="4133087"/>
            <a:ext cx="9326880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400">
                <a:solidFill>
                  <a:srgbClr val="7C88B0"/>
                </a:solidFill>
              </a:defRPr>
            </a:lvl1pPr>
          </a:lstStyle>
          <a:p>
            <a:pPr/>
            <a:r>
              <a:t>Telegram groups and finfluencers push opaque "buy X, target Y" calls with zero audit trail, leading to costly retail drawdowns.</a:t>
            </a:r>
          </a:p>
        </p:txBody>
      </p:sp>
      <p:sp>
        <p:nvSpPr>
          <p:cNvPr id="59" name="Shape 13"/>
          <p:cNvSpPr/>
          <p:nvPr/>
        </p:nvSpPr>
        <p:spPr>
          <a:xfrm>
            <a:off x="691020" y="4902832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0" name="Text 14"/>
          <p:cNvSpPr txBox="1"/>
          <p:nvPr/>
        </p:nvSpPr>
        <p:spPr>
          <a:xfrm>
            <a:off x="957662" y="4828032"/>
            <a:ext cx="8229600" cy="274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2100">
                <a:solidFill>
                  <a:srgbClr val="FFFFFF"/>
                </a:solidFill>
              </a:defRPr>
            </a:lvl1pPr>
          </a:lstStyle>
          <a:p>
            <a:pPr/>
            <a:r>
              <a:t>Generic chatbots hallucinate Indian accounting</a:t>
            </a:r>
          </a:p>
        </p:txBody>
      </p:sp>
      <p:sp>
        <p:nvSpPr>
          <p:cNvPr id="61" name="Text 15"/>
          <p:cNvSpPr txBox="1"/>
          <p:nvPr/>
        </p:nvSpPr>
        <p:spPr>
          <a:xfrm>
            <a:off x="957662" y="5230368"/>
            <a:ext cx="9326880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400">
                <a:solidFill>
                  <a:srgbClr val="7C88B0"/>
                </a:solidFill>
              </a:defRPr>
            </a:lvl1pPr>
          </a:lstStyle>
          <a:p>
            <a:pPr/>
            <a:r>
              <a:t>Frontier LLMs lack a live NSE/BSE warehouse—inventing numbers and missing malformed XBRL dates or scanned small-cap PDFs.</a:t>
            </a:r>
          </a:p>
        </p:txBody>
      </p:sp>
      <p:sp>
        <p:nvSpPr>
          <p:cNvPr id="62" name="THE PROBLEM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THE MARKET GAP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1"/>
          <p:cNvSpPr txBox="1"/>
          <p:nvPr/>
        </p:nvSpPr>
        <p:spPr>
          <a:xfrm>
            <a:off x="640079" y="914400"/>
            <a:ext cx="10908794" cy="57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One prompt unlocks the complete decision loop</a:t>
            </a:r>
          </a:p>
        </p:txBody>
      </p:sp>
      <p:sp>
        <p:nvSpPr>
          <p:cNvPr id="65" name="Shape 2"/>
          <p:cNvSpPr/>
          <p:nvPr/>
        </p:nvSpPr>
        <p:spPr>
          <a:xfrm>
            <a:off x="640080" y="1828800"/>
            <a:ext cx="5760721" cy="640081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6" name="Text 3"/>
          <p:cNvSpPr txBox="1"/>
          <p:nvPr/>
        </p:nvSpPr>
        <p:spPr>
          <a:xfrm>
            <a:off x="1024127" y="2041842"/>
            <a:ext cx="5029201" cy="213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i="1" sz="1300">
                <a:solidFill>
                  <a:srgbClr val="FFFFFF"/>
                </a:solidFill>
              </a:defRPr>
            </a:lvl1pPr>
          </a:lstStyle>
          <a:p>
            <a:pPr/>
            <a:r>
              <a:t>“Find high-ROCE, low-debt firms expanding margins &amp; backtest them.”</a:t>
            </a:r>
          </a:p>
        </p:txBody>
      </p:sp>
      <p:sp>
        <p:nvSpPr>
          <p:cNvPr id="67" name="Shape 4"/>
          <p:cNvSpPr/>
          <p:nvPr/>
        </p:nvSpPr>
        <p:spPr>
          <a:xfrm>
            <a:off x="640080" y="2697479"/>
            <a:ext cx="5760721" cy="2743201"/>
          </a:xfrm>
          <a:prstGeom prst="roundRect">
            <a:avLst>
              <a:gd name="adj" fmla="val 4667"/>
            </a:avLst>
          </a:prstGeom>
          <a:solidFill>
            <a:srgbClr val="FFFFFF">
              <a:alpha val="12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8" name="Text 5"/>
          <p:cNvSpPr txBox="1"/>
          <p:nvPr/>
        </p:nvSpPr>
        <p:spPr>
          <a:xfrm>
            <a:off x="1024127" y="2907792"/>
            <a:ext cx="2743201" cy="201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200" sz="1000">
                <a:solidFill>
                  <a:srgbClr val="F5A623"/>
                </a:solidFill>
              </a:defRPr>
            </a:lvl1pPr>
          </a:lstStyle>
          <a:p>
            <a:pPr/>
            <a:r>
              <a:t>LIVE DECISION WORKFLOW</a:t>
            </a:r>
          </a:p>
        </p:txBody>
      </p:sp>
      <p:sp>
        <p:nvSpPr>
          <p:cNvPr id="69" name="Text 6"/>
          <p:cNvSpPr txBox="1"/>
          <p:nvPr/>
        </p:nvSpPr>
        <p:spPr>
          <a:xfrm>
            <a:off x="1024127" y="3246120"/>
            <a:ext cx="5029201" cy="7912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Anvest parses natural-language intent, grounds answers in audited NSE/BSE filings, generates an editable multi-factor screen, and pipes winning stocks directly into strategy backtesting and paper trading.</a:t>
            </a:r>
          </a:p>
        </p:txBody>
      </p:sp>
      <p:sp>
        <p:nvSpPr>
          <p:cNvPr id="70" name="Shape 7"/>
          <p:cNvSpPr/>
          <p:nvPr/>
        </p:nvSpPr>
        <p:spPr>
          <a:xfrm>
            <a:off x="1024127" y="4224528"/>
            <a:ext cx="4114801" cy="475489"/>
          </a:xfrm>
          <a:prstGeom prst="roundRect">
            <a:avLst>
              <a:gd name="adj" fmla="val 19231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1" name="Text 8"/>
          <p:cNvSpPr txBox="1"/>
          <p:nvPr/>
        </p:nvSpPr>
        <p:spPr>
          <a:xfrm>
            <a:off x="1280160" y="4358449"/>
            <a:ext cx="3840480" cy="20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b="1" sz="1100">
                <a:solidFill>
                  <a:srgbClr val="0B0E26"/>
                </a:solidFill>
              </a:defRPr>
            </a:lvl1pPr>
          </a:lstStyle>
          <a:p>
            <a:pPr/>
            <a:r>
              <a:t>Launch Screener &amp; Backtest Workflow →</a:t>
            </a:r>
          </a:p>
        </p:txBody>
      </p:sp>
      <p:sp>
        <p:nvSpPr>
          <p:cNvPr id="72" name="Text 9"/>
          <p:cNvSpPr txBox="1"/>
          <p:nvPr/>
        </p:nvSpPr>
        <p:spPr>
          <a:xfrm>
            <a:off x="1024127" y="4892040"/>
            <a:ext cx="5029201" cy="20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i="1" sz="1100">
                <a:solidFill>
                  <a:srgbClr val="7C88B0"/>
                </a:solidFill>
              </a:defRPr>
            </a:lvl1pPr>
          </a:lstStyle>
          <a:p>
            <a:pPr/>
            <a:r>
              <a:t>AI translates the thesis. Deterministic engines compute every figure.</a:t>
            </a:r>
          </a:p>
        </p:txBody>
      </p:sp>
      <p:sp>
        <p:nvSpPr>
          <p:cNvPr id="73" name="Shape 10"/>
          <p:cNvSpPr/>
          <p:nvPr/>
        </p:nvSpPr>
        <p:spPr>
          <a:xfrm>
            <a:off x="6720840" y="1883664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4" name="Text 11"/>
          <p:cNvSpPr txBox="1"/>
          <p:nvPr/>
        </p:nvSpPr>
        <p:spPr>
          <a:xfrm>
            <a:off x="7022592" y="1783079"/>
            <a:ext cx="4526281" cy="21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Ask in plain English</a:t>
            </a:r>
          </a:p>
        </p:txBody>
      </p:sp>
      <p:sp>
        <p:nvSpPr>
          <p:cNvPr id="75" name="Text 12"/>
          <p:cNvSpPr txBox="1"/>
          <p:nvPr/>
        </p:nvSpPr>
        <p:spPr>
          <a:xfrm>
            <a:off x="7022592" y="2075688"/>
            <a:ext cx="4526281" cy="177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Query corporate filings, concalls, portfolio risk, or quant rules in one bar.</a:t>
            </a:r>
          </a:p>
        </p:txBody>
      </p:sp>
      <p:sp>
        <p:nvSpPr>
          <p:cNvPr id="76" name="Shape 13"/>
          <p:cNvSpPr/>
          <p:nvPr/>
        </p:nvSpPr>
        <p:spPr>
          <a:xfrm>
            <a:off x="6720840" y="2670048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7" name="Text 14"/>
          <p:cNvSpPr txBox="1"/>
          <p:nvPr/>
        </p:nvSpPr>
        <p:spPr>
          <a:xfrm>
            <a:off x="7022592" y="2569464"/>
            <a:ext cx="4526281" cy="21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Cited filing intelligence</a:t>
            </a:r>
          </a:p>
        </p:txBody>
      </p:sp>
      <p:sp>
        <p:nvSpPr>
          <p:cNvPr id="78" name="Text 15"/>
          <p:cNvSpPr txBox="1"/>
          <p:nvPr/>
        </p:nvSpPr>
        <p:spPr>
          <a:xfrm>
            <a:off x="7022592" y="2862072"/>
            <a:ext cx="4526281" cy="177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Every answer links directly to verified XBRL tables and corporate announcements.</a:t>
            </a:r>
          </a:p>
        </p:txBody>
      </p:sp>
      <p:sp>
        <p:nvSpPr>
          <p:cNvPr id="79" name="Shape 16"/>
          <p:cNvSpPr/>
          <p:nvPr/>
        </p:nvSpPr>
        <p:spPr>
          <a:xfrm>
            <a:off x="6720840" y="3456432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0" name="Text 17"/>
          <p:cNvSpPr txBox="1"/>
          <p:nvPr/>
        </p:nvSpPr>
        <p:spPr>
          <a:xfrm>
            <a:off x="7022592" y="3355847"/>
            <a:ext cx="4526281" cy="21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Dynamic AI stock screener</a:t>
            </a:r>
          </a:p>
        </p:txBody>
      </p:sp>
      <p:sp>
        <p:nvSpPr>
          <p:cNvPr id="81" name="Text 18"/>
          <p:cNvSpPr txBox="1"/>
          <p:nvPr/>
        </p:nvSpPr>
        <p:spPr>
          <a:xfrm>
            <a:off x="7022592" y="3648455"/>
            <a:ext cx="4526281" cy="177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Natural-language theses compile into editable screens across 6,137 companies.</a:t>
            </a:r>
          </a:p>
        </p:txBody>
      </p:sp>
      <p:sp>
        <p:nvSpPr>
          <p:cNvPr id="82" name="Shape 19"/>
          <p:cNvSpPr/>
          <p:nvPr/>
        </p:nvSpPr>
        <p:spPr>
          <a:xfrm>
            <a:off x="6720840" y="4242815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3" name="Text 20"/>
          <p:cNvSpPr txBox="1"/>
          <p:nvPr/>
        </p:nvSpPr>
        <p:spPr>
          <a:xfrm>
            <a:off x="7022592" y="4142232"/>
            <a:ext cx="4526281" cy="21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Backtesting &amp; paper trading</a:t>
            </a:r>
          </a:p>
        </p:txBody>
      </p:sp>
      <p:sp>
        <p:nvSpPr>
          <p:cNvPr id="84" name="Text 21"/>
          <p:cNvSpPr txBox="1"/>
          <p:nvPr/>
        </p:nvSpPr>
        <p:spPr>
          <a:xfrm>
            <a:off x="7022592" y="4434840"/>
            <a:ext cx="4526281" cy="177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Validate historical Sharpe, drawdowns, and virtual portfolios before risking capital.</a:t>
            </a:r>
          </a:p>
        </p:txBody>
      </p:sp>
      <p:sp>
        <p:nvSpPr>
          <p:cNvPr id="85" name="Shape 22"/>
          <p:cNvSpPr/>
          <p:nvPr/>
        </p:nvSpPr>
        <p:spPr>
          <a:xfrm>
            <a:off x="6720840" y="5029200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6" name="Text 23"/>
          <p:cNvSpPr txBox="1"/>
          <p:nvPr/>
        </p:nvSpPr>
        <p:spPr>
          <a:xfrm>
            <a:off x="7022592" y="4928615"/>
            <a:ext cx="4526281" cy="21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Portfolio X-Ray &amp; wealth engines</a:t>
            </a:r>
          </a:p>
        </p:txBody>
      </p:sp>
      <p:sp>
        <p:nvSpPr>
          <p:cNvPr id="87" name="Text 24"/>
          <p:cNvSpPr txBox="1"/>
          <p:nvPr/>
        </p:nvSpPr>
        <p:spPr>
          <a:xfrm>
            <a:off x="7022592" y="5221223"/>
            <a:ext cx="4526281" cy="354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Diagnose hidden sector exposures, simulate wealth goals, and size allocations.</a:t>
            </a:r>
          </a:p>
        </p:txBody>
      </p:sp>
      <p:sp>
        <p:nvSpPr>
          <p:cNvPr id="88" name="Shape 25"/>
          <p:cNvSpPr/>
          <p:nvPr/>
        </p:nvSpPr>
        <p:spPr>
          <a:xfrm>
            <a:off x="640080" y="5852159"/>
            <a:ext cx="10908793" cy="658369"/>
          </a:xfrm>
          <a:prstGeom prst="roundRect">
            <a:avLst>
              <a:gd name="adj" fmla="val 19444"/>
            </a:avLst>
          </a:prstGeom>
          <a:solidFill>
            <a:srgbClr val="FFFFFF">
              <a:alpha val="12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89" name="Text 26"/>
          <p:cNvSpPr txBox="1"/>
          <p:nvPr/>
        </p:nvSpPr>
        <p:spPr>
          <a:xfrm>
            <a:off x="1051560" y="6070854"/>
            <a:ext cx="10085832" cy="220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Anvest turns passive research into active, verified conviction—connecting discovery, validation, and allocation in seconds.</a:t>
            </a:r>
          </a:p>
        </p:txBody>
      </p:sp>
      <p:sp>
        <p:nvSpPr>
          <p:cNvPr id="90" name="THE AI EXPERIENCE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THE AI EXPERIENCE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1"/>
          <p:cNvSpPr txBox="1"/>
          <p:nvPr/>
        </p:nvSpPr>
        <p:spPr>
          <a:xfrm>
            <a:off x="640079" y="914400"/>
            <a:ext cx="10908794" cy="57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others miss: Research to algo execution</a:t>
            </a:r>
          </a:p>
        </p:txBody>
      </p:sp>
      <p:sp>
        <p:nvSpPr>
          <p:cNvPr id="93" name="Shape 2"/>
          <p:cNvSpPr/>
          <p:nvPr/>
        </p:nvSpPr>
        <p:spPr>
          <a:xfrm>
            <a:off x="640080" y="1965960"/>
            <a:ext cx="10908793" cy="1097281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4" name="Shape 3"/>
          <p:cNvSpPr/>
          <p:nvPr/>
        </p:nvSpPr>
        <p:spPr>
          <a:xfrm>
            <a:off x="932688" y="2203704"/>
            <a:ext cx="658369" cy="621793"/>
          </a:xfrm>
          <a:prstGeom prst="roundRect">
            <a:avLst>
              <a:gd name="adj" fmla="val 17647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5" name="Text 4"/>
          <p:cNvSpPr txBox="1"/>
          <p:nvPr/>
        </p:nvSpPr>
        <p:spPr>
          <a:xfrm>
            <a:off x="932688" y="2402672"/>
            <a:ext cx="658369" cy="223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900">
                <a:solidFill>
                  <a:srgbClr val="0B0E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96" name="Text 5"/>
          <p:cNvSpPr txBox="1"/>
          <p:nvPr/>
        </p:nvSpPr>
        <p:spPr>
          <a:xfrm>
            <a:off x="1810511" y="2103120"/>
            <a:ext cx="2834640" cy="198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150" sz="1000">
                <a:solidFill>
                  <a:srgbClr val="C97F0C"/>
                </a:solidFill>
              </a:defRPr>
            </a:lvl1pPr>
          </a:lstStyle>
          <a:p>
            <a:pPr/>
            <a:r>
              <a:t>DEEP FILING INTELLIGENCE</a:t>
            </a:r>
          </a:p>
        </p:txBody>
      </p:sp>
      <p:sp>
        <p:nvSpPr>
          <p:cNvPr id="97" name="Text 6"/>
          <p:cNvSpPr txBox="1"/>
          <p:nvPr/>
        </p:nvSpPr>
        <p:spPr>
          <a:xfrm>
            <a:off x="1810511" y="2432304"/>
            <a:ext cx="2834640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1E2761"/>
                </a:solidFill>
              </a:defRPr>
            </a:lvl1pPr>
          </a:lstStyle>
          <a:p>
            <a:pPr/>
            <a:r>
              <a:t>AI Research, Screener &amp; X-Ray</a:t>
            </a:r>
          </a:p>
        </p:txBody>
      </p:sp>
      <p:sp>
        <p:nvSpPr>
          <p:cNvPr id="98" name="Text 7"/>
          <p:cNvSpPr txBox="1"/>
          <p:nvPr/>
        </p:nvSpPr>
        <p:spPr>
          <a:xfrm>
            <a:off x="4766817" y="2315972"/>
            <a:ext cx="6446522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Instant cited Q&amp;A over 2.89M filings, natural-language stock screening, and Portfolio X-Ray diagnostics that expose hidden risks and earnings catalysts.</a:t>
            </a:r>
          </a:p>
        </p:txBody>
      </p:sp>
      <p:sp>
        <p:nvSpPr>
          <p:cNvPr id="99" name="Shape 8"/>
          <p:cNvSpPr/>
          <p:nvPr/>
        </p:nvSpPr>
        <p:spPr>
          <a:xfrm>
            <a:off x="640080" y="3200400"/>
            <a:ext cx="10908793" cy="1097281"/>
          </a:xfrm>
          <a:prstGeom prst="roundRect">
            <a:avLst>
              <a:gd name="adj" fmla="val 11667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0" name="Shape 9"/>
          <p:cNvSpPr/>
          <p:nvPr/>
        </p:nvSpPr>
        <p:spPr>
          <a:xfrm>
            <a:off x="932688" y="3438144"/>
            <a:ext cx="658369" cy="621793"/>
          </a:xfrm>
          <a:prstGeom prst="roundRect">
            <a:avLst>
              <a:gd name="adj" fmla="val 17647"/>
            </a:avLst>
          </a:prstGeom>
          <a:solidFill>
            <a:srgbClr val="4A3699"/>
          </a:solidFill>
          <a:ln w="12700">
            <a:solidFill>
              <a:srgbClr val="4A3699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1" name="Text 10"/>
          <p:cNvSpPr txBox="1"/>
          <p:nvPr/>
        </p:nvSpPr>
        <p:spPr>
          <a:xfrm>
            <a:off x="932688" y="3637112"/>
            <a:ext cx="658369" cy="223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02" name="Text 11"/>
          <p:cNvSpPr txBox="1"/>
          <p:nvPr/>
        </p:nvSpPr>
        <p:spPr>
          <a:xfrm>
            <a:off x="1810511" y="3337560"/>
            <a:ext cx="2834640" cy="198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150" sz="1000">
                <a:solidFill>
                  <a:srgbClr val="F5A623"/>
                </a:solidFill>
              </a:defRPr>
            </a:lvl1pPr>
          </a:lstStyle>
          <a:p>
            <a:pPr/>
            <a:r>
              <a:t>SYSTEMATIC QUANT ENGINE</a:t>
            </a:r>
          </a:p>
        </p:txBody>
      </p:sp>
      <p:sp>
        <p:nvSpPr>
          <p:cNvPr id="103" name="Text 12"/>
          <p:cNvSpPr txBox="1"/>
          <p:nvPr/>
        </p:nvSpPr>
        <p:spPr>
          <a:xfrm>
            <a:off x="1810511" y="3666744"/>
            <a:ext cx="2834640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Backtesting &amp; Paper Trading</a:t>
            </a:r>
          </a:p>
        </p:txBody>
      </p:sp>
      <p:sp>
        <p:nvSpPr>
          <p:cNvPr id="104" name="Text 13"/>
          <p:cNvSpPr txBox="1"/>
          <p:nvPr/>
        </p:nvSpPr>
        <p:spPr>
          <a:xfrm>
            <a:off x="4766817" y="3550411"/>
            <a:ext cx="6446522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Convert fundamental + technical rules into systematic strategies. Stress-test historical drawdowns, win rates, and live virtual portfolios seamlessly.</a:t>
            </a:r>
          </a:p>
        </p:txBody>
      </p:sp>
      <p:sp>
        <p:nvSpPr>
          <p:cNvPr id="105" name="Shape 14"/>
          <p:cNvSpPr/>
          <p:nvPr/>
        </p:nvSpPr>
        <p:spPr>
          <a:xfrm>
            <a:off x="640080" y="4434840"/>
            <a:ext cx="10908793" cy="1097281"/>
          </a:xfrm>
          <a:prstGeom prst="roundRect">
            <a:avLst>
              <a:gd name="adj" fmla="val 11667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6" name="Shape 15"/>
          <p:cNvSpPr/>
          <p:nvPr/>
        </p:nvSpPr>
        <p:spPr>
          <a:xfrm>
            <a:off x="932688" y="4672584"/>
            <a:ext cx="658369" cy="621793"/>
          </a:xfrm>
          <a:prstGeom prst="roundRect">
            <a:avLst>
              <a:gd name="adj" fmla="val 17647"/>
            </a:avLst>
          </a:prstGeom>
          <a:solidFill>
            <a:srgbClr val="4A3699"/>
          </a:solidFill>
          <a:ln w="12700">
            <a:solidFill>
              <a:srgbClr val="4A3699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7" name="Text 16"/>
          <p:cNvSpPr txBox="1"/>
          <p:nvPr/>
        </p:nvSpPr>
        <p:spPr>
          <a:xfrm>
            <a:off x="932688" y="4871552"/>
            <a:ext cx="658369" cy="223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08" name="Text 17"/>
          <p:cNvSpPr txBox="1"/>
          <p:nvPr/>
        </p:nvSpPr>
        <p:spPr>
          <a:xfrm>
            <a:off x="1810511" y="4572000"/>
            <a:ext cx="2834640" cy="198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150" sz="1000">
                <a:solidFill>
                  <a:srgbClr val="F5A623"/>
                </a:solidFill>
              </a:defRPr>
            </a:lvl1pPr>
          </a:lstStyle>
          <a:p>
            <a:pPr/>
            <a:r>
              <a:t>CAPITAL ALLOCATION SUITE</a:t>
            </a:r>
          </a:p>
        </p:txBody>
      </p:sp>
      <p:sp>
        <p:nvSpPr>
          <p:cNvPr id="109" name="Text 18"/>
          <p:cNvSpPr txBox="1"/>
          <p:nvPr/>
        </p:nvSpPr>
        <p:spPr>
          <a:xfrm>
            <a:off x="1810511" y="4901184"/>
            <a:ext cx="2834640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Wealth Planning &amp; Guides</a:t>
            </a:r>
          </a:p>
        </p:txBody>
      </p:sp>
      <p:sp>
        <p:nvSpPr>
          <p:cNvPr id="110" name="Text 19"/>
          <p:cNvSpPr txBox="1"/>
          <p:nvPr/>
        </p:nvSpPr>
        <p:spPr>
          <a:xfrm>
            <a:off x="4766817" y="4784852"/>
            <a:ext cx="6446522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Interactive retirement &amp; goal simulators, position calculators, and contextual learning guides that turn strategy insights into disciplined wealth creation.</a:t>
            </a:r>
          </a:p>
        </p:txBody>
      </p:sp>
      <p:sp>
        <p:nvSpPr>
          <p:cNvPr id="111" name="Shape 20"/>
          <p:cNvSpPr/>
          <p:nvPr/>
        </p:nvSpPr>
        <p:spPr>
          <a:xfrm>
            <a:off x="640080" y="5715000"/>
            <a:ext cx="10908793" cy="749809"/>
          </a:xfrm>
          <a:prstGeom prst="roundRect">
            <a:avLst>
              <a:gd name="adj" fmla="val 17073"/>
            </a:avLst>
          </a:prstGeom>
          <a:solidFill>
            <a:srgbClr val="FFFFFF">
              <a:alpha val="12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2" name="Text 21"/>
          <p:cNvSpPr txBox="1"/>
          <p:nvPr/>
        </p:nvSpPr>
        <p:spPr>
          <a:xfrm>
            <a:off x="1051560" y="5979413"/>
            <a:ext cx="10085832" cy="220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Competitors stop at static ratio tables or isolated charts. Anvest unifies fundamental truth, quant validation, and portfolio action.</a:t>
            </a:r>
          </a:p>
        </p:txBody>
      </p:sp>
      <p:sp>
        <p:nvSpPr>
          <p:cNvPr id="113" name="PRODUCT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PRODUCT ECOSYSTEM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1"/>
          <p:cNvSpPr txBox="1"/>
          <p:nvPr/>
        </p:nvSpPr>
        <p:spPr>
          <a:xfrm>
            <a:off x="640079" y="914400"/>
            <a:ext cx="10908794" cy="1159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moat is our Indian filings pipeline,</a:t>
            </a:r>
          </a:p>
          <a:p>
            <a: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not a generic LLM wrapper</a:t>
            </a:r>
          </a:p>
        </p:txBody>
      </p:sp>
      <p:sp>
        <p:nvSpPr>
          <p:cNvPr id="116" name="Shape 2"/>
          <p:cNvSpPr/>
          <p:nvPr/>
        </p:nvSpPr>
        <p:spPr>
          <a:xfrm>
            <a:off x="640080" y="2651760"/>
            <a:ext cx="2927668" cy="1371601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7" name="Text 3"/>
          <p:cNvSpPr txBox="1"/>
          <p:nvPr/>
        </p:nvSpPr>
        <p:spPr>
          <a:xfrm>
            <a:off x="968897" y="2788920"/>
            <a:ext cx="2514601" cy="411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32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6,137</a:t>
            </a:r>
          </a:p>
        </p:txBody>
      </p:sp>
      <p:sp>
        <p:nvSpPr>
          <p:cNvPr id="118" name="Text 4"/>
          <p:cNvSpPr txBox="1"/>
          <p:nvPr/>
        </p:nvSpPr>
        <p:spPr>
          <a:xfrm>
            <a:off x="914400" y="3364992"/>
            <a:ext cx="251460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7C88B0"/>
                </a:solidFill>
              </a:defRPr>
            </a:lvl1pPr>
          </a:lstStyle>
          <a:p>
            <a:pPr/>
            <a:r>
              <a:t>NSE/BSE symbols with full-universe XBRL and automated repair for malformed exchange filings</a:t>
            </a:r>
          </a:p>
        </p:txBody>
      </p:sp>
      <p:sp>
        <p:nvSpPr>
          <p:cNvPr id="119" name="Shape 5"/>
          <p:cNvSpPr/>
          <p:nvPr/>
        </p:nvSpPr>
        <p:spPr>
          <a:xfrm>
            <a:off x="3886200" y="2651760"/>
            <a:ext cx="3017521" cy="1371601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0" name="Text 6"/>
          <p:cNvSpPr txBox="1"/>
          <p:nvPr/>
        </p:nvSpPr>
        <p:spPr>
          <a:xfrm>
            <a:off x="4169297" y="2788920"/>
            <a:ext cx="2560321" cy="411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32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2.89M</a:t>
            </a:r>
          </a:p>
        </p:txBody>
      </p:sp>
      <p:sp>
        <p:nvSpPr>
          <p:cNvPr id="121" name="Text 7"/>
          <p:cNvSpPr txBox="1"/>
          <p:nvPr/>
        </p:nvSpPr>
        <p:spPr>
          <a:xfrm>
            <a:off x="4160520" y="3364992"/>
            <a:ext cx="265176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7C88B0"/>
                </a:solidFill>
              </a:defRPr>
            </a:lvl1pPr>
          </a:lstStyle>
          <a:p>
            <a:pPr/>
            <a:r>
              <a:t>corporate announcements indexed in our warehouse, with scanned small-cap PDFs OCR’d</a:t>
            </a:r>
          </a:p>
        </p:txBody>
      </p:sp>
      <p:sp>
        <p:nvSpPr>
          <p:cNvPr id="122" name="Shape 8"/>
          <p:cNvSpPr/>
          <p:nvPr/>
        </p:nvSpPr>
        <p:spPr>
          <a:xfrm>
            <a:off x="640080" y="4224528"/>
            <a:ext cx="3017521" cy="1371601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3" name="Text 9"/>
          <p:cNvSpPr txBox="1"/>
          <p:nvPr/>
        </p:nvSpPr>
        <p:spPr>
          <a:xfrm>
            <a:off x="923177" y="4361688"/>
            <a:ext cx="2560321" cy="411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32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1.35M</a:t>
            </a:r>
          </a:p>
        </p:txBody>
      </p:sp>
      <p:sp>
        <p:nvSpPr>
          <p:cNvPr id="124" name="Text 10"/>
          <p:cNvSpPr txBox="1"/>
          <p:nvPr/>
        </p:nvSpPr>
        <p:spPr>
          <a:xfrm>
            <a:off x="914400" y="4937760"/>
            <a:ext cx="251460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7C88B0"/>
                </a:solidFill>
              </a:defRPr>
            </a:lvl1pPr>
          </a:lstStyle>
          <a:p>
            <a:pPr/>
            <a:r>
              <a:t>domain-tuned vector embeddings refreshed daily via automated incremental pipelines</a:t>
            </a:r>
          </a:p>
        </p:txBody>
      </p:sp>
      <p:sp>
        <p:nvSpPr>
          <p:cNvPr id="125" name="Shape 11"/>
          <p:cNvSpPr/>
          <p:nvPr/>
        </p:nvSpPr>
        <p:spPr>
          <a:xfrm>
            <a:off x="3886200" y="4224528"/>
            <a:ext cx="3017521" cy="1371601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6" name="Text 12"/>
          <p:cNvSpPr txBox="1"/>
          <p:nvPr/>
        </p:nvSpPr>
        <p:spPr>
          <a:xfrm>
            <a:off x="4169297" y="4361688"/>
            <a:ext cx="2560321" cy="411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32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5,405</a:t>
            </a:r>
          </a:p>
        </p:txBody>
      </p:sp>
      <p:sp>
        <p:nvSpPr>
          <p:cNvPr id="127" name="Text 13"/>
          <p:cNvSpPr txBox="1"/>
          <p:nvPr/>
        </p:nvSpPr>
        <p:spPr>
          <a:xfrm>
            <a:off x="4160520" y="4937760"/>
            <a:ext cx="2514601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7C88B0"/>
                </a:solidFill>
              </a:defRPr>
            </a:lvl1pPr>
          </a:lstStyle>
          <a:p>
            <a:pPr/>
            <a:r>
              <a:t>institutional-grade company profiles synthesized directly from primary exchange filings</a:t>
            </a:r>
          </a:p>
        </p:txBody>
      </p:sp>
      <p:sp>
        <p:nvSpPr>
          <p:cNvPr id="128" name="Shape 14"/>
          <p:cNvSpPr/>
          <p:nvPr/>
        </p:nvSpPr>
        <p:spPr>
          <a:xfrm>
            <a:off x="7223759" y="2651760"/>
            <a:ext cx="4325113" cy="3035808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9" name="Text 15"/>
          <p:cNvSpPr txBox="1"/>
          <p:nvPr/>
        </p:nvSpPr>
        <p:spPr>
          <a:xfrm>
            <a:off x="7543800" y="2852928"/>
            <a:ext cx="3657600" cy="1234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pc="-80" sz="26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corpus and repair pipeline are the core asset.</a:t>
            </a:r>
          </a:p>
        </p:txBody>
      </p:sp>
      <p:sp>
        <p:nvSpPr>
          <p:cNvPr id="130" name="Text 16"/>
          <p:cNvSpPr txBox="1"/>
          <p:nvPr/>
        </p:nvSpPr>
        <p:spPr>
          <a:xfrm>
            <a:off x="7543800" y="4224528"/>
            <a:ext cx="365760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434B6B"/>
                </a:solidFill>
              </a:defRPr>
            </a:lvl1pPr>
          </a:lstStyle>
          <a:p>
            <a:pPr/>
            <a:r>
              <a:t>Automated ingestion, OCR, XBRL repair, and deterministic verification power every query.</a:t>
            </a:r>
          </a:p>
        </p:txBody>
      </p:sp>
      <p:sp>
        <p:nvSpPr>
          <p:cNvPr id="131" name="Shape 17"/>
          <p:cNvSpPr/>
          <p:nvPr/>
        </p:nvSpPr>
        <p:spPr>
          <a:xfrm>
            <a:off x="7543800" y="4828032"/>
            <a:ext cx="640081" cy="12701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2" name="Text 18"/>
          <p:cNvSpPr txBox="1"/>
          <p:nvPr/>
        </p:nvSpPr>
        <p:spPr>
          <a:xfrm>
            <a:off x="7543800" y="4956048"/>
            <a:ext cx="3657600" cy="594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i="1" sz="1000">
                <a:solidFill>
                  <a:srgbClr val="434B6B"/>
                </a:solidFill>
              </a:defRPr>
            </a:lvl1pPr>
          </a:lstStyle>
          <a:p>
            <a:pPr/>
            <a:r>
              <a:t>We solved hard Indian accounting quirks—mining annuals from Q4 filings and repairing post-FY23 XBRL context dates—creating a compounding data moat.</a:t>
            </a:r>
          </a:p>
        </p:txBody>
      </p:sp>
      <p:sp>
        <p:nvSpPr>
          <p:cNvPr id="133" name="Text 19"/>
          <p:cNvSpPr txBox="1"/>
          <p:nvPr/>
        </p:nvSpPr>
        <p:spPr>
          <a:xfrm>
            <a:off x="640079" y="5943600"/>
            <a:ext cx="10908794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i="1" sz="1200">
                <a:solidFill>
                  <a:srgbClr val="C9D3F0"/>
                </a:solidFill>
              </a:defRPr>
            </a:lvl1pPr>
          </a:lstStyle>
          <a:p>
            <a:pPr/>
            <a:r>
              <a:t>Engineered for institutional accuracy: zero numeric hallucination via deterministic calculation engines + full source citations.</a:t>
            </a:r>
          </a:p>
        </p:txBody>
      </p:sp>
      <p:sp>
        <p:nvSpPr>
          <p:cNvPr id="134" name="WHY THIS IS HARD TO COPY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PROPRIETARY DATA MOAT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1"/>
          <p:cNvSpPr txBox="1"/>
          <p:nvPr/>
        </p:nvSpPr>
        <p:spPr>
          <a:xfrm>
            <a:off x="640079" y="914400"/>
            <a:ext cx="10908794" cy="57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Winning the whitespace in Indian wealth-tech</a:t>
            </a:r>
          </a:p>
        </p:txBody>
      </p:sp>
      <p:sp>
        <p:nvSpPr>
          <p:cNvPr id="137" name="Shape 2"/>
          <p:cNvSpPr/>
          <p:nvPr/>
        </p:nvSpPr>
        <p:spPr>
          <a:xfrm>
            <a:off x="640080" y="2103120"/>
            <a:ext cx="2487168" cy="2730500"/>
          </a:xfrm>
          <a:prstGeom prst="roundRect">
            <a:avLst>
              <a:gd name="adj" fmla="val 5147"/>
            </a:avLst>
          </a:prstGeom>
          <a:solidFill>
            <a:srgbClr val="FFFFFF">
              <a:alpha val="6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8" name="Text 3"/>
          <p:cNvSpPr txBox="1"/>
          <p:nvPr/>
        </p:nvSpPr>
        <p:spPr>
          <a:xfrm>
            <a:off x="896111" y="2304288"/>
            <a:ext cx="2011680" cy="4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700"/>
              </a:lnSpc>
              <a:defRPr b="1" sz="1300">
                <a:solidFill>
                  <a:srgbClr val="7C88B0"/>
                </a:solidFill>
              </a:defRPr>
            </a:pPr>
            <a:r>
              <a:t>Legacy screeners,</a:t>
            </a:r>
          </a:p>
          <a:p>
            <a:pPr>
              <a:lnSpc>
                <a:spcPts val="1700"/>
              </a:lnSpc>
              <a:defRPr b="1" sz="1300">
                <a:solidFill>
                  <a:srgbClr val="7C88B0"/>
                </a:solidFill>
              </a:defRPr>
            </a:pPr>
            <a:r>
              <a:t>bolting on AI</a:t>
            </a:r>
          </a:p>
        </p:txBody>
      </p:sp>
      <p:sp>
        <p:nvSpPr>
          <p:cNvPr id="139" name="Text 4"/>
          <p:cNvSpPr txBox="1"/>
          <p:nvPr/>
        </p:nvSpPr>
        <p:spPr>
          <a:xfrm>
            <a:off x="896111" y="2926080"/>
            <a:ext cx="2011680" cy="777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00"/>
              </a:lnSpc>
              <a:defRPr sz="1200">
                <a:solidFill>
                  <a:srgbClr val="C9D3F0"/>
                </a:solidFill>
              </a:defRPr>
            </a:pPr>
            <a:r>
              <a:t>Screener.in</a:t>
            </a:r>
          </a:p>
          <a:p>
            <a:pPr>
              <a:lnSpc>
                <a:spcPts val="1600"/>
              </a:lnSpc>
              <a:defRPr sz="1200">
                <a:solidFill>
                  <a:srgbClr val="C9D3F0"/>
                </a:solidFill>
              </a:defRPr>
            </a:pPr>
            <a:r>
              <a:t>Trendlyne</a:t>
            </a:r>
          </a:p>
          <a:p>
            <a:pPr>
              <a:lnSpc>
                <a:spcPts val="1600"/>
              </a:lnSpc>
              <a:defRPr sz="1200">
                <a:solidFill>
                  <a:srgbClr val="C9D3F0"/>
                </a:solidFill>
              </a:defRPr>
            </a:pPr>
            <a:r>
              <a:t>Tickertape</a:t>
            </a:r>
          </a:p>
          <a:p>
            <a:pPr>
              <a:lnSpc>
                <a:spcPts val="1600"/>
              </a:lnSpc>
              <a:defRPr sz="1200">
                <a:solidFill>
                  <a:srgbClr val="C9D3F0"/>
                </a:solidFill>
              </a:defRPr>
            </a:pPr>
            <a:r>
              <a:t>StockEdge</a:t>
            </a:r>
          </a:p>
        </p:txBody>
      </p:sp>
      <p:sp>
        <p:nvSpPr>
          <p:cNvPr id="140" name="Text 5"/>
          <p:cNvSpPr txBox="1"/>
          <p:nvPr/>
        </p:nvSpPr>
        <p:spPr>
          <a:xfrm>
            <a:off x="896111" y="4096512"/>
            <a:ext cx="201168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i="1" sz="1200">
                <a:solidFill>
                  <a:srgbClr val="7C88B0"/>
                </a:solidFill>
              </a:defRPr>
            </a:lvl1pPr>
          </a:lstStyle>
          <a:p>
            <a:pPr/>
            <a:r>
              <a:t>Static ratio tables &amp; isolated Q&amp;A. No unified backtester.</a:t>
            </a:r>
          </a:p>
        </p:txBody>
      </p:sp>
      <p:sp>
        <p:nvSpPr>
          <p:cNvPr id="141" name="Shape 6"/>
          <p:cNvSpPr/>
          <p:nvPr/>
        </p:nvSpPr>
        <p:spPr>
          <a:xfrm>
            <a:off x="3310128" y="2103120"/>
            <a:ext cx="2487169" cy="2730500"/>
          </a:xfrm>
          <a:prstGeom prst="roundRect">
            <a:avLst>
              <a:gd name="adj" fmla="val 5147"/>
            </a:avLst>
          </a:prstGeom>
          <a:solidFill>
            <a:srgbClr val="FFFFFF">
              <a:alpha val="6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2" name="Text 7"/>
          <p:cNvSpPr txBox="1"/>
          <p:nvPr/>
        </p:nvSpPr>
        <p:spPr>
          <a:xfrm>
            <a:off x="3566159" y="2304288"/>
            <a:ext cx="2011680" cy="4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700"/>
              </a:lnSpc>
              <a:defRPr b="1" sz="1300">
                <a:solidFill>
                  <a:srgbClr val="7C88B0"/>
                </a:solidFill>
              </a:defRPr>
            </a:pPr>
            <a:r>
              <a:t>Quant &amp; tip silos,</a:t>
            </a:r>
          </a:p>
          <a:p>
            <a:pPr>
              <a:lnSpc>
                <a:spcPts val="1700"/>
              </a:lnSpc>
              <a:defRPr b="1" sz="1300">
                <a:solidFill>
                  <a:srgbClr val="7C88B0"/>
                </a:solidFill>
              </a:defRPr>
            </a:pPr>
            <a:r>
              <a:t>no filing truth</a:t>
            </a:r>
          </a:p>
        </p:txBody>
      </p:sp>
      <p:sp>
        <p:nvSpPr>
          <p:cNvPr id="143" name="Text 8"/>
          <p:cNvSpPr txBox="1"/>
          <p:nvPr/>
        </p:nvSpPr>
        <p:spPr>
          <a:xfrm>
            <a:off x="3566159" y="2926080"/>
            <a:ext cx="2011680" cy="777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00"/>
              </a:lnSpc>
              <a:defRPr sz="1200">
                <a:solidFill>
                  <a:srgbClr val="C9D3F0"/>
                </a:solidFill>
              </a:defRPr>
            </a:pPr>
            <a:r>
              <a:t>Streak / Tradetron</a:t>
            </a:r>
          </a:p>
          <a:p>
            <a:pPr>
              <a:lnSpc>
                <a:spcPts val="1600"/>
              </a:lnSpc>
              <a:defRPr sz="1200">
                <a:solidFill>
                  <a:srgbClr val="C9D3F0"/>
                </a:solidFill>
              </a:defRPr>
            </a:pPr>
            <a:r>
              <a:t>Telegram tip channels</a:t>
            </a:r>
          </a:p>
          <a:p>
            <a:pPr>
              <a:lnSpc>
                <a:spcPts val="1600"/>
              </a:lnSpc>
              <a:defRPr sz="1200">
                <a:solidFill>
                  <a:srgbClr val="C9D3F0"/>
                </a:solidFill>
              </a:defRPr>
            </a:pPr>
            <a:r>
              <a:t>Advisory apps</a:t>
            </a:r>
          </a:p>
        </p:txBody>
      </p:sp>
      <p:sp>
        <p:nvSpPr>
          <p:cNvPr id="144" name="Text 9"/>
          <p:cNvSpPr txBox="1"/>
          <p:nvPr/>
        </p:nvSpPr>
        <p:spPr>
          <a:xfrm>
            <a:off x="3566159" y="4096512"/>
            <a:ext cx="201168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i="1" sz="1200">
                <a:solidFill>
                  <a:srgbClr val="7C88B0"/>
                </a:solidFill>
              </a:defRPr>
            </a:lvl1pPr>
          </a:lstStyle>
          <a:p>
            <a:pPr/>
            <a:r>
              <a:t>Technical rules or calls disconnected from audited filings.</a:t>
            </a:r>
          </a:p>
        </p:txBody>
      </p:sp>
      <p:sp>
        <p:nvSpPr>
          <p:cNvPr id="145" name="Shape 10"/>
          <p:cNvSpPr/>
          <p:nvPr/>
        </p:nvSpPr>
        <p:spPr>
          <a:xfrm>
            <a:off x="5980176" y="2103120"/>
            <a:ext cx="2487169" cy="2730500"/>
          </a:xfrm>
          <a:prstGeom prst="roundRect">
            <a:avLst>
              <a:gd name="adj" fmla="val 5147"/>
            </a:avLst>
          </a:prstGeom>
          <a:solidFill>
            <a:srgbClr val="FFFFFF">
              <a:alpha val="6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6" name="Text 11"/>
          <p:cNvSpPr txBox="1"/>
          <p:nvPr/>
        </p:nvSpPr>
        <p:spPr>
          <a:xfrm>
            <a:off x="6236208" y="2304288"/>
            <a:ext cx="2011680" cy="429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700"/>
              </a:lnSpc>
              <a:defRPr b="1" sz="1300">
                <a:solidFill>
                  <a:srgbClr val="7C88B0"/>
                </a:solidFill>
              </a:defRPr>
            </a:pPr>
            <a:r>
              <a:t>Generic chatbots,</a:t>
            </a:r>
          </a:p>
          <a:p>
            <a:pPr>
              <a:lnSpc>
                <a:spcPts val="1700"/>
              </a:lnSpc>
              <a:defRPr b="1" sz="1300">
                <a:solidFill>
                  <a:srgbClr val="7C88B0"/>
                </a:solidFill>
              </a:defRPr>
            </a:pPr>
            <a:r>
              <a:t>no warehouse</a:t>
            </a:r>
          </a:p>
        </p:txBody>
      </p:sp>
      <p:sp>
        <p:nvSpPr>
          <p:cNvPr id="147" name="Text 12"/>
          <p:cNvSpPr txBox="1"/>
          <p:nvPr/>
        </p:nvSpPr>
        <p:spPr>
          <a:xfrm>
            <a:off x="6236208" y="2926080"/>
            <a:ext cx="2011680" cy="777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00"/>
              </a:lnSpc>
              <a:defRPr sz="1200">
                <a:solidFill>
                  <a:srgbClr val="C9D3F0"/>
                </a:solidFill>
              </a:defRPr>
            </a:pPr>
            <a:r>
              <a:t>ChatGPT &amp; Claude</a:t>
            </a:r>
            <a:br/>
            <a:r>
              <a:t/>
            </a:r>
            <a:br/>
            <a:r>
              <a:t/>
            </a:r>
          </a:p>
          <a:p>
            <a:r>
              <a:t>Perplexity &amp; Gemini</a:t>
            </a:r>
          </a:p>
        </p:txBody>
      </p:sp>
      <p:sp>
        <p:nvSpPr>
          <p:cNvPr id="148" name="Text 13"/>
          <p:cNvSpPr txBox="1"/>
          <p:nvPr/>
        </p:nvSpPr>
        <p:spPr>
          <a:xfrm>
            <a:off x="6236208" y="4096512"/>
            <a:ext cx="201168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i="1" sz="1200">
                <a:solidFill>
                  <a:srgbClr val="7C88B0"/>
                </a:solidFill>
              </a:defRPr>
            </a:lvl1pPr>
          </a:lstStyle>
          <a:p>
            <a:pPr/>
            <a:r>
              <a:t>Fluent prose but blind to Indian XBRL &amp; scanned PDFs.</a:t>
            </a:r>
          </a:p>
        </p:txBody>
      </p:sp>
      <p:sp>
        <p:nvSpPr>
          <p:cNvPr id="149" name="Shape 14"/>
          <p:cNvSpPr/>
          <p:nvPr/>
        </p:nvSpPr>
        <p:spPr>
          <a:xfrm>
            <a:off x="8650223" y="2103120"/>
            <a:ext cx="2898650" cy="2730500"/>
          </a:xfrm>
          <a:prstGeom prst="roundRect">
            <a:avLst>
              <a:gd name="adj" fmla="val 4688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0" name="Text 15"/>
          <p:cNvSpPr txBox="1"/>
          <p:nvPr/>
        </p:nvSpPr>
        <p:spPr>
          <a:xfrm>
            <a:off x="8906256" y="2286000"/>
            <a:ext cx="2377441" cy="274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83" sz="2000">
                <a:solidFill>
                  <a:srgbClr val="0B0E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Anvest</a:t>
            </a:r>
          </a:p>
        </p:txBody>
      </p:sp>
      <p:sp>
        <p:nvSpPr>
          <p:cNvPr id="151" name="Text 16"/>
          <p:cNvSpPr txBox="1"/>
          <p:nvPr/>
        </p:nvSpPr>
        <p:spPr>
          <a:xfrm>
            <a:off x="8924543" y="2697480"/>
            <a:ext cx="2377441" cy="1097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00"/>
              </a:lnSpc>
              <a:defRPr sz="1200">
                <a:solidFill>
                  <a:srgbClr val="3A2A00"/>
                </a:solidFill>
              </a:defRPr>
            </a:pPr>
            <a:r>
              <a:t>Plain-English AI workspace.</a:t>
            </a:r>
          </a:p>
          <a:p>
            <a:pPr>
              <a:lnSpc>
                <a:spcPts val="1600"/>
              </a:lnSpc>
              <a:defRPr sz="1200"/>
            </a:pPr>
            <a:r>
              <a:t>Unified XBRL research, screening, backtesting &amp; wealth planning.</a:t>
            </a:r>
          </a:p>
          <a:p>
            <a:pPr>
              <a:lnSpc>
                <a:spcPts val="1600"/>
              </a:lnSpc>
              <a:defRPr sz="1200">
                <a:solidFill>
                  <a:srgbClr val="3A2A00"/>
                </a:solidFill>
              </a:defRPr>
            </a:pPr>
            <a:r>
              <a:t>Ready for SEBI algo execution.</a:t>
            </a:r>
          </a:p>
        </p:txBody>
      </p:sp>
      <p:sp>
        <p:nvSpPr>
          <p:cNvPr id="152" name="Text 17"/>
          <p:cNvSpPr txBox="1"/>
          <p:nvPr/>
        </p:nvSpPr>
        <p:spPr>
          <a:xfrm>
            <a:off x="8924543" y="4096512"/>
            <a:ext cx="2377441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200">
                <a:solidFill>
                  <a:srgbClr val="3A2A00"/>
                </a:solidFill>
              </a:defRPr>
            </a:lvl1pPr>
          </a:lstStyle>
          <a:p>
            <a:pPr/>
            <a:r>
              <a:t>Cited filings + deterministic quant simulation.</a:t>
            </a:r>
          </a:p>
        </p:txBody>
      </p:sp>
      <p:sp>
        <p:nvSpPr>
          <p:cNvPr id="153" name="Shape 18"/>
          <p:cNvSpPr/>
          <p:nvPr/>
        </p:nvSpPr>
        <p:spPr>
          <a:xfrm>
            <a:off x="641603" y="5118476"/>
            <a:ext cx="10908794" cy="1108801"/>
          </a:xfrm>
          <a:prstGeom prst="roundRect">
            <a:avLst>
              <a:gd name="adj" fmla="val 11545"/>
            </a:avLst>
          </a:prstGeom>
          <a:solidFill>
            <a:srgbClr val="FFFFFF">
              <a:alpha val="12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4" name="Text 19"/>
          <p:cNvSpPr txBox="1"/>
          <p:nvPr/>
        </p:nvSpPr>
        <p:spPr>
          <a:xfrm>
            <a:off x="868756" y="5212080"/>
            <a:ext cx="10332720" cy="777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800"/>
              </a:lnSpc>
              <a:defRPr sz="1200">
                <a:solidFill>
                  <a:srgbClr val="FFFFFF"/>
                </a:solidFill>
              </a:defRPr>
            </a:pPr>
            <a:r>
              <a:t>Validated at both ends: Institutional Depth (AlphaSense: $7.5B valuation, $600M+ ARR) meets Indian Retail Scale (StockGro: $362M valuation, ₹2,500 Cr IPO DRHP). Anvest captures the whitespace uniting cited filing depth with systematic quant execution.</a:t>
            </a:r>
            <a:br/>
            <a:r>
              <a:t/>
            </a:r>
            <a:br/>
            <a:r>
              <a:t/>
            </a:r>
            <a:br/>
            <a:r>
              <a:t/>
            </a:r>
          </a:p>
        </p:txBody>
      </p:sp>
      <p:sp>
        <p:nvSpPr>
          <p:cNvPr id="155" name="Text 20"/>
          <p:cNvSpPr txBox="1"/>
          <p:nvPr/>
        </p:nvSpPr>
        <p:spPr>
          <a:xfrm>
            <a:off x="711824" y="6419088"/>
            <a:ext cx="10908793" cy="201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7C88B0"/>
                </a:solidFill>
              </a:defRPr>
            </a:lvl1pPr>
          </a:lstStyle>
          <a:p>
            <a:pPr/>
            <a:r>
              <a:t>Sources: AlphaSense $7.5B Press Release (Jun 2026) · StockGro Series B &amp; SEBI DRHP Filings (Dec 2025 – Sep 2026)</a:t>
            </a:r>
          </a:p>
        </p:txBody>
      </p:sp>
      <p:sp>
        <p:nvSpPr>
          <p:cNvPr id="156" name="THE GAP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COMPETITIVE ADVANTAGE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1"/>
          <p:cNvSpPr txBox="1"/>
          <p:nvPr/>
        </p:nvSpPr>
        <p:spPr>
          <a:xfrm>
            <a:off x="640079" y="914400"/>
            <a:ext cx="10908794" cy="57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Full platform live with zero-CAC organic pull</a:t>
            </a:r>
          </a:p>
        </p:txBody>
      </p:sp>
      <p:sp>
        <p:nvSpPr>
          <p:cNvPr id="159" name="Shape 2"/>
          <p:cNvSpPr/>
          <p:nvPr/>
        </p:nvSpPr>
        <p:spPr>
          <a:xfrm>
            <a:off x="640080" y="2103120"/>
            <a:ext cx="5349241" cy="3703321"/>
          </a:xfrm>
          <a:prstGeom prst="roundRect">
            <a:avLst>
              <a:gd name="adj" fmla="val 3457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0" name="Shape 3"/>
          <p:cNvSpPr/>
          <p:nvPr/>
        </p:nvSpPr>
        <p:spPr>
          <a:xfrm>
            <a:off x="1005839" y="2331720"/>
            <a:ext cx="1371601" cy="310897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 w="12700">
            <a:solidFill>
              <a:srgbClr val="3DD68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1" name="Text 4"/>
          <p:cNvSpPr txBox="1"/>
          <p:nvPr/>
        </p:nvSpPr>
        <p:spPr>
          <a:xfrm>
            <a:off x="1005839" y="2418632"/>
            <a:ext cx="13716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60" sz="1000">
                <a:solidFill>
                  <a:srgbClr val="04301E"/>
                </a:solidFill>
              </a:defRPr>
            </a:lvl1pPr>
          </a:lstStyle>
          <a:p>
            <a:pPr/>
            <a:r>
              <a:t>LIVE IN PROD</a:t>
            </a:r>
          </a:p>
        </p:txBody>
      </p:sp>
      <p:sp>
        <p:nvSpPr>
          <p:cNvPr id="162" name="Text 5"/>
          <p:cNvSpPr txBox="1"/>
          <p:nvPr/>
        </p:nvSpPr>
        <p:spPr>
          <a:xfrm>
            <a:off x="1005839" y="2834639"/>
            <a:ext cx="4617722" cy="1074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1700"/>
              </a:lnSpc>
              <a:buSzPct val="100000"/>
              <a:buChar char="•"/>
              <a:defRPr sz="1200">
                <a:solidFill>
                  <a:srgbClr val="C9D3F0"/>
                </a:solidFill>
              </a:defRPr>
            </a:pPr>
            <a:r>
              <a:t>Cited AI Filing Research, Natural-Language Screener &amp; Portfolio X-Ray</a:t>
            </a:r>
          </a:p>
          <a:p>
            <a:pPr marL="342900" indent="-342900">
              <a:lnSpc>
                <a:spcPts val="1700"/>
              </a:lnSpc>
              <a:buSzPct val="100000"/>
              <a:buChar char="•"/>
              <a:defRPr sz="1200">
                <a:solidFill>
                  <a:srgbClr val="C9D3F0"/>
                </a:solidFill>
              </a:defRPr>
            </a:pPr>
            <a:r>
              <a:t>Multi-Factor Strategy Backtesting with Sharpe &amp; Drawdown Metrics</a:t>
            </a:r>
          </a:p>
          <a:p>
            <a:pPr marL="342900" indent="-342900">
              <a:lnSpc>
                <a:spcPts val="1700"/>
              </a:lnSpc>
              <a:buSzPct val="100000"/>
              <a:buChar char="•"/>
              <a:defRPr sz="1200">
                <a:solidFill>
                  <a:srgbClr val="C9D3F0"/>
                </a:solidFill>
              </a:defRPr>
            </a:pPr>
            <a:r>
              <a:t>Real-Time Virtual Paper Trading &amp; Strategy Execution Journal</a:t>
            </a:r>
          </a:p>
          <a:p>
            <a:pPr marL="342900" indent="-342900">
              <a:lnSpc>
                <a:spcPts val="1700"/>
              </a:lnSpc>
              <a:buSzPct val="100000"/>
              <a:buChar char="•"/>
              <a:defRPr sz="1200">
                <a:solidFill>
                  <a:srgbClr val="C9D3F0"/>
                </a:solidFill>
              </a:defRPr>
            </a:pPr>
            <a:r>
              <a:t>Interactive Wealth Goal Planners, Calculators &amp; Decision Guides</a:t>
            </a:r>
          </a:p>
          <a:p>
            <a:pPr marL="342900" indent="-342900">
              <a:lnSpc>
                <a:spcPts val="1700"/>
              </a:lnSpc>
              <a:buSzPct val="100000"/>
              <a:buChar char="•"/>
              <a:defRPr sz="1200">
                <a:solidFill>
                  <a:srgbClr val="C9D3F0"/>
                </a:solidFill>
              </a:defRPr>
            </a:pPr>
            <a:r>
              <a:t>Full-Universe NSE/BSE Warehouse (6,137 Firms, 2.89M Docs, OCR)</a:t>
            </a:r>
          </a:p>
        </p:txBody>
      </p:sp>
      <p:sp>
        <p:nvSpPr>
          <p:cNvPr id="163" name="Shape 6"/>
          <p:cNvSpPr/>
          <p:nvPr/>
        </p:nvSpPr>
        <p:spPr>
          <a:xfrm>
            <a:off x="1005839" y="4936896"/>
            <a:ext cx="4617722" cy="12701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4" name="Text 7"/>
          <p:cNvSpPr txBox="1"/>
          <p:nvPr/>
        </p:nvSpPr>
        <p:spPr>
          <a:xfrm>
            <a:off x="1005839" y="5120640"/>
            <a:ext cx="461772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i="1" sz="1200">
                <a:solidFill>
                  <a:srgbClr val="7C88B0"/>
                </a:solidFill>
              </a:defRPr>
            </a:lvl1pPr>
          </a:lstStyle>
          <a:p>
            <a:pPr/>
            <a:r>
              <a:t>Built and shipped solo in 12 months with $0 outside capital—demonstrating top-decile engineering velocity.</a:t>
            </a:r>
          </a:p>
        </p:txBody>
      </p:sp>
      <p:sp>
        <p:nvSpPr>
          <p:cNvPr id="165" name="Shape 8"/>
          <p:cNvSpPr/>
          <p:nvPr/>
        </p:nvSpPr>
        <p:spPr>
          <a:xfrm>
            <a:off x="6482784" y="2103120"/>
            <a:ext cx="5102353" cy="3703321"/>
          </a:xfrm>
          <a:prstGeom prst="roundRect">
            <a:avLst>
              <a:gd name="adj" fmla="val 3457"/>
            </a:avLst>
          </a:prstGeom>
          <a:solidFill>
            <a:srgbClr val="FFFFFF">
              <a:alpha val="6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6" name="Shape 9"/>
          <p:cNvSpPr/>
          <p:nvPr/>
        </p:nvSpPr>
        <p:spPr>
          <a:xfrm>
            <a:off x="6812280" y="2331720"/>
            <a:ext cx="1828801" cy="310897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67" name="Text 10"/>
          <p:cNvSpPr txBox="1"/>
          <p:nvPr/>
        </p:nvSpPr>
        <p:spPr>
          <a:xfrm>
            <a:off x="6812280" y="2418632"/>
            <a:ext cx="1828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60" sz="1000">
                <a:solidFill>
                  <a:srgbClr val="0B0E26"/>
                </a:solidFill>
              </a:defRPr>
            </a:lvl1pPr>
          </a:lstStyle>
          <a:p>
            <a:pPr/>
            <a:r>
              <a:t>MOMENTUM</a:t>
            </a:r>
          </a:p>
        </p:txBody>
      </p:sp>
      <p:sp>
        <p:nvSpPr>
          <p:cNvPr id="168" name="Text 11"/>
          <p:cNvSpPr txBox="1"/>
          <p:nvPr/>
        </p:nvSpPr>
        <p:spPr>
          <a:xfrm>
            <a:off x="6987830" y="2915687"/>
            <a:ext cx="1371601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5A623"/>
                </a:solidFill>
              </a:defRPr>
            </a:lvl1pPr>
          </a:lstStyle>
          <a:p>
            <a:pPr/>
            <a:r>
              <a:t>Organic pull</a:t>
            </a:r>
          </a:p>
        </p:txBody>
      </p:sp>
      <p:sp>
        <p:nvSpPr>
          <p:cNvPr id="169" name="Text 12"/>
          <p:cNvSpPr txBox="1"/>
          <p:nvPr/>
        </p:nvSpPr>
        <p:spPr>
          <a:xfrm>
            <a:off x="8275319" y="2880360"/>
            <a:ext cx="306324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1200">
                <a:solidFill>
                  <a:srgbClr val="C9D3F0"/>
                </a:solidFill>
              </a:defRPr>
            </a:lvl1pPr>
          </a:lstStyle>
          <a:p>
            <a:pPr/>
            <a:r>
              <a:t>100+ active early adopters acquired via pure word-of-mouth ($0 CAC) with multi-tool session depth.</a:t>
            </a:r>
          </a:p>
        </p:txBody>
      </p:sp>
      <p:sp>
        <p:nvSpPr>
          <p:cNvPr id="170" name="Text 15"/>
          <p:cNvSpPr txBox="1"/>
          <p:nvPr/>
        </p:nvSpPr>
        <p:spPr>
          <a:xfrm>
            <a:off x="6952720" y="3520251"/>
            <a:ext cx="1371601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5A623"/>
                </a:solidFill>
              </a:defRPr>
            </a:lvl1pPr>
          </a:lstStyle>
          <a:p>
            <a:pPr/>
            <a:r>
              <a:t>Pipeline moat</a:t>
            </a:r>
          </a:p>
        </p:txBody>
      </p:sp>
      <p:sp>
        <p:nvSpPr>
          <p:cNvPr id="171" name="Text 16"/>
          <p:cNvSpPr txBox="1"/>
          <p:nvPr/>
        </p:nvSpPr>
        <p:spPr>
          <a:xfrm>
            <a:off x="8240209" y="3484923"/>
            <a:ext cx="306324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1200">
                <a:solidFill>
                  <a:srgbClr val="C9D3F0"/>
                </a:solidFill>
              </a:defRPr>
            </a:lvl1pPr>
          </a:lstStyle>
          <a:p>
            <a:pPr/>
            <a:r>
              <a:t>Daily automated incremental indexing across 6,137 equities with deterministic numeric verification.</a:t>
            </a:r>
          </a:p>
        </p:txBody>
      </p:sp>
      <p:sp>
        <p:nvSpPr>
          <p:cNvPr id="172" name="Text 17"/>
          <p:cNvSpPr txBox="1"/>
          <p:nvPr/>
        </p:nvSpPr>
        <p:spPr>
          <a:xfrm>
            <a:off x="6952720" y="4178619"/>
            <a:ext cx="1371601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5A623"/>
                </a:solidFill>
              </a:defRPr>
            </a:lvl1pPr>
          </a:lstStyle>
          <a:p>
            <a:pPr/>
            <a:r>
              <a:t>Next 90 days</a:t>
            </a:r>
          </a:p>
        </p:txBody>
      </p:sp>
      <p:sp>
        <p:nvSpPr>
          <p:cNvPr id="173" name="Text 18"/>
          <p:cNvSpPr txBox="1"/>
          <p:nvPr/>
        </p:nvSpPr>
        <p:spPr>
          <a:xfrm>
            <a:off x="8240209" y="4143291"/>
            <a:ext cx="3063241" cy="335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1200">
                <a:solidFill>
                  <a:srgbClr val="C9D3F0"/>
                </a:solidFill>
              </a:defRPr>
            </a:lvl1pPr>
          </a:lstStyle>
          <a:p>
            <a:pPr/>
            <a:r>
              <a:t>Scaling paid B2B Desk &amp; Pro Quant cohorts; launching real-time filing &amp; strategy execution alerts.</a:t>
            </a:r>
          </a:p>
        </p:txBody>
      </p:sp>
      <p:sp>
        <p:nvSpPr>
          <p:cNvPr id="174" name="Text 19"/>
          <p:cNvSpPr txBox="1"/>
          <p:nvPr/>
        </p:nvSpPr>
        <p:spPr>
          <a:xfrm>
            <a:off x="6946370" y="5103953"/>
            <a:ext cx="4526281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i="1" sz="1200">
                <a:solidFill>
                  <a:srgbClr val="C9D3F0"/>
                </a:solidFill>
              </a:defRPr>
            </a:lvl1pPr>
          </a:lstStyle>
          <a:p>
            <a:pPr/>
            <a:r>
              <a:t>Immediate growth catalyst: Converting high-intent analyst desks and active quants into recurring ARR.</a:t>
            </a:r>
          </a:p>
        </p:txBody>
      </p:sp>
      <p:sp>
        <p:nvSpPr>
          <p:cNvPr id="175" name="WHERE WE ARE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TRACTION &amp; VELOCITY</a:t>
            </a:r>
          </a:p>
        </p:txBody>
      </p:sp>
      <p:sp>
        <p:nvSpPr>
          <p:cNvPr id="176" name="Shape 6"/>
          <p:cNvSpPr/>
          <p:nvPr/>
        </p:nvSpPr>
        <p:spPr>
          <a:xfrm>
            <a:off x="6725100" y="4936896"/>
            <a:ext cx="4617721" cy="12701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1"/>
          <p:cNvSpPr txBox="1"/>
          <p:nvPr/>
        </p:nvSpPr>
        <p:spPr>
          <a:xfrm>
            <a:off x="640079" y="914400"/>
            <a:ext cx="10908794" cy="1159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 compounding workflow loop</a:t>
            </a:r>
          </a:p>
          <a:p>
            <a: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that drives daily retention &amp; LTV</a:t>
            </a:r>
          </a:p>
        </p:txBody>
      </p:sp>
      <p:sp>
        <p:nvSpPr>
          <p:cNvPr id="179" name="Text 2"/>
          <p:cNvSpPr txBox="1"/>
          <p:nvPr/>
        </p:nvSpPr>
        <p:spPr>
          <a:xfrm>
            <a:off x="640079" y="2651760"/>
            <a:ext cx="5120642" cy="826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sz="1400">
                <a:solidFill>
                  <a:srgbClr val="C9D3F0"/>
                </a:solidFill>
              </a:defRPr>
            </a:lvl1pPr>
          </a:lstStyle>
          <a:p>
            <a:pPr/>
            <a:r>
              <a:t>Every question on Anvest ignites an end-to-end decision workflow: an earnings inquiry flows into a live stock screen, historical strategy backtest, paper-trading journal, and portfolio allocation.</a:t>
            </a:r>
          </a:p>
        </p:txBody>
      </p:sp>
      <p:sp>
        <p:nvSpPr>
          <p:cNvPr id="180" name="Text 3"/>
          <p:cNvSpPr txBox="1"/>
          <p:nvPr/>
        </p:nvSpPr>
        <p:spPr>
          <a:xfrm>
            <a:off x="640079" y="3703320"/>
            <a:ext cx="5120642" cy="547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400">
                <a:solidFill>
                  <a:srgbClr val="F5A623"/>
                </a:solidFill>
              </a:defRPr>
            </a:lvl1pPr>
          </a:lstStyle>
          <a:p>
            <a:pPr/>
            <a:r>
              <a:t>High-Conviction Flywheel: Connecting fundamental truth with systematic simulation creates daily habit loops and superior paid conversion.</a:t>
            </a:r>
          </a:p>
        </p:txBody>
      </p:sp>
      <p:sp>
        <p:nvSpPr>
          <p:cNvPr id="181" name="Shape 4"/>
          <p:cNvSpPr/>
          <p:nvPr/>
        </p:nvSpPr>
        <p:spPr>
          <a:xfrm>
            <a:off x="640080" y="4572000"/>
            <a:ext cx="5120641" cy="1417320"/>
          </a:xfrm>
          <a:prstGeom prst="roundRect">
            <a:avLst>
              <a:gd name="adj" fmla="val 9032"/>
            </a:avLst>
          </a:prstGeom>
          <a:solidFill>
            <a:srgbClr val="FFFFFF">
              <a:alpha val="12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2" name="Text 5"/>
          <p:cNvSpPr txBox="1"/>
          <p:nvPr/>
        </p:nvSpPr>
        <p:spPr>
          <a:xfrm>
            <a:off x="960120" y="4754879"/>
            <a:ext cx="4480560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Dual-Engine Monetization: B2B Desk Seats + Pro/Quant SaaS.</a:t>
            </a:r>
          </a:p>
        </p:txBody>
      </p:sp>
      <p:sp>
        <p:nvSpPr>
          <p:cNvPr id="183" name="Text 6"/>
          <p:cNvSpPr txBox="1"/>
          <p:nvPr/>
        </p:nvSpPr>
        <p:spPr>
          <a:xfrm>
            <a:off x="960120" y="5230367"/>
            <a:ext cx="4480560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i="1" sz="1200">
                <a:solidFill>
                  <a:srgbClr val="C9D3F0"/>
                </a:solidFill>
              </a:defRPr>
            </a:lvl1pPr>
          </a:lstStyle>
          <a:p>
            <a:pPr/>
            <a:r>
              <a:t>Institutional analysts and active retail investors share the same core intelligence engine—compounding net dollar retention.</a:t>
            </a:r>
          </a:p>
        </p:txBody>
      </p:sp>
      <p:sp>
        <p:nvSpPr>
          <p:cNvPr id="184" name="Shape 7"/>
          <p:cNvSpPr/>
          <p:nvPr/>
        </p:nvSpPr>
        <p:spPr>
          <a:xfrm>
            <a:off x="6309359" y="2103120"/>
            <a:ext cx="5239513" cy="3886201"/>
          </a:xfrm>
          <a:prstGeom prst="roundRect">
            <a:avLst>
              <a:gd name="adj" fmla="val 3294"/>
            </a:avLst>
          </a:prstGeom>
          <a:solidFill>
            <a:srgbClr val="FFFFFF">
              <a:alpha val="6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5" name="Text 8"/>
          <p:cNvSpPr txBox="1"/>
          <p:nvPr/>
        </p:nvSpPr>
        <p:spPr>
          <a:xfrm>
            <a:off x="6629400" y="2331720"/>
            <a:ext cx="4114800" cy="218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50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Daily habit &amp; retention triggers</a:t>
            </a:r>
          </a:p>
        </p:txBody>
      </p:sp>
      <p:sp>
        <p:nvSpPr>
          <p:cNvPr id="186" name="Shape 9"/>
          <p:cNvSpPr/>
          <p:nvPr/>
        </p:nvSpPr>
        <p:spPr>
          <a:xfrm>
            <a:off x="6629400" y="2971800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7" name="Text 10"/>
          <p:cNvSpPr txBox="1"/>
          <p:nvPr/>
        </p:nvSpPr>
        <p:spPr>
          <a:xfrm>
            <a:off x="6912864" y="2880360"/>
            <a:ext cx="2926081" cy="213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Filing Research &amp; AI Screener</a:t>
            </a:r>
          </a:p>
        </p:txBody>
      </p:sp>
      <p:sp>
        <p:nvSpPr>
          <p:cNvPr id="188" name="Text 11"/>
          <p:cNvSpPr txBox="1"/>
          <p:nvPr/>
        </p:nvSpPr>
        <p:spPr>
          <a:xfrm>
            <a:off x="6912864" y="3136392"/>
            <a:ext cx="2926081" cy="20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Live earnings alerts, concall Q&amp;A &amp; dynamic screens</a:t>
            </a:r>
          </a:p>
        </p:txBody>
      </p:sp>
      <p:sp>
        <p:nvSpPr>
          <p:cNvPr id="189" name="Text 12"/>
          <p:cNvSpPr txBox="1"/>
          <p:nvPr/>
        </p:nvSpPr>
        <p:spPr>
          <a:xfrm>
            <a:off x="9966959" y="2898648"/>
            <a:ext cx="1371601" cy="204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700"/>
              </a:lnSpc>
              <a:defRPr b="1" spc="125" sz="1000">
                <a:solidFill>
                  <a:srgbClr val="F5A623"/>
                </a:solidFill>
              </a:defRPr>
            </a:lvl1pPr>
          </a:lstStyle>
          <a:p>
            <a:pPr/>
            <a:r>
              <a:t>DISCOVER</a:t>
            </a:r>
          </a:p>
        </p:txBody>
      </p:sp>
      <p:sp>
        <p:nvSpPr>
          <p:cNvPr id="190" name="Shape 13"/>
          <p:cNvSpPr/>
          <p:nvPr/>
        </p:nvSpPr>
        <p:spPr>
          <a:xfrm>
            <a:off x="6629400" y="3630167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1" name="Text 14"/>
          <p:cNvSpPr txBox="1"/>
          <p:nvPr/>
        </p:nvSpPr>
        <p:spPr>
          <a:xfrm>
            <a:off x="6912864" y="3538728"/>
            <a:ext cx="2926081" cy="213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Backtesting &amp; Paper Trading</a:t>
            </a:r>
          </a:p>
        </p:txBody>
      </p:sp>
      <p:sp>
        <p:nvSpPr>
          <p:cNvPr id="192" name="Text 15"/>
          <p:cNvSpPr txBox="1"/>
          <p:nvPr/>
        </p:nvSpPr>
        <p:spPr>
          <a:xfrm>
            <a:off x="6912864" y="3794759"/>
            <a:ext cx="2926081" cy="20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Stress-test factor rules &amp; track virtual portfolios</a:t>
            </a:r>
          </a:p>
        </p:txBody>
      </p:sp>
      <p:sp>
        <p:nvSpPr>
          <p:cNvPr id="193" name="Text 16"/>
          <p:cNvSpPr txBox="1"/>
          <p:nvPr/>
        </p:nvSpPr>
        <p:spPr>
          <a:xfrm>
            <a:off x="9966959" y="3557015"/>
            <a:ext cx="1371601" cy="204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700"/>
              </a:lnSpc>
              <a:defRPr b="1" spc="125" sz="1000">
                <a:solidFill>
                  <a:srgbClr val="F5A623"/>
                </a:solidFill>
              </a:defRPr>
            </a:lvl1pPr>
          </a:lstStyle>
          <a:p>
            <a:pPr/>
            <a:r>
              <a:t>VALIDATE</a:t>
            </a:r>
          </a:p>
        </p:txBody>
      </p:sp>
      <p:sp>
        <p:nvSpPr>
          <p:cNvPr id="194" name="Shape 17"/>
          <p:cNvSpPr/>
          <p:nvPr/>
        </p:nvSpPr>
        <p:spPr>
          <a:xfrm>
            <a:off x="6629400" y="4288535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5" name="Text 18"/>
          <p:cNvSpPr txBox="1"/>
          <p:nvPr/>
        </p:nvSpPr>
        <p:spPr>
          <a:xfrm>
            <a:off x="6912864" y="4197096"/>
            <a:ext cx="2926081" cy="213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Portfolio X-Ray &amp; Wealth Suite</a:t>
            </a:r>
          </a:p>
        </p:txBody>
      </p:sp>
      <p:sp>
        <p:nvSpPr>
          <p:cNvPr id="196" name="Text 19"/>
          <p:cNvSpPr txBox="1"/>
          <p:nvPr/>
        </p:nvSpPr>
        <p:spPr>
          <a:xfrm>
            <a:off x="6912864" y="4453128"/>
            <a:ext cx="2926081" cy="20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Diagnose risk exposures &amp; optimize goal allocations</a:t>
            </a:r>
          </a:p>
        </p:txBody>
      </p:sp>
      <p:sp>
        <p:nvSpPr>
          <p:cNvPr id="197" name="Text 20"/>
          <p:cNvSpPr txBox="1"/>
          <p:nvPr/>
        </p:nvSpPr>
        <p:spPr>
          <a:xfrm>
            <a:off x="9966959" y="4215384"/>
            <a:ext cx="1371601" cy="204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700"/>
              </a:lnSpc>
              <a:defRPr b="1" spc="125" sz="1000">
                <a:solidFill>
                  <a:srgbClr val="F5A623"/>
                </a:solidFill>
              </a:defRPr>
            </a:lvl1pPr>
          </a:lstStyle>
          <a:p>
            <a:pPr/>
            <a:r>
              <a:t>ALLOCATE</a:t>
            </a:r>
          </a:p>
        </p:txBody>
      </p:sp>
      <p:sp>
        <p:nvSpPr>
          <p:cNvPr id="198" name="Shape 21"/>
          <p:cNvSpPr/>
          <p:nvPr/>
        </p:nvSpPr>
        <p:spPr>
          <a:xfrm>
            <a:off x="6629400" y="4946903"/>
            <a:ext cx="118873" cy="118873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9" name="Text 22"/>
          <p:cNvSpPr txBox="1"/>
          <p:nvPr/>
        </p:nvSpPr>
        <p:spPr>
          <a:xfrm>
            <a:off x="6912864" y="4855464"/>
            <a:ext cx="2926081" cy="213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Algo &amp; Broker API Readiness</a:t>
            </a:r>
          </a:p>
        </p:txBody>
      </p:sp>
      <p:sp>
        <p:nvSpPr>
          <p:cNvPr id="200" name="Text 23"/>
          <p:cNvSpPr txBox="1"/>
          <p:nvPr/>
        </p:nvSpPr>
        <p:spPr>
          <a:xfrm>
            <a:off x="6912864" y="5111496"/>
            <a:ext cx="2926081" cy="20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Convert validated rules into SEBI-compliant execution</a:t>
            </a:r>
          </a:p>
        </p:txBody>
      </p:sp>
      <p:sp>
        <p:nvSpPr>
          <p:cNvPr id="201" name="Text 24"/>
          <p:cNvSpPr txBox="1"/>
          <p:nvPr/>
        </p:nvSpPr>
        <p:spPr>
          <a:xfrm>
            <a:off x="9966959" y="4873752"/>
            <a:ext cx="1371601" cy="204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700"/>
              </a:lnSpc>
              <a:defRPr b="1" spc="125" sz="1000">
                <a:solidFill>
                  <a:srgbClr val="F5A623"/>
                </a:solidFill>
              </a:defRPr>
            </a:lvl1pPr>
          </a:lstStyle>
          <a:p>
            <a:pPr/>
            <a:r>
              <a:t>EXECUTE</a:t>
            </a:r>
          </a:p>
        </p:txBody>
      </p:sp>
      <p:sp>
        <p:nvSpPr>
          <p:cNvPr id="202" name="Shape 25"/>
          <p:cNvSpPr/>
          <p:nvPr/>
        </p:nvSpPr>
        <p:spPr>
          <a:xfrm>
            <a:off x="6629400" y="5503824"/>
            <a:ext cx="4617721" cy="12701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3" name="Text 26"/>
          <p:cNvSpPr txBox="1"/>
          <p:nvPr/>
        </p:nvSpPr>
        <p:spPr>
          <a:xfrm>
            <a:off x="6629400" y="5632703"/>
            <a:ext cx="4617721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i="1" sz="1200">
                <a:solidFill>
                  <a:srgbClr val="7C88B0"/>
                </a:solidFill>
              </a:defRPr>
            </a:lvl1pPr>
          </a:lstStyle>
          <a:p>
            <a:pPr/>
            <a:r>
              <a:t>Cross-workflow lock-in creates a moat no single-point screener or chatbot can match.</a:t>
            </a:r>
          </a:p>
        </p:txBody>
      </p:sp>
      <p:sp>
        <p:nvSpPr>
          <p:cNvPr id="204" name="THE PRODUCT THESIS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THE PRODUCT FLYWHEEL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1"/>
          <p:cNvSpPr txBox="1"/>
          <p:nvPr/>
        </p:nvSpPr>
        <p:spPr>
          <a:xfrm>
            <a:off x="640079" y="914400"/>
            <a:ext cx="10908794" cy="1159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 massive Indian capital market at</a:t>
            </a:r>
          </a:p>
          <a:p>
            <a: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an AI &amp; algorithmic inflection point</a:t>
            </a:r>
          </a:p>
        </p:txBody>
      </p:sp>
      <p:sp>
        <p:nvSpPr>
          <p:cNvPr id="207" name="Shape 2"/>
          <p:cNvSpPr/>
          <p:nvPr/>
        </p:nvSpPr>
        <p:spPr>
          <a:xfrm>
            <a:off x="640080" y="2651760"/>
            <a:ext cx="3017521" cy="1371601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08" name="Text 3"/>
          <p:cNvSpPr txBox="1"/>
          <p:nvPr/>
        </p:nvSpPr>
        <p:spPr>
          <a:xfrm>
            <a:off x="879289" y="2788920"/>
            <a:ext cx="2560321" cy="411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32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13.4 Cr</a:t>
            </a:r>
          </a:p>
        </p:txBody>
      </p:sp>
      <p:sp>
        <p:nvSpPr>
          <p:cNvPr id="209" name="Text 4"/>
          <p:cNvSpPr txBox="1"/>
          <p:nvPr/>
        </p:nvSpPr>
        <p:spPr>
          <a:xfrm>
            <a:off x="914400" y="3364992"/>
            <a:ext cx="251460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7C88B0"/>
                </a:solidFill>
              </a:defRPr>
            </a:lvl1pPr>
          </a:lstStyle>
          <a:p>
            <a:pPr/>
            <a:r>
              <a:t>registered NSE investors (2026), with 4.6 Cr active clients seeking institutional edge</a:t>
            </a:r>
          </a:p>
        </p:txBody>
      </p:sp>
      <p:sp>
        <p:nvSpPr>
          <p:cNvPr id="210" name="Shape 5"/>
          <p:cNvSpPr/>
          <p:nvPr/>
        </p:nvSpPr>
        <p:spPr>
          <a:xfrm>
            <a:off x="3886200" y="2651760"/>
            <a:ext cx="3017521" cy="1371601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1" name="Text 6"/>
          <p:cNvSpPr txBox="1"/>
          <p:nvPr/>
        </p:nvSpPr>
        <p:spPr>
          <a:xfrm>
            <a:off x="4125409" y="2788920"/>
            <a:ext cx="2560321" cy="411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32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67%+</a:t>
            </a:r>
          </a:p>
        </p:txBody>
      </p:sp>
      <p:sp>
        <p:nvSpPr>
          <p:cNvPr id="212" name="Text 7"/>
          <p:cNvSpPr txBox="1"/>
          <p:nvPr/>
        </p:nvSpPr>
        <p:spPr>
          <a:xfrm>
            <a:off x="4160520" y="3364992"/>
            <a:ext cx="2514601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7C88B0"/>
                </a:solidFill>
              </a:defRPr>
            </a:lvl1pPr>
          </a:lstStyle>
          <a:p>
            <a:pPr/>
            <a:r>
              <a:t>of NSE equity derivatives &amp; 54% of cash volume now driven by algorithmic trading</a:t>
            </a:r>
          </a:p>
        </p:txBody>
      </p:sp>
      <p:sp>
        <p:nvSpPr>
          <p:cNvPr id="213" name="Shape 8"/>
          <p:cNvSpPr/>
          <p:nvPr/>
        </p:nvSpPr>
        <p:spPr>
          <a:xfrm>
            <a:off x="640080" y="4224528"/>
            <a:ext cx="3017521" cy="1371601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4" name="Text 9"/>
          <p:cNvSpPr txBox="1"/>
          <p:nvPr/>
        </p:nvSpPr>
        <p:spPr>
          <a:xfrm>
            <a:off x="879289" y="4361688"/>
            <a:ext cx="2560321" cy="411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32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3,900+</a:t>
            </a:r>
          </a:p>
        </p:txBody>
      </p:sp>
      <p:sp>
        <p:nvSpPr>
          <p:cNvPr id="215" name="Text 10"/>
          <p:cNvSpPr txBox="1"/>
          <p:nvPr/>
        </p:nvSpPr>
        <p:spPr>
          <a:xfrm>
            <a:off x="914400" y="4937760"/>
            <a:ext cx="2514600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7C88B0"/>
                </a:solidFill>
              </a:defRPr>
            </a:lvl1pPr>
          </a:lstStyle>
          <a:p>
            <a:pPr/>
            <a:r>
              <a:t>SEBI-registered Research Analysts (2,304), PMS (539) &amp; RIAs (1,057) as on Oct 2026</a:t>
            </a:r>
          </a:p>
        </p:txBody>
      </p:sp>
      <p:sp>
        <p:nvSpPr>
          <p:cNvPr id="216" name="Shape 11"/>
          <p:cNvSpPr/>
          <p:nvPr/>
        </p:nvSpPr>
        <p:spPr>
          <a:xfrm>
            <a:off x="3886200" y="4224528"/>
            <a:ext cx="3017521" cy="1371601"/>
          </a:xfrm>
          <a:prstGeom prst="roundRect">
            <a:avLst>
              <a:gd name="adj" fmla="val 933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7" name="Text 12"/>
          <p:cNvSpPr txBox="1"/>
          <p:nvPr/>
        </p:nvSpPr>
        <p:spPr>
          <a:xfrm>
            <a:off x="4125409" y="4361688"/>
            <a:ext cx="2560321" cy="411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32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$1.2B+</a:t>
            </a:r>
          </a:p>
        </p:txBody>
      </p:sp>
      <p:sp>
        <p:nvSpPr>
          <p:cNvPr id="218" name="Text 13"/>
          <p:cNvSpPr txBox="1"/>
          <p:nvPr/>
        </p:nvSpPr>
        <p:spPr>
          <a:xfrm>
            <a:off x="4160520" y="4937760"/>
            <a:ext cx="2514601" cy="502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200">
                <a:solidFill>
                  <a:srgbClr val="7C88B0"/>
                </a:solidFill>
              </a:defRPr>
            </a:lvl1pPr>
          </a:lstStyle>
          <a:p>
            <a:pPr/>
            <a:r>
              <a:t>addressable Indian research SaaS, quant backtesting, B2B desk &amp; broker-algo market</a:t>
            </a:r>
          </a:p>
        </p:txBody>
      </p:sp>
      <p:sp>
        <p:nvSpPr>
          <p:cNvPr id="219" name="Shape 14"/>
          <p:cNvSpPr/>
          <p:nvPr/>
        </p:nvSpPr>
        <p:spPr>
          <a:xfrm>
            <a:off x="7223759" y="2651760"/>
            <a:ext cx="4325113" cy="3035808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20" name="Text 15"/>
          <p:cNvSpPr txBox="1"/>
          <p:nvPr/>
        </p:nvSpPr>
        <p:spPr>
          <a:xfrm>
            <a:off x="7543800" y="2788920"/>
            <a:ext cx="3657600" cy="658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b="1" spc="-60" sz="19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High-ARPU institutional wedge + massive retail scale.</a:t>
            </a:r>
          </a:p>
        </p:txBody>
      </p:sp>
      <p:sp>
        <p:nvSpPr>
          <p:cNvPr id="221" name="Text 16"/>
          <p:cNvSpPr txBox="1"/>
          <p:nvPr/>
        </p:nvSpPr>
        <p:spPr>
          <a:xfrm>
            <a:off x="7543800" y="3611880"/>
            <a:ext cx="3657600" cy="1280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500"/>
              </a:lnSpc>
              <a:defRPr sz="1200">
                <a:solidFill>
                  <a:srgbClr val="434B6B"/>
                </a:solidFill>
              </a:defRPr>
            </a:pPr>
            <a:r>
              <a:t>Wedge 1: 3,900+ SEBI RAs, PMS desks &amp; RIAs needing automated filing synthesis at ₹2,999/seat/mo.</a:t>
            </a:r>
          </a:p>
          <a:p>
            <a:pPr>
              <a:lnSpc>
                <a:spcPts val="1500"/>
              </a:lnSpc>
              <a:defRPr sz="1200">
                <a:solidFill>
                  <a:srgbClr val="434B6B"/>
                </a:solidFill>
              </a:defRPr>
            </a:pPr>
            <a:r>
              <a:t>Wedge 2: 8M+ monthly Screener visitors &amp; active traders upgrading to AI backtesting &amp; algo workflows.</a:t>
            </a:r>
          </a:p>
        </p:txBody>
      </p:sp>
      <p:sp>
        <p:nvSpPr>
          <p:cNvPr id="222" name="Shape 17"/>
          <p:cNvSpPr/>
          <p:nvPr/>
        </p:nvSpPr>
        <p:spPr>
          <a:xfrm>
            <a:off x="7543800" y="5074920"/>
            <a:ext cx="640081" cy="12701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23" name="Text 18"/>
          <p:cNvSpPr txBox="1"/>
          <p:nvPr/>
        </p:nvSpPr>
        <p:spPr>
          <a:xfrm>
            <a:off x="7543800" y="5193792"/>
            <a:ext cx="3657600" cy="411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i="1" sz="1200">
                <a:solidFill>
                  <a:srgbClr val="434B6B"/>
                </a:solidFill>
              </a:defRPr>
            </a:lvl1pPr>
          </a:lstStyle>
          <a:p>
            <a:pPr/>
            <a:r>
              <a:t>Why Now: SEBI’s April 2026 Retail Algo Framework formalizes white-box &amp; RA-verified algos.</a:t>
            </a:r>
          </a:p>
        </p:txBody>
      </p:sp>
      <p:sp>
        <p:nvSpPr>
          <p:cNvPr id="224" name="Text 19"/>
          <p:cNvSpPr txBox="1"/>
          <p:nvPr/>
        </p:nvSpPr>
        <p:spPr>
          <a:xfrm>
            <a:off x="640079" y="5943600"/>
            <a:ext cx="10908794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i="1" sz="1200">
                <a:solidFill>
                  <a:srgbClr val="C9D3F0"/>
                </a:solidFill>
              </a:defRPr>
            </a:lvl1pPr>
          </a:lstStyle>
          <a:p>
            <a:pPr/>
            <a:r>
              <a:t>Land with high-ticket professional desks and power users; expand into India’s default AI &amp; algo operating system.</a:t>
            </a:r>
          </a:p>
        </p:txBody>
      </p:sp>
      <p:sp>
        <p:nvSpPr>
          <p:cNvPr id="225" name="Text 20"/>
          <p:cNvSpPr txBox="1"/>
          <p:nvPr/>
        </p:nvSpPr>
        <p:spPr>
          <a:xfrm>
            <a:off x="640079" y="6382512"/>
            <a:ext cx="10908794" cy="201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7C88B0"/>
                </a:solidFill>
              </a:defRPr>
            </a:lvl1pPr>
          </a:lstStyle>
          <a:p>
            <a:pPr/>
            <a:r>
              <a:t>Sources: NSE Market Pulse (2025–2026) · SEBI Intermediary Directory (Oct 2026: 2,304 RAs, 539 PMS, 1,057 RIAs) · Similarweb</a:t>
            </a:r>
          </a:p>
        </p:txBody>
      </p:sp>
      <p:sp>
        <p:nvSpPr>
          <p:cNvPr id="226" name="THE AUDIENCE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MARKET SIZE &amp; WHY NOW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 1"/>
          <p:cNvSpPr txBox="1"/>
          <p:nvPr/>
        </p:nvSpPr>
        <p:spPr>
          <a:xfrm>
            <a:off x="640079" y="914400"/>
            <a:ext cx="10908794" cy="11592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Four compounding revenue engines</a:t>
            </a:r>
          </a:p>
          <a:p>
            <a: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with built-in organic distribution</a:t>
            </a:r>
          </a:p>
        </p:txBody>
      </p:sp>
      <p:sp>
        <p:nvSpPr>
          <p:cNvPr id="229" name="Shape 2"/>
          <p:cNvSpPr/>
          <p:nvPr/>
        </p:nvSpPr>
        <p:spPr>
          <a:xfrm>
            <a:off x="640080" y="2286000"/>
            <a:ext cx="10908793" cy="877825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30" name="Text 3"/>
          <p:cNvSpPr txBox="1"/>
          <p:nvPr/>
        </p:nvSpPr>
        <p:spPr>
          <a:xfrm>
            <a:off x="960119" y="2505455"/>
            <a:ext cx="822962" cy="253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50" sz="3000">
                <a:solidFill>
                  <a:srgbClr val="C97F0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31" name="Text 4"/>
          <p:cNvSpPr txBox="1"/>
          <p:nvPr/>
        </p:nvSpPr>
        <p:spPr>
          <a:xfrm>
            <a:off x="1874520" y="2432304"/>
            <a:ext cx="5029200" cy="21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400">
                <a:solidFill>
                  <a:srgbClr val="1E2761"/>
                </a:solidFill>
              </a:defRPr>
            </a:lvl1pPr>
          </a:lstStyle>
          <a:p>
            <a:pPr/>
            <a:r>
              <a:t>B2B Analyst, PMS &amp; Family Office Desks (₹2,999/seat/mo)</a:t>
            </a:r>
          </a:p>
        </p:txBody>
      </p:sp>
      <p:sp>
        <p:nvSpPr>
          <p:cNvPr id="232" name="Text 5"/>
          <p:cNvSpPr txBox="1"/>
          <p:nvPr/>
        </p:nvSpPr>
        <p:spPr>
          <a:xfrm>
            <a:off x="1874519" y="2761488"/>
            <a:ext cx="9326882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SEBI-registered analysts, boutique PMS desks, and wealth teams save 15+ hrs/week on manual filing review—delivering 10x ROI vs. ₹5L+/yr legacy terminals.</a:t>
            </a:r>
          </a:p>
        </p:txBody>
      </p:sp>
      <p:sp>
        <p:nvSpPr>
          <p:cNvPr id="233" name="Shape 6"/>
          <p:cNvSpPr/>
          <p:nvPr/>
        </p:nvSpPr>
        <p:spPr>
          <a:xfrm>
            <a:off x="640080" y="3255264"/>
            <a:ext cx="10908793" cy="877825"/>
          </a:xfrm>
          <a:prstGeom prst="roundRect">
            <a:avLst>
              <a:gd name="adj" fmla="val 1458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34" name="Text 7"/>
          <p:cNvSpPr txBox="1"/>
          <p:nvPr/>
        </p:nvSpPr>
        <p:spPr>
          <a:xfrm>
            <a:off x="960119" y="3474720"/>
            <a:ext cx="822962" cy="253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50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35" name="Text 8"/>
          <p:cNvSpPr txBox="1"/>
          <p:nvPr/>
        </p:nvSpPr>
        <p:spPr>
          <a:xfrm>
            <a:off x="1874520" y="3401567"/>
            <a:ext cx="5029200" cy="21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Programmatic Filing SEO (6,137 Zero-CAC Funnels)</a:t>
            </a:r>
          </a:p>
        </p:txBody>
      </p:sp>
      <p:sp>
        <p:nvSpPr>
          <p:cNvPr id="236" name="Text 9"/>
          <p:cNvSpPr txBox="1"/>
          <p:nvPr/>
        </p:nvSpPr>
        <p:spPr>
          <a:xfrm>
            <a:off x="1874519" y="3730752"/>
            <a:ext cx="9326882" cy="156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6,137 auto-generated company intelligence pages with cited XBRL &amp; concall synthesis capture high-intent organic search traffic that ratio tables miss.</a:t>
            </a:r>
          </a:p>
        </p:txBody>
      </p:sp>
      <p:sp>
        <p:nvSpPr>
          <p:cNvPr id="237" name="Shape 10"/>
          <p:cNvSpPr/>
          <p:nvPr/>
        </p:nvSpPr>
        <p:spPr>
          <a:xfrm>
            <a:off x="640080" y="4224528"/>
            <a:ext cx="10908793" cy="877825"/>
          </a:xfrm>
          <a:prstGeom prst="roundRect">
            <a:avLst>
              <a:gd name="adj" fmla="val 1458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38" name="Text 11"/>
          <p:cNvSpPr txBox="1"/>
          <p:nvPr/>
        </p:nvSpPr>
        <p:spPr>
          <a:xfrm>
            <a:off x="960119" y="4443984"/>
            <a:ext cx="822962" cy="253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50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9" name="Text 12"/>
          <p:cNvSpPr txBox="1"/>
          <p:nvPr/>
        </p:nvSpPr>
        <p:spPr>
          <a:xfrm>
            <a:off x="1874520" y="4370832"/>
            <a:ext cx="5029200" cy="21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Retail Pro &amp; Quant Subscriptions (₹199 to ₹1,499/mo)</a:t>
            </a:r>
          </a:p>
        </p:txBody>
      </p:sp>
      <p:sp>
        <p:nvSpPr>
          <p:cNvPr id="240" name="Text 13"/>
          <p:cNvSpPr txBox="1"/>
          <p:nvPr/>
        </p:nvSpPr>
        <p:spPr>
          <a:xfrm>
            <a:off x="1874519" y="4700015"/>
            <a:ext cx="9326882" cy="156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Self-serve conversion across AI filing Q&amp;A, custom multi-factor screeners, Portfolio X-Ray diagnostics, historical backtesting, and paper trading.</a:t>
            </a:r>
          </a:p>
        </p:txBody>
      </p:sp>
      <p:sp>
        <p:nvSpPr>
          <p:cNvPr id="241" name="Shape 14"/>
          <p:cNvSpPr/>
          <p:nvPr/>
        </p:nvSpPr>
        <p:spPr>
          <a:xfrm>
            <a:off x="640080" y="5193791"/>
            <a:ext cx="10908793" cy="877825"/>
          </a:xfrm>
          <a:prstGeom prst="roundRect">
            <a:avLst>
              <a:gd name="adj" fmla="val 1458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42" name="Text 15"/>
          <p:cNvSpPr txBox="1"/>
          <p:nvPr/>
        </p:nvSpPr>
        <p:spPr>
          <a:xfrm>
            <a:off x="960119" y="5413247"/>
            <a:ext cx="822962" cy="2534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50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43" name="Text 16"/>
          <p:cNvSpPr txBox="1"/>
          <p:nvPr/>
        </p:nvSpPr>
        <p:spPr>
          <a:xfrm>
            <a:off x="1874520" y="5340096"/>
            <a:ext cx="5029200" cy="217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Broker Algo Routing, Creator Affiliates &amp; B2B2C Data APIs</a:t>
            </a:r>
          </a:p>
        </p:txBody>
      </p:sp>
      <p:sp>
        <p:nvSpPr>
          <p:cNvPr id="244" name="Text 17"/>
          <p:cNvSpPr txBox="1"/>
          <p:nvPr/>
        </p:nvSpPr>
        <p:spPr>
          <a:xfrm>
            <a:off x="1874519" y="5669279"/>
            <a:ext cx="9326882" cy="1568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SEBI-compliant educator partnerships drive referrals, while broker API strategy execution and B2B2C XBRL API licensing unlock high-margin platform revenue.</a:t>
            </a:r>
          </a:p>
        </p:txBody>
      </p:sp>
      <p:sp>
        <p:nvSpPr>
          <p:cNvPr id="245" name="Text 18"/>
          <p:cNvSpPr txBox="1"/>
          <p:nvPr/>
        </p:nvSpPr>
        <p:spPr>
          <a:xfrm>
            <a:off x="640079" y="6263640"/>
            <a:ext cx="10908794" cy="204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000">
                <a:solidFill>
                  <a:srgbClr val="C9D3F0"/>
                </a:solidFill>
              </a:defRPr>
            </a:lvl1pPr>
          </a:lstStyle>
          <a:p>
            <a:pPr/>
            <a:r>
              <a:t>Pricing Architecture:  Free  ·  Plus ₹199/mo  ·  Pro ₹599/mo (₹4,999/yr)  ·  Quant/Algo ₹1,499/mo  ·  Desk ₹2,999/seat/mo  ·  Enterprise API</a:t>
            </a:r>
          </a:p>
        </p:txBody>
      </p:sp>
      <p:sp>
        <p:nvSpPr>
          <p:cNvPr id="246" name="HOW WE GET USERS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BUSINESS MODEL &amp; GTM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1"/>
          <p:cNvSpPr txBox="1"/>
          <p:nvPr/>
        </p:nvSpPr>
        <p:spPr>
          <a:xfrm>
            <a:off x="640079" y="914400"/>
            <a:ext cx="10908794" cy="57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From AI research to India’s premier algo hub</a:t>
            </a:r>
          </a:p>
        </p:txBody>
      </p:sp>
      <p:sp>
        <p:nvSpPr>
          <p:cNvPr id="249" name="Shape 2"/>
          <p:cNvSpPr/>
          <p:nvPr/>
        </p:nvSpPr>
        <p:spPr>
          <a:xfrm>
            <a:off x="640080" y="1965960"/>
            <a:ext cx="10908793" cy="1097281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0" name="Shape 3"/>
          <p:cNvSpPr/>
          <p:nvPr/>
        </p:nvSpPr>
        <p:spPr>
          <a:xfrm>
            <a:off x="932688" y="2203704"/>
            <a:ext cx="658369" cy="621793"/>
          </a:xfrm>
          <a:prstGeom prst="roundRect">
            <a:avLst>
              <a:gd name="adj" fmla="val 17647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1" name="Text 4"/>
          <p:cNvSpPr txBox="1"/>
          <p:nvPr/>
        </p:nvSpPr>
        <p:spPr>
          <a:xfrm>
            <a:off x="932688" y="2402672"/>
            <a:ext cx="658369" cy="223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900">
                <a:solidFill>
                  <a:srgbClr val="0B0E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H1</a:t>
            </a:r>
          </a:p>
        </p:txBody>
      </p:sp>
      <p:sp>
        <p:nvSpPr>
          <p:cNvPr id="252" name="Text 5"/>
          <p:cNvSpPr txBox="1"/>
          <p:nvPr/>
        </p:nvSpPr>
        <p:spPr>
          <a:xfrm>
            <a:off x="1810511" y="2103120"/>
            <a:ext cx="2834640" cy="198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150" sz="1000">
                <a:solidFill>
                  <a:srgbClr val="C97F0C"/>
                </a:solidFill>
              </a:defRPr>
            </a:lvl1pPr>
          </a:lstStyle>
          <a:p>
            <a:pPr/>
            <a:r>
              <a:t>MONTHS 1–12: CORE SAAS &amp; RA</a:t>
            </a:r>
          </a:p>
        </p:txBody>
      </p:sp>
      <p:sp>
        <p:nvSpPr>
          <p:cNvPr id="253" name="Text 6"/>
          <p:cNvSpPr txBox="1"/>
          <p:nvPr/>
        </p:nvSpPr>
        <p:spPr>
          <a:xfrm>
            <a:off x="1810511" y="2432304"/>
            <a:ext cx="2834640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1E2761"/>
                </a:solidFill>
              </a:defRPr>
            </a:lvl1pPr>
          </a:lstStyle>
          <a:p>
            <a:pPr/>
            <a:r>
              <a:t>Scale Research &amp; Quant ARR</a:t>
            </a:r>
          </a:p>
        </p:txBody>
      </p:sp>
      <p:sp>
        <p:nvSpPr>
          <p:cNvPr id="254" name="Text 7"/>
          <p:cNvSpPr txBox="1"/>
          <p:nvPr/>
        </p:nvSpPr>
        <p:spPr>
          <a:xfrm>
            <a:off x="4649549" y="2315972"/>
            <a:ext cx="6446521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Scale B2B Desk seats and Retail Pro/Quant subscriptions. Complete SEBI Research Analyst (RA) registration, launch live filing alerts, and publish our benchmark.</a:t>
            </a:r>
          </a:p>
        </p:txBody>
      </p:sp>
      <p:sp>
        <p:nvSpPr>
          <p:cNvPr id="255" name="Shape 8"/>
          <p:cNvSpPr/>
          <p:nvPr/>
        </p:nvSpPr>
        <p:spPr>
          <a:xfrm>
            <a:off x="640080" y="3200400"/>
            <a:ext cx="10908793" cy="1097281"/>
          </a:xfrm>
          <a:prstGeom prst="roundRect">
            <a:avLst>
              <a:gd name="adj" fmla="val 11667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6" name="Shape 9"/>
          <p:cNvSpPr/>
          <p:nvPr/>
        </p:nvSpPr>
        <p:spPr>
          <a:xfrm>
            <a:off x="932688" y="3438144"/>
            <a:ext cx="658369" cy="621793"/>
          </a:xfrm>
          <a:prstGeom prst="roundRect">
            <a:avLst>
              <a:gd name="adj" fmla="val 17647"/>
            </a:avLst>
          </a:prstGeom>
          <a:solidFill>
            <a:srgbClr val="4A3699"/>
          </a:solidFill>
          <a:ln w="12700">
            <a:solidFill>
              <a:srgbClr val="4A3699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57" name="Text 10"/>
          <p:cNvSpPr txBox="1"/>
          <p:nvPr/>
        </p:nvSpPr>
        <p:spPr>
          <a:xfrm>
            <a:off x="932688" y="3637112"/>
            <a:ext cx="658369" cy="223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H2</a:t>
            </a:r>
          </a:p>
        </p:txBody>
      </p:sp>
      <p:sp>
        <p:nvSpPr>
          <p:cNvPr id="258" name="Text 11"/>
          <p:cNvSpPr txBox="1"/>
          <p:nvPr/>
        </p:nvSpPr>
        <p:spPr>
          <a:xfrm>
            <a:off x="1810511" y="3337560"/>
            <a:ext cx="2834640" cy="198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150" sz="1000">
                <a:solidFill>
                  <a:srgbClr val="F5A623"/>
                </a:solidFill>
              </a:defRPr>
            </a:lvl1pPr>
          </a:lstStyle>
          <a:p>
            <a:pPr/>
            <a:r>
              <a:t>MONTHS 9–18: ALGO EXECUTION</a:t>
            </a:r>
          </a:p>
        </p:txBody>
      </p:sp>
      <p:sp>
        <p:nvSpPr>
          <p:cNvPr id="259" name="Text 12"/>
          <p:cNvSpPr txBox="1"/>
          <p:nvPr/>
        </p:nvSpPr>
        <p:spPr>
          <a:xfrm>
            <a:off x="1810511" y="3666744"/>
            <a:ext cx="2834640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SEBI-Compliant Broker Algos</a:t>
            </a:r>
          </a:p>
        </p:txBody>
      </p:sp>
      <p:sp>
        <p:nvSpPr>
          <p:cNvPr id="260" name="Text 13"/>
          <p:cNvSpPr txBox="1"/>
          <p:nvPr/>
        </p:nvSpPr>
        <p:spPr>
          <a:xfrm>
            <a:off x="4649549" y="3550411"/>
            <a:ext cx="6446521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Capitalize on SEBI’s 2026 Retail Algo Framework: one-click deployment of backtested fundamental + quant strategies to broker APIs (white-box &amp; RA-verified).</a:t>
            </a:r>
          </a:p>
        </p:txBody>
      </p:sp>
      <p:sp>
        <p:nvSpPr>
          <p:cNvPr id="261" name="Shape 14"/>
          <p:cNvSpPr/>
          <p:nvPr/>
        </p:nvSpPr>
        <p:spPr>
          <a:xfrm>
            <a:off x="640080" y="4434840"/>
            <a:ext cx="10908793" cy="1097281"/>
          </a:xfrm>
          <a:prstGeom prst="roundRect">
            <a:avLst>
              <a:gd name="adj" fmla="val 11667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2" name="Shape 15"/>
          <p:cNvSpPr/>
          <p:nvPr/>
        </p:nvSpPr>
        <p:spPr>
          <a:xfrm>
            <a:off x="932688" y="4672584"/>
            <a:ext cx="658369" cy="621793"/>
          </a:xfrm>
          <a:prstGeom prst="roundRect">
            <a:avLst>
              <a:gd name="adj" fmla="val 17647"/>
            </a:avLst>
          </a:prstGeom>
          <a:solidFill>
            <a:srgbClr val="4A3699"/>
          </a:solidFill>
          <a:ln w="12700">
            <a:solidFill>
              <a:srgbClr val="4A3699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3" name="Text 16"/>
          <p:cNvSpPr txBox="1"/>
          <p:nvPr/>
        </p:nvSpPr>
        <p:spPr>
          <a:xfrm>
            <a:off x="932688" y="4871552"/>
            <a:ext cx="658369" cy="223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H3</a:t>
            </a:r>
          </a:p>
        </p:txBody>
      </p:sp>
      <p:sp>
        <p:nvSpPr>
          <p:cNvPr id="264" name="Text 17"/>
          <p:cNvSpPr txBox="1"/>
          <p:nvPr/>
        </p:nvSpPr>
        <p:spPr>
          <a:xfrm>
            <a:off x="1810511" y="4572000"/>
            <a:ext cx="2834640" cy="198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150" sz="1000">
                <a:solidFill>
                  <a:srgbClr val="F5A623"/>
                </a:solidFill>
              </a:defRPr>
            </a:lvl1pPr>
          </a:lstStyle>
          <a:p>
            <a:pPr/>
            <a:r>
              <a:t>MONTHS 18+: PLATFORM SCALE</a:t>
            </a:r>
          </a:p>
        </p:txBody>
      </p:sp>
      <p:sp>
        <p:nvSpPr>
          <p:cNvPr id="265" name="Text 18"/>
          <p:cNvSpPr txBox="1"/>
          <p:nvPr/>
        </p:nvSpPr>
        <p:spPr>
          <a:xfrm>
            <a:off x="1810511" y="4901184"/>
            <a:ext cx="2834640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B2B2C APIs &amp; Wealth Baskets</a:t>
            </a:r>
          </a:p>
        </p:txBody>
      </p:sp>
      <p:sp>
        <p:nvSpPr>
          <p:cNvPr id="266" name="Text 19"/>
          <p:cNvSpPr txBox="1"/>
          <p:nvPr/>
        </p:nvSpPr>
        <p:spPr>
          <a:xfrm>
            <a:off x="4649549" y="4784852"/>
            <a:ext cx="6446521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License Anvest’s cleaned XBRL/OCR intelligence API to brokers and fintechs, launch RA-backed systematic model portfolios, and expand to global markets.</a:t>
            </a:r>
          </a:p>
        </p:txBody>
      </p:sp>
      <p:sp>
        <p:nvSpPr>
          <p:cNvPr id="267" name="Shape 20"/>
          <p:cNvSpPr/>
          <p:nvPr/>
        </p:nvSpPr>
        <p:spPr>
          <a:xfrm>
            <a:off x="640080" y="5715000"/>
            <a:ext cx="10908793" cy="749809"/>
          </a:xfrm>
          <a:prstGeom prst="roundRect">
            <a:avLst>
              <a:gd name="adj" fmla="val 17073"/>
            </a:avLst>
          </a:prstGeom>
          <a:solidFill>
            <a:srgbClr val="FFFFFF">
              <a:alpha val="12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68" name="Text 21"/>
          <p:cNvSpPr txBox="1"/>
          <p:nvPr/>
        </p:nvSpPr>
        <p:spPr>
          <a:xfrm>
            <a:off x="1051560" y="5979413"/>
            <a:ext cx="10085832" cy="220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Strategic Edge: SEBI’s 2026 algo rules require RA registration &amp; research reports for black-box strategies—turning Anvest’s filing engine into an unfair algo moat.</a:t>
            </a:r>
          </a:p>
        </p:txBody>
      </p:sp>
      <p:sp>
        <p:nvSpPr>
          <p:cNvPr id="269" name="WHERE THIS GOES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ALGO TRADING &amp; VISION ROADMAP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 1"/>
          <p:cNvSpPr txBox="1"/>
          <p:nvPr/>
        </p:nvSpPr>
        <p:spPr>
          <a:xfrm>
            <a:off x="640079" y="914400"/>
            <a:ext cx="10908794" cy="57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Harsh Bhardwaj — 10x AI &amp; Data Execution</a:t>
            </a:r>
          </a:p>
        </p:txBody>
      </p:sp>
      <p:sp>
        <p:nvSpPr>
          <p:cNvPr id="272" name="Shape 2"/>
          <p:cNvSpPr/>
          <p:nvPr/>
        </p:nvSpPr>
        <p:spPr>
          <a:xfrm>
            <a:off x="640080" y="2103120"/>
            <a:ext cx="5349241" cy="3703321"/>
          </a:xfrm>
          <a:prstGeom prst="roundRect">
            <a:avLst>
              <a:gd name="adj" fmla="val 3457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3" name="Shape 3"/>
          <p:cNvSpPr/>
          <p:nvPr/>
        </p:nvSpPr>
        <p:spPr>
          <a:xfrm>
            <a:off x="1005839" y="2331720"/>
            <a:ext cx="1600201" cy="310897"/>
          </a:xfrm>
          <a:prstGeom prst="roundRect">
            <a:avLst>
              <a:gd name="adj" fmla="val 50000"/>
            </a:avLst>
          </a:prstGeom>
          <a:solidFill>
            <a:srgbClr val="3DD68C"/>
          </a:solidFill>
          <a:ln w="12700">
            <a:solidFill>
              <a:srgbClr val="3DD68C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4" name="Text 4"/>
          <p:cNvSpPr txBox="1"/>
          <p:nvPr/>
        </p:nvSpPr>
        <p:spPr>
          <a:xfrm>
            <a:off x="1005839" y="2418632"/>
            <a:ext cx="1600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60" sz="1000">
                <a:solidFill>
                  <a:srgbClr val="04301E"/>
                </a:solidFill>
              </a:defRPr>
            </a:lvl1pPr>
          </a:lstStyle>
          <a:p>
            <a:pPr/>
            <a:r>
              <a:t>TRACK RECORD</a:t>
            </a:r>
          </a:p>
        </p:txBody>
      </p:sp>
      <p:sp>
        <p:nvSpPr>
          <p:cNvPr id="275" name="Text 5"/>
          <p:cNvSpPr txBox="1"/>
          <p:nvPr/>
        </p:nvSpPr>
        <p:spPr>
          <a:xfrm>
            <a:off x="1005839" y="2834639"/>
            <a:ext cx="4617722" cy="1074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1700"/>
              </a:lnSpc>
              <a:buSzPct val="100000"/>
              <a:buChar char="•"/>
              <a:defRPr sz="1200">
                <a:solidFill>
                  <a:srgbClr val="C9D3F0"/>
                </a:solidFill>
              </a:defRPr>
            </a:pPr>
            <a:r>
              <a:t>B.Tech, ECE, IIT Guwahati (2015–19)</a:t>
            </a:r>
          </a:p>
          <a:p>
            <a:pPr marL="342900" indent="-342900">
              <a:lnSpc>
                <a:spcPts val="1700"/>
              </a:lnSpc>
              <a:buSzPct val="100000"/>
              <a:buChar char="•"/>
              <a:defRPr sz="1200">
                <a:solidFill>
                  <a:srgbClr val="C9D3F0"/>
                </a:solidFill>
              </a:defRPr>
            </a:pPr>
            <a:r>
              <a:t>Senior Engineering Lead at New Relic, architecting production agentic LLM systems</a:t>
            </a:r>
          </a:p>
          <a:p>
            <a:pPr marL="342900" indent="-342900">
              <a:lnSpc>
                <a:spcPts val="1700"/>
              </a:lnSpc>
              <a:buSzPct val="100000"/>
              <a:buChar char="•"/>
              <a:defRPr sz="1200">
                <a:solidFill>
                  <a:srgbClr val="C9D3F0"/>
                </a:solidFill>
              </a:defRPr>
            </a:pPr>
            <a:r>
              <a:t>7+ years building high-throughput distributed systems &amp; data pipelines</a:t>
            </a:r>
          </a:p>
          <a:p>
            <a:pPr marL="342900" indent="-342900">
              <a:lnSpc>
                <a:spcPts val="1700"/>
              </a:lnSpc>
              <a:buSzPct val="100000"/>
              <a:buChar char="•"/>
              <a:defRPr sz="1200">
                <a:solidFill>
                  <a:srgbClr val="C9D3F0"/>
                </a:solidFill>
              </a:defRPr>
            </a:pPr>
            <a:r>
              <a:t>Prior engineering leadership across Shiprocket, Weave &amp; Jaguar Land Rover</a:t>
            </a:r>
          </a:p>
          <a:p>
            <a:pPr marL="342900" indent="-342900">
              <a:lnSpc>
                <a:spcPts val="1700"/>
              </a:lnSpc>
              <a:buSzPct val="100000"/>
              <a:buChar char="•"/>
              <a:defRPr sz="1200">
                <a:solidFill>
                  <a:srgbClr val="C9D3F0"/>
                </a:solidFill>
              </a:defRPr>
            </a:pPr>
            <a:r>
              <a:t>Solo-built Anvest’s full XBRL/OCR lakehouse &amp; AI quant suite in 12 months</a:t>
            </a:r>
          </a:p>
        </p:txBody>
      </p:sp>
      <p:sp>
        <p:nvSpPr>
          <p:cNvPr id="276" name="Shape 6"/>
          <p:cNvSpPr/>
          <p:nvPr/>
        </p:nvSpPr>
        <p:spPr>
          <a:xfrm>
            <a:off x="1005839" y="4936896"/>
            <a:ext cx="4617722" cy="12701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7" name="Text 7"/>
          <p:cNvSpPr txBox="1"/>
          <p:nvPr/>
        </p:nvSpPr>
        <p:spPr>
          <a:xfrm>
            <a:off x="1005839" y="5120640"/>
            <a:ext cx="461772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defRPr i="1" sz="1200">
                <a:solidFill>
                  <a:srgbClr val="DDDDDD"/>
                </a:solidFill>
              </a:defRPr>
            </a:lvl1pPr>
          </a:lstStyle>
          <a:p>
            <a:pPr/>
            <a:r>
              <a:t>Zero outside capital to full production: rare founder-market fit uniting agentic AI and financial data engineering.</a:t>
            </a:r>
          </a:p>
        </p:txBody>
      </p:sp>
      <p:sp>
        <p:nvSpPr>
          <p:cNvPr id="278" name="Shape 8"/>
          <p:cNvSpPr/>
          <p:nvPr/>
        </p:nvSpPr>
        <p:spPr>
          <a:xfrm>
            <a:off x="6524244" y="2076658"/>
            <a:ext cx="5102353" cy="3703321"/>
          </a:xfrm>
          <a:prstGeom prst="roundRect">
            <a:avLst>
              <a:gd name="adj" fmla="val 3457"/>
            </a:avLst>
          </a:prstGeom>
          <a:solidFill>
            <a:srgbClr val="FFFFFF">
              <a:alpha val="6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9" name="Shape 9"/>
          <p:cNvSpPr/>
          <p:nvPr/>
        </p:nvSpPr>
        <p:spPr>
          <a:xfrm>
            <a:off x="6812280" y="2331720"/>
            <a:ext cx="2240281" cy="310897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0" name="Text 10"/>
          <p:cNvSpPr txBox="1"/>
          <p:nvPr/>
        </p:nvSpPr>
        <p:spPr>
          <a:xfrm>
            <a:off x="6812280" y="2418632"/>
            <a:ext cx="224028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60" sz="1000">
                <a:solidFill>
                  <a:srgbClr val="0B0E26"/>
                </a:solidFill>
              </a:defRPr>
            </a:lvl1pPr>
          </a:lstStyle>
          <a:p>
            <a:pPr/>
            <a:r>
              <a:t>HIGH-LEVERAGE TEAM PLAN</a:t>
            </a:r>
          </a:p>
        </p:txBody>
      </p:sp>
      <p:sp>
        <p:nvSpPr>
          <p:cNvPr id="281" name="Text 11"/>
          <p:cNvSpPr txBox="1"/>
          <p:nvPr/>
        </p:nvSpPr>
        <p:spPr>
          <a:xfrm>
            <a:off x="6812280" y="2834640"/>
            <a:ext cx="1371601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5A623"/>
                </a:solidFill>
              </a:defRPr>
            </a:lvl1pPr>
          </a:lstStyle>
          <a:p>
            <a:pPr/>
            <a:r>
              <a:t>Hires 1–2</a:t>
            </a:r>
          </a:p>
        </p:txBody>
      </p:sp>
      <p:sp>
        <p:nvSpPr>
          <p:cNvPr id="282" name="Text 12"/>
          <p:cNvSpPr txBox="1"/>
          <p:nvPr/>
        </p:nvSpPr>
        <p:spPr>
          <a:xfrm>
            <a:off x="8275319" y="2834640"/>
            <a:ext cx="3154680" cy="384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1100">
                <a:solidFill>
                  <a:srgbClr val="C9D3F0"/>
                </a:solidFill>
              </a:defRPr>
            </a:lvl1pPr>
          </a:lstStyle>
          <a:p>
            <a:pPr/>
            <a:r>
              <a:t>Founding B2B Growth Lead (PMS/RA Desks) + Senior Data &amp; Quant Engineer.</a:t>
            </a:r>
          </a:p>
        </p:txBody>
      </p:sp>
      <p:sp>
        <p:nvSpPr>
          <p:cNvPr id="283" name="Text 13"/>
          <p:cNvSpPr txBox="1"/>
          <p:nvPr/>
        </p:nvSpPr>
        <p:spPr>
          <a:xfrm>
            <a:off x="6812280" y="3364992"/>
            <a:ext cx="1371601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5A623"/>
                </a:solidFill>
              </a:defRPr>
            </a:lvl1pPr>
          </a:lstStyle>
          <a:p>
            <a:pPr/>
            <a:r>
              <a:t>Hire 3</a:t>
            </a:r>
          </a:p>
        </p:txBody>
      </p:sp>
      <p:sp>
        <p:nvSpPr>
          <p:cNvPr id="284" name="Text 14"/>
          <p:cNvSpPr txBox="1"/>
          <p:nvPr/>
        </p:nvSpPr>
        <p:spPr>
          <a:xfrm>
            <a:off x="8275319" y="3364992"/>
            <a:ext cx="3154680" cy="384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1100">
                <a:solidFill>
                  <a:srgbClr val="C9D3F0"/>
                </a:solidFill>
              </a:defRPr>
            </a:lvl1pPr>
          </a:lstStyle>
          <a:p>
            <a:pPr/>
            <a:r>
              <a:t>Full-Stack &amp; Broker API Engineer for live alerts and algo execution.</a:t>
            </a:r>
          </a:p>
        </p:txBody>
      </p:sp>
      <p:sp>
        <p:nvSpPr>
          <p:cNvPr id="285" name="Text 15"/>
          <p:cNvSpPr txBox="1"/>
          <p:nvPr/>
        </p:nvSpPr>
        <p:spPr>
          <a:xfrm>
            <a:off x="6812280" y="3895344"/>
            <a:ext cx="1371601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5A623"/>
                </a:solidFill>
              </a:defRPr>
            </a:lvl1pPr>
          </a:lstStyle>
          <a:p>
            <a:pPr/>
            <a:r>
              <a:t>Data Moat</a:t>
            </a:r>
          </a:p>
        </p:txBody>
      </p:sp>
      <p:sp>
        <p:nvSpPr>
          <p:cNvPr id="286" name="Text 16"/>
          <p:cNvSpPr txBox="1"/>
          <p:nvPr/>
        </p:nvSpPr>
        <p:spPr>
          <a:xfrm>
            <a:off x="8275319" y="3895344"/>
            <a:ext cx="3154680" cy="384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1100">
                <a:solidFill>
                  <a:srgbClr val="C9D3F0"/>
                </a:solidFill>
              </a:defRPr>
            </a:lvl1pPr>
          </a:lstStyle>
          <a:p>
            <a:pPr/>
            <a:r>
              <a:t>Solved malformed post-FY23 NSE XBRL dates, Q4 annuals &amp; scanned PDFs.</a:t>
            </a:r>
          </a:p>
        </p:txBody>
      </p:sp>
      <p:sp>
        <p:nvSpPr>
          <p:cNvPr id="287" name="Text 17"/>
          <p:cNvSpPr txBox="1"/>
          <p:nvPr/>
        </p:nvSpPr>
        <p:spPr>
          <a:xfrm>
            <a:off x="6812280" y="4425696"/>
            <a:ext cx="1371601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5A623"/>
                </a:solidFill>
              </a:defRPr>
            </a:lvl1pPr>
          </a:lstStyle>
          <a:p>
            <a:pPr/>
            <a:r>
              <a:t>Resilience</a:t>
            </a:r>
          </a:p>
        </p:txBody>
      </p:sp>
      <p:sp>
        <p:nvSpPr>
          <p:cNvPr id="288" name="Text 18"/>
          <p:cNvSpPr txBox="1"/>
          <p:nvPr/>
        </p:nvSpPr>
        <p:spPr>
          <a:xfrm>
            <a:off x="8275319" y="4425696"/>
            <a:ext cx="3154680" cy="384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1100">
                <a:solidFill>
                  <a:srgbClr val="C9D3F0"/>
                </a:solidFill>
              </a:defRPr>
            </a:lvl1pPr>
          </a:lstStyle>
          <a:p>
            <a:pPr/>
            <a:r>
              <a:t>Automated nightly ingestion, health checks &amp; modular runbooks.</a:t>
            </a:r>
          </a:p>
        </p:txBody>
      </p:sp>
      <p:sp>
        <p:nvSpPr>
          <p:cNvPr id="289" name="Text 19"/>
          <p:cNvSpPr txBox="1"/>
          <p:nvPr/>
        </p:nvSpPr>
        <p:spPr>
          <a:xfrm>
            <a:off x="6812280" y="5207317"/>
            <a:ext cx="4526281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i="1" sz="1200">
                <a:solidFill>
                  <a:srgbClr val="DDDDDD"/>
                </a:solidFill>
              </a:defRPr>
            </a:lvl1pPr>
          </a:lstStyle>
          <a:p>
            <a:pPr/>
            <a:r>
              <a:t>This round multiplies a proven 1-person shipping engine into a high-velocity commercial team.</a:t>
            </a:r>
          </a:p>
        </p:txBody>
      </p:sp>
      <p:sp>
        <p:nvSpPr>
          <p:cNvPr id="290" name="THE FOUNDER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THE FOUNDER &amp; TEAM</a:t>
            </a:r>
          </a:p>
        </p:txBody>
      </p:sp>
      <p:sp>
        <p:nvSpPr>
          <p:cNvPr id="291" name="Shape 6"/>
          <p:cNvSpPr/>
          <p:nvPr/>
        </p:nvSpPr>
        <p:spPr>
          <a:xfrm>
            <a:off x="6766560" y="4936896"/>
            <a:ext cx="4617721" cy="12701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18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 1"/>
          <p:cNvSpPr txBox="1"/>
          <p:nvPr/>
        </p:nvSpPr>
        <p:spPr>
          <a:xfrm>
            <a:off x="640079" y="914400"/>
            <a:ext cx="10908794" cy="57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$400K–$700K at $3.5M Cap to Scale ARR</a:t>
            </a:r>
          </a:p>
        </p:txBody>
      </p:sp>
      <p:sp>
        <p:nvSpPr>
          <p:cNvPr id="294" name="Text 2"/>
          <p:cNvSpPr txBox="1"/>
          <p:nvPr/>
        </p:nvSpPr>
        <p:spPr>
          <a:xfrm>
            <a:off x="666412" y="1742820"/>
            <a:ext cx="9601201" cy="213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300">
                <a:solidFill>
                  <a:srgbClr val="C9D3F0"/>
                </a:solidFill>
              </a:defRPr>
            </a:lvl1pPr>
          </a:lstStyle>
          <a:p>
            <a:pPr/>
            <a:r>
              <a:t>Convertible instrument (CCD/CCPS)  ·  18+ months runway  ·  Accelerating B2B Desks, Quant SaaS &amp; Broker Algos</a:t>
            </a:r>
          </a:p>
        </p:txBody>
      </p:sp>
      <p:sp>
        <p:nvSpPr>
          <p:cNvPr id="295" name="Shape 3"/>
          <p:cNvSpPr/>
          <p:nvPr/>
        </p:nvSpPr>
        <p:spPr>
          <a:xfrm>
            <a:off x="641603" y="2214986"/>
            <a:ext cx="3493009" cy="1828801"/>
          </a:xfrm>
          <a:prstGeom prst="roundRect">
            <a:avLst>
              <a:gd name="adj" fmla="val 7000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6" name="Text 4"/>
          <p:cNvSpPr txBox="1"/>
          <p:nvPr/>
        </p:nvSpPr>
        <p:spPr>
          <a:xfrm>
            <a:off x="925067" y="2331720"/>
            <a:ext cx="2926081" cy="411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40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$155K</a:t>
            </a:r>
          </a:p>
        </p:txBody>
      </p:sp>
      <p:sp>
        <p:nvSpPr>
          <p:cNvPr id="297" name="Text 5"/>
          <p:cNvSpPr txBox="1"/>
          <p:nvPr/>
        </p:nvSpPr>
        <p:spPr>
          <a:xfrm>
            <a:off x="925067" y="2880360"/>
            <a:ext cx="292608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Core Engineering &amp; Sales Team</a:t>
            </a:r>
          </a:p>
        </p:txBody>
      </p:sp>
      <p:sp>
        <p:nvSpPr>
          <p:cNvPr id="298" name="Text 6"/>
          <p:cNvSpPr txBox="1"/>
          <p:nvPr/>
        </p:nvSpPr>
        <p:spPr>
          <a:xfrm>
            <a:off x="934211" y="3182112"/>
            <a:ext cx="2926081" cy="68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Founding B2B Growth Lead, Senior Data Engineer, and Quant/Broker API Engineer (plus 4th hire on $700K allocation).</a:t>
            </a:r>
          </a:p>
        </p:txBody>
      </p:sp>
      <p:sp>
        <p:nvSpPr>
          <p:cNvPr id="299" name="Shape 7"/>
          <p:cNvSpPr/>
          <p:nvPr/>
        </p:nvSpPr>
        <p:spPr>
          <a:xfrm>
            <a:off x="4317491" y="2214986"/>
            <a:ext cx="3493009" cy="1828801"/>
          </a:xfrm>
          <a:prstGeom prst="roundRect">
            <a:avLst>
              <a:gd name="adj" fmla="val 7000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0" name="Text 8"/>
          <p:cNvSpPr txBox="1"/>
          <p:nvPr/>
        </p:nvSpPr>
        <p:spPr>
          <a:xfrm>
            <a:off x="4600955" y="2331720"/>
            <a:ext cx="2926081" cy="411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40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$70K</a:t>
            </a:r>
          </a:p>
        </p:txBody>
      </p:sp>
      <p:sp>
        <p:nvSpPr>
          <p:cNvPr id="301" name="Text 9"/>
          <p:cNvSpPr txBox="1"/>
          <p:nvPr/>
        </p:nvSpPr>
        <p:spPr>
          <a:xfrm>
            <a:off x="4600955" y="2880360"/>
            <a:ext cx="292608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SEBI RA License, Infra &amp; APIs</a:t>
            </a:r>
          </a:p>
        </p:txBody>
      </p:sp>
      <p:sp>
        <p:nvSpPr>
          <p:cNvPr id="302" name="Text 10"/>
          <p:cNvSpPr txBox="1"/>
          <p:nvPr/>
        </p:nvSpPr>
        <p:spPr>
          <a:xfrm>
            <a:off x="4610100" y="3182112"/>
            <a:ext cx="2926081" cy="68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SEBI Research Analyst (RA) registration, real-time exchange feeds, broker API empanelment, and scaled inference infra.</a:t>
            </a:r>
          </a:p>
        </p:txBody>
      </p:sp>
      <p:sp>
        <p:nvSpPr>
          <p:cNvPr id="303" name="Shape 11"/>
          <p:cNvSpPr/>
          <p:nvPr/>
        </p:nvSpPr>
        <p:spPr>
          <a:xfrm>
            <a:off x="7993380" y="2214986"/>
            <a:ext cx="3493009" cy="1828801"/>
          </a:xfrm>
          <a:prstGeom prst="roundRect">
            <a:avLst>
              <a:gd name="adj" fmla="val 7000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4" name="Text 12"/>
          <p:cNvSpPr txBox="1"/>
          <p:nvPr/>
        </p:nvSpPr>
        <p:spPr>
          <a:xfrm>
            <a:off x="8276843" y="2331720"/>
            <a:ext cx="2926081" cy="411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40" sz="3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$175K</a:t>
            </a:r>
          </a:p>
        </p:txBody>
      </p:sp>
      <p:sp>
        <p:nvSpPr>
          <p:cNvPr id="305" name="Text 13"/>
          <p:cNvSpPr txBox="1"/>
          <p:nvPr/>
        </p:nvSpPr>
        <p:spPr>
          <a:xfrm>
            <a:off x="8276843" y="2880360"/>
            <a:ext cx="292608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GTM Scale &amp; 18-Mo Reserve</a:t>
            </a:r>
          </a:p>
        </p:txBody>
      </p:sp>
      <p:sp>
        <p:nvSpPr>
          <p:cNvPr id="306" name="Text 14"/>
          <p:cNvSpPr txBox="1"/>
          <p:nvPr/>
        </p:nvSpPr>
        <p:spPr>
          <a:xfrm>
            <a:off x="8285988" y="3182112"/>
            <a:ext cx="2926081" cy="68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B2B desk sales, creator &amp; broker distribution partnerships, programmatic SEO, and a 17.5% buffer extending runway to 18+ mos.</a:t>
            </a:r>
          </a:p>
        </p:txBody>
      </p:sp>
      <p:sp>
        <p:nvSpPr>
          <p:cNvPr id="307" name="Text 15"/>
          <p:cNvSpPr txBox="1"/>
          <p:nvPr/>
        </p:nvSpPr>
        <p:spPr>
          <a:xfrm>
            <a:off x="673607" y="4209494"/>
            <a:ext cx="10908793" cy="207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i="1" sz="1100">
                <a:solidFill>
                  <a:srgbClr val="7C88B0"/>
                </a:solidFill>
              </a:defRPr>
            </a:lvl1pPr>
          </a:lstStyle>
          <a:p>
            <a:pPr/>
            <a:r>
              <a:t>Upsizing to $700K at the same $3.5M cap fast-tracks broker-connected algo execution, B2B2C data licensing, and enterprise sales.</a:t>
            </a:r>
          </a:p>
        </p:txBody>
      </p:sp>
      <p:sp>
        <p:nvSpPr>
          <p:cNvPr id="308" name="Shape 16"/>
          <p:cNvSpPr/>
          <p:nvPr/>
        </p:nvSpPr>
        <p:spPr>
          <a:xfrm>
            <a:off x="641603" y="4695334"/>
            <a:ext cx="10908794" cy="1146330"/>
          </a:xfrm>
          <a:prstGeom prst="roundRect">
            <a:avLst>
              <a:gd name="adj" fmla="val 11167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9" name="Text 17"/>
          <p:cNvSpPr txBox="1"/>
          <p:nvPr/>
        </p:nvSpPr>
        <p:spPr>
          <a:xfrm>
            <a:off x="935311" y="4736592"/>
            <a:ext cx="7315200" cy="2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300">
                <a:solidFill>
                  <a:srgbClr val="1E2761"/>
                </a:solidFill>
              </a:defRPr>
            </a:lvl1pPr>
          </a:lstStyle>
          <a:p>
            <a:pPr/>
            <a:r>
              <a:t>Month-15 Series A Readiness Targets (Bridge in Appendix)</a:t>
            </a:r>
          </a:p>
        </p:txBody>
      </p:sp>
      <p:sp>
        <p:nvSpPr>
          <p:cNvPr id="310" name="Text 18"/>
          <p:cNvSpPr txBox="1"/>
          <p:nvPr/>
        </p:nvSpPr>
        <p:spPr>
          <a:xfrm>
            <a:off x="961643" y="5010912"/>
            <a:ext cx="1920241" cy="292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00" sz="20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60+</a:t>
            </a:r>
          </a:p>
        </p:txBody>
      </p:sp>
      <p:sp>
        <p:nvSpPr>
          <p:cNvPr id="311" name="Text 19"/>
          <p:cNvSpPr txBox="1"/>
          <p:nvPr/>
        </p:nvSpPr>
        <p:spPr>
          <a:xfrm>
            <a:off x="961643" y="5440680"/>
            <a:ext cx="192024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B2B Desk &amp; API teams</a:t>
            </a:r>
          </a:p>
        </p:txBody>
      </p:sp>
      <p:sp>
        <p:nvSpPr>
          <p:cNvPr id="312" name="Text 20"/>
          <p:cNvSpPr txBox="1"/>
          <p:nvPr/>
        </p:nvSpPr>
        <p:spPr>
          <a:xfrm>
            <a:off x="3064763" y="5010912"/>
            <a:ext cx="1920241" cy="292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00" sz="20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1,750+</a:t>
            </a:r>
          </a:p>
        </p:txBody>
      </p:sp>
      <p:sp>
        <p:nvSpPr>
          <p:cNvPr id="313" name="Text 21"/>
          <p:cNvSpPr txBox="1"/>
          <p:nvPr/>
        </p:nvSpPr>
        <p:spPr>
          <a:xfrm>
            <a:off x="3064763" y="5440680"/>
            <a:ext cx="192024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Pro &amp; Quant subscribers</a:t>
            </a:r>
          </a:p>
        </p:txBody>
      </p:sp>
      <p:sp>
        <p:nvSpPr>
          <p:cNvPr id="314" name="Text 22"/>
          <p:cNvSpPr txBox="1"/>
          <p:nvPr/>
        </p:nvSpPr>
        <p:spPr>
          <a:xfrm>
            <a:off x="5167883" y="5010912"/>
            <a:ext cx="1920241" cy="292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00" sz="20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₹14.5L+</a:t>
            </a:r>
          </a:p>
        </p:txBody>
      </p:sp>
      <p:sp>
        <p:nvSpPr>
          <p:cNvPr id="315" name="Text 23"/>
          <p:cNvSpPr txBox="1"/>
          <p:nvPr/>
        </p:nvSpPr>
        <p:spPr>
          <a:xfrm>
            <a:off x="5167883" y="5440680"/>
            <a:ext cx="192024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Net MRR (~$180K+ ARR)</a:t>
            </a:r>
          </a:p>
        </p:txBody>
      </p:sp>
      <p:sp>
        <p:nvSpPr>
          <p:cNvPr id="316" name="Text 24"/>
          <p:cNvSpPr txBox="1"/>
          <p:nvPr/>
        </p:nvSpPr>
        <p:spPr>
          <a:xfrm>
            <a:off x="7261479" y="5010912"/>
            <a:ext cx="1920241" cy="292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00" sz="20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30%+</a:t>
            </a:r>
          </a:p>
        </p:txBody>
      </p:sp>
      <p:sp>
        <p:nvSpPr>
          <p:cNvPr id="317" name="Text 25"/>
          <p:cNvSpPr txBox="1"/>
          <p:nvPr/>
        </p:nvSpPr>
        <p:spPr>
          <a:xfrm>
            <a:off x="7261479" y="5440680"/>
            <a:ext cx="192024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DAU/MAU stickiness</a:t>
            </a:r>
          </a:p>
        </p:txBody>
      </p:sp>
      <p:sp>
        <p:nvSpPr>
          <p:cNvPr id="318" name="Text 26"/>
          <p:cNvSpPr txBox="1"/>
          <p:nvPr/>
        </p:nvSpPr>
        <p:spPr>
          <a:xfrm>
            <a:off x="9364598" y="5010912"/>
            <a:ext cx="1920241" cy="292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-100" sz="20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0.90+</a:t>
            </a:r>
          </a:p>
        </p:txBody>
      </p:sp>
      <p:sp>
        <p:nvSpPr>
          <p:cNvPr id="319" name="Text 27"/>
          <p:cNvSpPr txBox="1"/>
          <p:nvPr/>
        </p:nvSpPr>
        <p:spPr>
          <a:xfrm>
            <a:off x="9364598" y="5440680"/>
            <a:ext cx="1920241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Recall@5 benchmark</a:t>
            </a:r>
          </a:p>
        </p:txBody>
      </p:sp>
      <p:sp>
        <p:nvSpPr>
          <p:cNvPr id="320" name="Text 28"/>
          <p:cNvSpPr txBox="1"/>
          <p:nvPr/>
        </p:nvSpPr>
        <p:spPr>
          <a:xfrm>
            <a:off x="643127" y="6078970"/>
            <a:ext cx="10908793" cy="213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i="1" sz="1300">
                <a:solidFill>
                  <a:srgbClr val="F5A623"/>
                </a:solidFill>
              </a:defRPr>
            </a:lvl1pPr>
          </a:lstStyle>
          <a:p>
            <a:pPr/>
            <a:r>
              <a:t>Clear Series A velocity: High-margin recurring SaaS + SEBI-registered regulatory moat + broker-algo expansion.</a:t>
            </a:r>
          </a:p>
        </p:txBody>
      </p:sp>
      <p:sp>
        <p:nvSpPr>
          <p:cNvPr id="321" name="THE ASK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THE SEED ROUND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 0"/>
          <p:cNvSpPr txBox="1"/>
          <p:nvPr/>
        </p:nvSpPr>
        <p:spPr>
          <a:xfrm>
            <a:off x="640080" y="1894656"/>
            <a:ext cx="10881360" cy="1239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5000"/>
              </a:lnSpc>
              <a:defRPr b="1" spc="-120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India’s AI Operating System for Research,</a:t>
            </a:r>
          </a:p>
          <a:p>
            <a:pPr>
              <a:lnSpc>
                <a:spcPts val="5000"/>
              </a:lnSpc>
              <a:defRPr b="1" spc="-120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Quant Backtesting &amp; Algo Execution.</a:t>
            </a:r>
          </a:p>
        </p:txBody>
      </p:sp>
      <p:sp>
        <p:nvSpPr>
          <p:cNvPr id="324" name="Text 1"/>
          <p:cNvSpPr txBox="1"/>
          <p:nvPr/>
        </p:nvSpPr>
        <p:spPr>
          <a:xfrm>
            <a:off x="640080" y="3357696"/>
            <a:ext cx="10881360" cy="1239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5000"/>
              </a:lnSpc>
              <a:defRPr b="1" spc="-120" sz="36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Institutional depth. Retail reach.</a:t>
            </a:r>
          </a:p>
          <a:p>
            <a:pPr>
              <a:lnSpc>
                <a:spcPts val="5000"/>
              </a:lnSpc>
              <a:defRPr b="1" spc="-120" sz="36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Built to compound.</a:t>
            </a:r>
          </a:p>
        </p:txBody>
      </p:sp>
      <p:sp>
        <p:nvSpPr>
          <p:cNvPr id="325" name="Shape 2"/>
          <p:cNvSpPr/>
          <p:nvPr/>
        </p:nvSpPr>
        <p:spPr>
          <a:xfrm>
            <a:off x="640080" y="4891176"/>
            <a:ext cx="1005840" cy="12701"/>
          </a:xfrm>
          <a:prstGeom prst="rect">
            <a:avLst/>
          </a:prstGeom>
          <a:solidFill>
            <a:srgbClr val="C9D3F0">
              <a:alpha val="60000"/>
            </a:srgbClr>
          </a:solidFill>
          <a:ln w="12700">
            <a:solidFill>
              <a:srgbClr val="C9D3F0">
                <a:alpha val="60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26" name="Text 3"/>
          <p:cNvSpPr txBox="1"/>
          <p:nvPr/>
        </p:nvSpPr>
        <p:spPr>
          <a:xfrm>
            <a:off x="640080" y="5120640"/>
            <a:ext cx="10881360" cy="233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900">
                <a:solidFill>
                  <a:srgbClr val="C9D3F0"/>
                </a:solidFill>
              </a:defRPr>
            </a:lvl1pPr>
          </a:lstStyle>
          <a:p>
            <a:pPr/>
            <a:r>
              <a:t>Live at anvest.in — Empowering India’s 13.4 Cr investors and 3,900+ regulated desks to make verified, high-conviction decisions.</a:t>
            </a:r>
          </a:p>
        </p:txBody>
      </p:sp>
      <p:sp>
        <p:nvSpPr>
          <p:cNvPr id="327" name="Text 4"/>
          <p:cNvSpPr txBox="1"/>
          <p:nvPr/>
        </p:nvSpPr>
        <p:spPr>
          <a:xfrm>
            <a:off x="640080" y="6309359"/>
            <a:ext cx="10881360" cy="210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7C88B0"/>
                </a:solidFill>
              </a:defRPr>
            </a:lvl1pPr>
          </a:lstStyle>
          <a:p>
            <a:pPr/>
            <a:r>
              <a:t>Harsh Bhardwaj · harsh@anvest.in · anvest.in · Book a Live Demo &amp; Data Room Walkthrough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 1"/>
          <p:cNvSpPr txBox="1"/>
          <p:nvPr/>
        </p:nvSpPr>
        <p:spPr>
          <a:xfrm>
            <a:off x="640079" y="914400"/>
            <a:ext cx="10908794" cy="57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Structural moats across data, rules &amp; scale</a:t>
            </a:r>
          </a:p>
        </p:txBody>
      </p:sp>
      <p:sp>
        <p:nvSpPr>
          <p:cNvPr id="330" name="Shape 2"/>
          <p:cNvSpPr/>
          <p:nvPr/>
        </p:nvSpPr>
        <p:spPr>
          <a:xfrm>
            <a:off x="640080" y="1874520"/>
            <a:ext cx="10908793" cy="804673"/>
          </a:xfrm>
          <a:prstGeom prst="roundRect">
            <a:avLst>
              <a:gd name="adj" fmla="val 15909"/>
            </a:avLst>
          </a:prstGeom>
          <a:solidFill>
            <a:srgbClr val="FFFFFF">
              <a:alpha val="11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31" name="Text 3"/>
          <p:cNvSpPr txBox="1"/>
          <p:nvPr/>
        </p:nvSpPr>
        <p:spPr>
          <a:xfrm>
            <a:off x="952500" y="2140521"/>
            <a:ext cx="2834640" cy="196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Deterministic accuracy</a:t>
            </a:r>
          </a:p>
        </p:txBody>
      </p:sp>
      <p:sp>
        <p:nvSpPr>
          <p:cNvPr id="332" name="Text 4"/>
          <p:cNvSpPr txBox="1"/>
          <p:nvPr/>
        </p:nvSpPr>
        <p:spPr>
          <a:xfrm>
            <a:off x="4061459" y="2122233"/>
            <a:ext cx="7178041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Every insight is cited to primary exchange filings and computed via deterministic math engines—eliminating LLM numeric hallucinations and earning institutional trust.</a:t>
            </a:r>
          </a:p>
        </p:txBody>
      </p:sp>
      <p:sp>
        <p:nvSpPr>
          <p:cNvPr id="333" name="Shape 5"/>
          <p:cNvSpPr/>
          <p:nvPr/>
        </p:nvSpPr>
        <p:spPr>
          <a:xfrm>
            <a:off x="640080" y="2770632"/>
            <a:ext cx="10908793" cy="804673"/>
          </a:xfrm>
          <a:prstGeom prst="roundRect">
            <a:avLst>
              <a:gd name="adj" fmla="val 15909"/>
            </a:avLst>
          </a:prstGeom>
          <a:solidFill>
            <a:srgbClr val="FFFFFF">
              <a:alpha val="6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34" name="Text 6"/>
          <p:cNvSpPr txBox="1"/>
          <p:nvPr/>
        </p:nvSpPr>
        <p:spPr>
          <a:xfrm>
            <a:off x="952500" y="3064299"/>
            <a:ext cx="2834640" cy="387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Full-loop differentiation</a:t>
            </a:r>
          </a:p>
        </p:txBody>
      </p:sp>
      <p:sp>
        <p:nvSpPr>
          <p:cNvPr id="335" name="Text 7"/>
          <p:cNvSpPr txBox="1"/>
          <p:nvPr/>
        </p:nvSpPr>
        <p:spPr>
          <a:xfrm>
            <a:off x="4061459" y="2976912"/>
            <a:ext cx="7178041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Screener AI stops at isolated filing Q&amp;A; Streak stops at technical rules. Only Anvest unifies XBRL research, Portfolio X-Ray, factor backtesting, and paper trading.</a:t>
            </a:r>
          </a:p>
        </p:txBody>
      </p:sp>
      <p:sp>
        <p:nvSpPr>
          <p:cNvPr id="336" name="Shape 8"/>
          <p:cNvSpPr/>
          <p:nvPr/>
        </p:nvSpPr>
        <p:spPr>
          <a:xfrm>
            <a:off x="640080" y="3666744"/>
            <a:ext cx="10908793" cy="804673"/>
          </a:xfrm>
          <a:prstGeom prst="roundRect">
            <a:avLst>
              <a:gd name="adj" fmla="val 15909"/>
            </a:avLst>
          </a:prstGeom>
          <a:solidFill>
            <a:srgbClr val="FFFFFF">
              <a:alpha val="11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37" name="Text 9"/>
          <p:cNvSpPr txBox="1"/>
          <p:nvPr/>
        </p:nvSpPr>
        <p:spPr>
          <a:xfrm>
            <a:off x="952500" y="3960411"/>
            <a:ext cx="2834640" cy="196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SEBI RA regulatory moat</a:t>
            </a:r>
          </a:p>
        </p:txBody>
      </p:sp>
      <p:sp>
        <p:nvSpPr>
          <p:cNvPr id="338" name="Text 10"/>
          <p:cNvSpPr txBox="1"/>
          <p:nvPr/>
        </p:nvSpPr>
        <p:spPr>
          <a:xfrm>
            <a:off x="4061459" y="3873024"/>
            <a:ext cx="7178041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SEBI’s 2026 algo rules mandate Research Analyst (RA) registration and research reports for black-box strategies. Funding SEBI RA registration turns regulation into our moat.</a:t>
            </a:r>
          </a:p>
        </p:txBody>
      </p:sp>
      <p:sp>
        <p:nvSpPr>
          <p:cNvPr id="339" name="Shape 11"/>
          <p:cNvSpPr/>
          <p:nvPr/>
        </p:nvSpPr>
        <p:spPr>
          <a:xfrm>
            <a:off x="640080" y="4562855"/>
            <a:ext cx="10908793" cy="804673"/>
          </a:xfrm>
          <a:prstGeom prst="roundRect">
            <a:avLst>
              <a:gd name="adj" fmla="val 15909"/>
            </a:avLst>
          </a:prstGeom>
          <a:solidFill>
            <a:srgbClr val="FFFFFF">
              <a:alpha val="6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40" name="Text 12"/>
          <p:cNvSpPr txBox="1"/>
          <p:nvPr/>
        </p:nvSpPr>
        <p:spPr>
          <a:xfrm>
            <a:off x="952500" y="4856523"/>
            <a:ext cx="2834640" cy="196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Live broker &amp; feed architecture</a:t>
            </a:r>
          </a:p>
        </p:txBody>
      </p:sp>
      <p:sp>
        <p:nvSpPr>
          <p:cNvPr id="341" name="Text 13"/>
          <p:cNvSpPr txBox="1"/>
          <p:nvPr/>
        </p:nvSpPr>
        <p:spPr>
          <a:xfrm>
            <a:off x="4061459" y="4769137"/>
            <a:ext cx="7178041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Hybrid data architecture combining our deep XBRL warehouse with user broker OAuth connections and licensed exchange feeds for real-time alerts and order routing.</a:t>
            </a:r>
          </a:p>
        </p:txBody>
      </p:sp>
      <p:sp>
        <p:nvSpPr>
          <p:cNvPr id="342" name="Shape 14"/>
          <p:cNvSpPr/>
          <p:nvPr/>
        </p:nvSpPr>
        <p:spPr>
          <a:xfrm>
            <a:off x="640080" y="5458967"/>
            <a:ext cx="10908793" cy="804673"/>
          </a:xfrm>
          <a:prstGeom prst="roundRect">
            <a:avLst>
              <a:gd name="adj" fmla="val 15909"/>
            </a:avLst>
          </a:prstGeom>
          <a:solidFill>
            <a:srgbClr val="FFFFFF">
              <a:alpha val="11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43" name="Text 15"/>
          <p:cNvSpPr txBox="1"/>
          <p:nvPr/>
        </p:nvSpPr>
        <p:spPr>
          <a:xfrm>
            <a:off x="952500" y="5752636"/>
            <a:ext cx="2834640" cy="196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High-leverage engineering</a:t>
            </a:r>
          </a:p>
        </p:txBody>
      </p:sp>
      <p:sp>
        <p:nvSpPr>
          <p:cNvPr id="344" name="Text 16"/>
          <p:cNvSpPr txBox="1"/>
          <p:nvPr/>
        </p:nvSpPr>
        <p:spPr>
          <a:xfrm>
            <a:off x="4061459" y="5665249"/>
            <a:ext cx="7178041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Automated nightly pipelines, custom OCR repair layers, and self-healing jobs allow a lean 4–5 person team to operate at the output scale of a 30-person fintech org.</a:t>
            </a:r>
          </a:p>
        </p:txBody>
      </p:sp>
      <p:sp>
        <p:nvSpPr>
          <p:cNvPr id="345" name="APPENDIX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APPENDIX · STRUCTURAL ADVANTAGES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 1"/>
          <p:cNvSpPr txBox="1"/>
          <p:nvPr/>
        </p:nvSpPr>
        <p:spPr>
          <a:xfrm>
            <a:off x="640079" y="914400"/>
            <a:ext cx="10908794" cy="57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Month-15 multi-engine revenue bridge</a:t>
            </a:r>
          </a:p>
        </p:txBody>
      </p:sp>
      <p:sp>
        <p:nvSpPr>
          <p:cNvPr id="348" name="Shape 2"/>
          <p:cNvSpPr/>
          <p:nvPr/>
        </p:nvSpPr>
        <p:spPr>
          <a:xfrm>
            <a:off x="640080" y="2103120"/>
            <a:ext cx="10908793" cy="960121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49" name="Text 3"/>
          <p:cNvSpPr txBox="1"/>
          <p:nvPr/>
        </p:nvSpPr>
        <p:spPr>
          <a:xfrm>
            <a:off x="960119" y="2441003"/>
            <a:ext cx="2560320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Retail Pro &amp; Quant</a:t>
            </a:r>
          </a:p>
        </p:txBody>
      </p:sp>
      <p:sp>
        <p:nvSpPr>
          <p:cNvPr id="350" name="Text 4"/>
          <p:cNvSpPr txBox="1"/>
          <p:nvPr/>
        </p:nvSpPr>
        <p:spPr>
          <a:xfrm>
            <a:off x="3520440" y="2457513"/>
            <a:ext cx="5486400" cy="187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100">
                <a:solidFill>
                  <a:srgbClr val="C9D3F0"/>
                </a:solidFill>
              </a:defRPr>
            </a:lvl1pPr>
          </a:lstStyle>
          <a:p>
            <a:pPr/>
            <a:r>
              <a:t>35,000 MAUs × 5% paid = 1,750 subscribers × ~₹380 blended net/mo (Plus/Pro/Quant)</a:t>
            </a:r>
          </a:p>
        </p:txBody>
      </p:sp>
      <p:sp>
        <p:nvSpPr>
          <p:cNvPr id="351" name="Text 5"/>
          <p:cNvSpPr txBox="1"/>
          <p:nvPr/>
        </p:nvSpPr>
        <p:spPr>
          <a:xfrm>
            <a:off x="9235440" y="2435608"/>
            <a:ext cx="2011680" cy="231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lnSpc>
                <a:spcPts val="1700"/>
              </a:lnSpc>
              <a:defRPr b="1" sz="2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₹6.6L</a:t>
            </a:r>
          </a:p>
        </p:txBody>
      </p:sp>
      <p:sp>
        <p:nvSpPr>
          <p:cNvPr id="352" name="Shape 6"/>
          <p:cNvSpPr/>
          <p:nvPr/>
        </p:nvSpPr>
        <p:spPr>
          <a:xfrm>
            <a:off x="640080" y="3200400"/>
            <a:ext cx="10908793" cy="96012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53" name="Text 7"/>
          <p:cNvSpPr txBox="1"/>
          <p:nvPr/>
        </p:nvSpPr>
        <p:spPr>
          <a:xfrm>
            <a:off x="960119" y="3538283"/>
            <a:ext cx="2560320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B2B Desk &amp; APIs</a:t>
            </a:r>
          </a:p>
        </p:txBody>
      </p:sp>
      <p:sp>
        <p:nvSpPr>
          <p:cNvPr id="354" name="Text 8"/>
          <p:cNvSpPr txBox="1"/>
          <p:nvPr/>
        </p:nvSpPr>
        <p:spPr>
          <a:xfrm>
            <a:off x="3520440" y="3554793"/>
            <a:ext cx="5486400" cy="187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100">
                <a:solidFill>
                  <a:srgbClr val="C9D3F0"/>
                </a:solidFill>
              </a:defRPr>
            </a:lvl1pPr>
          </a:lstStyle>
          <a:p>
            <a:pPr/>
            <a:r>
              <a:t>60 analyst/PMS teams (~300 seats @ ₹2,245 net) + early B2B2C API &amp; broker routing</a:t>
            </a:r>
          </a:p>
        </p:txBody>
      </p:sp>
      <p:sp>
        <p:nvSpPr>
          <p:cNvPr id="355" name="Text 9"/>
          <p:cNvSpPr txBox="1"/>
          <p:nvPr/>
        </p:nvSpPr>
        <p:spPr>
          <a:xfrm>
            <a:off x="9235440" y="3532888"/>
            <a:ext cx="2011680" cy="231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lnSpc>
                <a:spcPts val="1700"/>
              </a:lnSpc>
              <a:defRPr b="1" sz="2000">
                <a:solidFill>
                  <a:srgbClr val="F5A62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₹7.9L</a:t>
            </a:r>
          </a:p>
        </p:txBody>
      </p:sp>
      <p:sp>
        <p:nvSpPr>
          <p:cNvPr id="356" name="Shape 10"/>
          <p:cNvSpPr/>
          <p:nvPr/>
        </p:nvSpPr>
        <p:spPr>
          <a:xfrm>
            <a:off x="640080" y="4297679"/>
            <a:ext cx="10908793" cy="960121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57" name="Text 11"/>
          <p:cNvSpPr txBox="1"/>
          <p:nvPr/>
        </p:nvSpPr>
        <p:spPr>
          <a:xfrm>
            <a:off x="960119" y="4635563"/>
            <a:ext cx="2560320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1E2761"/>
                </a:solidFill>
              </a:defRPr>
            </a:lvl1pPr>
          </a:lstStyle>
          <a:p>
            <a:pPr/>
            <a:r>
              <a:t>Total Net MRR</a:t>
            </a:r>
          </a:p>
        </p:txBody>
      </p:sp>
      <p:sp>
        <p:nvSpPr>
          <p:cNvPr id="358" name="Text 12"/>
          <p:cNvSpPr txBox="1"/>
          <p:nvPr/>
        </p:nvSpPr>
        <p:spPr>
          <a:xfrm>
            <a:off x="3520440" y="4652073"/>
            <a:ext cx="5303520" cy="187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Net of 18% GST · 85%+ software gross margin · ~$180K+ ARR run-rate (Base: ₹6.5L)</a:t>
            </a:r>
          </a:p>
        </p:txBody>
      </p:sp>
      <p:sp>
        <p:nvSpPr>
          <p:cNvPr id="359" name="Text 13"/>
          <p:cNvSpPr txBox="1"/>
          <p:nvPr/>
        </p:nvSpPr>
        <p:spPr>
          <a:xfrm>
            <a:off x="8869680" y="4630168"/>
            <a:ext cx="2423160" cy="231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lnSpc>
                <a:spcPts val="1700"/>
              </a:lnSpc>
              <a:defRPr b="1" sz="2000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₹14.5L ≈ $15.2K</a:t>
            </a:r>
          </a:p>
        </p:txBody>
      </p:sp>
      <p:sp>
        <p:nvSpPr>
          <p:cNvPr id="360" name="Text 14"/>
          <p:cNvSpPr txBox="1"/>
          <p:nvPr/>
        </p:nvSpPr>
        <p:spPr>
          <a:xfrm>
            <a:off x="641603" y="5727448"/>
            <a:ext cx="10908794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i="1" sz="1200">
                <a:solidFill>
                  <a:srgbClr val="7C88B0"/>
                </a:solidFill>
              </a:defRPr>
            </a:lvl1pPr>
          </a:lstStyle>
          <a:p>
            <a:pPr/>
            <a:r>
              <a:t>Compounding unit economics: Zero-CAC programmatic SEO across 6,137 company pages + high-retention multi-tool workflows drive &lt;4-month CAC payback across B2C and B2B cohorts.</a:t>
            </a:r>
          </a:p>
        </p:txBody>
      </p:sp>
      <p:sp>
        <p:nvSpPr>
          <p:cNvPr id="361" name="APPENDIX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APPENDIX · FINANCIAL MODEL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Text 1"/>
          <p:cNvSpPr txBox="1"/>
          <p:nvPr/>
        </p:nvSpPr>
        <p:spPr>
          <a:xfrm>
            <a:off x="640079" y="914400"/>
            <a:ext cx="10908794" cy="575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600"/>
              </a:lnSpc>
              <a:defRPr b="1" spc="-100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High-margin expansion: Algos, APIs &amp; Wealth</a:t>
            </a:r>
          </a:p>
        </p:txBody>
      </p:sp>
      <p:sp>
        <p:nvSpPr>
          <p:cNvPr id="364" name="Shape 2"/>
          <p:cNvSpPr/>
          <p:nvPr/>
        </p:nvSpPr>
        <p:spPr>
          <a:xfrm>
            <a:off x="640080" y="1965960"/>
            <a:ext cx="10908793" cy="1097281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5" name="Shape 3"/>
          <p:cNvSpPr/>
          <p:nvPr/>
        </p:nvSpPr>
        <p:spPr>
          <a:xfrm>
            <a:off x="932688" y="2203704"/>
            <a:ext cx="658369" cy="621793"/>
          </a:xfrm>
          <a:prstGeom prst="roundRect">
            <a:avLst>
              <a:gd name="adj" fmla="val 17647"/>
            </a:avLst>
          </a:prstGeom>
          <a:solidFill>
            <a:srgbClr val="F5A623"/>
          </a:solidFill>
          <a:ln w="12700">
            <a:solidFill>
              <a:srgbClr val="F5A62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66" name="Text 4"/>
          <p:cNvSpPr txBox="1"/>
          <p:nvPr/>
        </p:nvSpPr>
        <p:spPr>
          <a:xfrm>
            <a:off x="932688" y="2402672"/>
            <a:ext cx="658369" cy="223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900">
                <a:solidFill>
                  <a:srgbClr val="0B0E2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67" name="Text 5"/>
          <p:cNvSpPr txBox="1"/>
          <p:nvPr/>
        </p:nvSpPr>
        <p:spPr>
          <a:xfrm>
            <a:off x="1810511" y="2103120"/>
            <a:ext cx="2834640" cy="198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150" sz="1000">
                <a:solidFill>
                  <a:srgbClr val="C97F0C"/>
                </a:solidFill>
              </a:defRPr>
            </a:lvl1pPr>
          </a:lstStyle>
          <a:p>
            <a:pPr/>
            <a:r>
              <a:t>ALGO EXECUTION MARKETPLACE</a:t>
            </a:r>
          </a:p>
        </p:txBody>
      </p:sp>
      <p:sp>
        <p:nvSpPr>
          <p:cNvPr id="368" name="Text 6"/>
          <p:cNvSpPr txBox="1"/>
          <p:nvPr/>
        </p:nvSpPr>
        <p:spPr>
          <a:xfrm>
            <a:off x="1810511" y="2432304"/>
            <a:ext cx="2834640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1E2761"/>
                </a:solidFill>
              </a:defRPr>
            </a:lvl1pPr>
          </a:lstStyle>
          <a:p>
            <a:pPr/>
            <a:r>
              <a:t>Broker-Connected Algos</a:t>
            </a:r>
          </a:p>
        </p:txBody>
      </p:sp>
      <p:sp>
        <p:nvSpPr>
          <p:cNvPr id="369" name="Text 7"/>
          <p:cNvSpPr txBox="1"/>
          <p:nvPr/>
        </p:nvSpPr>
        <p:spPr>
          <a:xfrm>
            <a:off x="4766817" y="2359977"/>
            <a:ext cx="6446522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434B6B"/>
                </a:solidFill>
              </a:defRPr>
            </a:lvl1pPr>
          </a:lstStyle>
          <a:p>
            <a:pPr/>
            <a:r>
              <a:t>Seamless progression from strategy backtesting to live order execution via Indian broker APIs (Zerodha, FYERS, Angel One). Monetized via Quant tiers &amp; RA strategy subscriptions.</a:t>
            </a:r>
          </a:p>
        </p:txBody>
      </p:sp>
      <p:sp>
        <p:nvSpPr>
          <p:cNvPr id="370" name="Shape 8"/>
          <p:cNvSpPr/>
          <p:nvPr/>
        </p:nvSpPr>
        <p:spPr>
          <a:xfrm>
            <a:off x="640080" y="3200400"/>
            <a:ext cx="10908793" cy="1097281"/>
          </a:xfrm>
          <a:prstGeom prst="roundRect">
            <a:avLst>
              <a:gd name="adj" fmla="val 11667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71" name="Shape 9"/>
          <p:cNvSpPr/>
          <p:nvPr/>
        </p:nvSpPr>
        <p:spPr>
          <a:xfrm>
            <a:off x="932688" y="3438144"/>
            <a:ext cx="658369" cy="621793"/>
          </a:xfrm>
          <a:prstGeom prst="roundRect">
            <a:avLst>
              <a:gd name="adj" fmla="val 17647"/>
            </a:avLst>
          </a:prstGeom>
          <a:solidFill>
            <a:srgbClr val="4A3699"/>
          </a:solidFill>
          <a:ln w="12700">
            <a:solidFill>
              <a:srgbClr val="4A3699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72" name="Text 10"/>
          <p:cNvSpPr txBox="1"/>
          <p:nvPr/>
        </p:nvSpPr>
        <p:spPr>
          <a:xfrm>
            <a:off x="932688" y="3637112"/>
            <a:ext cx="658369" cy="223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73" name="Text 11"/>
          <p:cNvSpPr txBox="1"/>
          <p:nvPr/>
        </p:nvSpPr>
        <p:spPr>
          <a:xfrm>
            <a:off x="1810511" y="3337560"/>
            <a:ext cx="2834640" cy="198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150" sz="1000">
                <a:solidFill>
                  <a:srgbClr val="F5A623"/>
                </a:solidFill>
              </a:defRPr>
            </a:lvl1pPr>
          </a:lstStyle>
          <a:p>
            <a:pPr/>
            <a:r>
              <a:t>B2B2C INTELLIGENCE APIS</a:t>
            </a:r>
          </a:p>
        </p:txBody>
      </p:sp>
      <p:sp>
        <p:nvSpPr>
          <p:cNvPr id="374" name="Text 12"/>
          <p:cNvSpPr txBox="1"/>
          <p:nvPr/>
        </p:nvSpPr>
        <p:spPr>
          <a:xfrm>
            <a:off x="1810511" y="3666744"/>
            <a:ext cx="2834640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Enterprise Data Licensing</a:t>
            </a:r>
          </a:p>
        </p:txBody>
      </p:sp>
      <p:sp>
        <p:nvSpPr>
          <p:cNvPr id="375" name="Text 13"/>
          <p:cNvSpPr txBox="1"/>
          <p:nvPr/>
        </p:nvSpPr>
        <p:spPr>
          <a:xfrm>
            <a:off x="4766817" y="3594417"/>
            <a:ext cx="6446522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License Anvest’s repaired XBRL warehouse, OCR earnings engine, and Portfolio X-Ray via API to regional brokers, wealth-tech apps, and advisory platforms.</a:t>
            </a:r>
          </a:p>
        </p:txBody>
      </p:sp>
      <p:sp>
        <p:nvSpPr>
          <p:cNvPr id="376" name="Shape 14"/>
          <p:cNvSpPr/>
          <p:nvPr/>
        </p:nvSpPr>
        <p:spPr>
          <a:xfrm>
            <a:off x="640080" y="4434840"/>
            <a:ext cx="10908793" cy="1097281"/>
          </a:xfrm>
          <a:prstGeom prst="roundRect">
            <a:avLst>
              <a:gd name="adj" fmla="val 11667"/>
            </a:avLst>
          </a:prstGeom>
          <a:solidFill>
            <a:srgbClr val="FFFFFF">
              <a:alpha val="8000"/>
            </a:srgbClr>
          </a:solidFill>
          <a:ln>
            <a:solidFill>
              <a:srgbClr val="FFFFFF">
                <a:alpha val="2200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77" name="Shape 15"/>
          <p:cNvSpPr/>
          <p:nvPr/>
        </p:nvSpPr>
        <p:spPr>
          <a:xfrm>
            <a:off x="932688" y="4672584"/>
            <a:ext cx="658369" cy="621793"/>
          </a:xfrm>
          <a:prstGeom prst="roundRect">
            <a:avLst>
              <a:gd name="adj" fmla="val 17647"/>
            </a:avLst>
          </a:prstGeom>
          <a:solidFill>
            <a:srgbClr val="4A3699"/>
          </a:solidFill>
          <a:ln w="12700">
            <a:solidFill>
              <a:srgbClr val="4A3699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78" name="Text 16"/>
          <p:cNvSpPr txBox="1"/>
          <p:nvPr/>
        </p:nvSpPr>
        <p:spPr>
          <a:xfrm>
            <a:off x="932688" y="4871552"/>
            <a:ext cx="658369" cy="223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379" name="Text 17"/>
          <p:cNvSpPr txBox="1"/>
          <p:nvPr/>
        </p:nvSpPr>
        <p:spPr>
          <a:xfrm>
            <a:off x="1810511" y="4572000"/>
            <a:ext cx="2834640" cy="198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pc="150" sz="1000">
                <a:solidFill>
                  <a:srgbClr val="F5A623"/>
                </a:solidFill>
              </a:defRPr>
            </a:lvl1pPr>
          </a:lstStyle>
          <a:p>
            <a:pPr/>
            <a:r>
              <a:t>SYSTEMATIC WEALTH &amp; PMS</a:t>
            </a:r>
          </a:p>
        </p:txBody>
      </p:sp>
      <p:sp>
        <p:nvSpPr>
          <p:cNvPr id="380" name="Text 18"/>
          <p:cNvSpPr txBox="1"/>
          <p:nvPr/>
        </p:nvSpPr>
        <p:spPr>
          <a:xfrm>
            <a:off x="1810511" y="4901184"/>
            <a:ext cx="2834640" cy="220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AI Model Portfolios</a:t>
            </a:r>
          </a:p>
        </p:txBody>
      </p:sp>
      <p:sp>
        <p:nvSpPr>
          <p:cNvPr id="381" name="Text 19"/>
          <p:cNvSpPr txBox="1"/>
          <p:nvPr/>
        </p:nvSpPr>
        <p:spPr>
          <a:xfrm>
            <a:off x="4766817" y="4828857"/>
            <a:ext cx="6446522" cy="309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1100">
                <a:solidFill>
                  <a:srgbClr val="7C88B0"/>
                </a:solidFill>
              </a:defRPr>
            </a:lvl1pPr>
          </a:lstStyle>
          <a:p>
            <a:pPr/>
            <a:r>
              <a:t>Build on SEBI RA/RIA licensing and battle-tested factor models to offer automated smart-beta baskets, dynamic rebalancing, and institutional quant wealth products.</a:t>
            </a:r>
          </a:p>
        </p:txBody>
      </p:sp>
      <p:sp>
        <p:nvSpPr>
          <p:cNvPr id="382" name="Text 21"/>
          <p:cNvSpPr txBox="1"/>
          <p:nvPr/>
        </p:nvSpPr>
        <p:spPr>
          <a:xfrm>
            <a:off x="612683" y="6010866"/>
            <a:ext cx="10085832" cy="220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Every expansion engine compounds the same core asset: India’s cleanest XBRL + OCR filing warehouse and deterministic simulation engine.</a:t>
            </a:r>
          </a:p>
        </p:txBody>
      </p:sp>
      <p:sp>
        <p:nvSpPr>
          <p:cNvPr id="383" name="APPENDIX"/>
          <p:cNvSpPr txBox="1"/>
          <p:nvPr/>
        </p:nvSpPr>
        <p:spPr>
          <a:xfrm>
            <a:off x="640079" y="566927"/>
            <a:ext cx="10908794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A623"/>
                </a:solidFill>
              </a:defRPr>
            </a:lvl1pPr>
          </a:lstStyle>
          <a:p>
            <a:pPr/>
            <a:r>
              <a:t>APPENDIX · EXPANSION ENGINES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