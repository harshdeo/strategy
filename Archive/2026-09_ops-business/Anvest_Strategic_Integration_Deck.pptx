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integration narrative — for Rainmatter/Zerodha and, with more caution, Groww. Say up front: 'I'm not pitching you a competitor to Tickertape. I'm pitching you the AI layer neither Tickertape nor Groww's own research surface currently is.' For Groww specifically: their VC arm (Groww Ventures) has a short, opportunistic infra-investment history (Digio, Nimbbl, CoinCRED, Cybrilla) — treat this more as a corp-dev/BD conversation than a standard seed pitch, and expect the competitive-overlap question to surface early since Groww ships its own research surface in-app.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entire pitch reframed: not 'compete with your research tab' but 'the retention lever your research tab isn't pulling.'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demo live, do it instead of this slide. Land on the citation click, then pivot straight to slide 5 (the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push back with 'we have a data team,' the honest answer is: they could do it. The question is whether it's the best use of a data team already busy with core brokerage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pitch specific instead of generic. If they haven't heard of Kite MCP internally, this is news they'll want to verify — good, let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rather than waiting to be asked — it's the question every broker-affiliated investor is thinking and not always asking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strategic, 'zero standalone users' is not the same weakness it is for a generalist VC — the pitch here is exactly that your users are the distribution, not a gap to be filled elsewhere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retention (01) — it's the most concrete, board-legible metric a strategic can attach a number to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want to lead with a commercial/BD conversation before any equity discussion, that's a fine sequencing — say so directly rather than letting the ask stall the relationship. For Groww: expect this conversation to start and possibly stay at the BD/corp-dev level given they run a competing research surface in-app.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after this line. If it's a BD contact rather than an investment contact, be ready to have this conversation without an equity ask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600200"/>
            <a:ext cx="8229600" cy="1371600"/>
          </a:xfrm>
          <a:prstGeom prst="rect">
            <a:avLst/>
          </a:prstGeom>
          <a:noFill/>
          <a:ln/>
        </p:spPr>
        <p:txBody>
          <a:bodyPr wrap="square" lIns="0" tIns="0" rIns="0" bIns="0" rtlCol="0" anchor="ctr"/>
          <a:lstStyle/>
          <a:p>
            <a:pPr indent="0" marL="0">
              <a:buNone/>
            </a:pPr>
            <a:r>
              <a:rPr lang="en-US" sz="9000" b="1" spc="-400" kern="0" dirty="0">
                <a:solidFill>
                  <a:srgbClr val="FFFFFF"/>
                </a:solidFill>
                <a:latin typeface="Arial" pitchFamily="34" charset="0"/>
                <a:ea typeface="Arial" pitchFamily="34" charset="-122"/>
                <a:cs typeface="Arial" pitchFamily="34" charset="-120"/>
              </a:rPr>
              <a:t>Anvest</a:t>
            </a:r>
            <a:endParaRPr lang="en-US" sz="9000" dirty="0"/>
          </a:p>
        </p:txBody>
      </p:sp>
      <p:sp>
        <p:nvSpPr>
          <p:cNvPr id="3" name="Text 1"/>
          <p:cNvSpPr/>
          <p:nvPr/>
        </p:nvSpPr>
        <p:spPr>
          <a:xfrm>
            <a:off x="640080" y="2880360"/>
            <a:ext cx="8686800" cy="914400"/>
          </a:xfrm>
          <a:prstGeom prst="rect">
            <a:avLst/>
          </a:prstGeom>
          <a:noFill/>
          <a:ln/>
        </p:spPr>
        <p:txBody>
          <a:bodyPr wrap="square" lIns="0" tIns="0" rIns="0" bIns="0" rtlCol="0" anchor="t"/>
          <a:lstStyle/>
          <a:p>
            <a:pPr indent="0" marL="0">
              <a:lnSpc>
                <a:spcPts val="3200"/>
              </a:lnSpc>
              <a:buNone/>
            </a:pPr>
            <a:r>
              <a:rPr lang="en-US" sz="2200" dirty="0">
                <a:solidFill>
                  <a:srgbClr val="C9D3F0"/>
                </a:solidFill>
                <a:latin typeface="Calibri" pitchFamily="34" charset="0"/>
                <a:ea typeface="Calibri" pitchFamily="34" charset="-122"/>
                <a:cs typeface="Calibri" pitchFamily="34" charset="-120"/>
              </a:rPr>
              <a:t>The AI research layer for your existing users —</a:t>
            </a:r>
            <a:endParaRPr lang="en-US" sz="2200" dirty="0"/>
          </a:p>
          <a:p>
            <a:pPr indent="0" marL="0">
              <a:lnSpc>
                <a:spcPts val="3200"/>
              </a:lnSpc>
              <a:buNone/>
            </a:pPr>
            <a:r>
              <a:rPr lang="en-US" sz="2200" dirty="0">
                <a:solidFill>
                  <a:srgbClr val="C9D3F0"/>
                </a:solidFill>
                <a:latin typeface="Calibri" pitchFamily="34" charset="0"/>
                <a:ea typeface="Calibri" pitchFamily="34" charset="-122"/>
                <a:cs typeface="Calibri" pitchFamily="34" charset="-120"/>
              </a:rPr>
              <a:t>not a new place for them to go.</a:t>
            </a:r>
            <a:endParaRPr lang="en-US" sz="2200" dirty="0"/>
          </a:p>
        </p:txBody>
      </p:sp>
      <p:sp>
        <p:nvSpPr>
          <p:cNvPr id="4" name="Shape 2"/>
          <p:cNvSpPr/>
          <p:nvPr/>
        </p:nvSpPr>
        <p:spPr>
          <a:xfrm>
            <a:off x="640080" y="3977640"/>
            <a:ext cx="1005840" cy="10973"/>
          </a:xfrm>
          <a:prstGeom prst="rect">
            <a:avLst/>
          </a:prstGeom>
          <a:solidFill>
            <a:srgbClr val="F5A623"/>
          </a:solidFill>
          <a:ln w="12700">
            <a:solidFill>
              <a:srgbClr val="F5A623"/>
            </a:solidFill>
            <a:prstDash val="solid"/>
          </a:ln>
        </p:spPr>
      </p:sp>
      <p:sp>
        <p:nvSpPr>
          <p:cNvPr id="5" name="Text 3"/>
          <p:cNvSpPr/>
          <p:nvPr/>
        </p:nvSpPr>
        <p:spPr>
          <a:xfrm>
            <a:off x="640080" y="4434840"/>
            <a:ext cx="2468880" cy="658368"/>
          </a:xfrm>
          <a:prstGeom prst="rect">
            <a:avLst/>
          </a:prstGeom>
          <a:noFill/>
          <a:ln/>
        </p:spPr>
        <p:txBody>
          <a:bodyPr wrap="square" lIns="0" tIns="0" rIns="0" bIns="0" rtlCol="0" anchor="ctr"/>
          <a:lstStyle/>
          <a:p>
            <a:pPr indent="0" marL="0">
              <a:buNone/>
            </a:pPr>
            <a:r>
              <a:rPr lang="en-US" sz="3600" b="1" spc="-200" kern="0" dirty="0">
                <a:solidFill>
                  <a:srgbClr val="F5A623"/>
                </a:solidFill>
                <a:latin typeface="Arial" pitchFamily="34" charset="0"/>
                <a:ea typeface="Arial" pitchFamily="34" charset="-122"/>
                <a:cs typeface="Arial" pitchFamily="34" charset="-120"/>
              </a:rPr>
              <a:t>6,137</a:t>
            </a:r>
            <a:endParaRPr lang="en-US" sz="3600" dirty="0"/>
          </a:p>
        </p:txBody>
      </p:sp>
      <p:sp>
        <p:nvSpPr>
          <p:cNvPr id="6" name="Text 4"/>
          <p:cNvSpPr/>
          <p:nvPr/>
        </p:nvSpPr>
        <p:spPr>
          <a:xfrm>
            <a:off x="640080" y="5111496"/>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7C88B0"/>
                </a:solidFill>
                <a:latin typeface="Calibri" pitchFamily="34" charset="0"/>
                <a:ea typeface="Calibri" pitchFamily="34" charset="-122"/>
                <a:cs typeface="Calibri" pitchFamily="34" charset="-120"/>
              </a:rPr>
              <a:t>listed companies</a:t>
            </a:r>
            <a:endParaRPr lang="en-US" sz="1100" dirty="0"/>
          </a:p>
        </p:txBody>
      </p:sp>
      <p:sp>
        <p:nvSpPr>
          <p:cNvPr id="7" name="Text 5"/>
          <p:cNvSpPr/>
          <p:nvPr/>
        </p:nvSpPr>
        <p:spPr>
          <a:xfrm>
            <a:off x="3337560" y="4434840"/>
            <a:ext cx="2468880" cy="658368"/>
          </a:xfrm>
          <a:prstGeom prst="rect">
            <a:avLst/>
          </a:prstGeom>
          <a:noFill/>
          <a:ln/>
        </p:spPr>
        <p:txBody>
          <a:bodyPr wrap="square" lIns="0" tIns="0" rIns="0" bIns="0" rtlCol="0" anchor="ctr"/>
          <a:lstStyle/>
          <a:p>
            <a:pPr indent="0" marL="0">
              <a:buNone/>
            </a:pPr>
            <a:r>
              <a:rPr lang="en-US" sz="3600" b="1" spc="-200" kern="0" dirty="0">
                <a:solidFill>
                  <a:srgbClr val="F5A623"/>
                </a:solidFill>
                <a:latin typeface="Arial" pitchFamily="34" charset="0"/>
                <a:ea typeface="Arial" pitchFamily="34" charset="-122"/>
                <a:cs typeface="Arial" pitchFamily="34" charset="-120"/>
              </a:rPr>
              <a:t>584K</a:t>
            </a:r>
            <a:endParaRPr lang="en-US" sz="3600" dirty="0"/>
          </a:p>
        </p:txBody>
      </p:sp>
      <p:sp>
        <p:nvSpPr>
          <p:cNvPr id="8" name="Text 6"/>
          <p:cNvSpPr/>
          <p:nvPr/>
        </p:nvSpPr>
        <p:spPr>
          <a:xfrm>
            <a:off x="3337560" y="5111496"/>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7C88B0"/>
                </a:solidFill>
                <a:latin typeface="Calibri" pitchFamily="34" charset="0"/>
                <a:ea typeface="Calibri" pitchFamily="34" charset="-122"/>
                <a:cs typeface="Calibri" pitchFamily="34" charset="-120"/>
              </a:rPr>
              <a:t>filings parsed</a:t>
            </a:r>
            <a:endParaRPr lang="en-US" sz="1100" dirty="0"/>
          </a:p>
        </p:txBody>
      </p:sp>
      <p:sp>
        <p:nvSpPr>
          <p:cNvPr id="9" name="Text 7"/>
          <p:cNvSpPr/>
          <p:nvPr/>
        </p:nvSpPr>
        <p:spPr>
          <a:xfrm>
            <a:off x="6035040" y="4434840"/>
            <a:ext cx="2468880" cy="658368"/>
          </a:xfrm>
          <a:prstGeom prst="rect">
            <a:avLst/>
          </a:prstGeom>
          <a:noFill/>
          <a:ln/>
        </p:spPr>
        <p:txBody>
          <a:bodyPr wrap="square" lIns="0" tIns="0" rIns="0" bIns="0" rtlCol="0" anchor="ctr"/>
          <a:lstStyle/>
          <a:p>
            <a:pPr indent="0" marL="0">
              <a:buNone/>
            </a:pPr>
            <a:r>
              <a:rPr lang="en-US" sz="3600" b="1" spc="-200" kern="0" dirty="0">
                <a:solidFill>
                  <a:srgbClr val="F5A623"/>
                </a:solidFill>
                <a:latin typeface="Arial" pitchFamily="34" charset="0"/>
                <a:ea typeface="Arial" pitchFamily="34" charset="-122"/>
                <a:cs typeface="Arial" pitchFamily="34" charset="-120"/>
              </a:rPr>
              <a:t>1.35M</a:t>
            </a:r>
            <a:endParaRPr lang="en-US" sz="3600" dirty="0"/>
          </a:p>
        </p:txBody>
      </p:sp>
      <p:sp>
        <p:nvSpPr>
          <p:cNvPr id="10" name="Text 8"/>
          <p:cNvSpPr/>
          <p:nvPr/>
        </p:nvSpPr>
        <p:spPr>
          <a:xfrm>
            <a:off x="6035040" y="5111496"/>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7C88B0"/>
                </a:solidFill>
                <a:latin typeface="Calibri" pitchFamily="34" charset="0"/>
                <a:ea typeface="Calibri" pitchFamily="34" charset="-122"/>
                <a:cs typeface="Calibri" pitchFamily="34" charset="-120"/>
              </a:rPr>
              <a:t>vectors indexed</a:t>
            </a:r>
            <a:endParaRPr lang="en-US" sz="1100" dirty="0"/>
          </a:p>
        </p:txBody>
      </p:sp>
      <p:sp>
        <p:nvSpPr>
          <p:cNvPr id="11" name="Text 9"/>
          <p:cNvSpPr/>
          <p:nvPr/>
        </p:nvSpPr>
        <p:spPr>
          <a:xfrm>
            <a:off x="8732520" y="4434840"/>
            <a:ext cx="2468880" cy="658368"/>
          </a:xfrm>
          <a:prstGeom prst="rect">
            <a:avLst/>
          </a:prstGeom>
          <a:noFill/>
          <a:ln/>
        </p:spPr>
        <p:txBody>
          <a:bodyPr wrap="square" lIns="0" tIns="0" rIns="0" bIns="0" rtlCol="0" anchor="ctr"/>
          <a:lstStyle/>
          <a:p>
            <a:pPr indent="0" marL="0">
              <a:buNone/>
            </a:pPr>
            <a:r>
              <a:rPr lang="en-US" sz="3600" b="1" spc="-200" kern="0" dirty="0">
                <a:solidFill>
                  <a:srgbClr val="F5A623"/>
                </a:solidFill>
                <a:latin typeface="Arial" pitchFamily="34" charset="0"/>
                <a:ea typeface="Arial" pitchFamily="34" charset="-122"/>
                <a:cs typeface="Arial" pitchFamily="34" charset="-120"/>
              </a:rPr>
              <a:t>1</a:t>
            </a:r>
            <a:endParaRPr lang="en-US" sz="3600" dirty="0"/>
          </a:p>
        </p:txBody>
      </p:sp>
      <p:sp>
        <p:nvSpPr>
          <p:cNvPr id="12" name="Text 10"/>
          <p:cNvSpPr/>
          <p:nvPr/>
        </p:nvSpPr>
        <p:spPr>
          <a:xfrm>
            <a:off x="8732520" y="5111496"/>
            <a:ext cx="2468880" cy="548640"/>
          </a:xfrm>
          <a:prstGeom prst="rect">
            <a:avLst/>
          </a:prstGeom>
          <a:noFill/>
          <a:ln/>
        </p:spPr>
        <p:txBody>
          <a:bodyPr wrap="square" lIns="0" tIns="0" rIns="0" bIns="0" rtlCol="0" anchor="ctr"/>
          <a:lstStyle/>
          <a:p>
            <a:pPr indent="0" marL="0">
              <a:lnSpc>
                <a:spcPts val="1400"/>
              </a:lnSpc>
              <a:buNone/>
            </a:pPr>
            <a:r>
              <a:rPr lang="en-US" sz="1100" dirty="0">
                <a:solidFill>
                  <a:srgbClr val="7C88B0"/>
                </a:solidFill>
                <a:latin typeface="Calibri" pitchFamily="34" charset="0"/>
                <a:ea typeface="Calibri" pitchFamily="34" charset="-122"/>
                <a:cs typeface="Calibri" pitchFamily="34" charset="-120"/>
              </a:rPr>
              <a:t>broker to build with first</a:t>
            </a:r>
            <a:endParaRPr lang="en-US" sz="1100" dirty="0"/>
          </a:p>
        </p:txBody>
      </p:sp>
      <p:sp>
        <p:nvSpPr>
          <p:cNvPr id="13" name="Text 11"/>
          <p:cNvSpPr/>
          <p:nvPr/>
        </p:nvSpPr>
        <p:spPr>
          <a:xfrm>
            <a:off x="640080" y="6035040"/>
            <a:ext cx="10908792" cy="274320"/>
          </a:xfrm>
          <a:prstGeom prst="rect">
            <a:avLst/>
          </a:prstGeom>
          <a:noFill/>
          <a:ln/>
        </p:spPr>
        <p:txBody>
          <a:bodyPr wrap="square" lIns="0" tIns="0" rIns="0" bIns="0" rtlCol="0" anchor="t"/>
          <a:lstStyle/>
          <a:p>
            <a:pPr indent="0" marL="0">
              <a:lnSpc>
                <a:spcPts val="1700"/>
              </a:lnSpc>
              <a:buNone/>
            </a:pPr>
            <a:r>
              <a:rPr lang="en-US" sz="1200" b="1" dirty="0">
                <a:solidFill>
                  <a:srgbClr val="F5A623"/>
                </a:solidFill>
                <a:latin typeface="Calibri" pitchFamily="34" charset="0"/>
                <a:ea typeface="Calibri" pitchFamily="34" charset="-122"/>
                <a:cs typeface="Calibri" pitchFamily="34" charset="-120"/>
              </a:rPr>
              <a:t>Prepared for [Investor / Partner name]</a:t>
            </a:r>
            <a:endParaRPr lang="en-US" sz="1200" dirty="0"/>
          </a:p>
        </p:txBody>
      </p:sp>
      <p:sp>
        <p:nvSpPr>
          <p:cNvPr id="14" name="Text 12"/>
          <p:cNvSpPr/>
          <p:nvPr/>
        </p:nvSpPr>
        <p:spPr>
          <a:xfrm>
            <a:off x="640080" y="6355080"/>
            <a:ext cx="10908792" cy="274320"/>
          </a:xfrm>
          <a:prstGeom prst="rect">
            <a:avLst/>
          </a:prstGeom>
          <a:noFill/>
          <a:ln/>
        </p:spPr>
        <p:txBody>
          <a:bodyPr wrap="square" lIns="0" tIns="0" rIns="0" bIns="0" rtlCol="0" anchor="t"/>
          <a:lstStyle/>
          <a:p>
            <a:pPr indent="0" marL="0">
              <a:lnSpc>
                <a:spcPts val="1700"/>
              </a:lnSpc>
              <a:buNone/>
            </a:pPr>
            <a:r>
              <a:rPr lang="en-US" sz="1050" dirty="0">
                <a:solidFill>
                  <a:srgbClr val="7C88B0"/>
                </a:solidFill>
                <a:latin typeface="Calibri" pitchFamily="34" charset="0"/>
                <a:ea typeface="Calibri" pitchFamily="34" charset="-122"/>
                <a:cs typeface="Calibri" pitchFamily="34" charset="-120"/>
              </a:rPr>
              <a:t>Harsh Bhardwaj · harsh@anvest.in · anvest.in</a:t>
            </a:r>
            <a:endParaRPr lang="en-US" sz="1050" dirty="0"/>
          </a:p>
        </p:txBody>
      </p:sp>
    </p:spTree>
  </p:cSld>
  <p:clrMapOvr>
    <a:masterClrMapping/>
  </p:clrMapOvr>
  <p:transition xmlns:p14="http://schemas.microsoft.com/office/powerpoint/2010/main" spd="med" p14:dur="7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OPPORTUNITY, FROM YOUR SIDE</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Your users open the app to trade.</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They close it right after.</a:t>
            </a:r>
            <a:endParaRPr lang="en-US" sz="4000" dirty="0"/>
          </a:p>
        </p:txBody>
      </p:sp>
      <p:sp>
        <p:nvSpPr>
          <p:cNvPr id="4" name="Text 2"/>
          <p:cNvSpPr/>
          <p:nvPr/>
        </p:nvSpPr>
        <p:spPr>
          <a:xfrm>
            <a:off x="640080" y="2606040"/>
            <a:ext cx="5120640" cy="1463040"/>
          </a:xfrm>
          <a:prstGeom prst="rect">
            <a:avLst/>
          </a:prstGeom>
          <a:noFill/>
          <a:ln/>
        </p:spPr>
        <p:txBody>
          <a:bodyPr wrap="square" lIns="0" tIns="0" rIns="0" bIns="0" rtlCol="0" anchor="ctr"/>
          <a:lstStyle/>
          <a:p>
            <a:pPr indent="0" marL="0">
              <a:lnSpc>
                <a:spcPts val="15000"/>
              </a:lnSpc>
              <a:buNone/>
            </a:pPr>
            <a:r>
              <a:rPr lang="en-US" sz="15000" b="1" spc="-400" kern="0" dirty="0">
                <a:solidFill>
                  <a:srgbClr val="F5A623"/>
                </a:solidFill>
                <a:latin typeface="Arial" pitchFamily="34" charset="0"/>
                <a:ea typeface="Arial" pitchFamily="34" charset="-122"/>
                <a:cs typeface="Arial" pitchFamily="34" charset="-120"/>
              </a:rPr>
              <a:t>91%</a:t>
            </a:r>
            <a:endParaRPr lang="en-US" sz="15000" dirty="0"/>
          </a:p>
        </p:txBody>
      </p:sp>
      <p:sp>
        <p:nvSpPr>
          <p:cNvPr id="5" name="Text 3"/>
          <p:cNvSpPr/>
          <p:nvPr/>
        </p:nvSpPr>
        <p:spPr>
          <a:xfrm>
            <a:off x="640080" y="4297680"/>
            <a:ext cx="4937760" cy="731520"/>
          </a:xfrm>
          <a:prstGeom prst="rect">
            <a:avLst/>
          </a:prstGeom>
          <a:noFill/>
          <a:ln/>
        </p:spPr>
        <p:txBody>
          <a:bodyPr wrap="square" lIns="0" tIns="0" rIns="0" bIns="0" rtlCol="0" anchor="ctr"/>
          <a:lstStyle/>
          <a:p>
            <a:pPr indent="0" marL="0">
              <a:lnSpc>
                <a:spcPts val="2100"/>
              </a:lnSpc>
              <a:buNone/>
            </a:pPr>
            <a:r>
              <a:rPr lang="en-US" sz="1400" dirty="0">
                <a:solidFill>
                  <a:srgbClr val="C9D3F0"/>
                </a:solidFill>
                <a:latin typeface="Calibri" pitchFamily="34" charset="0"/>
                <a:ea typeface="Calibri" pitchFamily="34" charset="-122"/>
                <a:cs typeface="Calibri" pitchFamily="34" charset="-120"/>
              </a:rPr>
              <a:t>of individual F&amp;O traders lost money in FY25 — SEBI's own study, ₹1.06 lakh crore in net losses. Every brokerage in India is being pushed by the regulator toward research and away from speculation.</a:t>
            </a:r>
            <a:endParaRPr lang="en-US" sz="1400" dirty="0"/>
          </a:p>
        </p:txBody>
      </p:sp>
      <p:sp>
        <p:nvSpPr>
          <p:cNvPr id="6" name="Shape 4"/>
          <p:cNvSpPr/>
          <p:nvPr/>
        </p:nvSpPr>
        <p:spPr>
          <a:xfrm>
            <a:off x="6172200" y="2194560"/>
            <a:ext cx="5376672" cy="1133856"/>
          </a:xfrm>
          <a:prstGeom prst="roundRect">
            <a:avLst>
              <a:gd name="adj" fmla="val 11290"/>
            </a:avLst>
          </a:prstGeom>
          <a:solidFill>
            <a:srgbClr val="FFFFFF">
              <a:alpha val="8000"/>
            </a:srgbClr>
          </a:solidFill>
          <a:ln w="9525">
            <a:solidFill>
              <a:srgbClr val="FFFFFF">
                <a:alpha val="22000"/>
              </a:srgbClr>
            </a:solidFill>
            <a:prstDash val="solid"/>
          </a:ln>
        </p:spPr>
      </p:sp>
      <p:sp>
        <p:nvSpPr>
          <p:cNvPr id="7" name="Shape 5"/>
          <p:cNvSpPr/>
          <p:nvPr/>
        </p:nvSpPr>
        <p:spPr>
          <a:xfrm>
            <a:off x="6510528" y="2478024"/>
            <a:ext cx="118872" cy="118872"/>
          </a:xfrm>
          <a:prstGeom prst="ellipse">
            <a:avLst/>
          </a:prstGeom>
          <a:solidFill>
            <a:srgbClr val="F5A623"/>
          </a:solidFill>
          <a:ln w="12700">
            <a:solidFill>
              <a:srgbClr val="F5A623"/>
            </a:solidFill>
            <a:prstDash val="solid"/>
          </a:ln>
        </p:spPr>
      </p:sp>
      <p:sp>
        <p:nvSpPr>
          <p:cNvPr id="8" name="Text 6"/>
          <p:cNvSpPr/>
          <p:nvPr/>
        </p:nvSpPr>
        <p:spPr>
          <a:xfrm>
            <a:off x="6812280" y="2368296"/>
            <a:ext cx="4526280" cy="27432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Engagement is transactional</a:t>
            </a:r>
            <a:endParaRPr lang="en-US" sz="1350" dirty="0"/>
          </a:p>
        </p:txBody>
      </p:sp>
      <p:sp>
        <p:nvSpPr>
          <p:cNvPr id="9" name="Text 7"/>
          <p:cNvSpPr/>
          <p:nvPr/>
        </p:nvSpPr>
        <p:spPr>
          <a:xfrm>
            <a:off x="6812280" y="2697480"/>
            <a:ext cx="4526280" cy="56692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A user checks the app to place an order or check a fill. Nothing brings them back between trades — the app has no reason to be opened on a quiet day.</a:t>
            </a:r>
            <a:endParaRPr lang="en-US" sz="1000" dirty="0"/>
          </a:p>
        </p:txBody>
      </p:sp>
      <p:sp>
        <p:nvSpPr>
          <p:cNvPr id="10" name="Shape 8"/>
          <p:cNvSpPr/>
          <p:nvPr/>
        </p:nvSpPr>
        <p:spPr>
          <a:xfrm>
            <a:off x="6172200" y="3493008"/>
            <a:ext cx="5376672" cy="1133856"/>
          </a:xfrm>
          <a:prstGeom prst="roundRect">
            <a:avLst>
              <a:gd name="adj" fmla="val 11290"/>
            </a:avLst>
          </a:prstGeom>
          <a:solidFill>
            <a:srgbClr val="FFFFFF">
              <a:alpha val="8000"/>
            </a:srgbClr>
          </a:solidFill>
          <a:ln w="9525">
            <a:solidFill>
              <a:srgbClr val="FFFFFF">
                <a:alpha val="22000"/>
              </a:srgbClr>
            </a:solidFill>
            <a:prstDash val="solid"/>
          </a:ln>
        </p:spPr>
      </p:sp>
      <p:sp>
        <p:nvSpPr>
          <p:cNvPr id="11" name="Shape 9"/>
          <p:cNvSpPr/>
          <p:nvPr/>
        </p:nvSpPr>
        <p:spPr>
          <a:xfrm>
            <a:off x="6510528" y="3776472"/>
            <a:ext cx="118872" cy="118872"/>
          </a:xfrm>
          <a:prstGeom prst="ellipse">
            <a:avLst/>
          </a:prstGeom>
          <a:solidFill>
            <a:srgbClr val="F5A623"/>
          </a:solidFill>
          <a:ln w="12700">
            <a:solidFill>
              <a:srgbClr val="F5A623"/>
            </a:solidFill>
            <a:prstDash val="solid"/>
          </a:ln>
        </p:spPr>
      </p:sp>
      <p:sp>
        <p:nvSpPr>
          <p:cNvPr id="12" name="Text 10"/>
          <p:cNvSpPr/>
          <p:nvPr/>
        </p:nvSpPr>
        <p:spPr>
          <a:xfrm>
            <a:off x="6812280" y="3666744"/>
            <a:ext cx="4526280" cy="27432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Research is a checkbox, not a habit</a:t>
            </a:r>
            <a:endParaRPr lang="en-US" sz="1350" dirty="0"/>
          </a:p>
        </p:txBody>
      </p:sp>
      <p:sp>
        <p:nvSpPr>
          <p:cNvPr id="13" name="Text 11"/>
          <p:cNvSpPr/>
          <p:nvPr/>
        </p:nvSpPr>
        <p:spPr>
          <a:xfrm>
            <a:off x="6812280" y="3995928"/>
            <a:ext cx="4526280" cy="56692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An in-house research tab gets built once and maintained lightly. It answers 'what are the numbers' — not 'why did they move' or 'should I still be holding this.'</a:t>
            </a:r>
            <a:endParaRPr lang="en-US" sz="1000" dirty="0"/>
          </a:p>
        </p:txBody>
      </p:sp>
      <p:sp>
        <p:nvSpPr>
          <p:cNvPr id="14" name="Shape 12"/>
          <p:cNvSpPr/>
          <p:nvPr/>
        </p:nvSpPr>
        <p:spPr>
          <a:xfrm>
            <a:off x="6172200" y="4791456"/>
            <a:ext cx="5376672" cy="1133856"/>
          </a:xfrm>
          <a:prstGeom prst="roundRect">
            <a:avLst>
              <a:gd name="adj" fmla="val 11290"/>
            </a:avLst>
          </a:prstGeom>
          <a:solidFill>
            <a:srgbClr val="FFFFFF">
              <a:alpha val="8000"/>
            </a:srgbClr>
          </a:solidFill>
          <a:ln w="9525">
            <a:solidFill>
              <a:srgbClr val="FFFFFF">
                <a:alpha val="22000"/>
              </a:srgbClr>
            </a:solidFill>
            <a:prstDash val="solid"/>
          </a:ln>
        </p:spPr>
      </p:sp>
      <p:sp>
        <p:nvSpPr>
          <p:cNvPr id="15" name="Shape 13"/>
          <p:cNvSpPr/>
          <p:nvPr/>
        </p:nvSpPr>
        <p:spPr>
          <a:xfrm>
            <a:off x="6510528" y="5074920"/>
            <a:ext cx="118872" cy="118872"/>
          </a:xfrm>
          <a:prstGeom prst="ellipse">
            <a:avLst/>
          </a:prstGeom>
          <a:solidFill>
            <a:srgbClr val="F5A623"/>
          </a:solidFill>
          <a:ln w="12700">
            <a:solidFill>
              <a:srgbClr val="F5A623"/>
            </a:solidFill>
            <a:prstDash val="solid"/>
          </a:ln>
        </p:spPr>
      </p:sp>
      <p:sp>
        <p:nvSpPr>
          <p:cNvPr id="16" name="Text 14"/>
          <p:cNvSpPr/>
          <p:nvPr/>
        </p:nvSpPr>
        <p:spPr>
          <a:xfrm>
            <a:off x="6812280" y="4965192"/>
            <a:ext cx="4526280" cy="27432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SEBI is pushing you here anyway</a:t>
            </a:r>
            <a:endParaRPr lang="en-US" sz="1350" dirty="0"/>
          </a:p>
        </p:txBody>
      </p:sp>
      <p:sp>
        <p:nvSpPr>
          <p:cNvPr id="17" name="Text 15"/>
          <p:cNvSpPr/>
          <p:nvPr/>
        </p:nvSpPr>
        <p:spPr>
          <a:xfrm>
            <a:off x="6812280" y="5294376"/>
            <a:ext cx="4526280" cy="56692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Dec-2024 AI-disclosure amendments and the FY25 F&amp;O study both point the same direction: brokers that help users understand risk, not just take it, are the ones regulators favour.</a:t>
            </a:r>
            <a:endParaRPr lang="en-US" sz="1000" dirty="0"/>
          </a:p>
        </p:txBody>
      </p:sp>
      <p:sp>
        <p:nvSpPr>
          <p:cNvPr id="18" name="Text 16"/>
          <p:cNvSpPr/>
          <p:nvPr/>
        </p:nvSpPr>
        <p:spPr>
          <a:xfrm>
            <a:off x="640080" y="6355080"/>
            <a:ext cx="10908792" cy="256032"/>
          </a:xfrm>
          <a:prstGeom prst="rect">
            <a:avLst/>
          </a:prstGeom>
          <a:noFill/>
          <a:ln/>
        </p:spPr>
        <p:txBody>
          <a:bodyPr wrap="square" lIns="0" tIns="0" rIns="0" bIns="0" rtlCol="0" anchor="ctr"/>
          <a:lstStyle/>
          <a:p>
            <a:pPr indent="0" marL="0">
              <a:buNone/>
            </a:pPr>
            <a:r>
              <a:rPr lang="en-US" sz="850" i="1" dirty="0">
                <a:solidFill>
                  <a:srgbClr val="7C88B0"/>
                </a:solidFill>
                <a:latin typeface="Calibri" pitchFamily="34" charset="0"/>
                <a:ea typeface="Calibri" pitchFamily="34" charset="-122"/>
                <a:cs typeface="Calibri" pitchFamily="34" charset="-120"/>
              </a:rPr>
              <a:t>SEBI FY25 derivatives study · SEBI AI-disclosure amendments, Dec 2024</a:t>
            </a:r>
            <a:endParaRPr lang="en-US" sz="850" dirty="0"/>
          </a:p>
        </p:txBody>
      </p:sp>
    </p:spTree>
  </p:cSld>
  <p:clrMapOvr>
    <a:masterClrMapping/>
  </p:clrMapOvr>
  <p:transition xmlns:p14="http://schemas.microsoft.com/office/powerpoint/2010/main" spd="med" p14:dur="600">
    <p:fade/>
  </p:transition>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par>
                          <p:cTn id="26" fill="hold">
                            <p:stCondLst>
                              <p:cond delay="0"/>
                            </p:stCondLst>
                            <p:childTnLst>
                              <p:par>
                                <p:cTn id="27" presetID="10" presetClass="entr" presetSubtype="0" fill="hold" grpId="0" nodeType="afterEffect">
                                  <p:stCondLst>
                                    <p:cond delay="11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WHAT WE BRING</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A grounded answer,</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not another dashboard</a:t>
            </a:r>
            <a:endParaRPr lang="en-US" sz="4000" dirty="0"/>
          </a:p>
        </p:txBody>
      </p:sp>
      <p:sp>
        <p:nvSpPr>
          <p:cNvPr id="4" name="Shape 2"/>
          <p:cNvSpPr/>
          <p:nvPr/>
        </p:nvSpPr>
        <p:spPr>
          <a:xfrm>
            <a:off x="640080" y="1828800"/>
            <a:ext cx="5760720" cy="640080"/>
          </a:xfrm>
          <a:prstGeom prst="roundRect">
            <a:avLst>
              <a:gd name="adj" fmla="val 50000"/>
            </a:avLst>
          </a:prstGeom>
          <a:solidFill>
            <a:srgbClr val="FFFFFF">
              <a:alpha val="6000"/>
            </a:srgbClr>
          </a:solidFill>
          <a:ln w="9525">
            <a:solidFill>
              <a:srgbClr val="FFFFFF">
                <a:alpha val="22000"/>
              </a:srgbClr>
            </a:solidFill>
            <a:prstDash val="solid"/>
          </a:ln>
        </p:spPr>
      </p:sp>
      <p:sp>
        <p:nvSpPr>
          <p:cNvPr id="5" name="Text 3"/>
          <p:cNvSpPr/>
          <p:nvPr/>
        </p:nvSpPr>
        <p:spPr>
          <a:xfrm>
            <a:off x="1024128" y="1828800"/>
            <a:ext cx="5029200" cy="640080"/>
          </a:xfrm>
          <a:prstGeom prst="rect">
            <a:avLst/>
          </a:prstGeom>
          <a:noFill/>
          <a:ln/>
        </p:spPr>
        <p:txBody>
          <a:bodyPr wrap="square" lIns="0" tIns="0" rIns="0" bIns="0" rtlCol="0" anchor="ctr"/>
          <a:lstStyle/>
          <a:p>
            <a:pPr indent="0" marL="0">
              <a:lnSpc>
                <a:spcPts val="1700"/>
              </a:lnSpc>
              <a:buNone/>
            </a:pPr>
            <a:r>
              <a:rPr lang="en-US" sz="1350" i="1" dirty="0">
                <a:solidFill>
                  <a:srgbClr val="FFFFFF"/>
                </a:solidFill>
                <a:latin typeface="Calibri" pitchFamily="34" charset="0"/>
                <a:ea typeface="Calibri" pitchFamily="34" charset="-122"/>
                <a:cs typeface="Calibri" pitchFamily="34" charset="-120"/>
              </a:rPr>
              <a:t>“Why did operating margin fall last quarter?”</a:t>
            </a:r>
            <a:endParaRPr lang="en-US" sz="1350" dirty="0"/>
          </a:p>
        </p:txBody>
      </p:sp>
      <p:sp>
        <p:nvSpPr>
          <p:cNvPr id="6" name="Shape 4"/>
          <p:cNvSpPr/>
          <p:nvPr/>
        </p:nvSpPr>
        <p:spPr>
          <a:xfrm>
            <a:off x="640080" y="2697480"/>
            <a:ext cx="5760720" cy="2743200"/>
          </a:xfrm>
          <a:prstGeom prst="roundRect">
            <a:avLst>
              <a:gd name="adj" fmla="val 4667"/>
            </a:avLst>
          </a:prstGeom>
          <a:solidFill>
            <a:srgbClr val="FFFFFF">
              <a:alpha val="12000"/>
            </a:srgbClr>
          </a:solidFill>
          <a:ln w="9525">
            <a:solidFill>
              <a:srgbClr val="FFFFFF">
                <a:alpha val="22000"/>
              </a:srgbClr>
            </a:solidFill>
            <a:prstDash val="solid"/>
          </a:ln>
        </p:spPr>
      </p:sp>
      <p:sp>
        <p:nvSpPr>
          <p:cNvPr id="7" name="Text 5"/>
          <p:cNvSpPr/>
          <p:nvPr/>
        </p:nvSpPr>
        <p:spPr>
          <a:xfrm>
            <a:off x="1024128" y="2907792"/>
            <a:ext cx="1463040" cy="237744"/>
          </a:xfrm>
          <a:prstGeom prst="rect">
            <a:avLst/>
          </a:prstGeom>
          <a:noFill/>
          <a:ln/>
        </p:spPr>
        <p:txBody>
          <a:bodyPr wrap="square" lIns="0" tIns="0" rIns="0" bIns="0" rtlCol="0" anchor="t"/>
          <a:lstStyle/>
          <a:p>
            <a:pPr indent="0" marL="0">
              <a:lnSpc>
                <a:spcPts val="1700"/>
              </a:lnSpc>
              <a:buNone/>
            </a:pPr>
            <a:r>
              <a:rPr lang="en-US" sz="900" b="1" spc="200" kern="0" dirty="0">
                <a:solidFill>
                  <a:srgbClr val="F5A623"/>
                </a:solidFill>
                <a:latin typeface="Calibri" pitchFamily="34" charset="0"/>
                <a:ea typeface="Calibri" pitchFamily="34" charset="-122"/>
                <a:cs typeface="Calibri" pitchFamily="34" charset="-120"/>
              </a:rPr>
              <a:t>ANSWER</a:t>
            </a:r>
            <a:endParaRPr lang="en-US" sz="900" dirty="0"/>
          </a:p>
        </p:txBody>
      </p:sp>
      <p:sp>
        <p:nvSpPr>
          <p:cNvPr id="8" name="Text 6"/>
          <p:cNvSpPr/>
          <p:nvPr/>
        </p:nvSpPr>
        <p:spPr>
          <a:xfrm>
            <a:off x="1024128" y="3246120"/>
            <a:ext cx="5029200" cy="868680"/>
          </a:xfrm>
          <a:prstGeom prst="rect">
            <a:avLst/>
          </a:prstGeom>
          <a:noFill/>
          <a:ln/>
        </p:spPr>
        <p:txBody>
          <a:bodyPr wrap="square" lIns="0" tIns="0" rIns="0" bIns="0" rtlCol="0" anchor="t"/>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Operating margin fell 210 bps to 14.3% on higher raw-material costs, per the company's Q1 FY26 results filing dated 24 Jul 2026.</a:t>
            </a:r>
            <a:endParaRPr lang="en-US" sz="1400" dirty="0"/>
          </a:p>
        </p:txBody>
      </p:sp>
      <p:sp>
        <p:nvSpPr>
          <p:cNvPr id="9" name="Shape 7"/>
          <p:cNvSpPr/>
          <p:nvPr/>
        </p:nvSpPr>
        <p:spPr>
          <a:xfrm>
            <a:off x="1024128" y="4224528"/>
            <a:ext cx="4114800" cy="475488"/>
          </a:xfrm>
          <a:prstGeom prst="roundRect">
            <a:avLst>
              <a:gd name="adj" fmla="val 19231"/>
            </a:avLst>
          </a:prstGeom>
          <a:solidFill>
            <a:srgbClr val="F5A623"/>
          </a:solidFill>
          <a:ln w="12700">
            <a:solidFill>
              <a:srgbClr val="F5A623"/>
            </a:solidFill>
            <a:prstDash val="solid"/>
          </a:ln>
        </p:spPr>
      </p:sp>
      <p:sp>
        <p:nvSpPr>
          <p:cNvPr id="10" name="Text 8"/>
          <p:cNvSpPr/>
          <p:nvPr/>
        </p:nvSpPr>
        <p:spPr>
          <a:xfrm>
            <a:off x="1280160" y="4224528"/>
            <a:ext cx="3840480" cy="475488"/>
          </a:xfrm>
          <a:prstGeom prst="rect">
            <a:avLst/>
          </a:prstGeom>
          <a:noFill/>
          <a:ln/>
        </p:spPr>
        <p:txBody>
          <a:bodyPr wrap="square" lIns="0" tIns="0" rIns="0" bIns="0" rtlCol="0" anchor="ctr"/>
          <a:lstStyle/>
          <a:p>
            <a:pPr indent="0" marL="0">
              <a:lnSpc>
                <a:spcPts val="1700"/>
              </a:lnSpc>
              <a:buNone/>
            </a:pPr>
            <a:r>
              <a:rPr lang="en-US" sz="1100" b="1" dirty="0">
                <a:solidFill>
                  <a:srgbClr val="0B0E26"/>
                </a:solidFill>
                <a:latin typeface="Calibri" pitchFamily="34" charset="0"/>
                <a:ea typeface="Calibri" pitchFamily="34" charset="-122"/>
                <a:cs typeface="Calibri" pitchFamily="34" charset="-120"/>
              </a:rPr>
              <a:t>Source: Q1 FY26 Results.pdf, p.4  →</a:t>
            </a:r>
            <a:endParaRPr lang="en-US" sz="1100" dirty="0"/>
          </a:p>
        </p:txBody>
      </p:sp>
      <p:sp>
        <p:nvSpPr>
          <p:cNvPr id="11" name="Text 9"/>
          <p:cNvSpPr/>
          <p:nvPr/>
        </p:nvSpPr>
        <p:spPr>
          <a:xfrm>
            <a:off x="1024128" y="4892040"/>
            <a:ext cx="5029200" cy="365760"/>
          </a:xfrm>
          <a:prstGeom prst="rect">
            <a:avLst/>
          </a:prstGeom>
          <a:noFill/>
          <a:ln/>
        </p:spPr>
        <p:txBody>
          <a:bodyPr wrap="square" lIns="0" tIns="0" rIns="0" bIns="0" rtlCol="0" anchor="t"/>
          <a:lstStyle/>
          <a:p>
            <a:pPr indent="0" marL="0">
              <a:lnSpc>
                <a:spcPts val="1700"/>
              </a:lnSpc>
              <a:buNone/>
            </a:pPr>
            <a:r>
              <a:rPr lang="en-US" sz="1050" i="1" dirty="0">
                <a:solidFill>
                  <a:srgbClr val="7C88B0"/>
                </a:solidFill>
                <a:latin typeface="Calibri" pitchFamily="34" charset="0"/>
                <a:ea typeface="Calibri" pitchFamily="34" charset="-122"/>
                <a:cs typeface="Calibri" pitchFamily="34" charset="-120"/>
              </a:rPr>
              <a:t>Numbers are read from the warehouse. The model never calculates.</a:t>
            </a:r>
            <a:endParaRPr lang="en-US" sz="1050" dirty="0"/>
          </a:p>
        </p:txBody>
      </p:sp>
      <p:sp>
        <p:nvSpPr>
          <p:cNvPr id="12" name="Shape 10"/>
          <p:cNvSpPr/>
          <p:nvPr/>
        </p:nvSpPr>
        <p:spPr>
          <a:xfrm>
            <a:off x="6720840" y="1929384"/>
            <a:ext cx="118872" cy="118872"/>
          </a:xfrm>
          <a:prstGeom prst="ellipse">
            <a:avLst/>
          </a:prstGeom>
          <a:solidFill>
            <a:srgbClr val="F5A623"/>
          </a:solidFill>
          <a:ln w="12700">
            <a:solidFill>
              <a:srgbClr val="F5A623"/>
            </a:solidFill>
            <a:prstDash val="solid"/>
          </a:ln>
        </p:spPr>
      </p:sp>
      <p:sp>
        <p:nvSpPr>
          <p:cNvPr id="13" name="Text 11"/>
          <p:cNvSpPr/>
          <p:nvPr/>
        </p:nvSpPr>
        <p:spPr>
          <a:xfrm>
            <a:off x="7022592" y="1828800"/>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A full-universe warehouse, already built</a:t>
            </a:r>
            <a:endParaRPr lang="en-US" sz="1300" dirty="0"/>
          </a:p>
        </p:txBody>
      </p:sp>
      <p:sp>
        <p:nvSpPr>
          <p:cNvPr id="14" name="Text 12"/>
          <p:cNvSpPr/>
          <p:nvPr/>
        </p:nvSpPr>
        <p:spPr>
          <a:xfrm>
            <a:off x="7022592" y="2121408"/>
            <a:ext cx="4526280" cy="65836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6,137 NSE/BSE symbols, two years of filings OCR'd and indexed — the twelve months of data engineering a brokerage's product team would otherwise have to fund.</a:t>
            </a:r>
            <a:endParaRPr lang="en-US" sz="1000" dirty="0"/>
          </a:p>
        </p:txBody>
      </p:sp>
      <p:sp>
        <p:nvSpPr>
          <p:cNvPr id="15" name="Shape 13"/>
          <p:cNvSpPr/>
          <p:nvPr/>
        </p:nvSpPr>
        <p:spPr>
          <a:xfrm>
            <a:off x="6720840" y="2980944"/>
            <a:ext cx="118872" cy="118872"/>
          </a:xfrm>
          <a:prstGeom prst="ellipse">
            <a:avLst/>
          </a:prstGeom>
          <a:solidFill>
            <a:srgbClr val="F5A623"/>
          </a:solidFill>
          <a:ln w="12700">
            <a:solidFill>
              <a:srgbClr val="F5A623"/>
            </a:solidFill>
            <a:prstDash val="solid"/>
          </a:ln>
        </p:spPr>
      </p:sp>
      <p:sp>
        <p:nvSpPr>
          <p:cNvPr id="16" name="Text 14"/>
          <p:cNvSpPr/>
          <p:nvPr/>
        </p:nvSpPr>
        <p:spPr>
          <a:xfrm>
            <a:off x="7022592" y="2880360"/>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Grounded or silent</a:t>
            </a:r>
            <a:endParaRPr lang="en-US" sz="1300" dirty="0"/>
          </a:p>
        </p:txBody>
      </p:sp>
      <p:sp>
        <p:nvSpPr>
          <p:cNvPr id="17" name="Text 15"/>
          <p:cNvSpPr/>
          <p:nvPr/>
        </p:nvSpPr>
        <p:spPr>
          <a:xfrm>
            <a:off x="7022592" y="3172968"/>
            <a:ext cx="4526280" cy="65836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If coverage is missing, it says so. No invented figures — the property that matters most once it's your logo next to the answer.</a:t>
            </a:r>
            <a:endParaRPr lang="en-US" sz="1000" dirty="0"/>
          </a:p>
        </p:txBody>
      </p:sp>
      <p:sp>
        <p:nvSpPr>
          <p:cNvPr id="18" name="Shape 16"/>
          <p:cNvSpPr/>
          <p:nvPr/>
        </p:nvSpPr>
        <p:spPr>
          <a:xfrm>
            <a:off x="6720840" y="4032504"/>
            <a:ext cx="118872" cy="118872"/>
          </a:xfrm>
          <a:prstGeom prst="ellipse">
            <a:avLst/>
          </a:prstGeom>
          <a:solidFill>
            <a:srgbClr val="F5A623"/>
          </a:solidFill>
          <a:ln w="12700">
            <a:solidFill>
              <a:srgbClr val="F5A623"/>
            </a:solidFill>
            <a:prstDash val="solid"/>
          </a:ln>
        </p:spPr>
      </p:sp>
      <p:sp>
        <p:nvSpPr>
          <p:cNvPr id="19" name="Text 17"/>
          <p:cNvSpPr/>
          <p:nvPr/>
        </p:nvSpPr>
        <p:spPr>
          <a:xfrm>
            <a:off x="7022592" y="3931920"/>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Portfolio-aware, on a read-only link</a:t>
            </a:r>
            <a:endParaRPr lang="en-US" sz="1300" dirty="0"/>
          </a:p>
        </p:txBody>
      </p:sp>
      <p:sp>
        <p:nvSpPr>
          <p:cNvPr id="20" name="Text 18"/>
          <p:cNvSpPr/>
          <p:nvPr/>
        </p:nvSpPr>
        <p:spPr>
          <a:xfrm>
            <a:off x="7022592" y="4224528"/>
            <a:ext cx="4526280" cy="65836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Answers ranked by what the user actually owns — the same connection pattern as any broker API integration, nothing new to explain to your compliance team.</a:t>
            </a:r>
            <a:endParaRPr lang="en-US" sz="1000" dirty="0"/>
          </a:p>
        </p:txBody>
      </p:sp>
      <p:sp>
        <p:nvSpPr>
          <p:cNvPr id="21" name="Shape 19"/>
          <p:cNvSpPr/>
          <p:nvPr/>
        </p:nvSpPr>
        <p:spPr>
          <a:xfrm>
            <a:off x="6720840" y="5084064"/>
            <a:ext cx="118872" cy="118872"/>
          </a:xfrm>
          <a:prstGeom prst="ellipse">
            <a:avLst/>
          </a:prstGeom>
          <a:solidFill>
            <a:srgbClr val="F5A623"/>
          </a:solidFill>
          <a:ln w="12700">
            <a:solidFill>
              <a:srgbClr val="F5A623"/>
            </a:solidFill>
            <a:prstDash val="solid"/>
          </a:ln>
        </p:spPr>
      </p:sp>
      <p:sp>
        <p:nvSpPr>
          <p:cNvPr id="22" name="Text 20"/>
          <p:cNvSpPr/>
          <p:nvPr/>
        </p:nvSpPr>
        <p:spPr>
          <a:xfrm>
            <a:off x="7022592" y="4983480"/>
            <a:ext cx="4526280" cy="27432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Built for exactly this handoff</a:t>
            </a:r>
            <a:endParaRPr lang="en-US" sz="1300" dirty="0"/>
          </a:p>
        </p:txBody>
      </p:sp>
      <p:sp>
        <p:nvSpPr>
          <p:cNvPr id="23" name="Text 21"/>
          <p:cNvSpPr/>
          <p:nvPr/>
        </p:nvSpPr>
        <p:spPr>
          <a:xfrm>
            <a:off x="7022592" y="5276088"/>
            <a:ext cx="4526280" cy="658368"/>
          </a:xfrm>
          <a:prstGeom prst="rect">
            <a:avLst/>
          </a:prstGeom>
          <a:noFill/>
          <a:ln/>
        </p:spPr>
        <p:txBody>
          <a:bodyPr wrap="square" lIns="0" tIns="0" rIns="0" bIns="0" rtlCol="0" anchor="t"/>
          <a:lstStyle/>
          <a:p>
            <a:pPr indent="0" marL="0">
              <a:lnSpc>
                <a:spcPts val="1350"/>
              </a:lnSpc>
              <a:buNone/>
            </a:pPr>
            <a:r>
              <a:rPr lang="en-US" sz="1000" dirty="0">
                <a:solidFill>
                  <a:srgbClr val="7C88B0"/>
                </a:solidFill>
                <a:latin typeface="Calibri" pitchFamily="34" charset="0"/>
                <a:ea typeface="Calibri" pitchFamily="34" charset="-122"/>
                <a:cs typeface="Calibri" pitchFamily="34" charset="-120"/>
              </a:rPr>
              <a:t>Every answer already carries a citation object. Embedding it inside your app or surfacing it through an assistant is an integration, not a rebuild.</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WHY PARTNER INSTEAD OF BUILDING IT IN-HOUSE</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The moat is the pipeline,</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not the chat interface</a:t>
            </a:r>
            <a:endParaRPr lang="en-US" sz="4000" dirty="0"/>
          </a:p>
        </p:txBody>
      </p:sp>
      <p:sp>
        <p:nvSpPr>
          <p:cNvPr id="4" name="Shape 2"/>
          <p:cNvSpPr/>
          <p:nvPr/>
        </p:nvSpPr>
        <p:spPr>
          <a:xfrm>
            <a:off x="640080" y="2651760"/>
            <a:ext cx="3017520" cy="1371600"/>
          </a:xfrm>
          <a:prstGeom prst="roundRect">
            <a:avLst>
              <a:gd name="adj" fmla="val 9333"/>
            </a:avLst>
          </a:prstGeom>
          <a:solidFill>
            <a:srgbClr val="FFFFFF">
              <a:alpha val="8000"/>
            </a:srgbClr>
          </a:solidFill>
          <a:ln w="9525">
            <a:solidFill>
              <a:srgbClr val="FFFFFF">
                <a:alpha val="22000"/>
              </a:srgbClr>
            </a:solidFill>
            <a:prstDash val="solid"/>
          </a:ln>
        </p:spPr>
      </p:sp>
      <p:sp>
        <p:nvSpPr>
          <p:cNvPr id="5" name="Text 3"/>
          <p:cNvSpPr/>
          <p:nvPr/>
        </p:nvSpPr>
        <p:spPr>
          <a:xfrm>
            <a:off x="914400" y="2889504"/>
            <a:ext cx="2560320" cy="548640"/>
          </a:xfrm>
          <a:prstGeom prst="rect">
            <a:avLst/>
          </a:prstGeom>
          <a:noFill/>
          <a:ln/>
        </p:spPr>
        <p:txBody>
          <a:bodyPr wrap="square" lIns="0" tIns="0" rIns="0" bIns="0" rtlCol="0" anchor="t"/>
          <a:lstStyle/>
          <a:p>
            <a:pPr indent="0" marL="0">
              <a:lnSpc>
                <a:spcPts val="1700"/>
              </a:lnSpc>
              <a:buNone/>
            </a:pPr>
            <a:r>
              <a:rPr lang="en-US" sz="3400" b="1" spc="-150" kern="0" dirty="0">
                <a:solidFill>
                  <a:srgbClr val="F5A623"/>
                </a:solidFill>
                <a:latin typeface="Arial" pitchFamily="34" charset="0"/>
                <a:ea typeface="Arial" pitchFamily="34" charset="-122"/>
                <a:cs typeface="Arial" pitchFamily="34" charset="-120"/>
              </a:rPr>
              <a:t>6,137</a:t>
            </a:r>
            <a:endParaRPr lang="en-US" sz="3400" dirty="0"/>
          </a:p>
        </p:txBody>
      </p:sp>
      <p:sp>
        <p:nvSpPr>
          <p:cNvPr id="6" name="Text 4"/>
          <p:cNvSpPr/>
          <p:nvPr/>
        </p:nvSpPr>
        <p:spPr>
          <a:xfrm>
            <a:off x="914400" y="3456432"/>
            <a:ext cx="2514600" cy="548640"/>
          </a:xfrm>
          <a:prstGeom prst="rect">
            <a:avLst/>
          </a:prstGeom>
          <a:noFill/>
          <a:ln/>
        </p:spPr>
        <p:txBody>
          <a:bodyPr wrap="square" lIns="0" tIns="0" rIns="0" bIns="0" rtlCol="0" anchor="t"/>
          <a:lstStyle/>
          <a:p>
            <a:pPr indent="0" marL="0">
              <a:lnSpc>
                <a:spcPts val="1250"/>
              </a:lnSpc>
              <a:buNone/>
            </a:pPr>
            <a:r>
              <a:rPr lang="en-US" sz="950" dirty="0">
                <a:solidFill>
                  <a:srgbClr val="7C88B0"/>
                </a:solidFill>
                <a:latin typeface="Calibri" pitchFamily="34" charset="0"/>
                <a:ea typeface="Calibri" pitchFamily="34" charset="-122"/>
                <a:cs typeface="Calibri" pitchFamily="34" charset="-120"/>
              </a:rPr>
              <a:t>symbols · full-universe XBRL, with a repair layer for the exchange's own malformed filings</a:t>
            </a:r>
            <a:endParaRPr lang="en-US" sz="950" dirty="0"/>
          </a:p>
        </p:txBody>
      </p:sp>
      <p:sp>
        <p:nvSpPr>
          <p:cNvPr id="7" name="Shape 5"/>
          <p:cNvSpPr/>
          <p:nvPr/>
        </p:nvSpPr>
        <p:spPr>
          <a:xfrm>
            <a:off x="3886200" y="2651760"/>
            <a:ext cx="3017520" cy="1371600"/>
          </a:xfrm>
          <a:prstGeom prst="roundRect">
            <a:avLst>
              <a:gd name="adj" fmla="val 9333"/>
            </a:avLst>
          </a:prstGeom>
          <a:solidFill>
            <a:srgbClr val="FFFFFF">
              <a:alpha val="8000"/>
            </a:srgbClr>
          </a:solidFill>
          <a:ln w="9525">
            <a:solidFill>
              <a:srgbClr val="FFFFFF">
                <a:alpha val="22000"/>
              </a:srgbClr>
            </a:solidFill>
            <a:prstDash val="solid"/>
          </a:ln>
        </p:spPr>
      </p:sp>
      <p:sp>
        <p:nvSpPr>
          <p:cNvPr id="8" name="Text 6"/>
          <p:cNvSpPr/>
          <p:nvPr/>
        </p:nvSpPr>
        <p:spPr>
          <a:xfrm>
            <a:off x="4160520" y="2889504"/>
            <a:ext cx="2560320" cy="548640"/>
          </a:xfrm>
          <a:prstGeom prst="rect">
            <a:avLst/>
          </a:prstGeom>
          <a:noFill/>
          <a:ln/>
        </p:spPr>
        <p:txBody>
          <a:bodyPr wrap="square" lIns="0" tIns="0" rIns="0" bIns="0" rtlCol="0" anchor="t"/>
          <a:lstStyle/>
          <a:p>
            <a:pPr indent="0" marL="0">
              <a:lnSpc>
                <a:spcPts val="1700"/>
              </a:lnSpc>
              <a:buNone/>
            </a:pPr>
            <a:r>
              <a:rPr lang="en-US" sz="3400" b="1" spc="-150" kern="0" dirty="0">
                <a:solidFill>
                  <a:srgbClr val="F5A623"/>
                </a:solidFill>
                <a:latin typeface="Arial" pitchFamily="34" charset="0"/>
                <a:ea typeface="Arial" pitchFamily="34" charset="-122"/>
                <a:cs typeface="Arial" pitchFamily="34" charset="-120"/>
              </a:rPr>
              <a:t>584K</a:t>
            </a:r>
            <a:endParaRPr lang="en-US" sz="3400" dirty="0"/>
          </a:p>
        </p:txBody>
      </p:sp>
      <p:sp>
        <p:nvSpPr>
          <p:cNvPr id="9" name="Text 7"/>
          <p:cNvSpPr/>
          <p:nvPr/>
        </p:nvSpPr>
        <p:spPr>
          <a:xfrm>
            <a:off x="4160520" y="3456432"/>
            <a:ext cx="2514600" cy="548640"/>
          </a:xfrm>
          <a:prstGeom prst="rect">
            <a:avLst/>
          </a:prstGeom>
          <a:noFill/>
          <a:ln/>
        </p:spPr>
        <p:txBody>
          <a:bodyPr wrap="square" lIns="0" tIns="0" rIns="0" bIns="0" rtlCol="0" anchor="t"/>
          <a:lstStyle/>
          <a:p>
            <a:pPr indent="0" marL="0">
              <a:lnSpc>
                <a:spcPts val="1250"/>
              </a:lnSpc>
              <a:buNone/>
            </a:pPr>
            <a:r>
              <a:rPr lang="en-US" sz="950" dirty="0">
                <a:solidFill>
                  <a:srgbClr val="7C88B0"/>
                </a:solidFill>
                <a:latin typeface="Calibri" pitchFamily="34" charset="0"/>
                <a:ea typeface="Calibri" pitchFamily="34" charset="-122"/>
                <a:cs typeface="Calibri" pitchFamily="34" charset="-120"/>
              </a:rPr>
              <a:t>announcements parsed and OCR'd — two years, including scanned small-cap PDFs</a:t>
            </a:r>
            <a:endParaRPr lang="en-US" sz="950" dirty="0"/>
          </a:p>
        </p:txBody>
      </p:sp>
      <p:sp>
        <p:nvSpPr>
          <p:cNvPr id="10" name="Shape 8"/>
          <p:cNvSpPr/>
          <p:nvPr/>
        </p:nvSpPr>
        <p:spPr>
          <a:xfrm>
            <a:off x="640080" y="4224528"/>
            <a:ext cx="3017520" cy="1371600"/>
          </a:xfrm>
          <a:prstGeom prst="roundRect">
            <a:avLst>
              <a:gd name="adj" fmla="val 9333"/>
            </a:avLst>
          </a:prstGeom>
          <a:solidFill>
            <a:srgbClr val="FFFFFF">
              <a:alpha val="8000"/>
            </a:srgbClr>
          </a:solidFill>
          <a:ln w="9525">
            <a:solidFill>
              <a:srgbClr val="FFFFFF">
                <a:alpha val="22000"/>
              </a:srgbClr>
            </a:solidFill>
            <a:prstDash val="solid"/>
          </a:ln>
        </p:spPr>
      </p:sp>
      <p:sp>
        <p:nvSpPr>
          <p:cNvPr id="11" name="Text 9"/>
          <p:cNvSpPr/>
          <p:nvPr/>
        </p:nvSpPr>
        <p:spPr>
          <a:xfrm>
            <a:off x="914400" y="4462272"/>
            <a:ext cx="2560320" cy="548640"/>
          </a:xfrm>
          <a:prstGeom prst="rect">
            <a:avLst/>
          </a:prstGeom>
          <a:noFill/>
          <a:ln/>
        </p:spPr>
        <p:txBody>
          <a:bodyPr wrap="square" lIns="0" tIns="0" rIns="0" bIns="0" rtlCol="0" anchor="t"/>
          <a:lstStyle/>
          <a:p>
            <a:pPr indent="0" marL="0">
              <a:lnSpc>
                <a:spcPts val="1700"/>
              </a:lnSpc>
              <a:buNone/>
            </a:pPr>
            <a:r>
              <a:rPr lang="en-US" sz="3400" b="1" spc="-150" kern="0" dirty="0">
                <a:solidFill>
                  <a:srgbClr val="F5A623"/>
                </a:solidFill>
                <a:latin typeface="Arial" pitchFamily="34" charset="0"/>
                <a:ea typeface="Arial" pitchFamily="34" charset="-122"/>
                <a:cs typeface="Arial" pitchFamily="34" charset="-120"/>
              </a:rPr>
              <a:t>1.35M</a:t>
            </a:r>
            <a:endParaRPr lang="en-US" sz="3400" dirty="0"/>
          </a:p>
        </p:txBody>
      </p:sp>
      <p:sp>
        <p:nvSpPr>
          <p:cNvPr id="12" name="Text 10"/>
          <p:cNvSpPr/>
          <p:nvPr/>
        </p:nvSpPr>
        <p:spPr>
          <a:xfrm>
            <a:off x="914400" y="5029200"/>
            <a:ext cx="2514600" cy="548640"/>
          </a:xfrm>
          <a:prstGeom prst="rect">
            <a:avLst/>
          </a:prstGeom>
          <a:noFill/>
          <a:ln/>
        </p:spPr>
        <p:txBody>
          <a:bodyPr wrap="square" lIns="0" tIns="0" rIns="0" bIns="0" rtlCol="0" anchor="t"/>
          <a:lstStyle/>
          <a:p>
            <a:pPr indent="0" marL="0">
              <a:lnSpc>
                <a:spcPts val="1250"/>
              </a:lnSpc>
              <a:buNone/>
            </a:pPr>
            <a:r>
              <a:rPr lang="en-US" sz="950" dirty="0">
                <a:solidFill>
                  <a:srgbClr val="7C88B0"/>
                </a:solidFill>
                <a:latin typeface="Calibri" pitchFamily="34" charset="0"/>
                <a:ea typeface="Calibri" pitchFamily="34" charset="-122"/>
                <a:cs typeface="Calibri" pitchFamily="34" charset="-120"/>
              </a:rPr>
              <a:t>embeddings in a vector index, refreshed by a daily incremental job</a:t>
            </a:r>
            <a:endParaRPr lang="en-US" sz="950" dirty="0"/>
          </a:p>
        </p:txBody>
      </p:sp>
      <p:sp>
        <p:nvSpPr>
          <p:cNvPr id="13" name="Shape 11"/>
          <p:cNvSpPr/>
          <p:nvPr/>
        </p:nvSpPr>
        <p:spPr>
          <a:xfrm>
            <a:off x="3886200" y="4224528"/>
            <a:ext cx="3017520" cy="1371600"/>
          </a:xfrm>
          <a:prstGeom prst="roundRect">
            <a:avLst>
              <a:gd name="adj" fmla="val 9333"/>
            </a:avLst>
          </a:prstGeom>
          <a:solidFill>
            <a:srgbClr val="FFFFFF">
              <a:alpha val="8000"/>
            </a:srgbClr>
          </a:solidFill>
          <a:ln w="9525">
            <a:solidFill>
              <a:srgbClr val="FFFFFF">
                <a:alpha val="22000"/>
              </a:srgbClr>
            </a:solidFill>
            <a:prstDash val="solid"/>
          </a:ln>
        </p:spPr>
      </p:sp>
      <p:sp>
        <p:nvSpPr>
          <p:cNvPr id="14" name="Text 12"/>
          <p:cNvSpPr/>
          <p:nvPr/>
        </p:nvSpPr>
        <p:spPr>
          <a:xfrm>
            <a:off x="4160520" y="4462272"/>
            <a:ext cx="2560320" cy="548640"/>
          </a:xfrm>
          <a:prstGeom prst="rect">
            <a:avLst/>
          </a:prstGeom>
          <a:noFill/>
          <a:ln/>
        </p:spPr>
        <p:txBody>
          <a:bodyPr wrap="square" lIns="0" tIns="0" rIns="0" bIns="0" rtlCol="0" anchor="t"/>
          <a:lstStyle/>
          <a:p>
            <a:pPr indent="0" marL="0">
              <a:lnSpc>
                <a:spcPts val="1700"/>
              </a:lnSpc>
              <a:buNone/>
            </a:pPr>
            <a:r>
              <a:rPr lang="en-US" sz="3400" b="1" spc="-150" kern="0" dirty="0">
                <a:solidFill>
                  <a:srgbClr val="F5A623"/>
                </a:solidFill>
                <a:latin typeface="Arial" pitchFamily="34" charset="0"/>
                <a:ea typeface="Arial" pitchFamily="34" charset="-122"/>
                <a:cs typeface="Arial" pitchFamily="34" charset="-120"/>
              </a:rPr>
              <a:t>5,405</a:t>
            </a:r>
            <a:endParaRPr lang="en-US" sz="3400" dirty="0"/>
          </a:p>
        </p:txBody>
      </p:sp>
      <p:sp>
        <p:nvSpPr>
          <p:cNvPr id="15" name="Text 13"/>
          <p:cNvSpPr/>
          <p:nvPr/>
        </p:nvSpPr>
        <p:spPr>
          <a:xfrm>
            <a:off x="4160520" y="5029200"/>
            <a:ext cx="2514600" cy="548640"/>
          </a:xfrm>
          <a:prstGeom prst="rect">
            <a:avLst/>
          </a:prstGeom>
          <a:noFill/>
          <a:ln/>
        </p:spPr>
        <p:txBody>
          <a:bodyPr wrap="square" lIns="0" tIns="0" rIns="0" bIns="0" rtlCol="0" anchor="t"/>
          <a:lstStyle/>
          <a:p>
            <a:pPr indent="0" marL="0">
              <a:lnSpc>
                <a:spcPts val="1250"/>
              </a:lnSpc>
              <a:buNone/>
            </a:pPr>
            <a:r>
              <a:rPr lang="en-US" sz="950" dirty="0">
                <a:solidFill>
                  <a:srgbClr val="7C88B0"/>
                </a:solidFill>
                <a:latin typeface="Calibri" pitchFamily="34" charset="0"/>
                <a:ea typeface="Calibri" pitchFamily="34" charset="-122"/>
                <a:cs typeface="Calibri" pitchFamily="34" charset="-120"/>
              </a:rPr>
              <a:t>company profiles generated and verified against filings</a:t>
            </a:r>
            <a:endParaRPr lang="en-US" sz="950" dirty="0"/>
          </a:p>
        </p:txBody>
      </p:sp>
      <p:sp>
        <p:nvSpPr>
          <p:cNvPr id="16" name="Shape 14"/>
          <p:cNvSpPr/>
          <p:nvPr/>
        </p:nvSpPr>
        <p:spPr>
          <a:xfrm>
            <a:off x="7223760" y="2651760"/>
            <a:ext cx="4325112" cy="3035808"/>
          </a:xfrm>
          <a:prstGeom prst="roundRect">
            <a:avLst>
              <a:gd name="adj" fmla="val 4217"/>
            </a:avLst>
          </a:prstGeom>
          <a:solidFill>
            <a:srgbClr val="FFFFFF"/>
          </a:solidFill>
          <a:ln w="12700">
            <a:solidFill>
              <a:srgbClr val="FFFFFF"/>
            </a:solidFill>
            <a:prstDash val="solid"/>
          </a:ln>
        </p:spPr>
      </p:sp>
      <p:sp>
        <p:nvSpPr>
          <p:cNvPr id="17" name="Text 15"/>
          <p:cNvSpPr/>
          <p:nvPr/>
        </p:nvSpPr>
        <p:spPr>
          <a:xfrm>
            <a:off x="7543800" y="2926080"/>
            <a:ext cx="3657600" cy="1280160"/>
          </a:xfrm>
          <a:prstGeom prst="rect">
            <a:avLst/>
          </a:prstGeom>
          <a:noFill/>
          <a:ln/>
        </p:spPr>
        <p:txBody>
          <a:bodyPr wrap="square" lIns="0" tIns="0" rIns="0" bIns="0" rtlCol="0" anchor="t"/>
          <a:lstStyle/>
          <a:p>
            <a:pPr indent="0" marL="0">
              <a:lnSpc>
                <a:spcPts val="2900"/>
              </a:lnSpc>
              <a:buNone/>
            </a:pPr>
            <a:r>
              <a:rPr lang="en-US" sz="2200" b="1" spc="-60" kern="0" dirty="0">
                <a:solidFill>
                  <a:srgbClr val="1E2761"/>
                </a:solidFill>
                <a:latin typeface="Arial" pitchFamily="34" charset="0"/>
                <a:ea typeface="Arial" pitchFamily="34" charset="-122"/>
                <a:cs typeface="Arial" pitchFamily="34" charset="-120"/>
              </a:rPr>
              <a:t>A product team could build this. It would take a year and a headcount line, not a sprint.</a:t>
            </a:r>
            <a:endParaRPr lang="en-US" sz="2200" dirty="0"/>
          </a:p>
        </p:txBody>
      </p:sp>
      <p:sp>
        <p:nvSpPr>
          <p:cNvPr id="18" name="Text 16"/>
          <p:cNvSpPr/>
          <p:nvPr/>
        </p:nvSpPr>
        <p:spPr>
          <a:xfrm>
            <a:off x="7543800" y="4343400"/>
            <a:ext cx="3657600" cy="457200"/>
          </a:xfrm>
          <a:prstGeom prst="rect">
            <a:avLst/>
          </a:prstGeom>
          <a:noFill/>
          <a:ln/>
        </p:spPr>
        <p:txBody>
          <a:bodyPr wrap="square" lIns="0" tIns="0" rIns="0" bIns="0" rtlCol="0" anchor="t"/>
          <a:lstStyle/>
          <a:p>
            <a:pPr indent="0" marL="0">
              <a:lnSpc>
                <a:spcPts val="1700"/>
              </a:lnSpc>
              <a:buNone/>
            </a:pPr>
            <a:r>
              <a:rPr lang="en-US" sz="1200" dirty="0">
                <a:solidFill>
                  <a:srgbClr val="434B6B"/>
                </a:solidFill>
                <a:latin typeface="Calibri" pitchFamily="34" charset="0"/>
                <a:ea typeface="Calibri" pitchFamily="34" charset="-122"/>
                <a:cs typeface="Calibri" pitchFamily="34" charset="-120"/>
              </a:rPr>
              <a:t>It already exists, is already live, and is priced at the cost of an integration, not a build.</a:t>
            </a:r>
            <a:endParaRPr lang="en-US" sz="1200" dirty="0"/>
          </a:p>
        </p:txBody>
      </p:sp>
      <p:sp>
        <p:nvSpPr>
          <p:cNvPr id="19" name="Shape 17"/>
          <p:cNvSpPr/>
          <p:nvPr/>
        </p:nvSpPr>
        <p:spPr>
          <a:xfrm>
            <a:off x="7543800" y="4956048"/>
            <a:ext cx="640080" cy="10973"/>
          </a:xfrm>
          <a:prstGeom prst="rect">
            <a:avLst/>
          </a:prstGeom>
          <a:solidFill>
            <a:srgbClr val="F5A623"/>
          </a:solidFill>
          <a:ln w="12700">
            <a:solidFill>
              <a:srgbClr val="F5A623"/>
            </a:solidFill>
            <a:prstDash val="solid"/>
          </a:ln>
        </p:spPr>
      </p:sp>
      <p:sp>
        <p:nvSpPr>
          <p:cNvPr id="20" name="Text 18"/>
          <p:cNvSpPr/>
          <p:nvPr/>
        </p:nvSpPr>
        <p:spPr>
          <a:xfrm>
            <a:off x="7543800" y="5138928"/>
            <a:ext cx="3657600" cy="502920"/>
          </a:xfrm>
          <a:prstGeom prst="rect">
            <a:avLst/>
          </a:prstGeom>
          <a:noFill/>
          <a:ln/>
        </p:spPr>
        <p:txBody>
          <a:bodyPr wrap="square" lIns="0" tIns="0" rIns="0" bIns="0" rtlCol="0" anchor="t"/>
          <a:lstStyle/>
          <a:p>
            <a:pPr indent="0" marL="0">
              <a:lnSpc>
                <a:spcPts val="1200"/>
              </a:lnSpc>
              <a:buNone/>
            </a:pPr>
            <a:r>
              <a:rPr lang="en-US" sz="900" i="1" dirty="0">
                <a:solidFill>
                  <a:srgbClr val="434B6B"/>
                </a:solidFill>
                <a:latin typeface="Calibri" pitchFamily="34" charset="0"/>
                <a:ea typeface="Calibri" pitchFamily="34" charset="-122"/>
                <a:cs typeface="Calibri" pitchFamily="34" charset="-120"/>
              </a:rPr>
              <a:t>The parsing quirks — malformed context dates, figures buried inside Q4 filings — are things you only learn by serving real queries against real filings for a year.</a:t>
            </a:r>
            <a:endParaRPr lang="en-US" sz="900" dirty="0"/>
          </a:p>
        </p:txBody>
      </p:sp>
      <p:sp>
        <p:nvSpPr>
          <p:cNvPr id="21" name="Text 19"/>
          <p:cNvSpPr/>
          <p:nvPr/>
        </p:nvSpPr>
        <p:spPr>
          <a:xfrm>
            <a:off x="640080" y="5943600"/>
            <a:ext cx="10908792" cy="320040"/>
          </a:xfrm>
          <a:prstGeom prst="rect">
            <a:avLst/>
          </a:prstGeom>
          <a:noFill/>
          <a:ln/>
        </p:spPr>
        <p:txBody>
          <a:bodyPr wrap="square" lIns="0" tIns="0" rIns="0" bIns="0" rtlCol="0" anchor="t"/>
          <a:lstStyle/>
          <a:p>
            <a:pPr indent="0" marL="0">
              <a:lnSpc>
                <a:spcPts val="1700"/>
              </a:lnSpc>
              <a:buNone/>
            </a:pPr>
            <a:r>
              <a:rPr lang="en-US" sz="1250" i="1" dirty="0">
                <a:solidFill>
                  <a:srgbClr val="C9D3F0"/>
                </a:solidFill>
                <a:latin typeface="Calibri" pitchFamily="34" charset="0"/>
                <a:ea typeface="Calibri" pitchFamily="34" charset="-122"/>
                <a:cs typeface="Calibri" pitchFamily="34" charset="-120"/>
              </a:rPr>
              <a:t>Build vs. buy is rarely this clean. This is the buy case.</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par>
                          <p:cTn id="26" fill="hold">
                            <p:stCondLst>
                              <p:cond delay="0"/>
                            </p:stCondLst>
                            <p:childTnLst>
                              <p:par>
                                <p:cTn id="27" presetID="10" presetClass="entr" presetSubtype="0" fill="hold" grpId="0" nodeType="afterEffect">
                                  <p:stCondLst>
                                    <p:cond delay="11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INTEGRATION</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You've already built</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the other half of this</a:t>
            </a:r>
            <a:endParaRPr lang="en-US" sz="4000" dirty="0"/>
          </a:p>
        </p:txBody>
      </p:sp>
      <p:sp>
        <p:nvSpPr>
          <p:cNvPr id="4" name="Text 2"/>
          <p:cNvSpPr/>
          <p:nvPr/>
        </p:nvSpPr>
        <p:spPr>
          <a:xfrm>
            <a:off x="640080" y="2103120"/>
            <a:ext cx="10881360" cy="502920"/>
          </a:xfrm>
          <a:prstGeom prst="rect">
            <a:avLst/>
          </a:prstGeom>
          <a:noFill/>
          <a:ln/>
        </p:spPr>
        <p:txBody>
          <a:bodyPr wrap="square" lIns="0" tIns="0" rIns="0" bIns="0" rtlCol="0" anchor="t"/>
          <a:lstStyle/>
          <a:p>
            <a:pPr indent="0" marL="0">
              <a:lnSpc>
                <a:spcPts val="1900"/>
              </a:lnSpc>
              <a:buNone/>
            </a:pPr>
            <a:r>
              <a:rPr lang="en-US" sz="1300" dirty="0">
                <a:solidFill>
                  <a:srgbClr val="C9D3F0"/>
                </a:solidFill>
                <a:latin typeface="Calibri" pitchFamily="34" charset="0"/>
                <a:ea typeface="Calibri" pitchFamily="34" charset="-122"/>
                <a:cs typeface="Calibri" pitchFamily="34" charset="-120"/>
              </a:rPr>
              <a:t>Kite Connect exposes live account data to third-party software. Kite MCP goes further — it's account infrastructure built specifically to be readable by AI agents. That's not a coincidence we're reacting to; it's the exact shape of integration Anvest is built to sit behind.</a:t>
            </a:r>
            <a:endParaRPr lang="en-US" sz="1300" dirty="0"/>
          </a:p>
        </p:txBody>
      </p:sp>
      <p:sp>
        <p:nvSpPr>
          <p:cNvPr id="5" name="Shape 3"/>
          <p:cNvSpPr/>
          <p:nvPr/>
        </p:nvSpPr>
        <p:spPr>
          <a:xfrm>
            <a:off x="640080" y="2788920"/>
            <a:ext cx="3493008" cy="2606040"/>
          </a:xfrm>
          <a:prstGeom prst="roundRect">
            <a:avLst>
              <a:gd name="adj" fmla="val 4912"/>
            </a:avLst>
          </a:prstGeom>
          <a:solidFill>
            <a:srgbClr val="FFFFFF">
              <a:alpha val="8000"/>
            </a:srgbClr>
          </a:solidFill>
          <a:ln w="9525">
            <a:solidFill>
              <a:srgbClr val="FFFFFF">
                <a:alpha val="22000"/>
              </a:srgbClr>
            </a:solidFill>
            <a:prstDash val="solid"/>
          </a:ln>
        </p:spPr>
      </p:sp>
      <p:sp>
        <p:nvSpPr>
          <p:cNvPr id="6" name="Shape 4"/>
          <p:cNvSpPr/>
          <p:nvPr/>
        </p:nvSpPr>
        <p:spPr>
          <a:xfrm>
            <a:off x="932688" y="2999232"/>
            <a:ext cx="457200" cy="457200"/>
          </a:xfrm>
          <a:prstGeom prst="roundRect">
            <a:avLst>
              <a:gd name="adj" fmla="val 34000"/>
            </a:avLst>
          </a:prstGeom>
          <a:solidFill>
            <a:srgbClr val="F5A623"/>
          </a:solidFill>
          <a:ln w="12700">
            <a:solidFill>
              <a:srgbClr val="F5A623"/>
            </a:solidFill>
            <a:prstDash val="solid"/>
          </a:ln>
        </p:spPr>
      </p:sp>
      <p:sp>
        <p:nvSpPr>
          <p:cNvPr id="7" name="Text 5"/>
          <p:cNvSpPr/>
          <p:nvPr/>
        </p:nvSpPr>
        <p:spPr>
          <a:xfrm>
            <a:off x="932688" y="2999232"/>
            <a:ext cx="457200" cy="457200"/>
          </a:xfrm>
          <a:prstGeom prst="rect">
            <a:avLst/>
          </a:prstGeom>
          <a:noFill/>
          <a:ln/>
        </p:spPr>
        <p:txBody>
          <a:bodyPr wrap="square" lIns="0" tIns="0" rIns="0" bIns="0" rtlCol="0" anchor="ctr"/>
          <a:lstStyle/>
          <a:p>
            <a:pPr algn="ctr" indent="0" marL="0">
              <a:buNone/>
            </a:pPr>
            <a:r>
              <a:rPr lang="en-US" sz="1200" b="1" spc="60" kern="0" dirty="0">
                <a:solidFill>
                  <a:srgbClr val="0B0E26"/>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32688" y="3611880"/>
            <a:ext cx="2926080" cy="36576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Live account link</a:t>
            </a:r>
            <a:endParaRPr lang="en-US" sz="1400" dirty="0"/>
          </a:p>
        </p:txBody>
      </p:sp>
      <p:sp>
        <p:nvSpPr>
          <p:cNvPr id="9" name="Text 7"/>
          <p:cNvSpPr/>
          <p:nvPr/>
        </p:nvSpPr>
        <p:spPr>
          <a:xfrm>
            <a:off x="932688" y="3977640"/>
            <a:ext cx="2926080" cy="292608"/>
          </a:xfrm>
          <a:prstGeom prst="rect">
            <a:avLst/>
          </a:prstGeom>
          <a:noFill/>
          <a:ln/>
        </p:spPr>
        <p:txBody>
          <a:bodyPr wrap="square" lIns="0" tIns="0" rIns="0" bIns="0" rtlCol="0" anchor="t"/>
          <a:lstStyle/>
          <a:p>
            <a:pPr indent="0" marL="0">
              <a:lnSpc>
                <a:spcPts val="1700"/>
              </a:lnSpc>
              <a:buNone/>
            </a:pPr>
            <a:r>
              <a:rPr lang="en-US" sz="900" b="1" spc="50" kern="0" dirty="0">
                <a:solidFill>
                  <a:srgbClr val="F5A623"/>
                </a:solidFill>
                <a:latin typeface="Calibri" pitchFamily="34" charset="0"/>
                <a:ea typeface="Calibri" pitchFamily="34" charset="-122"/>
                <a:cs typeface="Calibri" pitchFamily="34" charset="-120"/>
              </a:rPr>
              <a:t>Kite Connect / broker API</a:t>
            </a:r>
            <a:endParaRPr lang="en-US" sz="900" dirty="0"/>
          </a:p>
        </p:txBody>
      </p:sp>
      <p:sp>
        <p:nvSpPr>
          <p:cNvPr id="10" name="Text 8"/>
          <p:cNvSpPr/>
          <p:nvPr/>
        </p:nvSpPr>
        <p:spPr>
          <a:xfrm>
            <a:off x="932688" y="4297680"/>
            <a:ext cx="2926080" cy="960120"/>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User's holdings, positions, and order history — read-only, user-authorised, nothing new for your compliance team to approve.</a:t>
            </a:r>
            <a:endParaRPr lang="en-US" sz="950" dirty="0"/>
          </a:p>
        </p:txBody>
      </p:sp>
      <p:sp>
        <p:nvSpPr>
          <p:cNvPr id="11" name="Text 9"/>
          <p:cNvSpPr/>
          <p:nvPr/>
        </p:nvSpPr>
        <p:spPr>
          <a:xfrm>
            <a:off x="4005072" y="3931920"/>
            <a:ext cx="640080" cy="457200"/>
          </a:xfrm>
          <a:prstGeom prst="rect">
            <a:avLst/>
          </a:prstGeom>
          <a:noFill/>
          <a:ln/>
        </p:spPr>
        <p:txBody>
          <a:bodyPr wrap="square" lIns="0" tIns="0" rIns="0" bIns="0" rtlCol="0" anchor="t"/>
          <a:lstStyle/>
          <a:p>
            <a:pPr algn="ctr" indent="0" marL="0">
              <a:lnSpc>
                <a:spcPts val="1700"/>
              </a:lnSpc>
              <a:buNone/>
            </a:pPr>
            <a:r>
              <a:rPr lang="en-US" sz="2200" dirty="0">
                <a:solidFill>
                  <a:srgbClr val="F5A623"/>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315968" y="2788920"/>
            <a:ext cx="3493008" cy="2606040"/>
          </a:xfrm>
          <a:prstGeom prst="roundRect">
            <a:avLst>
              <a:gd name="adj" fmla="val 4912"/>
            </a:avLst>
          </a:prstGeom>
          <a:solidFill>
            <a:srgbClr val="FFFFFF">
              <a:alpha val="8000"/>
            </a:srgbClr>
          </a:solidFill>
          <a:ln w="9525">
            <a:solidFill>
              <a:srgbClr val="FFFFFF">
                <a:alpha val="22000"/>
              </a:srgbClr>
            </a:solidFill>
            <a:prstDash val="solid"/>
          </a:ln>
        </p:spPr>
      </p:sp>
      <p:sp>
        <p:nvSpPr>
          <p:cNvPr id="13" name="Shape 11"/>
          <p:cNvSpPr/>
          <p:nvPr/>
        </p:nvSpPr>
        <p:spPr>
          <a:xfrm>
            <a:off x="4608576" y="2999232"/>
            <a:ext cx="457200" cy="457200"/>
          </a:xfrm>
          <a:prstGeom prst="roundRect">
            <a:avLst>
              <a:gd name="adj" fmla="val 34000"/>
            </a:avLst>
          </a:prstGeom>
          <a:solidFill>
            <a:srgbClr val="F5A623"/>
          </a:solidFill>
          <a:ln w="12700">
            <a:solidFill>
              <a:srgbClr val="F5A623"/>
            </a:solidFill>
            <a:prstDash val="solid"/>
          </a:ln>
        </p:spPr>
      </p:sp>
      <p:sp>
        <p:nvSpPr>
          <p:cNvPr id="14" name="Text 12"/>
          <p:cNvSpPr/>
          <p:nvPr/>
        </p:nvSpPr>
        <p:spPr>
          <a:xfrm>
            <a:off x="4608576" y="2999232"/>
            <a:ext cx="457200" cy="457200"/>
          </a:xfrm>
          <a:prstGeom prst="rect">
            <a:avLst/>
          </a:prstGeom>
          <a:noFill/>
          <a:ln/>
        </p:spPr>
        <p:txBody>
          <a:bodyPr wrap="square" lIns="0" tIns="0" rIns="0" bIns="0" rtlCol="0" anchor="ctr"/>
          <a:lstStyle/>
          <a:p>
            <a:pPr algn="ctr" indent="0" marL="0">
              <a:buNone/>
            </a:pPr>
            <a:r>
              <a:rPr lang="en-US" sz="1200" b="1" spc="60" kern="0" dirty="0">
                <a:solidFill>
                  <a:srgbClr val="0B0E26"/>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4608576" y="3611880"/>
            <a:ext cx="2926080" cy="36576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Grounded reasoning layer</a:t>
            </a:r>
            <a:endParaRPr lang="en-US" sz="1400" dirty="0"/>
          </a:p>
        </p:txBody>
      </p:sp>
      <p:sp>
        <p:nvSpPr>
          <p:cNvPr id="16" name="Text 14"/>
          <p:cNvSpPr/>
          <p:nvPr/>
        </p:nvSpPr>
        <p:spPr>
          <a:xfrm>
            <a:off x="4608576" y="3977640"/>
            <a:ext cx="2926080" cy="292608"/>
          </a:xfrm>
          <a:prstGeom prst="rect">
            <a:avLst/>
          </a:prstGeom>
          <a:noFill/>
          <a:ln/>
        </p:spPr>
        <p:txBody>
          <a:bodyPr wrap="square" lIns="0" tIns="0" rIns="0" bIns="0" rtlCol="0" anchor="t"/>
          <a:lstStyle/>
          <a:p>
            <a:pPr indent="0" marL="0">
              <a:lnSpc>
                <a:spcPts val="1700"/>
              </a:lnSpc>
              <a:buNone/>
            </a:pPr>
            <a:r>
              <a:rPr lang="en-US" sz="900" b="1" spc="50" kern="0" dirty="0">
                <a:solidFill>
                  <a:srgbClr val="F5A623"/>
                </a:solidFill>
                <a:latin typeface="Calibri" pitchFamily="34" charset="0"/>
                <a:ea typeface="Calibri" pitchFamily="34" charset="-122"/>
                <a:cs typeface="Calibri" pitchFamily="34" charset="-120"/>
              </a:rPr>
              <a:t>Anvest's warehouse + retrieval</a:t>
            </a:r>
            <a:endParaRPr lang="en-US" sz="900" dirty="0"/>
          </a:p>
        </p:txBody>
      </p:sp>
      <p:sp>
        <p:nvSpPr>
          <p:cNvPr id="17" name="Text 15"/>
          <p:cNvSpPr/>
          <p:nvPr/>
        </p:nvSpPr>
        <p:spPr>
          <a:xfrm>
            <a:off x="4608576" y="4297680"/>
            <a:ext cx="2926080" cy="960120"/>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Every holding gets matched against the filing that explains it. The account link makes the research personal instead of generic.</a:t>
            </a:r>
            <a:endParaRPr lang="en-US" sz="950" dirty="0"/>
          </a:p>
        </p:txBody>
      </p:sp>
      <p:sp>
        <p:nvSpPr>
          <p:cNvPr id="18" name="Text 16"/>
          <p:cNvSpPr/>
          <p:nvPr/>
        </p:nvSpPr>
        <p:spPr>
          <a:xfrm>
            <a:off x="7680960" y="3931920"/>
            <a:ext cx="640080" cy="457200"/>
          </a:xfrm>
          <a:prstGeom prst="rect">
            <a:avLst/>
          </a:prstGeom>
          <a:noFill/>
          <a:ln/>
        </p:spPr>
        <p:txBody>
          <a:bodyPr wrap="square" lIns="0" tIns="0" rIns="0" bIns="0" rtlCol="0" anchor="t"/>
          <a:lstStyle/>
          <a:p>
            <a:pPr algn="ctr" indent="0" marL="0">
              <a:lnSpc>
                <a:spcPts val="1700"/>
              </a:lnSpc>
              <a:buNone/>
            </a:pPr>
            <a:r>
              <a:rPr lang="en-US" sz="2200" dirty="0">
                <a:solidFill>
                  <a:srgbClr val="F5A623"/>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7991856" y="2788920"/>
            <a:ext cx="3493008" cy="2606040"/>
          </a:xfrm>
          <a:prstGeom prst="roundRect">
            <a:avLst>
              <a:gd name="adj" fmla="val 4912"/>
            </a:avLst>
          </a:prstGeom>
          <a:solidFill>
            <a:srgbClr val="FFFFFF">
              <a:alpha val="8000"/>
            </a:srgbClr>
          </a:solidFill>
          <a:ln w="9525">
            <a:solidFill>
              <a:srgbClr val="FFFFFF">
                <a:alpha val="22000"/>
              </a:srgbClr>
            </a:solidFill>
            <a:prstDash val="solid"/>
          </a:ln>
        </p:spPr>
      </p:sp>
      <p:sp>
        <p:nvSpPr>
          <p:cNvPr id="20" name="Shape 18"/>
          <p:cNvSpPr/>
          <p:nvPr/>
        </p:nvSpPr>
        <p:spPr>
          <a:xfrm>
            <a:off x="8284464" y="2999232"/>
            <a:ext cx="457200" cy="457200"/>
          </a:xfrm>
          <a:prstGeom prst="roundRect">
            <a:avLst>
              <a:gd name="adj" fmla="val 34000"/>
            </a:avLst>
          </a:prstGeom>
          <a:solidFill>
            <a:srgbClr val="F5A623"/>
          </a:solidFill>
          <a:ln w="12700">
            <a:solidFill>
              <a:srgbClr val="F5A623"/>
            </a:solidFill>
            <a:prstDash val="solid"/>
          </a:ln>
        </p:spPr>
      </p:sp>
      <p:sp>
        <p:nvSpPr>
          <p:cNvPr id="21" name="Text 19"/>
          <p:cNvSpPr/>
          <p:nvPr/>
        </p:nvSpPr>
        <p:spPr>
          <a:xfrm>
            <a:off x="8284464" y="2999232"/>
            <a:ext cx="457200" cy="457200"/>
          </a:xfrm>
          <a:prstGeom prst="rect">
            <a:avLst/>
          </a:prstGeom>
          <a:noFill/>
          <a:ln/>
        </p:spPr>
        <p:txBody>
          <a:bodyPr wrap="square" lIns="0" tIns="0" rIns="0" bIns="0" rtlCol="0" anchor="ctr"/>
          <a:lstStyle/>
          <a:p>
            <a:pPr algn="ctr" indent="0" marL="0">
              <a:buNone/>
            </a:pPr>
            <a:r>
              <a:rPr lang="en-US" sz="1200" b="1" spc="60" kern="0" dirty="0">
                <a:solidFill>
                  <a:srgbClr val="0B0E26"/>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8284464" y="3611880"/>
            <a:ext cx="2926080" cy="36576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Agent-native surface</a:t>
            </a:r>
            <a:endParaRPr lang="en-US" sz="1400" dirty="0"/>
          </a:p>
        </p:txBody>
      </p:sp>
      <p:sp>
        <p:nvSpPr>
          <p:cNvPr id="23" name="Text 21"/>
          <p:cNvSpPr/>
          <p:nvPr/>
        </p:nvSpPr>
        <p:spPr>
          <a:xfrm>
            <a:off x="8284464" y="3977640"/>
            <a:ext cx="2926080" cy="292608"/>
          </a:xfrm>
          <a:prstGeom prst="rect">
            <a:avLst/>
          </a:prstGeom>
          <a:noFill/>
          <a:ln/>
        </p:spPr>
        <p:txBody>
          <a:bodyPr wrap="square" lIns="0" tIns="0" rIns="0" bIns="0" rtlCol="0" anchor="t"/>
          <a:lstStyle/>
          <a:p>
            <a:pPr indent="0" marL="0">
              <a:lnSpc>
                <a:spcPts val="1700"/>
              </a:lnSpc>
              <a:buNone/>
            </a:pPr>
            <a:r>
              <a:rPr lang="en-US" sz="900" b="1" spc="50" kern="0" dirty="0">
                <a:solidFill>
                  <a:srgbClr val="F5A623"/>
                </a:solidFill>
                <a:latin typeface="Calibri" pitchFamily="34" charset="0"/>
                <a:ea typeface="Calibri" pitchFamily="34" charset="-122"/>
                <a:cs typeface="Calibri" pitchFamily="34" charset="-120"/>
              </a:rPr>
              <a:t>Kite MCP / your assistant of choice</a:t>
            </a:r>
            <a:endParaRPr lang="en-US" sz="900" dirty="0"/>
          </a:p>
        </p:txBody>
      </p:sp>
      <p:sp>
        <p:nvSpPr>
          <p:cNvPr id="24" name="Text 22"/>
          <p:cNvSpPr/>
          <p:nvPr/>
        </p:nvSpPr>
        <p:spPr>
          <a:xfrm>
            <a:off x="8284464" y="4297680"/>
            <a:ext cx="2926080" cy="960120"/>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An AI agent — yours or a user's own — can ask Anvest a grounded question about a position it already sees, and get an answer with a citation, not a guess.</a:t>
            </a:r>
            <a:endParaRPr lang="en-US" sz="950" dirty="0"/>
          </a:p>
        </p:txBody>
      </p:sp>
      <p:sp>
        <p:nvSpPr>
          <p:cNvPr id="25" name="Shape 23"/>
          <p:cNvSpPr/>
          <p:nvPr/>
        </p:nvSpPr>
        <p:spPr>
          <a:xfrm>
            <a:off x="640080" y="5623560"/>
            <a:ext cx="10908792" cy="777240"/>
          </a:xfrm>
          <a:prstGeom prst="roundRect">
            <a:avLst>
              <a:gd name="adj" fmla="val 16471"/>
            </a:avLst>
          </a:prstGeom>
          <a:solidFill>
            <a:srgbClr val="FFFFFF">
              <a:alpha val="12000"/>
            </a:srgbClr>
          </a:solidFill>
          <a:ln w="9525">
            <a:solidFill>
              <a:srgbClr val="FFFFFF">
                <a:alpha val="22000"/>
              </a:srgbClr>
            </a:solidFill>
            <a:prstDash val="solid"/>
          </a:ln>
        </p:spPr>
      </p:sp>
      <p:sp>
        <p:nvSpPr>
          <p:cNvPr id="26" name="Text 24"/>
          <p:cNvSpPr/>
          <p:nvPr/>
        </p:nvSpPr>
        <p:spPr>
          <a:xfrm>
            <a:off x="1051560" y="5623560"/>
            <a:ext cx="10085832" cy="77724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Concretely: a user asks their Kite-connected assistant "why is my portfolio down this week," and the answer comes from Anvest's filing-grounded warehouse — cited, not hallucinated.</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par>
                          <p:cTn id="26" fill="hold">
                            <p:stCondLst>
                              <p:cond delay="0"/>
                            </p:stCondLst>
                            <p:childTnLst>
                              <p:par>
                                <p:cTn id="27" presetID="10" presetClass="entr" presetSubtype="0" fill="hold" grpId="0" nodeType="afterEffect">
                                  <p:stCondLst>
                                    <p:cond delay="11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OVERLAP QUESTION</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“Don't you already compete</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with Tickertape?”</a:t>
            </a:r>
            <a:endParaRPr lang="en-US" sz="4000" dirty="0"/>
          </a:p>
        </p:txBody>
      </p:sp>
      <p:sp>
        <p:nvSpPr>
          <p:cNvPr id="4" name="Shape 2"/>
          <p:cNvSpPr/>
          <p:nvPr/>
        </p:nvSpPr>
        <p:spPr>
          <a:xfrm>
            <a:off x="640080" y="2286000"/>
            <a:ext cx="3493008" cy="2331720"/>
          </a:xfrm>
          <a:prstGeom prst="roundRect">
            <a:avLst>
              <a:gd name="adj" fmla="val 5490"/>
            </a:avLst>
          </a:prstGeom>
          <a:solidFill>
            <a:srgbClr val="FFFFFF">
              <a:alpha val="8000"/>
            </a:srgbClr>
          </a:solidFill>
          <a:ln w="9525">
            <a:solidFill>
              <a:srgbClr val="FFFFFF">
                <a:alpha val="22000"/>
              </a:srgbClr>
            </a:solidFill>
            <a:prstDash val="solid"/>
          </a:ln>
        </p:spPr>
      </p:sp>
      <p:sp>
        <p:nvSpPr>
          <p:cNvPr id="5" name="Shape 3"/>
          <p:cNvSpPr/>
          <p:nvPr/>
        </p:nvSpPr>
        <p:spPr>
          <a:xfrm>
            <a:off x="932688" y="2487168"/>
            <a:ext cx="1828800" cy="292608"/>
          </a:xfrm>
          <a:prstGeom prst="roundRect">
            <a:avLst>
              <a:gd name="adj" fmla="val 53125"/>
            </a:avLst>
          </a:prstGeom>
          <a:solidFill>
            <a:srgbClr val="4A3699"/>
          </a:solidFill>
          <a:ln w="12700">
            <a:solidFill>
              <a:srgbClr val="4A3699"/>
            </a:solidFill>
            <a:prstDash val="solid"/>
          </a:ln>
        </p:spPr>
      </p:sp>
      <p:sp>
        <p:nvSpPr>
          <p:cNvPr id="6" name="Text 4"/>
          <p:cNvSpPr/>
          <p:nvPr/>
        </p:nvSpPr>
        <p:spPr>
          <a:xfrm>
            <a:off x="932688" y="2487168"/>
            <a:ext cx="1828800" cy="292608"/>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A DASHBOARD</a:t>
            </a:r>
            <a:endParaRPr lang="en-US" sz="850" dirty="0"/>
          </a:p>
        </p:txBody>
      </p:sp>
      <p:sp>
        <p:nvSpPr>
          <p:cNvPr id="7" name="Text 5"/>
          <p:cNvSpPr/>
          <p:nvPr/>
        </p:nvSpPr>
        <p:spPr>
          <a:xfrm>
            <a:off x="932688" y="2907792"/>
            <a:ext cx="2926080" cy="36576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What Tickertape does</a:t>
            </a:r>
            <a:endParaRPr lang="en-US" sz="1350" dirty="0"/>
          </a:p>
        </p:txBody>
      </p:sp>
      <p:sp>
        <p:nvSpPr>
          <p:cNvPr id="8" name="Text 6"/>
          <p:cNvSpPr/>
          <p:nvPr/>
        </p:nvSpPr>
        <p:spPr>
          <a:xfrm>
            <a:off x="932688" y="3291840"/>
            <a:ext cx="2926080" cy="1188720"/>
          </a:xfrm>
          <a:prstGeom prst="rect">
            <a:avLst/>
          </a:prstGeom>
          <a:noFill/>
          <a:ln/>
        </p:spPr>
        <p:txBody>
          <a:bodyPr wrap="square" lIns="0" tIns="0" rIns="0" bIns="0" rtlCol="0" anchor="t"/>
          <a:lstStyle/>
          <a:p>
            <a:pPr indent="0" marL="0">
              <a:lnSpc>
                <a:spcPts val="1450"/>
              </a:lnSpc>
              <a:buNone/>
            </a:pPr>
            <a:r>
              <a:rPr lang="en-US" sz="1050" dirty="0">
                <a:solidFill>
                  <a:srgbClr val="7C88B0"/>
                </a:solidFill>
                <a:latin typeface="Calibri" pitchFamily="34" charset="0"/>
                <a:ea typeface="Calibri" pitchFamily="34" charset="-122"/>
                <a:cs typeface="Calibri" pitchFamily="34" charset="-120"/>
              </a:rPr>
              <a:t>Ratios, charts, screeners, watchlists. Built for someone who already knows what ROCE means and wants it fast.</a:t>
            </a:r>
            <a:endParaRPr lang="en-US" sz="1050" dirty="0"/>
          </a:p>
        </p:txBody>
      </p:sp>
      <p:sp>
        <p:nvSpPr>
          <p:cNvPr id="9" name="Shape 7"/>
          <p:cNvSpPr/>
          <p:nvPr/>
        </p:nvSpPr>
        <p:spPr>
          <a:xfrm>
            <a:off x="4315968" y="2286000"/>
            <a:ext cx="3493008" cy="2331720"/>
          </a:xfrm>
          <a:prstGeom prst="roundRect">
            <a:avLst>
              <a:gd name="adj" fmla="val 5490"/>
            </a:avLst>
          </a:prstGeom>
          <a:solidFill>
            <a:srgbClr val="FFFFFF">
              <a:alpha val="8000"/>
            </a:srgbClr>
          </a:solidFill>
          <a:ln w="9525">
            <a:solidFill>
              <a:srgbClr val="FFFFFF">
                <a:alpha val="22000"/>
              </a:srgbClr>
            </a:solidFill>
            <a:prstDash val="solid"/>
          </a:ln>
        </p:spPr>
      </p:sp>
      <p:sp>
        <p:nvSpPr>
          <p:cNvPr id="10" name="Shape 8"/>
          <p:cNvSpPr/>
          <p:nvPr/>
        </p:nvSpPr>
        <p:spPr>
          <a:xfrm>
            <a:off x="4608576" y="2487168"/>
            <a:ext cx="1828800" cy="292608"/>
          </a:xfrm>
          <a:prstGeom prst="roundRect">
            <a:avLst>
              <a:gd name="adj" fmla="val 53125"/>
            </a:avLst>
          </a:prstGeom>
          <a:solidFill>
            <a:srgbClr val="4A3699"/>
          </a:solidFill>
          <a:ln w="12700">
            <a:solidFill>
              <a:srgbClr val="4A3699"/>
            </a:solidFill>
            <a:prstDash val="solid"/>
          </a:ln>
        </p:spPr>
      </p:sp>
      <p:sp>
        <p:nvSpPr>
          <p:cNvPr id="11" name="Text 9"/>
          <p:cNvSpPr/>
          <p:nvPr/>
        </p:nvSpPr>
        <p:spPr>
          <a:xfrm>
            <a:off x="4608576" y="2487168"/>
            <a:ext cx="1828800" cy="292608"/>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alibri" pitchFamily="34" charset="0"/>
                <a:ea typeface="Calibri" pitchFamily="34" charset="-122"/>
                <a:cs typeface="Calibri" pitchFamily="34" charset="-120"/>
              </a:rPr>
              <a:t>A RESEARCH ANALYST</a:t>
            </a:r>
            <a:endParaRPr lang="en-US" sz="850" dirty="0"/>
          </a:p>
        </p:txBody>
      </p:sp>
      <p:sp>
        <p:nvSpPr>
          <p:cNvPr id="12" name="Text 10"/>
          <p:cNvSpPr/>
          <p:nvPr/>
        </p:nvSpPr>
        <p:spPr>
          <a:xfrm>
            <a:off x="4608576" y="2907792"/>
            <a:ext cx="2926080" cy="36576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What Anvest does</a:t>
            </a:r>
            <a:endParaRPr lang="en-US" sz="1350" dirty="0"/>
          </a:p>
        </p:txBody>
      </p:sp>
      <p:sp>
        <p:nvSpPr>
          <p:cNvPr id="13" name="Text 11"/>
          <p:cNvSpPr/>
          <p:nvPr/>
        </p:nvSpPr>
        <p:spPr>
          <a:xfrm>
            <a:off x="4608576" y="3291840"/>
            <a:ext cx="2926080" cy="1188720"/>
          </a:xfrm>
          <a:prstGeom prst="rect">
            <a:avLst/>
          </a:prstGeom>
          <a:noFill/>
          <a:ln/>
        </p:spPr>
        <p:txBody>
          <a:bodyPr wrap="square" lIns="0" tIns="0" rIns="0" bIns="0" rtlCol="0" anchor="t"/>
          <a:lstStyle/>
          <a:p>
            <a:pPr indent="0" marL="0">
              <a:lnSpc>
                <a:spcPts val="1450"/>
              </a:lnSpc>
              <a:buNone/>
            </a:pPr>
            <a:r>
              <a:rPr lang="en-US" sz="1050" dirty="0">
                <a:solidFill>
                  <a:srgbClr val="7C88B0"/>
                </a:solidFill>
                <a:latin typeface="Calibri" pitchFamily="34" charset="0"/>
                <a:ea typeface="Calibri" pitchFamily="34" charset="-122"/>
                <a:cs typeface="Calibri" pitchFamily="34" charset="-120"/>
              </a:rPr>
              <a:t>Answers a question in plain English, cites the filing it came from, and says so when it doesn't know.</a:t>
            </a:r>
            <a:endParaRPr lang="en-US" sz="1050" dirty="0"/>
          </a:p>
        </p:txBody>
      </p:sp>
      <p:sp>
        <p:nvSpPr>
          <p:cNvPr id="14" name="Shape 12"/>
          <p:cNvSpPr/>
          <p:nvPr/>
        </p:nvSpPr>
        <p:spPr>
          <a:xfrm>
            <a:off x="7991856" y="2286000"/>
            <a:ext cx="3493008" cy="2331720"/>
          </a:xfrm>
          <a:prstGeom prst="roundRect">
            <a:avLst>
              <a:gd name="adj" fmla="val 5490"/>
            </a:avLst>
          </a:prstGeom>
          <a:solidFill>
            <a:srgbClr val="FFFFFF">
              <a:alpha val="8000"/>
            </a:srgbClr>
          </a:solidFill>
          <a:ln w="9525">
            <a:solidFill>
              <a:srgbClr val="FFFFFF">
                <a:alpha val="22000"/>
              </a:srgbClr>
            </a:solidFill>
            <a:prstDash val="solid"/>
          </a:ln>
        </p:spPr>
      </p:sp>
      <p:sp>
        <p:nvSpPr>
          <p:cNvPr id="15" name="Shape 13"/>
          <p:cNvSpPr/>
          <p:nvPr/>
        </p:nvSpPr>
        <p:spPr>
          <a:xfrm>
            <a:off x="8284464" y="2487168"/>
            <a:ext cx="1828800" cy="292608"/>
          </a:xfrm>
          <a:prstGeom prst="roundRect">
            <a:avLst>
              <a:gd name="adj" fmla="val 53125"/>
            </a:avLst>
          </a:prstGeom>
          <a:solidFill>
            <a:srgbClr val="F5A623"/>
          </a:solidFill>
          <a:ln w="12700">
            <a:solidFill>
              <a:srgbClr val="F5A623"/>
            </a:solidFill>
            <a:prstDash val="solid"/>
          </a:ln>
        </p:spPr>
      </p:sp>
      <p:sp>
        <p:nvSpPr>
          <p:cNvPr id="16" name="Text 14"/>
          <p:cNvSpPr/>
          <p:nvPr/>
        </p:nvSpPr>
        <p:spPr>
          <a:xfrm>
            <a:off x="8284464" y="2487168"/>
            <a:ext cx="1828800" cy="292608"/>
          </a:xfrm>
          <a:prstGeom prst="rect">
            <a:avLst/>
          </a:prstGeom>
          <a:noFill/>
          <a:ln/>
        </p:spPr>
        <p:txBody>
          <a:bodyPr wrap="square" lIns="0" tIns="0" rIns="0" bIns="0" rtlCol="0" anchor="ctr"/>
          <a:lstStyle/>
          <a:p>
            <a:pPr algn="ctr" indent="0" marL="0">
              <a:buNone/>
            </a:pPr>
            <a:r>
              <a:rPr lang="en-US" sz="850" b="1" spc="60" kern="0" dirty="0">
                <a:solidFill>
                  <a:srgbClr val="0B0E26"/>
                </a:solidFill>
                <a:latin typeface="Calibri" pitchFamily="34" charset="0"/>
                <a:ea typeface="Calibri" pitchFamily="34" charset="-122"/>
                <a:cs typeface="Calibri" pitchFamily="34" charset="-120"/>
              </a:rPr>
              <a:t>DIFFERENT JOBS</a:t>
            </a:r>
            <a:endParaRPr lang="en-US" sz="850" dirty="0"/>
          </a:p>
        </p:txBody>
      </p:sp>
      <p:sp>
        <p:nvSpPr>
          <p:cNvPr id="17" name="Text 15"/>
          <p:cNvSpPr/>
          <p:nvPr/>
        </p:nvSpPr>
        <p:spPr>
          <a:xfrm>
            <a:off x="8284464" y="2907792"/>
            <a:ext cx="2926080" cy="365760"/>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Where they meet</a:t>
            </a:r>
            <a:endParaRPr lang="en-US" sz="1350" dirty="0"/>
          </a:p>
        </p:txBody>
      </p:sp>
      <p:sp>
        <p:nvSpPr>
          <p:cNvPr id="18" name="Text 16"/>
          <p:cNvSpPr/>
          <p:nvPr/>
        </p:nvSpPr>
        <p:spPr>
          <a:xfrm>
            <a:off x="8284464" y="3291840"/>
            <a:ext cx="2926080" cy="1188720"/>
          </a:xfrm>
          <a:prstGeom prst="rect">
            <a:avLst/>
          </a:prstGeom>
          <a:noFill/>
          <a:ln/>
        </p:spPr>
        <p:txBody>
          <a:bodyPr wrap="square" lIns="0" tIns="0" rIns="0" bIns="0" rtlCol="0" anchor="t"/>
          <a:lstStyle/>
          <a:p>
            <a:pPr indent="0" marL="0">
              <a:lnSpc>
                <a:spcPts val="1450"/>
              </a:lnSpc>
              <a:buNone/>
            </a:pPr>
            <a:r>
              <a:rPr lang="en-US" sz="1050" dirty="0">
                <a:solidFill>
                  <a:srgbClr val="7C88B0"/>
                </a:solidFill>
                <a:latin typeface="Calibri" pitchFamily="34" charset="0"/>
                <a:ea typeface="Calibri" pitchFamily="34" charset="-122"/>
                <a:cs typeface="Calibri" pitchFamily="34" charset="-120"/>
              </a:rPr>
              <a:t>Nowhere that matters. A user who wants a number opens Tickertape. A user who wants to understand a number asks Anvest.</a:t>
            </a:r>
            <a:endParaRPr lang="en-US" sz="1050" dirty="0"/>
          </a:p>
        </p:txBody>
      </p:sp>
      <p:sp>
        <p:nvSpPr>
          <p:cNvPr id="19" name="Shape 17"/>
          <p:cNvSpPr/>
          <p:nvPr/>
        </p:nvSpPr>
        <p:spPr>
          <a:xfrm>
            <a:off x="640080" y="4892040"/>
            <a:ext cx="10908792" cy="1417320"/>
          </a:xfrm>
          <a:prstGeom prst="roundRect">
            <a:avLst>
              <a:gd name="adj" fmla="val 9032"/>
            </a:avLst>
          </a:prstGeom>
          <a:solidFill>
            <a:srgbClr val="FFFFFF"/>
          </a:solidFill>
          <a:ln w="12700">
            <a:solidFill>
              <a:srgbClr val="FFFFFF"/>
            </a:solidFill>
            <a:prstDash val="solid"/>
          </a:ln>
        </p:spPr>
      </p:sp>
      <p:sp>
        <p:nvSpPr>
          <p:cNvPr id="20" name="Text 18"/>
          <p:cNvSpPr/>
          <p:nvPr/>
        </p:nvSpPr>
        <p:spPr>
          <a:xfrm>
            <a:off x="1005840" y="5074920"/>
            <a:ext cx="10149840" cy="320040"/>
          </a:xfrm>
          <a:prstGeom prst="rect">
            <a:avLst/>
          </a:prstGeom>
          <a:noFill/>
          <a:ln/>
        </p:spPr>
        <p:txBody>
          <a:bodyPr wrap="square" lIns="0" tIns="0" rIns="0" bIns="0" rtlCol="0" anchor="t"/>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The honest version of the risk</a:t>
            </a:r>
            <a:endParaRPr lang="en-US" sz="1300" dirty="0"/>
          </a:p>
        </p:txBody>
      </p:sp>
      <p:sp>
        <p:nvSpPr>
          <p:cNvPr id="21" name="Text 19"/>
          <p:cNvSpPr/>
          <p:nvPr/>
        </p:nvSpPr>
        <p:spPr>
          <a:xfrm>
            <a:off x="1005840" y="5394960"/>
            <a:ext cx="10149840" cy="822960"/>
          </a:xfrm>
          <a:prstGeom prst="rect">
            <a:avLst/>
          </a:prstGeom>
          <a:noFill/>
          <a:ln/>
        </p:spPr>
        <p:txBody>
          <a:bodyPr wrap="square" lIns="0" tIns="0" rIns="0" bIns="0" rtlCol="0" anchor="t"/>
          <a:lstStyle/>
          <a:p>
            <a:pPr indent="0" marL="0">
              <a:lnSpc>
                <a:spcPts val="1600"/>
              </a:lnSpc>
              <a:buNone/>
            </a:pPr>
            <a:r>
              <a:rPr lang="en-US" sz="1100" dirty="0">
                <a:solidFill>
                  <a:srgbClr val="434B6B"/>
                </a:solidFill>
                <a:latin typeface="Calibri" pitchFamily="34" charset="0"/>
                <a:ea typeface="Calibri" pitchFamily="34" charset="-122"/>
                <a:cs typeface="Calibri" pitchFamily="34" charset="-120"/>
              </a:rPr>
              <a:t>Any research product and any dashboard product will eventually add features that look like the other. That's true of every pair of adjacent products in every category. What doesn't converge is the twelve months of filing-parsing infrastructure underneath — that's the part worth partnering for instead of racing to rebuild.</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WHERE WE ARE</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Built. Live. Ready to integrate.</a:t>
            </a:r>
            <a:endParaRPr lang="en-US" sz="4000" dirty="0"/>
          </a:p>
        </p:txBody>
      </p:sp>
      <p:sp>
        <p:nvSpPr>
          <p:cNvPr id="4" name="Shape 2"/>
          <p:cNvSpPr/>
          <p:nvPr/>
        </p:nvSpPr>
        <p:spPr>
          <a:xfrm>
            <a:off x="640080" y="2103120"/>
            <a:ext cx="5349240" cy="3703320"/>
          </a:xfrm>
          <a:prstGeom prst="roundRect">
            <a:avLst>
              <a:gd name="adj" fmla="val 3457"/>
            </a:avLst>
          </a:prstGeom>
          <a:solidFill>
            <a:srgbClr val="FFFFFF">
              <a:alpha val="8000"/>
            </a:srgbClr>
          </a:solidFill>
          <a:ln w="9525">
            <a:solidFill>
              <a:srgbClr val="FFFFFF">
                <a:alpha val="22000"/>
              </a:srgbClr>
            </a:solidFill>
            <a:prstDash val="solid"/>
          </a:ln>
        </p:spPr>
      </p:sp>
      <p:sp>
        <p:nvSpPr>
          <p:cNvPr id="5" name="Shape 3"/>
          <p:cNvSpPr/>
          <p:nvPr/>
        </p:nvSpPr>
        <p:spPr>
          <a:xfrm>
            <a:off x="1005840" y="2331720"/>
            <a:ext cx="1371600" cy="310896"/>
          </a:xfrm>
          <a:prstGeom prst="roundRect">
            <a:avLst>
              <a:gd name="adj" fmla="val 50000"/>
            </a:avLst>
          </a:prstGeom>
          <a:solidFill>
            <a:srgbClr val="3DD68C"/>
          </a:solidFill>
          <a:ln w="12700">
            <a:solidFill>
              <a:srgbClr val="3DD68C"/>
            </a:solidFill>
            <a:prstDash val="solid"/>
          </a:ln>
        </p:spPr>
      </p:sp>
      <p:sp>
        <p:nvSpPr>
          <p:cNvPr id="6" name="Text 4"/>
          <p:cNvSpPr/>
          <p:nvPr/>
        </p:nvSpPr>
        <p:spPr>
          <a:xfrm>
            <a:off x="1005840" y="2331720"/>
            <a:ext cx="1371600" cy="310896"/>
          </a:xfrm>
          <a:prstGeom prst="rect">
            <a:avLst/>
          </a:prstGeom>
          <a:noFill/>
          <a:ln/>
        </p:spPr>
        <p:txBody>
          <a:bodyPr wrap="square" lIns="0" tIns="0" rIns="0" bIns="0" rtlCol="0" anchor="ctr"/>
          <a:lstStyle/>
          <a:p>
            <a:pPr algn="ctr" indent="0" marL="0">
              <a:buNone/>
            </a:pPr>
            <a:r>
              <a:rPr lang="en-US" sz="1000" b="1" spc="60" kern="0" dirty="0">
                <a:solidFill>
                  <a:srgbClr val="04301E"/>
                </a:solidFill>
                <a:latin typeface="Calibri" pitchFamily="34" charset="0"/>
                <a:ea typeface="Calibri" pitchFamily="34" charset="-122"/>
                <a:cs typeface="Calibri" pitchFamily="34" charset="-120"/>
              </a:rPr>
              <a:t>SHIPPED</a:t>
            </a:r>
            <a:endParaRPr lang="en-US" sz="1000" dirty="0"/>
          </a:p>
        </p:txBody>
      </p:sp>
      <p:sp>
        <p:nvSpPr>
          <p:cNvPr id="7" name="Text 5"/>
          <p:cNvSpPr/>
          <p:nvPr/>
        </p:nvSpPr>
        <p:spPr>
          <a:xfrm>
            <a:off x="1005840" y="2834640"/>
            <a:ext cx="4617720" cy="1828800"/>
          </a:xfrm>
          <a:prstGeom prst="rect">
            <a:avLst/>
          </a:prstGeom>
          <a:noFill/>
          <a:ln/>
        </p:spPr>
        <p:txBody>
          <a:bodyPr wrap="square" lIns="0" tIns="0" rIns="0" bIns="0" rtlCol="0" anchor="t"/>
          <a:lstStyle/>
          <a:p>
            <a:pPr marL="342900" indent="-342900">
              <a:lnSpc>
                <a:spcPts val="1600"/>
              </a:lnSpc>
              <a:buSzPct val="100000"/>
              <a:buChar char="•"/>
            </a:pPr>
            <a:r>
              <a:rPr lang="en-US" sz="1150" dirty="0">
                <a:solidFill>
                  <a:srgbClr val="C9D3F0"/>
                </a:solidFill>
                <a:latin typeface="Calibri" pitchFamily="34" charset="0"/>
                <a:ea typeface="Calibri" pitchFamily="34" charset="-122"/>
                <a:cs typeface="Calibri" pitchFamily="34" charset="-120"/>
              </a:rPr>
              <a:t>Full-universe data warehouse, nightly ingestion</a:t>
            </a:r>
            <a:endParaRPr lang="en-US" sz="1150" dirty="0"/>
          </a:p>
          <a:p>
            <a:pPr marL="342900" indent="-342900">
              <a:lnSpc>
                <a:spcPts val="1600"/>
              </a:lnSpc>
              <a:buSzPct val="100000"/>
              <a:buChar char="•"/>
            </a:pPr>
            <a:r>
              <a:rPr lang="en-US" sz="1150" dirty="0">
                <a:solidFill>
                  <a:srgbClr val="C9D3F0"/>
                </a:solidFill>
                <a:latin typeface="Calibri" pitchFamily="34" charset="0"/>
                <a:ea typeface="Calibri" pitchFamily="34" charset="-122"/>
                <a:cs typeface="Calibri" pitchFamily="34" charset="-120"/>
              </a:rPr>
              <a:t>OCR + vector pipeline over two years of filings</a:t>
            </a:r>
            <a:endParaRPr lang="en-US" sz="1150" dirty="0"/>
          </a:p>
          <a:p>
            <a:pPr marL="342900" indent="-342900">
              <a:lnSpc>
                <a:spcPts val="1600"/>
              </a:lnSpc>
              <a:buSzPct val="100000"/>
              <a:buChar char="•"/>
            </a:pPr>
            <a:r>
              <a:rPr lang="en-US" sz="1150" dirty="0">
                <a:solidFill>
                  <a:srgbClr val="C9D3F0"/>
                </a:solidFill>
                <a:latin typeface="Calibri" pitchFamily="34" charset="0"/>
                <a:ea typeface="Calibri" pitchFamily="34" charset="-122"/>
                <a:cs typeface="Calibri" pitchFamily="34" charset="-120"/>
              </a:rPr>
              <a:t>Grounded copilot with verify-and-repair loops</a:t>
            </a:r>
            <a:endParaRPr lang="en-US" sz="1150" dirty="0"/>
          </a:p>
          <a:p>
            <a:pPr marL="342900" indent="-342900">
              <a:lnSpc>
                <a:spcPts val="1600"/>
              </a:lnSpc>
              <a:buSzPct val="100000"/>
              <a:buChar char="•"/>
            </a:pPr>
            <a:r>
              <a:rPr lang="en-US" sz="1150" dirty="0">
                <a:solidFill>
                  <a:srgbClr val="C9D3F0"/>
                </a:solidFill>
                <a:latin typeface="Calibri" pitchFamily="34" charset="0"/>
                <a:ea typeface="Calibri" pitchFamily="34" charset="-122"/>
                <a:cs typeface="Calibri" pitchFamily="34" charset="-120"/>
              </a:rPr>
              <a:t>Eight AI surfaces: screener, X-ray, scoring, chat</a:t>
            </a:r>
            <a:endParaRPr lang="en-US" sz="1150" dirty="0"/>
          </a:p>
          <a:p>
            <a:pPr marL="342900" indent="-342900">
              <a:lnSpc>
                <a:spcPts val="1600"/>
              </a:lnSpc>
              <a:buSzPct val="100000"/>
              <a:buChar char="•"/>
            </a:pPr>
            <a:r>
              <a:rPr lang="en-US" sz="1150" dirty="0">
                <a:solidFill>
                  <a:srgbClr val="C9D3F0"/>
                </a:solidFill>
                <a:latin typeface="Calibri" pitchFamily="34" charset="0"/>
                <a:ea typeface="Calibri" pitchFamily="34" charset="-122"/>
                <a:cs typeface="Calibri" pitchFamily="34" charset="-120"/>
              </a:rPr>
              <a:t>Read-only broker-link pattern already built — the same shape Kite Connect uses</a:t>
            </a:r>
            <a:endParaRPr lang="en-US" sz="1150" dirty="0"/>
          </a:p>
        </p:txBody>
      </p:sp>
      <p:sp>
        <p:nvSpPr>
          <p:cNvPr id="8" name="Shape 6"/>
          <p:cNvSpPr/>
          <p:nvPr/>
        </p:nvSpPr>
        <p:spPr>
          <a:xfrm>
            <a:off x="1005840" y="4937760"/>
            <a:ext cx="4617720" cy="10973"/>
          </a:xfrm>
          <a:prstGeom prst="rect">
            <a:avLst/>
          </a:prstGeom>
          <a:solidFill>
            <a:srgbClr val="FFFFFF">
              <a:alpha val="18000"/>
            </a:srgbClr>
          </a:solidFill>
          <a:ln w="12700">
            <a:solidFill>
              <a:srgbClr val="FFFFFF">
                <a:alpha val="18000"/>
              </a:srgbClr>
            </a:solidFill>
            <a:prstDash val="solid"/>
          </a:ln>
        </p:spPr>
      </p:sp>
      <p:sp>
        <p:nvSpPr>
          <p:cNvPr id="9" name="Text 7"/>
          <p:cNvSpPr/>
          <p:nvPr/>
        </p:nvSpPr>
        <p:spPr>
          <a:xfrm>
            <a:off x="1005840" y="5120640"/>
            <a:ext cx="4617720" cy="594360"/>
          </a:xfrm>
          <a:prstGeom prst="rect">
            <a:avLst/>
          </a:prstGeom>
          <a:noFill/>
          <a:ln/>
        </p:spPr>
        <p:txBody>
          <a:bodyPr wrap="square" lIns="0" tIns="0" rIns="0" bIns="0" rtlCol="0" anchor="t"/>
          <a:lstStyle/>
          <a:p>
            <a:pPr indent="0" marL="0">
              <a:lnSpc>
                <a:spcPts val="1500"/>
              </a:lnSpc>
              <a:buNone/>
            </a:pPr>
            <a:r>
              <a:rPr lang="en-US" sz="1100" i="1" dirty="0">
                <a:solidFill>
                  <a:srgbClr val="7C88B0"/>
                </a:solidFill>
                <a:latin typeface="Calibri" pitchFamily="34" charset="0"/>
                <a:ea typeface="Calibri" pitchFamily="34" charset="-122"/>
                <a:cs typeface="Calibri" pitchFamily="34" charset="-120"/>
              </a:rPr>
              <a:t>One person. Twelve months. Production runs on a laptop today — first thing an integration budget fixes.</a:t>
            </a:r>
            <a:endParaRPr lang="en-US" sz="1100" dirty="0"/>
          </a:p>
        </p:txBody>
      </p:sp>
      <p:sp>
        <p:nvSpPr>
          <p:cNvPr id="10" name="Shape 8"/>
          <p:cNvSpPr/>
          <p:nvPr/>
        </p:nvSpPr>
        <p:spPr>
          <a:xfrm>
            <a:off x="6446520" y="2103120"/>
            <a:ext cx="5102352" cy="3703320"/>
          </a:xfrm>
          <a:prstGeom prst="roundRect">
            <a:avLst>
              <a:gd name="adj" fmla="val 3457"/>
            </a:avLst>
          </a:prstGeom>
          <a:solidFill>
            <a:srgbClr val="FFFFFF">
              <a:alpha val="6000"/>
            </a:srgbClr>
          </a:solidFill>
          <a:ln w="9525">
            <a:solidFill>
              <a:srgbClr val="FFFFFF">
                <a:alpha val="22000"/>
              </a:srgbClr>
            </a:solidFill>
            <a:prstDash val="solid"/>
          </a:ln>
        </p:spPr>
      </p:sp>
      <p:sp>
        <p:nvSpPr>
          <p:cNvPr id="11" name="Shape 9"/>
          <p:cNvSpPr/>
          <p:nvPr/>
        </p:nvSpPr>
        <p:spPr>
          <a:xfrm>
            <a:off x="6812280" y="2331720"/>
            <a:ext cx="2148840" cy="310896"/>
          </a:xfrm>
          <a:prstGeom prst="roundRect">
            <a:avLst>
              <a:gd name="adj" fmla="val 50000"/>
            </a:avLst>
          </a:prstGeom>
          <a:solidFill>
            <a:srgbClr val="FF6B6B"/>
          </a:solidFill>
          <a:ln w="12700">
            <a:solidFill>
              <a:srgbClr val="FF6B6B"/>
            </a:solidFill>
            <a:prstDash val="solid"/>
          </a:ln>
        </p:spPr>
      </p:sp>
      <p:sp>
        <p:nvSpPr>
          <p:cNvPr id="12" name="Text 10"/>
          <p:cNvSpPr/>
          <p:nvPr/>
        </p:nvSpPr>
        <p:spPr>
          <a:xfrm>
            <a:off x="6812280" y="2331720"/>
            <a:ext cx="2148840" cy="310896"/>
          </a:xfrm>
          <a:prstGeom prst="rect">
            <a:avLst/>
          </a:prstGeom>
          <a:noFill/>
          <a:ln/>
        </p:spPr>
        <p:txBody>
          <a:bodyPr wrap="square" lIns="0" tIns="0" rIns="0" bIns="0" rtlCol="0" anchor="ctr"/>
          <a:lstStyle/>
          <a:p>
            <a:pPr algn="ctr" indent="0" marL="0">
              <a:buNone/>
            </a:pPr>
            <a:r>
              <a:rPr lang="en-US" sz="1000" b="1" spc="60" kern="0" dirty="0">
                <a:solidFill>
                  <a:srgbClr val="3B0000"/>
                </a:solidFill>
                <a:latin typeface="Calibri" pitchFamily="34" charset="0"/>
                <a:ea typeface="Calibri" pitchFamily="34" charset="-122"/>
                <a:cs typeface="Calibri" pitchFamily="34" charset="-120"/>
              </a:rPr>
              <a:t>NOT YET — PLAINLY</a:t>
            </a:r>
            <a:endParaRPr lang="en-US" sz="1000" dirty="0"/>
          </a:p>
        </p:txBody>
      </p:sp>
      <p:sp>
        <p:nvSpPr>
          <p:cNvPr id="13" name="Text 11"/>
          <p:cNvSpPr/>
          <p:nvPr/>
        </p:nvSpPr>
        <p:spPr>
          <a:xfrm>
            <a:off x="6812280" y="2880360"/>
            <a:ext cx="1371600" cy="274320"/>
          </a:xfrm>
          <a:prstGeom prst="rect">
            <a:avLst/>
          </a:prstGeom>
          <a:noFill/>
          <a:ln/>
        </p:spPr>
        <p:txBody>
          <a:bodyPr wrap="square" lIns="0" tIns="0" rIns="0" bIns="0" rtlCol="0" anchor="t"/>
          <a:lstStyle/>
          <a:p>
            <a:pPr indent="0" marL="0">
              <a:lnSpc>
                <a:spcPts val="1700"/>
              </a:lnSpc>
              <a:buNone/>
            </a:pPr>
            <a:r>
              <a:rPr lang="en-US" sz="1200" b="1" dirty="0">
                <a:solidFill>
                  <a:srgbClr val="FF6B6B"/>
                </a:solidFill>
                <a:latin typeface="Calibri" pitchFamily="34" charset="0"/>
                <a:ea typeface="Calibri" pitchFamily="34" charset="-122"/>
                <a:cs typeface="Calibri" pitchFamily="34" charset="-120"/>
              </a:rPr>
              <a:t>Users</a:t>
            </a:r>
            <a:endParaRPr lang="en-US" sz="1200" dirty="0"/>
          </a:p>
        </p:txBody>
      </p:sp>
      <p:sp>
        <p:nvSpPr>
          <p:cNvPr id="14" name="Text 12"/>
          <p:cNvSpPr/>
          <p:nvPr/>
        </p:nvSpPr>
        <p:spPr>
          <a:xfrm>
            <a:off x="8275320" y="2880360"/>
            <a:ext cx="3063240" cy="566928"/>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Zero standalone. The distribution thesis of this deck is your users, not a consumer funnel.</a:t>
            </a:r>
            <a:endParaRPr lang="en-US" sz="950" dirty="0"/>
          </a:p>
        </p:txBody>
      </p:sp>
      <p:sp>
        <p:nvSpPr>
          <p:cNvPr id="15" name="Text 13"/>
          <p:cNvSpPr/>
          <p:nvPr/>
        </p:nvSpPr>
        <p:spPr>
          <a:xfrm>
            <a:off x="6812280" y="3538728"/>
            <a:ext cx="1371600" cy="274320"/>
          </a:xfrm>
          <a:prstGeom prst="rect">
            <a:avLst/>
          </a:prstGeom>
          <a:noFill/>
          <a:ln/>
        </p:spPr>
        <p:txBody>
          <a:bodyPr wrap="square" lIns="0" tIns="0" rIns="0" bIns="0" rtlCol="0" anchor="t"/>
          <a:lstStyle/>
          <a:p>
            <a:pPr indent="0" marL="0">
              <a:lnSpc>
                <a:spcPts val="1700"/>
              </a:lnSpc>
              <a:buNone/>
            </a:pPr>
            <a:r>
              <a:rPr lang="en-US" sz="1200" b="1" dirty="0">
                <a:solidFill>
                  <a:srgbClr val="FF6B6B"/>
                </a:solidFill>
                <a:latin typeface="Calibri" pitchFamily="34" charset="0"/>
                <a:ea typeface="Calibri" pitchFamily="34" charset="-122"/>
                <a:cs typeface="Calibri" pitchFamily="34" charset="-120"/>
              </a:rPr>
              <a:t>Revenue</a:t>
            </a:r>
            <a:endParaRPr lang="en-US" sz="1200" dirty="0"/>
          </a:p>
        </p:txBody>
      </p:sp>
      <p:sp>
        <p:nvSpPr>
          <p:cNvPr id="16" name="Text 14"/>
          <p:cNvSpPr/>
          <p:nvPr/>
        </p:nvSpPr>
        <p:spPr>
          <a:xfrm>
            <a:off x="8275320" y="3538728"/>
            <a:ext cx="3063240" cy="566928"/>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Zero. A B2B integration fee / rev-share is a hypothesis until one partner signs.</a:t>
            </a:r>
            <a:endParaRPr lang="en-US" sz="950" dirty="0"/>
          </a:p>
        </p:txBody>
      </p:sp>
      <p:sp>
        <p:nvSpPr>
          <p:cNvPr id="17" name="Text 15"/>
          <p:cNvSpPr/>
          <p:nvPr/>
        </p:nvSpPr>
        <p:spPr>
          <a:xfrm>
            <a:off x="6812280" y="4197096"/>
            <a:ext cx="1371600" cy="274320"/>
          </a:xfrm>
          <a:prstGeom prst="rect">
            <a:avLst/>
          </a:prstGeom>
          <a:noFill/>
          <a:ln/>
        </p:spPr>
        <p:txBody>
          <a:bodyPr wrap="square" lIns="0" tIns="0" rIns="0" bIns="0" rtlCol="0" anchor="t"/>
          <a:lstStyle/>
          <a:p>
            <a:pPr indent="0" marL="0">
              <a:lnSpc>
                <a:spcPts val="1700"/>
              </a:lnSpc>
              <a:buNone/>
            </a:pPr>
            <a:r>
              <a:rPr lang="en-US" sz="1200" b="1" dirty="0">
                <a:solidFill>
                  <a:srgbClr val="FF6B6B"/>
                </a:solidFill>
                <a:latin typeface="Calibri" pitchFamily="34" charset="0"/>
                <a:ea typeface="Calibri" pitchFamily="34" charset="-122"/>
                <a:cs typeface="Calibri" pitchFamily="34" charset="-120"/>
              </a:rPr>
              <a:t>Hardening</a:t>
            </a:r>
            <a:endParaRPr lang="en-US" sz="1200" dirty="0"/>
          </a:p>
        </p:txBody>
      </p:sp>
      <p:sp>
        <p:nvSpPr>
          <p:cNvPr id="18" name="Text 16"/>
          <p:cNvSpPr/>
          <p:nvPr/>
        </p:nvSpPr>
        <p:spPr>
          <a:xfrm>
            <a:off x="8275320" y="4197096"/>
            <a:ext cx="3063240" cy="566928"/>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Production is on my Mac. Needs to move before any real integration load.</a:t>
            </a:r>
            <a:endParaRPr lang="en-US" sz="950" dirty="0"/>
          </a:p>
        </p:txBody>
      </p:sp>
      <p:sp>
        <p:nvSpPr>
          <p:cNvPr id="19" name="Text 17"/>
          <p:cNvSpPr/>
          <p:nvPr/>
        </p:nvSpPr>
        <p:spPr>
          <a:xfrm>
            <a:off x="6812280" y="4855464"/>
            <a:ext cx="1371600" cy="274320"/>
          </a:xfrm>
          <a:prstGeom prst="rect">
            <a:avLst/>
          </a:prstGeom>
          <a:noFill/>
          <a:ln/>
        </p:spPr>
        <p:txBody>
          <a:bodyPr wrap="square" lIns="0" tIns="0" rIns="0" bIns="0" rtlCol="0" anchor="t"/>
          <a:lstStyle/>
          <a:p>
            <a:pPr indent="0" marL="0">
              <a:lnSpc>
                <a:spcPts val="1700"/>
              </a:lnSpc>
              <a:buNone/>
            </a:pPr>
            <a:r>
              <a:rPr lang="en-US" sz="1200" b="1" dirty="0">
                <a:solidFill>
                  <a:srgbClr val="FF6B6B"/>
                </a:solidFill>
                <a:latin typeface="Calibri" pitchFamily="34" charset="0"/>
                <a:ea typeface="Calibri" pitchFamily="34" charset="-122"/>
                <a:cs typeface="Calibri" pitchFamily="34" charset="-120"/>
              </a:rPr>
              <a:t>Data gaps</a:t>
            </a:r>
            <a:endParaRPr lang="en-US" sz="1200" dirty="0"/>
          </a:p>
        </p:txBody>
      </p:sp>
      <p:sp>
        <p:nvSpPr>
          <p:cNvPr id="20" name="Text 18"/>
          <p:cNvSpPr/>
          <p:nvPr/>
        </p:nvSpPr>
        <p:spPr>
          <a:xfrm>
            <a:off x="8275320" y="4855464"/>
            <a:ext cx="3063240" cy="566928"/>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~4,500 company-years the exchange never filed. Badged, not hidden.</a:t>
            </a:r>
            <a:endParaRPr lang="en-US" sz="950" dirty="0"/>
          </a:p>
        </p:txBody>
      </p:sp>
      <p:sp>
        <p:nvSpPr>
          <p:cNvPr id="21" name="Text 19"/>
          <p:cNvSpPr/>
          <p:nvPr/>
        </p:nvSpPr>
        <p:spPr>
          <a:xfrm>
            <a:off x="6812280" y="5504688"/>
            <a:ext cx="4526280" cy="274320"/>
          </a:xfrm>
          <a:prstGeom prst="rect">
            <a:avLst/>
          </a:prstGeom>
          <a:noFill/>
          <a:ln/>
        </p:spPr>
        <p:txBody>
          <a:bodyPr wrap="square" lIns="0" tIns="0" rIns="0" bIns="0" rtlCol="0" anchor="t"/>
          <a:lstStyle/>
          <a:p>
            <a:pPr indent="0" marL="0">
              <a:lnSpc>
                <a:spcPts val="1700"/>
              </a:lnSpc>
              <a:buNone/>
            </a:pPr>
            <a:r>
              <a:rPr lang="en-US" sz="1050" b="1" i="1" dirty="0">
                <a:solidFill>
                  <a:srgbClr val="C9D3F0"/>
                </a:solidFill>
                <a:latin typeface="Calibri" pitchFamily="34" charset="0"/>
                <a:ea typeface="Calibri" pitchFamily="34" charset="-122"/>
                <a:cs typeface="Calibri" pitchFamily="34" charset="-120"/>
              </a:rPr>
              <a:t>I'd rather you hear this from me than find it in diligence.</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WHAT THIS UNLOCKS FOR YOU</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Three ways this shows up</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in your product</a:t>
            </a:r>
            <a:endParaRPr lang="en-US" sz="4000" dirty="0"/>
          </a:p>
        </p:txBody>
      </p:sp>
      <p:sp>
        <p:nvSpPr>
          <p:cNvPr id="4" name="Shape 2"/>
          <p:cNvSpPr/>
          <p:nvPr/>
        </p:nvSpPr>
        <p:spPr>
          <a:xfrm>
            <a:off x="640080" y="1965960"/>
            <a:ext cx="10908792" cy="1097280"/>
          </a:xfrm>
          <a:prstGeom prst="roundRect">
            <a:avLst>
              <a:gd name="adj" fmla="val 11667"/>
            </a:avLst>
          </a:prstGeom>
          <a:solidFill>
            <a:srgbClr val="FFFFFF"/>
          </a:solidFill>
          <a:ln w="12700">
            <a:solidFill>
              <a:srgbClr val="FFFFFF"/>
            </a:solidFill>
            <a:prstDash val="solid"/>
          </a:ln>
        </p:spPr>
      </p:sp>
      <p:sp>
        <p:nvSpPr>
          <p:cNvPr id="5" name="Text 3"/>
          <p:cNvSpPr/>
          <p:nvPr/>
        </p:nvSpPr>
        <p:spPr>
          <a:xfrm>
            <a:off x="960120" y="2185416"/>
            <a:ext cx="822960" cy="640080"/>
          </a:xfrm>
          <a:prstGeom prst="rect">
            <a:avLst/>
          </a:prstGeom>
          <a:noFill/>
          <a:ln/>
        </p:spPr>
        <p:txBody>
          <a:bodyPr wrap="square" lIns="0" tIns="0" rIns="0" bIns="0" rtlCol="0" anchor="t"/>
          <a:lstStyle/>
          <a:p>
            <a:pPr indent="0" marL="0">
              <a:lnSpc>
                <a:spcPts val="1700"/>
              </a:lnSpc>
              <a:buNone/>
            </a:pPr>
            <a:r>
              <a:rPr lang="en-US" sz="2800" b="1" spc="-150" kern="0" dirty="0">
                <a:solidFill>
                  <a:srgbClr val="C97F0C"/>
                </a:solidFill>
                <a:latin typeface="Arial" pitchFamily="34" charset="0"/>
                <a:ea typeface="Arial" pitchFamily="34" charset="-122"/>
                <a:cs typeface="Arial" pitchFamily="34" charset="-120"/>
              </a:rPr>
              <a:t>01</a:t>
            </a:r>
            <a:endParaRPr lang="en-US" sz="2800" dirty="0"/>
          </a:p>
        </p:txBody>
      </p:sp>
      <p:sp>
        <p:nvSpPr>
          <p:cNvPr id="6" name="Text 4"/>
          <p:cNvSpPr/>
          <p:nvPr/>
        </p:nvSpPr>
        <p:spPr>
          <a:xfrm>
            <a:off x="1874520" y="2130552"/>
            <a:ext cx="4206240" cy="457200"/>
          </a:xfrm>
          <a:prstGeom prst="rect">
            <a:avLst/>
          </a:prstGeom>
          <a:noFill/>
          <a:ln/>
        </p:spPr>
        <p:txBody>
          <a:bodyPr wrap="square" lIns="0" tIns="0" rIns="0" bIns="0" rtlCol="0" anchor="t"/>
          <a:lstStyle/>
          <a:p>
            <a:pPr indent="0" marL="0">
              <a:lnSpc>
                <a:spcPts val="1700"/>
              </a:lnSpc>
              <a:buNone/>
            </a:pPr>
            <a:r>
              <a:rPr lang="en-US" sz="1400" b="1" dirty="0">
                <a:solidFill>
                  <a:srgbClr val="1E2761"/>
                </a:solidFill>
                <a:latin typeface="Calibri" pitchFamily="34" charset="0"/>
                <a:ea typeface="Calibri" pitchFamily="34" charset="-122"/>
                <a:cs typeface="Calibri" pitchFamily="34" charset="-120"/>
              </a:rPr>
              <a:t>A reason to open the app on a quiet day</a:t>
            </a:r>
            <a:endParaRPr lang="en-US" sz="1400" dirty="0"/>
          </a:p>
        </p:txBody>
      </p:sp>
      <p:sp>
        <p:nvSpPr>
          <p:cNvPr id="7" name="Text 5"/>
          <p:cNvSpPr/>
          <p:nvPr/>
        </p:nvSpPr>
        <p:spPr>
          <a:xfrm>
            <a:off x="1874520" y="2532888"/>
            <a:ext cx="9326880" cy="457200"/>
          </a:xfrm>
          <a:prstGeom prst="rect">
            <a:avLst/>
          </a:prstGeom>
          <a:noFill/>
          <a:ln/>
        </p:spPr>
        <p:txBody>
          <a:bodyPr wrap="square" lIns="0" tIns="0" rIns="0" bIns="0" rtlCol="0" anchor="t"/>
          <a:lstStyle/>
          <a:p>
            <a:pPr indent="0" marL="0">
              <a:lnSpc>
                <a:spcPts val="1300"/>
              </a:lnSpc>
              <a:buNone/>
            </a:pPr>
            <a:r>
              <a:rPr lang="en-US" sz="950" dirty="0">
                <a:solidFill>
                  <a:srgbClr val="434B6B"/>
                </a:solidFill>
                <a:latin typeface="Calibri" pitchFamily="34" charset="0"/>
                <a:ea typeface="Calibri" pitchFamily="34" charset="-122"/>
                <a:cs typeface="Calibri" pitchFamily="34" charset="-120"/>
              </a:rPr>
              <a:t>A daily digest grounded in filings — not price alerts — pulling users back between trades. The frequency problem every brokerage app has, solved with content you don't have to build a newsroom for.</a:t>
            </a:r>
            <a:endParaRPr lang="en-US" sz="950" dirty="0"/>
          </a:p>
        </p:txBody>
      </p:sp>
      <p:sp>
        <p:nvSpPr>
          <p:cNvPr id="8" name="Shape 6"/>
          <p:cNvSpPr/>
          <p:nvPr/>
        </p:nvSpPr>
        <p:spPr>
          <a:xfrm>
            <a:off x="640080" y="3200400"/>
            <a:ext cx="10908792" cy="1097280"/>
          </a:xfrm>
          <a:prstGeom prst="roundRect">
            <a:avLst>
              <a:gd name="adj" fmla="val 11667"/>
            </a:avLst>
          </a:prstGeom>
          <a:solidFill>
            <a:srgbClr val="FFFFFF">
              <a:alpha val="8000"/>
            </a:srgbClr>
          </a:solidFill>
          <a:ln w="9525">
            <a:solidFill>
              <a:srgbClr val="FFFFFF">
                <a:alpha val="22000"/>
              </a:srgbClr>
            </a:solidFill>
            <a:prstDash val="solid"/>
          </a:ln>
        </p:spPr>
      </p:sp>
      <p:sp>
        <p:nvSpPr>
          <p:cNvPr id="9" name="Text 7"/>
          <p:cNvSpPr/>
          <p:nvPr/>
        </p:nvSpPr>
        <p:spPr>
          <a:xfrm>
            <a:off x="960120" y="3419856"/>
            <a:ext cx="822960" cy="640080"/>
          </a:xfrm>
          <a:prstGeom prst="rect">
            <a:avLst/>
          </a:prstGeom>
          <a:noFill/>
          <a:ln/>
        </p:spPr>
        <p:txBody>
          <a:bodyPr wrap="square" lIns="0" tIns="0" rIns="0" bIns="0" rtlCol="0" anchor="t"/>
          <a:lstStyle/>
          <a:p>
            <a:pPr indent="0" marL="0">
              <a:lnSpc>
                <a:spcPts val="1700"/>
              </a:lnSpc>
              <a:buNone/>
            </a:pPr>
            <a:r>
              <a:rPr lang="en-US" sz="2800" b="1" spc="-150" kern="0" dirty="0">
                <a:solidFill>
                  <a:srgbClr val="F5A623"/>
                </a:solidFill>
                <a:latin typeface="Arial" pitchFamily="34" charset="0"/>
                <a:ea typeface="Arial" pitchFamily="34" charset="-122"/>
                <a:cs typeface="Arial" pitchFamily="34" charset="-120"/>
              </a:rPr>
              <a:t>02</a:t>
            </a:r>
            <a:endParaRPr lang="en-US" sz="2800" dirty="0"/>
          </a:p>
        </p:txBody>
      </p:sp>
      <p:sp>
        <p:nvSpPr>
          <p:cNvPr id="10" name="Text 8"/>
          <p:cNvSpPr/>
          <p:nvPr/>
        </p:nvSpPr>
        <p:spPr>
          <a:xfrm>
            <a:off x="1874520" y="3364992"/>
            <a:ext cx="4206240" cy="45720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Differentiation your research tab can't claim alone</a:t>
            </a:r>
            <a:endParaRPr lang="en-US" sz="1400" dirty="0"/>
          </a:p>
        </p:txBody>
      </p:sp>
      <p:sp>
        <p:nvSpPr>
          <p:cNvPr id="11" name="Text 9"/>
          <p:cNvSpPr/>
          <p:nvPr/>
        </p:nvSpPr>
        <p:spPr>
          <a:xfrm>
            <a:off x="1874520" y="3767328"/>
            <a:ext cx="9326880" cy="457200"/>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"Ask why" instead of "look at the table" is a materially different product experience — and one that's expensive for a generalist competitor to copy quickly.</a:t>
            </a:r>
            <a:endParaRPr lang="en-US" sz="950" dirty="0"/>
          </a:p>
        </p:txBody>
      </p:sp>
      <p:sp>
        <p:nvSpPr>
          <p:cNvPr id="12" name="Shape 10"/>
          <p:cNvSpPr/>
          <p:nvPr/>
        </p:nvSpPr>
        <p:spPr>
          <a:xfrm>
            <a:off x="640080" y="4434840"/>
            <a:ext cx="10908792" cy="1097280"/>
          </a:xfrm>
          <a:prstGeom prst="roundRect">
            <a:avLst>
              <a:gd name="adj" fmla="val 11667"/>
            </a:avLst>
          </a:prstGeom>
          <a:solidFill>
            <a:srgbClr val="FFFFFF">
              <a:alpha val="8000"/>
            </a:srgbClr>
          </a:solidFill>
          <a:ln w="9525">
            <a:solidFill>
              <a:srgbClr val="FFFFFF">
                <a:alpha val="22000"/>
              </a:srgbClr>
            </a:solidFill>
            <a:prstDash val="solid"/>
          </a:ln>
        </p:spPr>
      </p:sp>
      <p:sp>
        <p:nvSpPr>
          <p:cNvPr id="13" name="Text 11"/>
          <p:cNvSpPr/>
          <p:nvPr/>
        </p:nvSpPr>
        <p:spPr>
          <a:xfrm>
            <a:off x="960120" y="4654296"/>
            <a:ext cx="822960" cy="640080"/>
          </a:xfrm>
          <a:prstGeom prst="rect">
            <a:avLst/>
          </a:prstGeom>
          <a:noFill/>
          <a:ln/>
        </p:spPr>
        <p:txBody>
          <a:bodyPr wrap="square" lIns="0" tIns="0" rIns="0" bIns="0" rtlCol="0" anchor="t"/>
          <a:lstStyle/>
          <a:p>
            <a:pPr indent="0" marL="0">
              <a:lnSpc>
                <a:spcPts val="1700"/>
              </a:lnSpc>
              <a:buNone/>
            </a:pPr>
            <a:r>
              <a:rPr lang="en-US" sz="2800" b="1" spc="-150" kern="0" dirty="0">
                <a:solidFill>
                  <a:srgbClr val="F5A623"/>
                </a:solidFill>
                <a:latin typeface="Arial" pitchFamily="34" charset="0"/>
                <a:ea typeface="Arial" pitchFamily="34" charset="-122"/>
                <a:cs typeface="Arial" pitchFamily="34" charset="-120"/>
              </a:rPr>
              <a:t>03</a:t>
            </a:r>
            <a:endParaRPr lang="en-US" sz="2800" dirty="0"/>
          </a:p>
        </p:txBody>
      </p:sp>
      <p:sp>
        <p:nvSpPr>
          <p:cNvPr id="14" name="Text 12"/>
          <p:cNvSpPr/>
          <p:nvPr/>
        </p:nvSpPr>
        <p:spPr>
          <a:xfrm>
            <a:off x="1874520" y="4599432"/>
            <a:ext cx="4206240" cy="457200"/>
          </a:xfrm>
          <a:prstGeom prst="rect">
            <a:avLst/>
          </a:prstGeom>
          <a:noFill/>
          <a:ln/>
        </p:spPr>
        <p:txBody>
          <a:bodyPr wrap="square" lIns="0" tIns="0" rIns="0" bIns="0" rtlCol="0" anchor="t"/>
          <a:lstStyle/>
          <a:p>
            <a:pPr indent="0" marL="0">
              <a:lnSpc>
                <a:spcPts val="1700"/>
              </a:lnSpc>
              <a:buNone/>
            </a:pPr>
            <a:r>
              <a:rPr lang="en-US" sz="1400" b="1" dirty="0">
                <a:solidFill>
                  <a:srgbClr val="FFFFFF"/>
                </a:solidFill>
                <a:latin typeface="Calibri" pitchFamily="34" charset="0"/>
                <a:ea typeface="Calibri" pitchFamily="34" charset="-122"/>
                <a:cs typeface="Calibri" pitchFamily="34" charset="-120"/>
              </a:rPr>
              <a:t>A live testbed for agent-native brokerage</a:t>
            </a:r>
            <a:endParaRPr lang="en-US" sz="1400" dirty="0"/>
          </a:p>
        </p:txBody>
      </p:sp>
      <p:sp>
        <p:nvSpPr>
          <p:cNvPr id="15" name="Text 13"/>
          <p:cNvSpPr/>
          <p:nvPr/>
        </p:nvSpPr>
        <p:spPr>
          <a:xfrm>
            <a:off x="1874520" y="5001768"/>
            <a:ext cx="9326880" cy="457200"/>
          </a:xfrm>
          <a:prstGeom prst="rect">
            <a:avLst/>
          </a:prstGeom>
          <a:noFill/>
          <a:ln/>
        </p:spPr>
        <p:txBody>
          <a:bodyPr wrap="square" lIns="0" tIns="0" rIns="0" bIns="0" rtlCol="0" anchor="t"/>
          <a:lstStyle/>
          <a:p>
            <a:pPr indent="0" marL="0">
              <a:lnSpc>
                <a:spcPts val="1300"/>
              </a:lnSpc>
              <a:buNone/>
            </a:pPr>
            <a:r>
              <a:rPr lang="en-US" sz="950" dirty="0">
                <a:solidFill>
                  <a:srgbClr val="7C88B0"/>
                </a:solidFill>
                <a:latin typeface="Calibri" pitchFamily="34" charset="0"/>
                <a:ea typeface="Calibri" pitchFamily="34" charset="-122"/>
                <a:cs typeface="Calibri" pitchFamily="34" charset="-120"/>
              </a:rPr>
              <a:t>Kite MCP points at a future where users interact with their portfolio through assistants, not screens. Anvest is the grounded-answer layer that future needs — better to co-develop it than license it later from whoever else builds it.</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par>
                          <p:cTn id="26" fill="hold">
                            <p:stCondLst>
                              <p:cond delay="0"/>
                            </p:stCondLst>
                            <p:childTnLst>
                              <p:par>
                                <p:cTn id="27" presetID="10" presetClass="entr" presetSubtype="0" fill="hold" grpId="0" nodeType="afterEffect">
                                  <p:stCondLst>
                                    <p:cond delay="11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66928"/>
            <a:ext cx="10908792" cy="237744"/>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ASK</a:t>
            </a:r>
            <a:endParaRPr lang="en-US" sz="1100" dirty="0"/>
          </a:p>
        </p:txBody>
      </p:sp>
      <p:sp>
        <p:nvSpPr>
          <p:cNvPr id="3" name="Text 1"/>
          <p:cNvSpPr/>
          <p:nvPr/>
        </p:nvSpPr>
        <p:spPr>
          <a:xfrm>
            <a:off x="640080" y="914400"/>
            <a:ext cx="10908792" cy="1051560"/>
          </a:xfrm>
          <a:prstGeom prst="rect">
            <a:avLst/>
          </a:prstGeom>
          <a:noFill/>
          <a:ln/>
        </p:spPr>
        <p:txBody>
          <a:bodyPr wrap="square" lIns="0" tIns="0" rIns="0" bIns="0" rtlCol="0" anchor="t"/>
          <a:lstStyle/>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Same terms as every investor</a:t>
            </a:r>
            <a:endParaRPr lang="en-US" sz="4000" dirty="0"/>
          </a:p>
          <a:p>
            <a:pPr indent="0" marL="0">
              <a:lnSpc>
                <a:spcPts val="4600"/>
              </a:lnSpc>
              <a:buNone/>
            </a:pPr>
            <a:r>
              <a:rPr lang="en-US" sz="4000" b="1" spc="-100" kern="0" dirty="0">
                <a:solidFill>
                  <a:srgbClr val="FFFFFF"/>
                </a:solidFill>
                <a:latin typeface="Arial" pitchFamily="34" charset="0"/>
                <a:ea typeface="Arial" pitchFamily="34" charset="-122"/>
                <a:cs typeface="Arial" pitchFamily="34" charset="-120"/>
              </a:rPr>
              <a:t>in this round — plus a partnership</a:t>
            </a:r>
            <a:endParaRPr lang="en-US" sz="4000" dirty="0"/>
          </a:p>
        </p:txBody>
      </p:sp>
      <p:sp>
        <p:nvSpPr>
          <p:cNvPr id="4" name="Text 2"/>
          <p:cNvSpPr/>
          <p:nvPr/>
        </p:nvSpPr>
        <p:spPr>
          <a:xfrm>
            <a:off x="640080" y="2103120"/>
            <a:ext cx="10881360" cy="292608"/>
          </a:xfrm>
          <a:prstGeom prst="rect">
            <a:avLst/>
          </a:prstGeom>
          <a:noFill/>
          <a:ln/>
        </p:spPr>
        <p:txBody>
          <a:bodyPr wrap="square" lIns="0" tIns="0" rIns="0" bIns="0" rtlCol="0" anchor="t"/>
          <a:lstStyle/>
          <a:p>
            <a:pPr indent="0" marL="0">
              <a:lnSpc>
                <a:spcPts val="1700"/>
              </a:lnSpc>
              <a:buNone/>
            </a:pPr>
            <a:r>
              <a:rPr lang="en-US" sz="1250" dirty="0">
                <a:solidFill>
                  <a:srgbClr val="C9D3F0"/>
                </a:solidFill>
                <a:latin typeface="Calibri" pitchFamily="34" charset="0"/>
                <a:ea typeface="Calibri" pitchFamily="34" charset="-122"/>
                <a:cs typeface="Calibri" pitchFamily="34" charset="-120"/>
              </a:rPr>
              <a:t>$5.0M post-money cap  ·  $500K base, room to $1M  ·  Post-money SAFE / CCD  ·  identical terms for every investor, no side letters</a:t>
            </a:r>
            <a:endParaRPr lang="en-US" sz="1250" dirty="0"/>
          </a:p>
        </p:txBody>
      </p:sp>
      <p:sp>
        <p:nvSpPr>
          <p:cNvPr id="5" name="Shape 3"/>
          <p:cNvSpPr/>
          <p:nvPr/>
        </p:nvSpPr>
        <p:spPr>
          <a:xfrm>
            <a:off x="640080" y="2560320"/>
            <a:ext cx="10908792" cy="1554480"/>
          </a:xfrm>
          <a:prstGeom prst="roundRect">
            <a:avLst>
              <a:gd name="adj" fmla="val 8235"/>
            </a:avLst>
          </a:prstGeom>
          <a:solidFill>
            <a:srgbClr val="FFFFFF"/>
          </a:solidFill>
          <a:ln w="12700">
            <a:solidFill>
              <a:srgbClr val="FFFFFF"/>
            </a:solidFill>
            <a:prstDash val="solid"/>
          </a:ln>
        </p:spPr>
      </p:sp>
      <p:sp>
        <p:nvSpPr>
          <p:cNvPr id="6" name="Text 4"/>
          <p:cNvSpPr/>
          <p:nvPr/>
        </p:nvSpPr>
        <p:spPr>
          <a:xfrm>
            <a:off x="1005840" y="2743200"/>
            <a:ext cx="10149840" cy="320040"/>
          </a:xfrm>
          <a:prstGeom prst="rect">
            <a:avLst/>
          </a:prstGeom>
          <a:noFill/>
          <a:ln/>
        </p:spPr>
        <p:txBody>
          <a:bodyPr wrap="square" lIns="0" tIns="0" rIns="0" bIns="0" rtlCol="0" anchor="t"/>
          <a:lstStyle/>
          <a:p>
            <a:pPr indent="0" marL="0">
              <a:lnSpc>
                <a:spcPts val="1700"/>
              </a:lnSpc>
              <a:buNone/>
            </a:pPr>
            <a:r>
              <a:rPr lang="en-US" sz="1300" b="1" dirty="0">
                <a:solidFill>
                  <a:srgbClr val="1E2761"/>
                </a:solidFill>
                <a:latin typeface="Calibri" pitchFamily="34" charset="0"/>
                <a:ea typeface="Calibri" pitchFamily="34" charset="-122"/>
                <a:cs typeface="Calibri" pitchFamily="34" charset="-120"/>
              </a:rPr>
              <a:t>The equity ask doesn't change for a strategic — the partnership sits alongside it</a:t>
            </a:r>
            <a:endParaRPr lang="en-US" sz="1300" dirty="0"/>
          </a:p>
        </p:txBody>
      </p:sp>
      <p:sp>
        <p:nvSpPr>
          <p:cNvPr id="7" name="Text 5"/>
          <p:cNvSpPr/>
          <p:nvPr/>
        </p:nvSpPr>
        <p:spPr>
          <a:xfrm>
            <a:off x="1005840" y="3108960"/>
            <a:ext cx="10149840" cy="914400"/>
          </a:xfrm>
          <a:prstGeom prst="rect">
            <a:avLst/>
          </a:prstGeom>
          <a:noFill/>
          <a:ln/>
        </p:spPr>
        <p:txBody>
          <a:bodyPr wrap="square" lIns="0" tIns="0" rIns="0" bIns="0" rtlCol="0" anchor="t"/>
          <a:lstStyle/>
          <a:p>
            <a:pPr indent="0" marL="0">
              <a:lnSpc>
                <a:spcPts val="1500"/>
              </a:lnSpc>
              <a:buNone/>
            </a:pPr>
            <a:r>
              <a:rPr lang="en-US" sz="1050" dirty="0">
                <a:solidFill>
                  <a:srgbClr val="434B6B"/>
                </a:solidFill>
                <a:latin typeface="Calibri" pitchFamily="34" charset="0"/>
                <a:ea typeface="Calibri" pitchFamily="34" charset="-122"/>
                <a:cs typeface="Calibri" pitchFamily="34" charset="-120"/>
              </a:rPr>
              <a:t>One fixed cap for every cheque in this round keeps the raise clean for diligence — a strategic paying a different price than an angel is the kind of thing that surfaces badly later. What's different for you is optionality: an integration conversation (API access, a commercial/revenue-share agreement, or a deeper co-build on the agent-native surface from slide 5) can move on its own timeline, independent of whether the equity closes.</a:t>
            </a:r>
            <a:endParaRPr lang="en-US" sz="1050" dirty="0"/>
          </a:p>
        </p:txBody>
      </p:sp>
      <p:sp>
        <p:nvSpPr>
          <p:cNvPr id="8" name="Shape 6"/>
          <p:cNvSpPr/>
          <p:nvPr/>
        </p:nvSpPr>
        <p:spPr>
          <a:xfrm>
            <a:off x="640080" y="4343400"/>
            <a:ext cx="3493008" cy="1417320"/>
          </a:xfrm>
          <a:prstGeom prst="roundRect">
            <a:avLst>
              <a:gd name="adj" fmla="val 9032"/>
            </a:avLst>
          </a:prstGeom>
          <a:solidFill>
            <a:srgbClr val="FFFFFF">
              <a:alpha val="8000"/>
            </a:srgbClr>
          </a:solidFill>
          <a:ln w="9525">
            <a:solidFill>
              <a:srgbClr val="FFFFFF">
                <a:alpha val="22000"/>
              </a:srgbClr>
            </a:solidFill>
            <a:prstDash val="solid"/>
          </a:ln>
        </p:spPr>
      </p:sp>
      <p:sp>
        <p:nvSpPr>
          <p:cNvPr id="9" name="Text 7"/>
          <p:cNvSpPr/>
          <p:nvPr/>
        </p:nvSpPr>
        <p:spPr>
          <a:xfrm>
            <a:off x="914400" y="4498848"/>
            <a:ext cx="2926080" cy="457200"/>
          </a:xfrm>
          <a:prstGeom prst="rect">
            <a:avLst/>
          </a:prstGeom>
          <a:noFill/>
          <a:ln/>
        </p:spPr>
        <p:txBody>
          <a:bodyPr wrap="square" lIns="0" tIns="0" rIns="0" bIns="0" rtlCol="0" anchor="t"/>
          <a:lstStyle/>
          <a:p>
            <a:pPr indent="0" marL="0">
              <a:lnSpc>
                <a:spcPts val="1700"/>
              </a:lnSpc>
              <a:buNone/>
            </a:pPr>
            <a:r>
              <a:rPr lang="en-US" sz="2600" b="1" spc="-150" kern="0" dirty="0">
                <a:solidFill>
                  <a:srgbClr val="F5A623"/>
                </a:solidFill>
                <a:latin typeface="Arial" pitchFamily="34" charset="0"/>
                <a:ea typeface="Arial" pitchFamily="34" charset="-122"/>
                <a:cs typeface="Arial" pitchFamily="34" charset="-120"/>
              </a:rPr>
              <a:t>$200K</a:t>
            </a:r>
            <a:endParaRPr lang="en-US" sz="2600" dirty="0"/>
          </a:p>
        </p:txBody>
      </p:sp>
      <p:sp>
        <p:nvSpPr>
          <p:cNvPr id="10" name="Text 8"/>
          <p:cNvSpPr/>
          <p:nvPr/>
        </p:nvSpPr>
        <p:spPr>
          <a:xfrm>
            <a:off x="914400" y="4919472"/>
            <a:ext cx="2926080" cy="256032"/>
          </a:xfrm>
          <a:prstGeom prst="rect">
            <a:avLst/>
          </a:prstGeom>
          <a:noFill/>
          <a:ln/>
        </p:spPr>
        <p:txBody>
          <a:bodyPr wrap="square" lIns="0" tIns="0" rIns="0" bIns="0" rtlCol="0" anchor="t"/>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Four hires</a:t>
            </a:r>
            <a:endParaRPr lang="en-US" sz="1200" dirty="0"/>
          </a:p>
        </p:txBody>
      </p:sp>
      <p:sp>
        <p:nvSpPr>
          <p:cNvPr id="11" name="Text 9"/>
          <p:cNvSpPr/>
          <p:nvPr/>
        </p:nvSpPr>
        <p:spPr>
          <a:xfrm>
            <a:off x="914400" y="5193792"/>
            <a:ext cx="2926080" cy="530352"/>
          </a:xfrm>
          <a:prstGeom prst="rect">
            <a:avLst/>
          </a:prstGeom>
          <a:noFill/>
          <a:ln/>
        </p:spPr>
        <p:txBody>
          <a:bodyPr wrap="square" lIns="0" tIns="0" rIns="0" bIns="0" rtlCol="0" anchor="t"/>
          <a:lstStyle/>
          <a:p>
            <a:pPr indent="0" marL="0">
              <a:lnSpc>
                <a:spcPts val="1150"/>
              </a:lnSpc>
              <a:buNone/>
            </a:pPr>
            <a:r>
              <a:rPr lang="en-US" sz="850" dirty="0">
                <a:solidFill>
                  <a:srgbClr val="7C88B0"/>
                </a:solidFill>
                <a:latin typeface="Calibri" pitchFamily="34" charset="0"/>
                <a:ea typeface="Calibri" pitchFamily="34" charset="-122"/>
                <a:cs typeface="Calibri" pitchFamily="34" charset="-120"/>
              </a:rPr>
              <a:t>Growth/content, data engineering, full-stack, and one held in reserve — the integration work draws on the same team.</a:t>
            </a:r>
            <a:endParaRPr lang="en-US" sz="850" dirty="0"/>
          </a:p>
        </p:txBody>
      </p:sp>
      <p:sp>
        <p:nvSpPr>
          <p:cNvPr id="12" name="Shape 10"/>
          <p:cNvSpPr/>
          <p:nvPr/>
        </p:nvSpPr>
        <p:spPr>
          <a:xfrm>
            <a:off x="4315968" y="4343400"/>
            <a:ext cx="3493008" cy="1417320"/>
          </a:xfrm>
          <a:prstGeom prst="roundRect">
            <a:avLst>
              <a:gd name="adj" fmla="val 9032"/>
            </a:avLst>
          </a:prstGeom>
          <a:solidFill>
            <a:srgbClr val="FFFFFF">
              <a:alpha val="8000"/>
            </a:srgbClr>
          </a:solidFill>
          <a:ln w="9525">
            <a:solidFill>
              <a:srgbClr val="FFFFFF">
                <a:alpha val="22000"/>
              </a:srgbClr>
            </a:solidFill>
            <a:prstDash val="solid"/>
          </a:ln>
        </p:spPr>
      </p:sp>
      <p:sp>
        <p:nvSpPr>
          <p:cNvPr id="13" name="Text 11"/>
          <p:cNvSpPr/>
          <p:nvPr/>
        </p:nvSpPr>
        <p:spPr>
          <a:xfrm>
            <a:off x="4590288" y="4498848"/>
            <a:ext cx="2926080" cy="457200"/>
          </a:xfrm>
          <a:prstGeom prst="rect">
            <a:avLst/>
          </a:prstGeom>
          <a:noFill/>
          <a:ln/>
        </p:spPr>
        <p:txBody>
          <a:bodyPr wrap="square" lIns="0" tIns="0" rIns="0" bIns="0" rtlCol="0" anchor="t"/>
          <a:lstStyle/>
          <a:p>
            <a:pPr indent="0" marL="0">
              <a:lnSpc>
                <a:spcPts val="1700"/>
              </a:lnSpc>
              <a:buNone/>
            </a:pPr>
            <a:r>
              <a:rPr lang="en-US" sz="2600" b="1" spc="-150" kern="0" dirty="0">
                <a:solidFill>
                  <a:srgbClr val="F5A623"/>
                </a:solidFill>
                <a:latin typeface="Arial" pitchFamily="34" charset="0"/>
                <a:ea typeface="Arial" pitchFamily="34" charset="-122"/>
                <a:cs typeface="Arial" pitchFamily="34" charset="-120"/>
              </a:rPr>
              <a:t>$70K</a:t>
            </a:r>
            <a:endParaRPr lang="en-US" sz="2600" dirty="0"/>
          </a:p>
        </p:txBody>
      </p:sp>
      <p:sp>
        <p:nvSpPr>
          <p:cNvPr id="14" name="Text 12"/>
          <p:cNvSpPr/>
          <p:nvPr/>
        </p:nvSpPr>
        <p:spPr>
          <a:xfrm>
            <a:off x="4590288" y="4919472"/>
            <a:ext cx="2926080" cy="256032"/>
          </a:xfrm>
          <a:prstGeom prst="rect">
            <a:avLst/>
          </a:prstGeom>
          <a:noFill/>
          <a:ln/>
        </p:spPr>
        <p:txBody>
          <a:bodyPr wrap="square" lIns="0" tIns="0" rIns="0" bIns="0" rtlCol="0" anchor="t"/>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Compliance + infra</a:t>
            </a:r>
            <a:endParaRPr lang="en-US" sz="1200" dirty="0"/>
          </a:p>
        </p:txBody>
      </p:sp>
      <p:sp>
        <p:nvSpPr>
          <p:cNvPr id="15" name="Text 13"/>
          <p:cNvSpPr/>
          <p:nvPr/>
        </p:nvSpPr>
        <p:spPr>
          <a:xfrm>
            <a:off x="4590288" y="5193792"/>
            <a:ext cx="2926080" cy="530352"/>
          </a:xfrm>
          <a:prstGeom prst="rect">
            <a:avLst/>
          </a:prstGeom>
          <a:noFill/>
          <a:ln/>
        </p:spPr>
        <p:txBody>
          <a:bodyPr wrap="square" lIns="0" tIns="0" rIns="0" bIns="0" rtlCol="0" anchor="t"/>
          <a:lstStyle/>
          <a:p>
            <a:pPr indent="0" marL="0">
              <a:lnSpc>
                <a:spcPts val="1150"/>
              </a:lnSpc>
              <a:buNone/>
            </a:pPr>
            <a:r>
              <a:rPr lang="en-US" sz="850" dirty="0">
                <a:solidFill>
                  <a:srgbClr val="7C88B0"/>
                </a:solidFill>
                <a:latin typeface="Calibri" pitchFamily="34" charset="0"/>
                <a:ea typeface="Calibri" pitchFamily="34" charset="-122"/>
                <a:cs typeface="Calibri" pitchFamily="34" charset="-120"/>
              </a:rPr>
              <a:t>SEBI RA registration, production hardening off the laptop — the baseline any integration partner would require anyway.</a:t>
            </a:r>
            <a:endParaRPr lang="en-US" sz="850" dirty="0"/>
          </a:p>
        </p:txBody>
      </p:sp>
      <p:sp>
        <p:nvSpPr>
          <p:cNvPr id="16" name="Shape 14"/>
          <p:cNvSpPr/>
          <p:nvPr/>
        </p:nvSpPr>
        <p:spPr>
          <a:xfrm>
            <a:off x="7991856" y="4343400"/>
            <a:ext cx="3493008" cy="1417320"/>
          </a:xfrm>
          <a:prstGeom prst="roundRect">
            <a:avLst>
              <a:gd name="adj" fmla="val 9032"/>
            </a:avLst>
          </a:prstGeom>
          <a:solidFill>
            <a:srgbClr val="FFFFFF">
              <a:alpha val="8000"/>
            </a:srgbClr>
          </a:solidFill>
          <a:ln w="9525">
            <a:solidFill>
              <a:srgbClr val="FFFFFF">
                <a:alpha val="22000"/>
              </a:srgbClr>
            </a:solidFill>
            <a:prstDash val="solid"/>
          </a:ln>
        </p:spPr>
      </p:sp>
      <p:sp>
        <p:nvSpPr>
          <p:cNvPr id="17" name="Text 15"/>
          <p:cNvSpPr/>
          <p:nvPr/>
        </p:nvSpPr>
        <p:spPr>
          <a:xfrm>
            <a:off x="8266176" y="4498848"/>
            <a:ext cx="2926080" cy="457200"/>
          </a:xfrm>
          <a:prstGeom prst="rect">
            <a:avLst/>
          </a:prstGeom>
          <a:noFill/>
          <a:ln/>
        </p:spPr>
        <p:txBody>
          <a:bodyPr wrap="square" lIns="0" tIns="0" rIns="0" bIns="0" rtlCol="0" anchor="t"/>
          <a:lstStyle/>
          <a:p>
            <a:pPr indent="0" marL="0">
              <a:lnSpc>
                <a:spcPts val="1700"/>
              </a:lnSpc>
              <a:buNone/>
            </a:pPr>
            <a:r>
              <a:rPr lang="en-US" sz="2600" b="1" spc="-150" kern="0" dirty="0">
                <a:solidFill>
                  <a:srgbClr val="F5A623"/>
                </a:solidFill>
                <a:latin typeface="Arial" pitchFamily="34" charset="0"/>
                <a:ea typeface="Arial" pitchFamily="34" charset="-122"/>
                <a:cs typeface="Arial" pitchFamily="34" charset="-120"/>
              </a:rPr>
              <a:t>$230K</a:t>
            </a:r>
            <a:endParaRPr lang="en-US" sz="2600" dirty="0"/>
          </a:p>
        </p:txBody>
      </p:sp>
      <p:sp>
        <p:nvSpPr>
          <p:cNvPr id="18" name="Text 16"/>
          <p:cNvSpPr/>
          <p:nvPr/>
        </p:nvSpPr>
        <p:spPr>
          <a:xfrm>
            <a:off x="8266176" y="4919472"/>
            <a:ext cx="2926080" cy="256032"/>
          </a:xfrm>
          <a:prstGeom prst="rect">
            <a:avLst/>
          </a:prstGeom>
          <a:noFill/>
          <a:ln/>
        </p:spPr>
        <p:txBody>
          <a:bodyPr wrap="square" lIns="0" tIns="0" rIns="0" bIns="0" rtlCol="0" anchor="t"/>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Growth, founder, buffer</a:t>
            </a:r>
            <a:endParaRPr lang="en-US" sz="1200" dirty="0"/>
          </a:p>
        </p:txBody>
      </p:sp>
      <p:sp>
        <p:nvSpPr>
          <p:cNvPr id="19" name="Text 17"/>
          <p:cNvSpPr/>
          <p:nvPr/>
        </p:nvSpPr>
        <p:spPr>
          <a:xfrm>
            <a:off x="8266176" y="5193792"/>
            <a:ext cx="2926080" cy="530352"/>
          </a:xfrm>
          <a:prstGeom prst="rect">
            <a:avLst/>
          </a:prstGeom>
          <a:noFill/>
          <a:ln/>
        </p:spPr>
        <p:txBody>
          <a:bodyPr wrap="square" lIns="0" tIns="0" rIns="0" bIns="0" rtlCol="0" anchor="t"/>
          <a:lstStyle/>
          <a:p>
            <a:pPr indent="0" marL="0">
              <a:lnSpc>
                <a:spcPts val="1150"/>
              </a:lnSpc>
              <a:buNone/>
            </a:pPr>
            <a:r>
              <a:rPr lang="en-US" sz="850" dirty="0">
                <a:solidFill>
                  <a:srgbClr val="7C88B0"/>
                </a:solidFill>
                <a:latin typeface="Calibri" pitchFamily="34" charset="0"/>
                <a:ea typeface="Calibri" pitchFamily="34" charset="-122"/>
                <a:cs typeface="Calibri" pitchFamily="34" charset="-120"/>
              </a:rPr>
              <a:t>Everything that keeps this alive independent of any one partnership closing.</a:t>
            </a:r>
            <a:endParaRPr lang="en-US" sz="850" dirty="0"/>
          </a:p>
        </p:txBody>
      </p:sp>
      <p:sp>
        <p:nvSpPr>
          <p:cNvPr id="20" name="Text 18"/>
          <p:cNvSpPr/>
          <p:nvPr/>
        </p:nvSpPr>
        <p:spPr>
          <a:xfrm>
            <a:off x="640080" y="5989320"/>
            <a:ext cx="10908792" cy="320040"/>
          </a:xfrm>
          <a:prstGeom prst="rect">
            <a:avLst/>
          </a:prstGeom>
          <a:noFill/>
          <a:ln/>
        </p:spPr>
        <p:txBody>
          <a:bodyPr wrap="square" lIns="0" tIns="0" rIns="0" bIns="0" rtlCol="0" anchor="t"/>
          <a:lstStyle/>
          <a:p>
            <a:pPr indent="0" marL="0">
              <a:lnSpc>
                <a:spcPts val="1700"/>
              </a:lnSpc>
              <a:buNone/>
            </a:pPr>
            <a:r>
              <a:rPr lang="en-US" sz="1150" b="1" i="1" dirty="0">
                <a:solidFill>
                  <a:srgbClr val="F5A623"/>
                </a:solidFill>
                <a:latin typeface="Calibri" pitchFamily="34" charset="0"/>
                <a:ea typeface="Calibri" pitchFamily="34" charset="-122"/>
                <a:cs typeface="Calibri" pitchFamily="34" charset="-120"/>
              </a:rPr>
              <a:t>The equity funds twelve more months of the same build. The integration is what makes those twelve months matter to you specifically.</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920240"/>
            <a:ext cx="10881360" cy="1371600"/>
          </a:xfrm>
          <a:prstGeom prst="rect">
            <a:avLst/>
          </a:prstGeom>
          <a:noFill/>
          <a:ln/>
        </p:spPr>
        <p:txBody>
          <a:bodyPr wrap="square" lIns="0" tIns="0" rIns="0" bIns="0" rtlCol="0" anchor="ctr"/>
          <a:lstStyle/>
          <a:p>
            <a:pPr indent="0" marL="0">
              <a:lnSpc>
                <a:spcPts val="4400"/>
              </a:lnSpc>
              <a:buNone/>
            </a:pPr>
            <a:r>
              <a:rPr lang="en-US" sz="3200" b="1" spc="-100" kern="0" dirty="0">
                <a:solidFill>
                  <a:srgbClr val="FFFFFF"/>
                </a:solidFill>
                <a:latin typeface="Arial" pitchFamily="34" charset="0"/>
                <a:ea typeface="Arial" pitchFamily="34" charset="-122"/>
                <a:cs typeface="Arial" pitchFamily="34" charset="-120"/>
              </a:rPr>
              <a:t>Kite MCP means you're already building</a:t>
            </a:r>
            <a:endParaRPr lang="en-US" sz="3200" dirty="0"/>
          </a:p>
          <a:p>
            <a:pPr indent="0" marL="0">
              <a:lnSpc>
                <a:spcPts val="4400"/>
              </a:lnSpc>
              <a:buNone/>
            </a:pPr>
            <a:r>
              <a:rPr lang="en-US" sz="3200" b="1" spc="-100" kern="0" dirty="0">
                <a:solidFill>
                  <a:srgbClr val="FFFFFF"/>
                </a:solidFill>
                <a:latin typeface="Arial" pitchFamily="34" charset="0"/>
                <a:ea typeface="Arial" pitchFamily="34" charset="-122"/>
                <a:cs typeface="Arial" pitchFamily="34" charset="-120"/>
              </a:rPr>
              <a:t>for an agent-native brokerage.</a:t>
            </a:r>
            <a:endParaRPr lang="en-US" sz="3200" dirty="0"/>
          </a:p>
        </p:txBody>
      </p:sp>
      <p:sp>
        <p:nvSpPr>
          <p:cNvPr id="3" name="Text 1"/>
          <p:cNvSpPr/>
          <p:nvPr/>
        </p:nvSpPr>
        <p:spPr>
          <a:xfrm>
            <a:off x="640080" y="3246120"/>
            <a:ext cx="10881360" cy="1371600"/>
          </a:xfrm>
          <a:prstGeom prst="rect">
            <a:avLst/>
          </a:prstGeom>
          <a:noFill/>
          <a:ln/>
        </p:spPr>
        <p:txBody>
          <a:bodyPr wrap="square" lIns="0" tIns="0" rIns="0" bIns="0" rtlCol="0" anchor="ctr"/>
          <a:lstStyle/>
          <a:p>
            <a:pPr indent="0" marL="0">
              <a:lnSpc>
                <a:spcPts val="4400"/>
              </a:lnSpc>
              <a:buNone/>
            </a:pPr>
            <a:r>
              <a:rPr lang="en-US" sz="3200" b="1" spc="-100" kern="0" dirty="0">
                <a:solidFill>
                  <a:srgbClr val="F5A623"/>
                </a:solidFill>
                <a:latin typeface="Arial" pitchFamily="34" charset="0"/>
                <a:ea typeface="Arial" pitchFamily="34" charset="-122"/>
                <a:cs typeface="Arial" pitchFamily="34" charset="-120"/>
              </a:rPr>
              <a:t>Anvest is the grounded-answer layer</a:t>
            </a:r>
            <a:endParaRPr lang="en-US" sz="3200" dirty="0"/>
          </a:p>
          <a:p>
            <a:pPr indent="0" marL="0">
              <a:lnSpc>
                <a:spcPts val="4400"/>
              </a:lnSpc>
              <a:buNone/>
            </a:pPr>
            <a:r>
              <a:rPr lang="en-US" sz="3200" b="1" spc="-100" kern="0" dirty="0">
                <a:solidFill>
                  <a:srgbClr val="F5A623"/>
                </a:solidFill>
                <a:latin typeface="Arial" pitchFamily="34" charset="0"/>
                <a:ea typeface="Arial" pitchFamily="34" charset="-122"/>
                <a:cs typeface="Arial" pitchFamily="34" charset="-120"/>
              </a:rPr>
              <a:t>that future needs underneath it.</a:t>
            </a:r>
            <a:endParaRPr lang="en-US" sz="3200" dirty="0"/>
          </a:p>
        </p:txBody>
      </p:sp>
      <p:sp>
        <p:nvSpPr>
          <p:cNvPr id="4" name="Shape 2"/>
          <p:cNvSpPr/>
          <p:nvPr/>
        </p:nvSpPr>
        <p:spPr>
          <a:xfrm>
            <a:off x="640080" y="4754880"/>
            <a:ext cx="1005840" cy="10973"/>
          </a:xfrm>
          <a:prstGeom prst="rect">
            <a:avLst/>
          </a:prstGeom>
          <a:solidFill>
            <a:srgbClr val="C9D3F0">
              <a:alpha val="60000"/>
            </a:srgbClr>
          </a:solidFill>
          <a:ln w="12700">
            <a:solidFill>
              <a:srgbClr val="C9D3F0">
                <a:alpha val="60000"/>
              </a:srgbClr>
            </a:solidFill>
            <a:prstDash val="solid"/>
          </a:ln>
        </p:spPr>
      </p:sp>
      <p:sp>
        <p:nvSpPr>
          <p:cNvPr id="5" name="Text 3"/>
          <p:cNvSpPr/>
          <p:nvPr/>
        </p:nvSpPr>
        <p:spPr>
          <a:xfrm>
            <a:off x="640080" y="4983480"/>
            <a:ext cx="10881360" cy="457200"/>
          </a:xfrm>
          <a:prstGeom prst="rect">
            <a:avLst/>
          </a:prstGeom>
          <a:noFill/>
          <a:ln/>
        </p:spPr>
        <p:txBody>
          <a:bodyPr wrap="square" lIns="0" tIns="0" rIns="0" bIns="0" rtlCol="0" anchor="t"/>
          <a:lstStyle/>
          <a:p>
            <a:pPr indent="0" marL="0">
              <a:lnSpc>
                <a:spcPts val="1700"/>
              </a:lnSpc>
              <a:buNone/>
            </a:pPr>
            <a:r>
              <a:rPr lang="en-US" sz="1700" dirty="0">
                <a:solidFill>
                  <a:srgbClr val="C9D3F0"/>
                </a:solidFill>
                <a:latin typeface="Calibri" pitchFamily="34" charset="0"/>
                <a:ea typeface="Calibri" pitchFamily="34" charset="-122"/>
                <a:cs typeface="Calibri" pitchFamily="34" charset="-120"/>
              </a:rPr>
              <a:t>Built over a year, for exactly this handoff. Let's talk about what it looks like inside your product.</a:t>
            </a:r>
            <a:endParaRPr lang="en-US" sz="1700" dirty="0"/>
          </a:p>
        </p:txBody>
      </p:sp>
      <p:sp>
        <p:nvSpPr>
          <p:cNvPr id="6" name="Text 4"/>
          <p:cNvSpPr/>
          <p:nvPr/>
        </p:nvSpPr>
        <p:spPr>
          <a:xfrm>
            <a:off x="640080" y="6309360"/>
            <a:ext cx="10881360" cy="274320"/>
          </a:xfrm>
          <a:prstGeom prst="rect">
            <a:avLst/>
          </a:prstGeom>
          <a:noFill/>
          <a:ln/>
        </p:spPr>
        <p:txBody>
          <a:bodyPr wrap="square" lIns="0" tIns="0" rIns="0" bIns="0" rtlCol="0" anchor="t"/>
          <a:lstStyle/>
          <a:p>
            <a:pPr indent="0" marL="0">
              <a:lnSpc>
                <a:spcPts val="1700"/>
              </a:lnSpc>
              <a:buNone/>
            </a:pPr>
            <a:r>
              <a:rPr lang="en-US" sz="1100" dirty="0">
                <a:solidFill>
                  <a:srgbClr val="7C88B0"/>
                </a:solidFill>
                <a:latin typeface="Calibri" pitchFamily="34" charset="0"/>
                <a:ea typeface="Calibri" pitchFamily="34" charset="-122"/>
                <a:cs typeface="Calibri" pitchFamily="34" charset="-120"/>
              </a:rPr>
              <a:t>Harsh Bhardwaj · harsh@anvest.in · anvest.in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11" fill="hold">
                            <p:stCondLst>
                              <p:cond delay="0"/>
                            </p:stCondLst>
                            <p:childTnLst>
                              <p:par>
                                <p:cTn id="12"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420"/>
                                        <p:tgtEl>
                                          <p:spTgt spid="3"/>
                                        </p:tgtEl>
                                      </p:cBhvr>
                                    </p:animEffect>
                                  </p:childTnLst>
                                </p:cTn>
                              </p:par>
                            </p:childTnLst>
                          </p:cTn>
                        </p:par>
                        <p:par>
                          <p:cTn id="16" fill="hold">
                            <p:stCondLst>
                              <p:cond delay="0"/>
                            </p:stCondLst>
                            <p:childTnLst>
                              <p:par>
                                <p:cTn id="17" presetID="10" presetClass="entr" presetSubtype="0" fill="hold" grpId="0" nodeType="afterEffect">
                                  <p:stCondLst>
                                    <p:cond delay="11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420"/>
                                        <p:tgtEl>
                                          <p:spTgt spid="4"/>
                                        </p:tgtEl>
                                      </p:cBhvr>
                                    </p:animEffect>
                                  </p:childTnLst>
                                </p:cTn>
                              </p:par>
                            </p:childTnLst>
                          </p:cTn>
                        </p:par>
                        <p:par>
                          <p:cTn id="21" fill="hold">
                            <p:stCondLst>
                              <p:cond delay="0"/>
                            </p:stCondLst>
                            <p:childTnLst>
                              <p:par>
                                <p:cTn id="22" presetID="10" presetClass="entr" presetSubtype="0" fill="hold" grpId="0" nodeType="afterEffect">
                                  <p:stCondLst>
                                    <p:cond delay="11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Anvest Fintech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Anvest — Strategic Integration</dc:title>
  <dc:subject>PptxGenJS Presentation</dc:subject>
  <dc:creator>Harsh Bhardwaj</dc:creator>
  <cp:lastModifiedBy>Harsh Bhardwaj</cp:lastModifiedBy>
  <cp:revision>1</cp:revision>
  <dcterms:created xsi:type="dcterms:W3CDTF">2026-08-08T01:15:21Z</dcterms:created>
  <dcterms:modified xsi:type="dcterms:W3CDTF">2026-08-08T01:15:21Z</dcterms:modified>
</cp:coreProperties>
</file>