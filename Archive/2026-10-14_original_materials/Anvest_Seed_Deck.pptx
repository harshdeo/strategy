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R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GH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 txBox="1"/>
          <p:nvPr/>
        </p:nvSpPr>
        <p:spPr>
          <a:xfrm>
            <a:off x="640080" y="1917714"/>
            <a:ext cx="8229601" cy="146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400" sz="10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</a:t>
            </a:r>
          </a:p>
        </p:txBody>
      </p:sp>
      <p:sp>
        <p:nvSpPr>
          <p:cNvPr id="42" name="Text 1"/>
          <p:cNvSpPr txBox="1"/>
          <p:nvPr/>
        </p:nvSpPr>
        <p:spPr>
          <a:xfrm>
            <a:off x="640079" y="3429000"/>
            <a:ext cx="7498082" cy="850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sz="2300">
                <a:solidFill>
                  <a:srgbClr val="C9D3F0"/>
                </a:solidFill>
              </a:defRPr>
            </a:pPr>
            <a:r>
              <a:t>An AI investing workspace.</a:t>
            </a:r>
          </a:p>
          <a:p>
            <a:pPr>
              <a:lnSpc>
                <a:spcPts val="3400"/>
              </a:lnSpc>
              <a:defRPr sz="2300">
                <a:solidFill>
                  <a:srgbClr val="C9D3F0"/>
                </a:solidFill>
              </a:defRPr>
            </a:pPr>
            <a:r>
              <a:t>Ask a question. Open the right workflow.</a:t>
            </a:r>
          </a:p>
        </p:txBody>
      </p:sp>
      <p:sp>
        <p:nvSpPr>
          <p:cNvPr id="43" name="Shape 2"/>
          <p:cNvSpPr/>
          <p:nvPr/>
        </p:nvSpPr>
        <p:spPr>
          <a:xfrm>
            <a:off x="640080" y="4571136"/>
            <a:ext cx="1005840" cy="127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" name="Text 3"/>
          <p:cNvSpPr txBox="1"/>
          <p:nvPr/>
        </p:nvSpPr>
        <p:spPr>
          <a:xfrm>
            <a:off x="613747" y="4875707"/>
            <a:ext cx="246888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4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6,137</a:t>
            </a:r>
          </a:p>
        </p:txBody>
      </p:sp>
      <p:sp>
        <p:nvSpPr>
          <p:cNvPr id="45" name="Text 4"/>
          <p:cNvSpPr txBox="1"/>
          <p:nvPr/>
        </p:nvSpPr>
        <p:spPr>
          <a:xfrm>
            <a:off x="613747" y="5681595"/>
            <a:ext cx="246888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Listed Companies</a:t>
            </a:r>
          </a:p>
        </p:txBody>
      </p:sp>
      <p:sp>
        <p:nvSpPr>
          <p:cNvPr id="46" name="Text 5"/>
          <p:cNvSpPr txBox="1"/>
          <p:nvPr/>
        </p:nvSpPr>
        <p:spPr>
          <a:xfrm>
            <a:off x="3311227" y="4875707"/>
            <a:ext cx="246888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4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2.89M</a:t>
            </a:r>
          </a:p>
        </p:txBody>
      </p:sp>
      <p:sp>
        <p:nvSpPr>
          <p:cNvPr id="47" name="Text 6"/>
          <p:cNvSpPr txBox="1"/>
          <p:nvPr/>
        </p:nvSpPr>
        <p:spPr>
          <a:xfrm>
            <a:off x="3311227" y="5681595"/>
            <a:ext cx="246888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Corporate Announcements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6008707" y="4875707"/>
            <a:ext cx="246888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4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1.35M</a:t>
            </a:r>
          </a:p>
        </p:txBody>
      </p:sp>
      <p:sp>
        <p:nvSpPr>
          <p:cNvPr id="49" name="Text 8"/>
          <p:cNvSpPr txBox="1"/>
          <p:nvPr/>
        </p:nvSpPr>
        <p:spPr>
          <a:xfrm>
            <a:off x="6008707" y="5681595"/>
            <a:ext cx="246888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Vectors Indexed</a:t>
            </a:r>
          </a:p>
        </p:txBody>
      </p:sp>
      <p:sp>
        <p:nvSpPr>
          <p:cNvPr id="50" name="Text 11"/>
          <p:cNvSpPr txBox="1"/>
          <p:nvPr/>
        </p:nvSpPr>
        <p:spPr>
          <a:xfrm>
            <a:off x="640079" y="6355079"/>
            <a:ext cx="10908794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Harsh Bhardwaj · harsh@anvest.in · anvest.in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Investing decisions span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separate tools and scattered data.</a:t>
            </a:r>
          </a:p>
        </p:txBody>
      </p:sp>
      <p:sp>
        <p:nvSpPr>
          <p:cNvPr id="53" name="Shape 5"/>
          <p:cNvSpPr/>
          <p:nvPr/>
        </p:nvSpPr>
        <p:spPr>
          <a:xfrm>
            <a:off x="717353" y="2724461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Text 6"/>
          <p:cNvSpPr txBox="1"/>
          <p:nvPr/>
        </p:nvSpPr>
        <p:spPr>
          <a:xfrm>
            <a:off x="983995" y="2684953"/>
            <a:ext cx="4526281" cy="239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2100">
                <a:solidFill>
                  <a:srgbClr val="FFFFFF"/>
                </a:solidFill>
              </a:defRPr>
            </a:lvl1pPr>
          </a:lstStyle>
          <a:p>
            <a:pPr/>
            <a:r>
              <a:t>Fragmented workflows</a:t>
            </a:r>
          </a:p>
        </p:txBody>
      </p:sp>
      <p:sp>
        <p:nvSpPr>
          <p:cNvPr id="55" name="Text 7"/>
          <p:cNvSpPr txBox="1"/>
          <p:nvPr/>
        </p:nvSpPr>
        <p:spPr>
          <a:xfrm>
            <a:off x="983995" y="3010940"/>
            <a:ext cx="888803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Research, screening, strategy tests and financial planning often happen in separate tools. Context is lost between them.</a:t>
            </a:r>
          </a:p>
        </p:txBody>
      </p:sp>
      <p:sp>
        <p:nvSpPr>
          <p:cNvPr id="56" name="Shape 9"/>
          <p:cNvSpPr/>
          <p:nvPr/>
        </p:nvSpPr>
        <p:spPr>
          <a:xfrm>
            <a:off x="708575" y="3812047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" name="Text 10"/>
          <p:cNvSpPr txBox="1"/>
          <p:nvPr/>
        </p:nvSpPr>
        <p:spPr>
          <a:xfrm>
            <a:off x="975217" y="3772540"/>
            <a:ext cx="4526281" cy="239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2100">
                <a:solidFill>
                  <a:srgbClr val="FFFFFF"/>
                </a:solidFill>
              </a:defRPr>
            </a:lvl1pPr>
          </a:lstStyle>
          <a:p>
            <a:pPr/>
            <a:r>
              <a:t>WhatsApp tips</a:t>
            </a:r>
          </a:p>
        </p:txBody>
      </p:sp>
      <p:sp>
        <p:nvSpPr>
          <p:cNvPr id="58" name="Text 11"/>
          <p:cNvSpPr txBox="1"/>
          <p:nvPr/>
        </p:nvSpPr>
        <p:spPr>
          <a:xfrm>
            <a:off x="975217" y="4101724"/>
            <a:ext cx="8888032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Black-box "buy X, target Y." No source, no accountability. Where many new investors start.</a:t>
            </a:r>
          </a:p>
        </p:txBody>
      </p:sp>
      <p:sp>
        <p:nvSpPr>
          <p:cNvPr id="59" name="Shape 13"/>
          <p:cNvSpPr/>
          <p:nvPr/>
        </p:nvSpPr>
        <p:spPr>
          <a:xfrm>
            <a:off x="691020" y="4902832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" name="Text 14"/>
          <p:cNvSpPr txBox="1"/>
          <p:nvPr/>
        </p:nvSpPr>
        <p:spPr>
          <a:xfrm>
            <a:off x="957662" y="4863324"/>
            <a:ext cx="4526281" cy="239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2100">
                <a:solidFill>
                  <a:srgbClr val="FFFFFF"/>
                </a:solidFill>
              </a:defRPr>
            </a:lvl1pPr>
          </a:lstStyle>
          <a:p>
            <a:pPr/>
            <a:r>
              <a:t>Chatbots that invent numbers</a:t>
            </a:r>
          </a:p>
        </p:txBody>
      </p:sp>
      <p:sp>
        <p:nvSpPr>
          <p:cNvPr id="61" name="Text 15"/>
          <p:cNvSpPr txBox="1"/>
          <p:nvPr/>
        </p:nvSpPr>
        <p:spPr>
          <a:xfrm>
            <a:off x="957662" y="5192509"/>
            <a:ext cx="8888032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General-purpose AI is fluent but unreliable on Indian filings, with no warehouse underneath.</a:t>
            </a:r>
          </a:p>
        </p:txBody>
      </p:sp>
      <p:sp>
        <p:nvSpPr>
          <p:cNvPr id="62" name="THE PROBLEM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PROBLEM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question opens the right workflow</a:t>
            </a:r>
          </a:p>
        </p:txBody>
      </p:sp>
      <p:sp>
        <p:nvSpPr>
          <p:cNvPr id="65" name="Shape 2"/>
          <p:cNvSpPr/>
          <p:nvPr/>
        </p:nvSpPr>
        <p:spPr>
          <a:xfrm>
            <a:off x="640080" y="1828800"/>
            <a:ext cx="5760721" cy="640081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Text 3"/>
          <p:cNvSpPr txBox="1"/>
          <p:nvPr/>
        </p:nvSpPr>
        <p:spPr>
          <a:xfrm>
            <a:off x="1024127" y="2041842"/>
            <a:ext cx="502920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i="1" sz="1300">
                <a:solidFill>
                  <a:srgbClr val="FFFFFF"/>
                </a:solidFill>
              </a:defRPr>
            </a:lvl1pPr>
          </a:lstStyle>
          <a:p>
            <a:pPr/>
            <a:r>
              <a:t>“Find profitable companies with high ROCE and low debt.”</a:t>
            </a:r>
          </a:p>
        </p:txBody>
      </p:sp>
      <p:sp>
        <p:nvSpPr>
          <p:cNvPr id="67" name="Shape 4"/>
          <p:cNvSpPr/>
          <p:nvPr/>
        </p:nvSpPr>
        <p:spPr>
          <a:xfrm>
            <a:off x="640080" y="2697479"/>
            <a:ext cx="5760721" cy="2743201"/>
          </a:xfrm>
          <a:prstGeom prst="roundRect">
            <a:avLst>
              <a:gd name="adj" fmla="val 4667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Text 5"/>
          <p:cNvSpPr txBox="1"/>
          <p:nvPr/>
        </p:nvSpPr>
        <p:spPr>
          <a:xfrm>
            <a:off x="1024127" y="2907792"/>
            <a:ext cx="2743201" cy="201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200" sz="900">
                <a:solidFill>
                  <a:srgbClr val="F5A623"/>
                </a:solidFill>
              </a:defRPr>
            </a:lvl1pPr>
          </a:lstStyle>
          <a:p>
            <a:pPr/>
            <a:r>
              <a:t>EXAMPLE WORKFLOW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1024127" y="3246120"/>
            <a:ext cx="5029201" cy="791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Anvest interprets the request, turns it into explicit screening criteria and returns a relevant answer with a ready-to-use screener link. The user can inspect and refine the filters.</a:t>
            </a:r>
          </a:p>
        </p:txBody>
      </p:sp>
      <p:sp>
        <p:nvSpPr>
          <p:cNvPr id="70" name="Shape 7"/>
          <p:cNvSpPr/>
          <p:nvPr/>
        </p:nvSpPr>
        <p:spPr>
          <a:xfrm>
            <a:off x="1024127" y="4224528"/>
            <a:ext cx="4114801" cy="475489"/>
          </a:xfrm>
          <a:prstGeom prst="roundRect">
            <a:avLst>
              <a:gd name="adj" fmla="val 19231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1" name="Text 8"/>
          <p:cNvSpPr txBox="1"/>
          <p:nvPr/>
        </p:nvSpPr>
        <p:spPr>
          <a:xfrm>
            <a:off x="1280160" y="4358449"/>
            <a:ext cx="3840480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100">
                <a:solidFill>
                  <a:srgbClr val="0B0E26"/>
                </a:solidFill>
              </a:defRPr>
            </a:lvl1pPr>
          </a:lstStyle>
          <a:p>
            <a:pPr/>
            <a:r>
              <a:t>Open screener with these filters</a:t>
            </a:r>
          </a:p>
        </p:txBody>
      </p:sp>
      <p:sp>
        <p:nvSpPr>
          <p:cNvPr id="72" name="Text 9"/>
          <p:cNvSpPr txBox="1"/>
          <p:nvPr/>
        </p:nvSpPr>
        <p:spPr>
          <a:xfrm>
            <a:off x="1024127" y="4892040"/>
            <a:ext cx="502920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100">
                <a:solidFill>
                  <a:srgbClr val="7C88B0"/>
                </a:solidFill>
              </a:defRPr>
            </a:lvl1pPr>
          </a:lstStyle>
          <a:p>
            <a:pPr/>
            <a:r>
              <a:t>AI translates the request. The data engine runs the screen.</a:t>
            </a:r>
          </a:p>
        </p:txBody>
      </p:sp>
      <p:sp>
        <p:nvSpPr>
          <p:cNvPr id="73" name="Shape 10"/>
          <p:cNvSpPr/>
          <p:nvPr/>
        </p:nvSpPr>
        <p:spPr>
          <a:xfrm>
            <a:off x="6720840" y="1883664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Text 11"/>
          <p:cNvSpPr txBox="1"/>
          <p:nvPr/>
        </p:nvSpPr>
        <p:spPr>
          <a:xfrm>
            <a:off x="7022592" y="1783079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Ask in plain English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7022592" y="2075688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Start on the home screen with an investing or planning question.</a:t>
            </a:r>
          </a:p>
        </p:txBody>
      </p:sp>
      <p:sp>
        <p:nvSpPr>
          <p:cNvPr id="76" name="Shape 13"/>
          <p:cNvSpPr/>
          <p:nvPr/>
        </p:nvSpPr>
        <p:spPr>
          <a:xfrm>
            <a:off x="6720840" y="2670048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Text 14"/>
          <p:cNvSpPr txBox="1"/>
          <p:nvPr/>
        </p:nvSpPr>
        <p:spPr>
          <a:xfrm>
            <a:off x="7022592" y="2569464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Relevant answers and links</a:t>
            </a:r>
          </a:p>
        </p:txBody>
      </p:sp>
      <p:sp>
        <p:nvSpPr>
          <p:cNvPr id="78" name="Text 15"/>
          <p:cNvSpPr txBox="1"/>
          <p:nvPr/>
        </p:nvSpPr>
        <p:spPr>
          <a:xfrm>
            <a:off x="7022592" y="2862072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The AI returns an explanation and links into the relevant Anvest pages.</a:t>
            </a:r>
          </a:p>
        </p:txBody>
      </p:sp>
      <p:sp>
        <p:nvSpPr>
          <p:cNvPr id="79" name="Shape 16"/>
          <p:cNvSpPr/>
          <p:nvPr/>
        </p:nvSpPr>
        <p:spPr>
          <a:xfrm>
            <a:off x="6720840" y="3456432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0" name="Text 17"/>
          <p:cNvSpPr txBox="1"/>
          <p:nvPr/>
        </p:nvSpPr>
        <p:spPr>
          <a:xfrm>
            <a:off x="7022592" y="3355847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Prepared screener queries</a:t>
            </a:r>
          </a:p>
        </p:txBody>
      </p:sp>
      <p:sp>
        <p:nvSpPr>
          <p:cNvPr id="81" name="Text 18"/>
          <p:cNvSpPr txBox="1"/>
          <p:nvPr/>
        </p:nvSpPr>
        <p:spPr>
          <a:xfrm>
            <a:off x="7022592" y="3648455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Natural-language criteria become an editable screen over the warehouse.</a:t>
            </a:r>
          </a:p>
        </p:txBody>
      </p:sp>
      <p:sp>
        <p:nvSpPr>
          <p:cNvPr id="82" name="Shape 19"/>
          <p:cNvSpPr/>
          <p:nvPr/>
        </p:nvSpPr>
        <p:spPr>
          <a:xfrm>
            <a:off x="6720840" y="4242815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3" name="Text 20"/>
          <p:cNvSpPr txBox="1"/>
          <p:nvPr/>
        </p:nvSpPr>
        <p:spPr>
          <a:xfrm>
            <a:off x="7022592" y="4142232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AI across the toolkit</a:t>
            </a:r>
          </a:p>
        </p:txBody>
      </p:sp>
      <p:sp>
        <p:nvSpPr>
          <p:cNvPr id="84" name="Text 21"/>
          <p:cNvSpPr txBox="1"/>
          <p:nvPr/>
        </p:nvSpPr>
        <p:spPr>
          <a:xfrm>
            <a:off x="7022592" y="4434840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Research, screening, backtesting, paper trading, wealth tools and calculators.</a:t>
            </a:r>
          </a:p>
        </p:txBody>
      </p:sp>
      <p:sp>
        <p:nvSpPr>
          <p:cNvPr id="85" name="Shape 22"/>
          <p:cNvSpPr/>
          <p:nvPr/>
        </p:nvSpPr>
        <p:spPr>
          <a:xfrm>
            <a:off x="6720840" y="5029200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6" name="Text 23"/>
          <p:cNvSpPr txBox="1"/>
          <p:nvPr/>
        </p:nvSpPr>
        <p:spPr>
          <a:xfrm>
            <a:off x="7022592" y="4928615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Grounded data and calculations</a:t>
            </a:r>
          </a:p>
        </p:txBody>
      </p:sp>
      <p:sp>
        <p:nvSpPr>
          <p:cNvPr id="87" name="Text 24"/>
          <p:cNvSpPr txBox="1"/>
          <p:nvPr/>
        </p:nvSpPr>
        <p:spPr>
          <a:xfrm>
            <a:off x="7022592" y="5221223"/>
            <a:ext cx="4526281" cy="354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Research uses source evidence. Calculation and simulation engines compute the figures.</a:t>
            </a:r>
          </a:p>
        </p:txBody>
      </p:sp>
      <p:sp>
        <p:nvSpPr>
          <p:cNvPr id="88" name="Shape 25"/>
          <p:cNvSpPr/>
          <p:nvPr/>
        </p:nvSpPr>
        <p:spPr>
          <a:xfrm>
            <a:off x="640080" y="5852159"/>
            <a:ext cx="10908793" cy="658369"/>
          </a:xfrm>
          <a:prstGeom prst="roundRect">
            <a:avLst>
              <a:gd name="adj" fmla="val 19444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9" name="Text 26"/>
          <p:cNvSpPr txBox="1"/>
          <p:nvPr/>
        </p:nvSpPr>
        <p:spPr>
          <a:xfrm>
            <a:off x="1051560" y="6070854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AI connects a question to a useful workflow. Sources, explicit filters and calculation assumptions let the user inspect the result.</a:t>
            </a:r>
          </a:p>
        </p:txBody>
      </p:sp>
      <p:sp>
        <p:nvSpPr>
          <p:cNvPr id="90" name="THE AI EXPERIENCE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AI EXPERIENCE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across the investing workflow</a:t>
            </a:r>
          </a:p>
        </p:txBody>
      </p:sp>
      <p:sp>
        <p:nvSpPr>
          <p:cNvPr id="93" name="Shape 2"/>
          <p:cNvSpPr/>
          <p:nvPr/>
        </p:nvSpPr>
        <p:spPr>
          <a:xfrm>
            <a:off x="640080" y="196596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4" name="Shape 3"/>
          <p:cNvSpPr/>
          <p:nvPr/>
        </p:nvSpPr>
        <p:spPr>
          <a:xfrm>
            <a:off x="932688" y="220370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5" name="Text 4"/>
          <p:cNvSpPr txBox="1"/>
          <p:nvPr/>
        </p:nvSpPr>
        <p:spPr>
          <a:xfrm>
            <a:off x="932688" y="240267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96" name="Text 5"/>
          <p:cNvSpPr txBox="1"/>
          <p:nvPr/>
        </p:nvSpPr>
        <p:spPr>
          <a:xfrm>
            <a:off x="1810511" y="2148839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C97F0C"/>
                </a:solidFill>
              </a:defRPr>
            </a:lvl1pPr>
          </a:lstStyle>
          <a:p>
            <a:pPr/>
            <a:r>
              <a:t>RESEARCH AND DISCOVERY</a:t>
            </a:r>
          </a:p>
        </p:txBody>
      </p:sp>
      <p:sp>
        <p:nvSpPr>
          <p:cNvPr id="97" name="Text 6"/>
          <p:cNvSpPr txBox="1"/>
          <p:nvPr/>
        </p:nvSpPr>
        <p:spPr>
          <a:xfrm>
            <a:off x="1810511" y="2404872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Research and AI screener</a:t>
            </a:r>
          </a:p>
        </p:txBody>
      </p:sp>
      <p:sp>
        <p:nvSpPr>
          <p:cNvPr id="98" name="Text 7"/>
          <p:cNvSpPr txBox="1"/>
          <p:nvPr/>
        </p:nvSpPr>
        <p:spPr>
          <a:xfrm>
            <a:off x="4766817" y="2315972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AI answers filing questions, translates natural language into stock filters and explains portfolio exposures. Professional filing research is the first revenue test.</a:t>
            </a:r>
          </a:p>
        </p:txBody>
      </p:sp>
      <p:sp>
        <p:nvSpPr>
          <p:cNvPr id="99" name="Shape 8"/>
          <p:cNvSpPr/>
          <p:nvPr/>
        </p:nvSpPr>
        <p:spPr>
          <a:xfrm>
            <a:off x="640080" y="320040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Shape 9"/>
          <p:cNvSpPr/>
          <p:nvPr/>
        </p:nvSpPr>
        <p:spPr>
          <a:xfrm>
            <a:off x="932688" y="343814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1" name="Text 10"/>
          <p:cNvSpPr txBox="1"/>
          <p:nvPr/>
        </p:nvSpPr>
        <p:spPr>
          <a:xfrm>
            <a:off x="932688" y="363711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2" name="Text 11"/>
          <p:cNvSpPr txBox="1"/>
          <p:nvPr/>
        </p:nvSpPr>
        <p:spPr>
          <a:xfrm>
            <a:off x="1810511" y="3383279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F5A623"/>
                </a:solidFill>
              </a:defRPr>
            </a:lvl1pPr>
          </a:lstStyle>
          <a:p>
            <a:pPr/>
            <a:r>
              <a:t>STRATEGY AND PRACTICE</a:t>
            </a:r>
          </a:p>
        </p:txBody>
      </p:sp>
      <p:sp>
        <p:nvSpPr>
          <p:cNvPr id="103" name="Text 12"/>
          <p:cNvSpPr txBox="1"/>
          <p:nvPr/>
        </p:nvSpPr>
        <p:spPr>
          <a:xfrm>
            <a:off x="1810511" y="3639311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AI-assisted strategy testing</a:t>
            </a:r>
          </a:p>
        </p:txBody>
      </p:sp>
      <p:sp>
        <p:nvSpPr>
          <p:cNvPr id="104" name="Text 13"/>
          <p:cNvSpPr txBox="1"/>
          <p:nvPr/>
        </p:nvSpPr>
        <p:spPr>
          <a:xfrm>
            <a:off x="4766817" y="3550411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AI helps users explore strategy rules and interpret backtest and paper-trading results. The engines simulate historical or virtual portfolios. Simulated outcomes do not forecast returns.</a:t>
            </a:r>
          </a:p>
        </p:txBody>
      </p:sp>
      <p:sp>
        <p:nvSpPr>
          <p:cNvPr id="105" name="Shape 14"/>
          <p:cNvSpPr/>
          <p:nvPr/>
        </p:nvSpPr>
        <p:spPr>
          <a:xfrm>
            <a:off x="640080" y="443484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6" name="Shape 15"/>
          <p:cNvSpPr/>
          <p:nvPr/>
        </p:nvSpPr>
        <p:spPr>
          <a:xfrm>
            <a:off x="932688" y="467258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7" name="Text 16"/>
          <p:cNvSpPr txBox="1"/>
          <p:nvPr/>
        </p:nvSpPr>
        <p:spPr>
          <a:xfrm>
            <a:off x="932688" y="487155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8" name="Text 17"/>
          <p:cNvSpPr txBox="1"/>
          <p:nvPr/>
        </p:nvSpPr>
        <p:spPr>
          <a:xfrm>
            <a:off x="1810511" y="4617720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F5A623"/>
                </a:solidFill>
              </a:defRPr>
            </a:lvl1pPr>
          </a:lstStyle>
          <a:p>
            <a:pPr/>
            <a:r>
              <a:t>PLANNING AND LEARNING</a:t>
            </a:r>
          </a:p>
        </p:txBody>
      </p:sp>
      <p:sp>
        <p:nvSpPr>
          <p:cNvPr id="109" name="Text 18"/>
          <p:cNvSpPr txBox="1"/>
          <p:nvPr/>
        </p:nvSpPr>
        <p:spPr>
          <a:xfrm>
            <a:off x="1810511" y="4873752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AI-assisted financial planning</a:t>
            </a:r>
          </a:p>
        </p:txBody>
      </p:sp>
      <p:sp>
        <p:nvSpPr>
          <p:cNvPr id="110" name="Text 19"/>
          <p:cNvSpPr txBox="1"/>
          <p:nvPr/>
        </p:nvSpPr>
        <p:spPr>
          <a:xfrm>
            <a:off x="4766817" y="4784852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AI helps users explore wealth goals, retirement scenarios and financial calculations. Explanations and guides make the inputs and assumptions easier to understand.</a:t>
            </a:r>
          </a:p>
        </p:txBody>
      </p:sp>
      <p:sp>
        <p:nvSpPr>
          <p:cNvPr id="111" name="Shape 20"/>
          <p:cNvSpPr/>
          <p:nvPr/>
        </p:nvSpPr>
        <p:spPr>
          <a:xfrm>
            <a:off x="640080" y="5715000"/>
            <a:ext cx="10908793" cy="749809"/>
          </a:xfrm>
          <a:prstGeom prst="roundRect">
            <a:avLst>
              <a:gd name="adj" fmla="val 17073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2" name="Text 21"/>
          <p:cNvSpPr txBox="1"/>
          <p:nvPr/>
        </p:nvSpPr>
        <p:spPr>
          <a:xfrm>
            <a:off x="1051560" y="5979413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AI powers the experience across these live tools. The shared entry point connects questions, explanations and relevant workflows.</a:t>
            </a:r>
          </a:p>
        </p:txBody>
      </p:sp>
      <p:sp>
        <p:nvSpPr>
          <p:cNvPr id="113" name="PRODUCT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PRODUCT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moat is the pipeline,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 the chatbot</a:t>
            </a:r>
          </a:p>
        </p:txBody>
      </p:sp>
      <p:sp>
        <p:nvSpPr>
          <p:cNvPr id="116" name="Shape 2"/>
          <p:cNvSpPr/>
          <p:nvPr/>
        </p:nvSpPr>
        <p:spPr>
          <a:xfrm>
            <a:off x="640080" y="2651760"/>
            <a:ext cx="2927668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7" name="Text 3"/>
          <p:cNvSpPr txBox="1"/>
          <p:nvPr/>
        </p:nvSpPr>
        <p:spPr>
          <a:xfrm>
            <a:off x="968897" y="3090110"/>
            <a:ext cx="251460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6,137</a:t>
            </a:r>
          </a:p>
        </p:txBody>
      </p:sp>
      <p:sp>
        <p:nvSpPr>
          <p:cNvPr id="118" name="Text 4"/>
          <p:cNvSpPr txBox="1"/>
          <p:nvPr/>
        </p:nvSpPr>
        <p:spPr>
          <a:xfrm>
            <a:off x="914400" y="3456432"/>
            <a:ext cx="2514600" cy="464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symbols · full-universe XBRL, with a repair layer for the exchange's own malformed filings</a:t>
            </a:r>
          </a:p>
        </p:txBody>
      </p:sp>
      <p:sp>
        <p:nvSpPr>
          <p:cNvPr id="119" name="Shape 5"/>
          <p:cNvSpPr/>
          <p:nvPr/>
        </p:nvSpPr>
        <p:spPr>
          <a:xfrm>
            <a:off x="3886200" y="2651760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" name="Text 6"/>
          <p:cNvSpPr txBox="1"/>
          <p:nvPr/>
        </p:nvSpPr>
        <p:spPr>
          <a:xfrm>
            <a:off x="4169297" y="3090110"/>
            <a:ext cx="256032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2.89M</a:t>
            </a:r>
          </a:p>
        </p:txBody>
      </p:sp>
      <p:sp>
        <p:nvSpPr>
          <p:cNvPr id="121" name="Text 7"/>
          <p:cNvSpPr txBox="1"/>
          <p:nvPr/>
        </p:nvSpPr>
        <p:spPr>
          <a:xfrm>
            <a:off x="4160520" y="3456432"/>
            <a:ext cx="2651760" cy="464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corporate announcements in the warehouse, with scanned small-cap PDFs OCR'd</a:t>
            </a:r>
          </a:p>
        </p:txBody>
      </p:sp>
      <p:sp>
        <p:nvSpPr>
          <p:cNvPr id="122" name="Shape 8"/>
          <p:cNvSpPr/>
          <p:nvPr/>
        </p:nvSpPr>
        <p:spPr>
          <a:xfrm>
            <a:off x="64008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3" name="Text 9"/>
          <p:cNvSpPr txBox="1"/>
          <p:nvPr/>
        </p:nvSpPr>
        <p:spPr>
          <a:xfrm>
            <a:off x="923177" y="4662877"/>
            <a:ext cx="2560321" cy="25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1.35M</a:t>
            </a:r>
          </a:p>
        </p:txBody>
      </p:sp>
      <p:sp>
        <p:nvSpPr>
          <p:cNvPr id="124" name="Text 10"/>
          <p:cNvSpPr txBox="1"/>
          <p:nvPr/>
        </p:nvSpPr>
        <p:spPr>
          <a:xfrm>
            <a:off x="914400" y="5029200"/>
            <a:ext cx="2514600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embeddings in a vector index, refreshed by a daily incremental job</a:t>
            </a:r>
          </a:p>
        </p:txBody>
      </p:sp>
      <p:sp>
        <p:nvSpPr>
          <p:cNvPr id="125" name="Shape 11"/>
          <p:cNvSpPr/>
          <p:nvPr/>
        </p:nvSpPr>
        <p:spPr>
          <a:xfrm>
            <a:off x="388620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6" name="Text 12"/>
          <p:cNvSpPr txBox="1"/>
          <p:nvPr/>
        </p:nvSpPr>
        <p:spPr>
          <a:xfrm>
            <a:off x="4169297" y="4662877"/>
            <a:ext cx="2560321" cy="25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5,405</a:t>
            </a:r>
          </a:p>
        </p:txBody>
      </p:sp>
      <p:sp>
        <p:nvSpPr>
          <p:cNvPr id="127" name="Text 13"/>
          <p:cNvSpPr txBox="1"/>
          <p:nvPr/>
        </p:nvSpPr>
        <p:spPr>
          <a:xfrm>
            <a:off x="4160520" y="5029200"/>
            <a:ext cx="2514601" cy="16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company profiles generated from filings</a:t>
            </a:r>
          </a:p>
        </p:txBody>
      </p:sp>
      <p:sp>
        <p:nvSpPr>
          <p:cNvPr id="128" name="Shape 14"/>
          <p:cNvSpPr/>
          <p:nvPr/>
        </p:nvSpPr>
        <p:spPr>
          <a:xfrm>
            <a:off x="7223759" y="2651760"/>
            <a:ext cx="4325113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Text 15"/>
          <p:cNvSpPr txBox="1"/>
          <p:nvPr/>
        </p:nvSpPr>
        <p:spPr>
          <a:xfrm>
            <a:off x="7543800" y="2926079"/>
            <a:ext cx="3657600" cy="1207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pc="-80" sz="26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corpus and the verification loop are the asset.</a:t>
            </a:r>
          </a:p>
        </p:txBody>
      </p:sp>
      <p:sp>
        <p:nvSpPr>
          <p:cNvPr id="130" name="Text 16"/>
          <p:cNvSpPr txBox="1"/>
          <p:nvPr/>
        </p:nvSpPr>
        <p:spPr>
          <a:xfrm>
            <a:off x="7543800" y="4343400"/>
            <a:ext cx="3657600" cy="426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Ingestion, OCR, repair and verification underpin every research workflow.</a:t>
            </a:r>
          </a:p>
        </p:txBody>
      </p:sp>
      <p:sp>
        <p:nvSpPr>
          <p:cNvPr id="131" name="Shape 17"/>
          <p:cNvSpPr/>
          <p:nvPr/>
        </p:nvSpPr>
        <p:spPr>
          <a:xfrm>
            <a:off x="7543800" y="4891176"/>
            <a:ext cx="640081" cy="127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Text 18"/>
          <p:cNvSpPr txBox="1"/>
          <p:nvPr/>
        </p:nvSpPr>
        <p:spPr>
          <a:xfrm>
            <a:off x="7543800" y="5074920"/>
            <a:ext cx="3657600" cy="455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900">
                <a:solidFill>
                  <a:srgbClr val="434B6B"/>
                </a:solidFill>
              </a:defRPr>
            </a:lvl1pPr>
          </a:lstStyle>
          <a:p>
            <a:pPr/>
            <a:r>
              <a:t>We found that NSE's post-FY23 filings carry malformed context dates, and that annual figures must be mined out of Q4. You only learn that by serving real queries.</a:t>
            </a:r>
          </a:p>
        </p:txBody>
      </p:sp>
      <p:sp>
        <p:nvSpPr>
          <p:cNvPr id="133" name="Text 19"/>
          <p:cNvSpPr txBox="1"/>
          <p:nvPr/>
        </p:nvSpPr>
        <p:spPr>
          <a:xfrm>
            <a:off x="640079" y="5943600"/>
            <a:ext cx="10908794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200">
                <a:solidFill>
                  <a:srgbClr val="C9D3F0"/>
                </a:solidFill>
              </a:defRPr>
            </a:lvl1pPr>
          </a:lstStyle>
          <a:p>
            <a:pPr/>
            <a:r>
              <a:t>Next: measure accuracy, coverage and cost per task against the alternatives, so the advantage is shown, not asserted.</a:t>
            </a:r>
          </a:p>
        </p:txBody>
      </p:sp>
      <p:sp>
        <p:nvSpPr>
          <p:cNvPr id="134" name="WHY THIS IS HARD TO COPY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WHY THIS IS HARD TO COPY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Competitive alternatives</a:t>
            </a:r>
          </a:p>
        </p:txBody>
      </p:sp>
      <p:sp>
        <p:nvSpPr>
          <p:cNvPr id="137" name="Shape 2"/>
          <p:cNvSpPr/>
          <p:nvPr/>
        </p:nvSpPr>
        <p:spPr>
          <a:xfrm>
            <a:off x="640080" y="2103120"/>
            <a:ext cx="2487168" cy="2730500"/>
          </a:xfrm>
          <a:prstGeom prst="roundRect">
            <a:avLst>
              <a:gd name="adj" fmla="val 514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8" name="Text 3"/>
          <p:cNvSpPr txBox="1"/>
          <p:nvPr/>
        </p:nvSpPr>
        <p:spPr>
          <a:xfrm>
            <a:off x="896111" y="2304288"/>
            <a:ext cx="2011680" cy="4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Data-first tools,</a:t>
            </a:r>
          </a:p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now adding AI</a:t>
            </a:r>
          </a:p>
        </p:txBody>
      </p:sp>
      <p:sp>
        <p:nvSpPr>
          <p:cNvPr id="139" name="Text 4"/>
          <p:cNvSpPr txBox="1"/>
          <p:nvPr/>
        </p:nvSpPr>
        <p:spPr>
          <a:xfrm>
            <a:off x="896111" y="3063239"/>
            <a:ext cx="2011680" cy="81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Screener.in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Trendlyne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Tickertape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StockEdge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896111" y="4224528"/>
            <a:ext cx="2011680" cy="464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Screener ships AI over filings: our closest overlap. We compete on measured accuracy.</a:t>
            </a:r>
          </a:p>
        </p:txBody>
      </p:sp>
      <p:sp>
        <p:nvSpPr>
          <p:cNvPr id="141" name="Shape 6"/>
          <p:cNvSpPr/>
          <p:nvPr/>
        </p:nvSpPr>
        <p:spPr>
          <a:xfrm>
            <a:off x="3310128" y="2103120"/>
            <a:ext cx="2487169" cy="2730500"/>
          </a:xfrm>
          <a:prstGeom prst="roundRect">
            <a:avLst>
              <a:gd name="adj" fmla="val 514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2" name="Text 7"/>
          <p:cNvSpPr txBox="1"/>
          <p:nvPr/>
        </p:nvSpPr>
        <p:spPr>
          <a:xfrm>
            <a:off x="3566159" y="2304288"/>
            <a:ext cx="2011680" cy="4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Tips without</a:t>
            </a:r>
          </a:p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transparency</a:t>
            </a:r>
          </a:p>
        </p:txBody>
      </p:sp>
      <p:sp>
        <p:nvSpPr>
          <p:cNvPr id="143" name="Text 8"/>
          <p:cNvSpPr txBox="1"/>
          <p:nvPr/>
        </p:nvSpPr>
        <p:spPr>
          <a:xfrm>
            <a:off x="3566159" y="3063239"/>
            <a:ext cx="2011680" cy="60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Advisory apps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Telegram tip channels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WhatsApp groups</a:t>
            </a:r>
          </a:p>
        </p:txBody>
      </p:sp>
      <p:sp>
        <p:nvSpPr>
          <p:cNvPr id="144" name="Text 9"/>
          <p:cNvSpPr txBox="1"/>
          <p:nvPr/>
        </p:nvSpPr>
        <p:spPr>
          <a:xfrm>
            <a:off x="3566159" y="4224528"/>
            <a:ext cx="2011680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Calls without sources. Hard to check, easy to follow.</a:t>
            </a:r>
          </a:p>
        </p:txBody>
      </p:sp>
      <p:sp>
        <p:nvSpPr>
          <p:cNvPr id="145" name="Shape 10"/>
          <p:cNvSpPr/>
          <p:nvPr/>
        </p:nvSpPr>
        <p:spPr>
          <a:xfrm>
            <a:off x="5980176" y="2103120"/>
            <a:ext cx="2487169" cy="2730500"/>
          </a:xfrm>
          <a:prstGeom prst="roundRect">
            <a:avLst>
              <a:gd name="adj" fmla="val 514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6" name="Text 11"/>
          <p:cNvSpPr txBox="1"/>
          <p:nvPr/>
        </p:nvSpPr>
        <p:spPr>
          <a:xfrm>
            <a:off x="6236208" y="2304288"/>
            <a:ext cx="2011680" cy="4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Conversation without</a:t>
            </a:r>
          </a:p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a warehouse</a:t>
            </a:r>
          </a:p>
        </p:txBody>
      </p:sp>
      <p:sp>
        <p:nvSpPr>
          <p:cNvPr id="147" name="Text 12"/>
          <p:cNvSpPr txBox="1"/>
          <p:nvPr/>
        </p:nvSpPr>
        <p:spPr>
          <a:xfrm>
            <a:off x="6236208" y="3063239"/>
            <a:ext cx="2011680" cy="81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ChatGPT</a:t>
            </a:r>
            <a:br/>
            <a:r>
              <a:t>Claude</a:t>
            </a:r>
            <a:br/>
            <a:r>
              <a:t>Perplexity Finance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Gemini</a:t>
            </a:r>
          </a:p>
        </p:txBody>
      </p:sp>
      <p:sp>
        <p:nvSpPr>
          <p:cNvPr id="148" name="Text 13"/>
          <p:cNvSpPr txBox="1"/>
          <p:nvPr/>
        </p:nvSpPr>
        <p:spPr>
          <a:xfrm>
            <a:off x="6236208" y="4224528"/>
            <a:ext cx="2011680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Fluent but unreliable on Indian filings. No accountability.</a:t>
            </a:r>
          </a:p>
        </p:txBody>
      </p:sp>
      <p:sp>
        <p:nvSpPr>
          <p:cNvPr id="149" name="Shape 14"/>
          <p:cNvSpPr/>
          <p:nvPr/>
        </p:nvSpPr>
        <p:spPr>
          <a:xfrm>
            <a:off x="8650223" y="2103120"/>
            <a:ext cx="2898650" cy="2730500"/>
          </a:xfrm>
          <a:prstGeom prst="roundRect">
            <a:avLst>
              <a:gd name="adj" fmla="val 4688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0" name="Text 15"/>
          <p:cNvSpPr txBox="1"/>
          <p:nvPr/>
        </p:nvSpPr>
        <p:spPr>
          <a:xfrm>
            <a:off x="8906256" y="2400579"/>
            <a:ext cx="2377441" cy="226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83" sz="20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</a:t>
            </a:r>
          </a:p>
        </p:txBody>
      </p:sp>
      <p:sp>
        <p:nvSpPr>
          <p:cNvPr id="151" name="Text 16"/>
          <p:cNvSpPr txBox="1"/>
          <p:nvPr/>
        </p:nvSpPr>
        <p:spPr>
          <a:xfrm>
            <a:off x="8924543" y="2834639"/>
            <a:ext cx="2377441" cy="121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3A2A00"/>
                </a:solidFill>
              </a:defRPr>
            </a:pPr>
            <a:r>
              <a:t>Ask in plain English.</a:t>
            </a:r>
          </a:p>
          <a:p>
            <a:pPr>
              <a:lnSpc>
                <a:spcPts val="1600"/>
              </a:lnSpc>
              <a:defRPr sz="1200"/>
            </a:pPr>
          </a:p>
          <a:p>
            <a:pPr>
              <a:lnSpc>
                <a:spcPts val="1600"/>
              </a:lnSpc>
              <a:defRPr sz="1200">
                <a:solidFill>
                  <a:srgbClr val="3A2A00"/>
                </a:solidFill>
              </a:defRPr>
            </a:pPr>
            <a:r>
              <a:t>AI across research, simulation and planning.</a:t>
            </a:r>
          </a:p>
          <a:p>
            <a:pPr>
              <a:lnSpc>
                <a:spcPts val="1600"/>
              </a:lnSpc>
              <a:defRPr sz="1200"/>
            </a:pPr>
          </a:p>
          <a:p>
            <a:pPr>
              <a:lnSpc>
                <a:spcPts val="1600"/>
              </a:lnSpc>
              <a:defRPr sz="1200">
                <a:solidFill>
                  <a:srgbClr val="3A2A00"/>
                </a:solidFill>
              </a:defRPr>
            </a:pPr>
            <a:r>
              <a:t>Relevant answers and workflow links.</a:t>
            </a:r>
          </a:p>
        </p:txBody>
      </p:sp>
      <p:sp>
        <p:nvSpPr>
          <p:cNvPr id="152" name="Text 17"/>
          <p:cNvSpPr txBox="1"/>
          <p:nvPr/>
        </p:nvSpPr>
        <p:spPr>
          <a:xfrm>
            <a:off x="8924543" y="4201668"/>
            <a:ext cx="23774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3A2A00"/>
                </a:solidFill>
              </a:defRPr>
            </a:lvl1pPr>
          </a:lstStyle>
          <a:p>
            <a:pPr/>
            <a:r>
              <a:t>Grounded data and calculation engines.</a:t>
            </a:r>
          </a:p>
        </p:txBody>
      </p:sp>
      <p:sp>
        <p:nvSpPr>
          <p:cNvPr id="153" name="Shape 18"/>
          <p:cNvSpPr/>
          <p:nvPr/>
        </p:nvSpPr>
        <p:spPr>
          <a:xfrm>
            <a:off x="641603" y="5118476"/>
            <a:ext cx="10908794" cy="1108801"/>
          </a:xfrm>
          <a:prstGeom prst="roundRect">
            <a:avLst>
              <a:gd name="adj" fmla="val 11545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4" name="Text 19"/>
          <p:cNvSpPr txBox="1"/>
          <p:nvPr/>
        </p:nvSpPr>
        <p:spPr>
          <a:xfrm>
            <a:off x="868756" y="5217899"/>
            <a:ext cx="10085832" cy="909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FFFFFF"/>
                </a:solidFill>
              </a:defRPr>
            </a:pPr>
            <a:r>
              <a:t>The category is funded at both ends. </a:t>
            </a:r>
            <a:br/>
            <a:r>
              <a:t>Depth: AlphaSense, $7.5B valuation, $600M+ ARR, 7,000+ organisations. </a:t>
            </a:r>
            <a:br/>
            <a:r>
              <a:t>Reach: StockGro, $362M post-money (Dec 2025), IPO papers filed Sep 2026. </a:t>
            </a:r>
            <a:br/>
            <a:r>
              <a:t>Anvest's Bet: verified, cited answers over a full filings corpus, integrated with screening backtesting and wealth planning.</a:t>
            </a:r>
          </a:p>
        </p:txBody>
      </p:sp>
      <p:sp>
        <p:nvSpPr>
          <p:cNvPr id="155" name="Text 20"/>
          <p:cNvSpPr txBox="1"/>
          <p:nvPr/>
        </p:nvSpPr>
        <p:spPr>
          <a:xfrm>
            <a:off x="711824" y="6505783"/>
            <a:ext cx="109087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C88B0"/>
                </a:solidFill>
              </a:defRPr>
            </a:lvl1pPr>
          </a:lstStyle>
          <a:p>
            <a:pPr/>
            <a:r>
              <a:t>AlphaSense press release, Jun 2026 · Entrackr (StockGro Series B, Dec 2025) · Inc42 (StockGro DRHP, Sep 2026)</a:t>
            </a:r>
          </a:p>
        </p:txBody>
      </p:sp>
      <p:sp>
        <p:nvSpPr>
          <p:cNvPr id="156" name="THE GAP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GAP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Built. Live. Early organic use.</a:t>
            </a:r>
          </a:p>
        </p:txBody>
      </p:sp>
      <p:sp>
        <p:nvSpPr>
          <p:cNvPr id="159" name="Shape 2"/>
          <p:cNvSpPr/>
          <p:nvPr/>
        </p:nvSpPr>
        <p:spPr>
          <a:xfrm>
            <a:off x="640080" y="2103120"/>
            <a:ext cx="5349241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0" name="Shape 3"/>
          <p:cNvSpPr/>
          <p:nvPr/>
        </p:nvSpPr>
        <p:spPr>
          <a:xfrm>
            <a:off x="1005839" y="2331720"/>
            <a:ext cx="1371601" cy="310897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1" name="Text 4"/>
          <p:cNvSpPr txBox="1"/>
          <p:nvPr/>
        </p:nvSpPr>
        <p:spPr>
          <a:xfrm>
            <a:off x="1005839" y="2418632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4301E"/>
                </a:solidFill>
              </a:defRPr>
            </a:lvl1pPr>
          </a:lstStyle>
          <a:p>
            <a:pPr/>
            <a:r>
              <a:t>SHIPPED</a:t>
            </a:r>
          </a:p>
        </p:txBody>
      </p:sp>
      <p:sp>
        <p:nvSpPr>
          <p:cNvPr id="162" name="Text 5"/>
          <p:cNvSpPr txBox="1"/>
          <p:nvPr/>
        </p:nvSpPr>
        <p:spPr>
          <a:xfrm>
            <a:off x="1005839" y="2834639"/>
            <a:ext cx="4617722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Cited research, AI screener and portfolio X-ray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Strategy backtesting with historical metrics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Paper trading with virtual portfolios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Wealth planning and financial calculators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Filings warehouse, OCR and verification pipeline</a:t>
            </a:r>
          </a:p>
        </p:txBody>
      </p:sp>
      <p:sp>
        <p:nvSpPr>
          <p:cNvPr id="163" name="Shape 6"/>
          <p:cNvSpPr/>
          <p:nvPr/>
        </p:nvSpPr>
        <p:spPr>
          <a:xfrm>
            <a:off x="1005839" y="4936896"/>
            <a:ext cx="4617722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Text 7"/>
          <p:cNvSpPr txBox="1"/>
          <p:nvPr/>
        </p:nvSpPr>
        <p:spPr>
          <a:xfrm>
            <a:off x="1005839" y="5120640"/>
            <a:ext cx="46177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One founder built the platform. This round funds reliability, paid pilots and a small team.</a:t>
            </a:r>
          </a:p>
        </p:txBody>
      </p:sp>
      <p:sp>
        <p:nvSpPr>
          <p:cNvPr id="165" name="Shape 8"/>
          <p:cNvSpPr/>
          <p:nvPr/>
        </p:nvSpPr>
        <p:spPr>
          <a:xfrm>
            <a:off x="6482784" y="2103120"/>
            <a:ext cx="5102353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Shape 9"/>
          <p:cNvSpPr/>
          <p:nvPr/>
        </p:nvSpPr>
        <p:spPr>
          <a:xfrm>
            <a:off x="6812280" y="2331720"/>
            <a:ext cx="1828801" cy="310897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" name="Text 10"/>
          <p:cNvSpPr txBox="1"/>
          <p:nvPr/>
        </p:nvSpPr>
        <p:spPr>
          <a:xfrm>
            <a:off x="6812280" y="2418632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B0E26"/>
                </a:solidFill>
              </a:defRPr>
            </a:lvl1pPr>
          </a:lstStyle>
          <a:p>
            <a:pPr/>
            <a:r>
              <a:t>EARLY SIGNAL</a:t>
            </a:r>
          </a:p>
        </p:txBody>
      </p:sp>
      <p:sp>
        <p:nvSpPr>
          <p:cNvPr id="168" name="Text 11"/>
          <p:cNvSpPr txBox="1"/>
          <p:nvPr/>
        </p:nvSpPr>
        <p:spPr>
          <a:xfrm>
            <a:off x="6987830" y="2915687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69" name="Text 12"/>
          <p:cNvSpPr txBox="1"/>
          <p:nvPr/>
        </p:nvSpPr>
        <p:spPr>
          <a:xfrm>
            <a:off x="8275319" y="2880360"/>
            <a:ext cx="306324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200">
                <a:solidFill>
                  <a:srgbClr val="C9D3F0"/>
                </a:solidFill>
              </a:defRPr>
            </a:lvl1pPr>
          </a:lstStyle>
          <a:p>
            <a:pPr/>
            <a:r>
              <a:t>~100 registered users, all organic: no paid marketing, no launch campaign.</a:t>
            </a:r>
          </a:p>
        </p:txBody>
      </p:sp>
      <p:sp>
        <p:nvSpPr>
          <p:cNvPr id="170" name="Text 15"/>
          <p:cNvSpPr txBox="1"/>
          <p:nvPr/>
        </p:nvSpPr>
        <p:spPr>
          <a:xfrm>
            <a:off x="6952720" y="3520251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Data quality</a:t>
            </a:r>
          </a:p>
        </p:txBody>
      </p:sp>
      <p:sp>
        <p:nvSpPr>
          <p:cNvPr id="171" name="Text 16"/>
          <p:cNvSpPr txBox="1"/>
          <p:nvPr/>
        </p:nvSpPr>
        <p:spPr>
          <a:xfrm>
            <a:off x="8240209" y="3484923"/>
            <a:ext cx="306324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200">
                <a:solidFill>
                  <a:srgbClr val="C9D3F0"/>
                </a:solidFill>
              </a:defRPr>
            </a:lvl1pPr>
          </a:lstStyle>
          <a:p>
            <a:pPr/>
            <a:r>
              <a:t>Corrections ship as versioned releases; known gaps are flagged in-product, not estimated.</a:t>
            </a:r>
          </a:p>
        </p:txBody>
      </p:sp>
      <p:sp>
        <p:nvSpPr>
          <p:cNvPr id="172" name="Text 17"/>
          <p:cNvSpPr txBox="1"/>
          <p:nvPr/>
        </p:nvSpPr>
        <p:spPr>
          <a:xfrm>
            <a:off x="6952720" y="4178619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Next 90 days</a:t>
            </a:r>
          </a:p>
        </p:txBody>
      </p:sp>
      <p:sp>
        <p:nvSpPr>
          <p:cNvPr id="173" name="Text 18"/>
          <p:cNvSpPr txBox="1"/>
          <p:nvPr/>
        </p:nvSpPr>
        <p:spPr>
          <a:xfrm>
            <a:off x="8240209" y="4143291"/>
            <a:ext cx="306324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200">
                <a:solidFill>
                  <a:srgbClr val="C9D3F0"/>
                </a:solidFill>
              </a:defRPr>
            </a:lvl1pPr>
          </a:lstStyle>
          <a:p>
            <a:pPr/>
            <a:r>
              <a:t>Paid pilots with professional research users; live filing alerts.</a:t>
            </a:r>
          </a:p>
        </p:txBody>
      </p:sp>
      <p:sp>
        <p:nvSpPr>
          <p:cNvPr id="174" name="Text 19"/>
          <p:cNvSpPr txBox="1"/>
          <p:nvPr/>
        </p:nvSpPr>
        <p:spPr>
          <a:xfrm>
            <a:off x="6946370" y="5103953"/>
            <a:ext cx="452628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i="1" sz="1200">
                <a:solidFill>
                  <a:srgbClr val="C9D3F0"/>
                </a:solidFill>
              </a:defRPr>
            </a:lvl1pPr>
          </a:lstStyle>
          <a:p>
            <a:pPr/>
            <a:r>
              <a:t>Next milestone: repeat use and willingness to pay in one segment.</a:t>
            </a:r>
          </a:p>
        </p:txBody>
      </p:sp>
      <p:sp>
        <p:nvSpPr>
          <p:cNvPr id="175" name="WHERE WE ARE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WHERE WE ARE</a:t>
            </a:r>
          </a:p>
        </p:txBody>
      </p:sp>
      <p:sp>
        <p:nvSpPr>
          <p:cNvPr id="176" name="Shape 6"/>
          <p:cNvSpPr/>
          <p:nvPr/>
        </p:nvSpPr>
        <p:spPr>
          <a:xfrm>
            <a:off x="6725100" y="4936896"/>
            <a:ext cx="4617721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AI experience across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investing workflow</a:t>
            </a:r>
          </a:p>
        </p:txBody>
      </p:sp>
      <p:sp>
        <p:nvSpPr>
          <p:cNvPr id="179" name="Text 2"/>
          <p:cNvSpPr txBox="1"/>
          <p:nvPr/>
        </p:nvSpPr>
        <p:spPr>
          <a:xfrm>
            <a:off x="640079" y="2651760"/>
            <a:ext cx="5120642" cy="82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C9D3F0"/>
                </a:solidFill>
              </a:defRPr>
            </a:lvl1pPr>
          </a:lstStyle>
          <a:p>
            <a:pPr/>
            <a:r>
              <a:t>A user starts with a question. Anvest interprets the intent, supplies an answer and links to the relevant tool. Each workflow supports AI interaction and explanation.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640079" y="3703320"/>
            <a:ext cx="5120642" cy="54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400">
                <a:solidFill>
                  <a:srgbClr val="F5A623"/>
                </a:solidFill>
              </a:defRPr>
            </a:lvl1pPr>
          </a:lstStyle>
          <a:p>
            <a:pPr/>
            <a:r>
              <a:t>Hypothesis: useful follow-on tasks improve retention and create reasons to upgrade. We will measure this in real cohorts.</a:t>
            </a:r>
          </a:p>
        </p:txBody>
      </p:sp>
      <p:sp>
        <p:nvSpPr>
          <p:cNvPr id="181" name="Shape 4"/>
          <p:cNvSpPr/>
          <p:nvPr/>
        </p:nvSpPr>
        <p:spPr>
          <a:xfrm>
            <a:off x="640080" y="4572000"/>
            <a:ext cx="5120641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2" name="Text 5"/>
          <p:cNvSpPr txBox="1"/>
          <p:nvPr/>
        </p:nvSpPr>
        <p:spPr>
          <a:xfrm>
            <a:off x="960120" y="4754879"/>
            <a:ext cx="4480560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First revenue test: professional research teams.</a:t>
            </a:r>
          </a:p>
        </p:txBody>
      </p:sp>
      <p:sp>
        <p:nvSpPr>
          <p:cNvPr id="183" name="Text 6"/>
          <p:cNvSpPr txBox="1"/>
          <p:nvPr/>
        </p:nvSpPr>
        <p:spPr>
          <a:xfrm>
            <a:off x="960120" y="5230367"/>
            <a:ext cx="448056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i="1" sz="1200">
                <a:solidFill>
                  <a:srgbClr val="C9D3F0"/>
                </a:solidFill>
              </a:defRPr>
            </a:lvl1pPr>
          </a:lstStyle>
          <a:p>
            <a:pPr/>
            <a:r>
              <a:t>The broader toolkit supports retail learning and planning. Customer use determines which workflows we deepen.</a:t>
            </a:r>
          </a:p>
        </p:txBody>
      </p:sp>
      <p:sp>
        <p:nvSpPr>
          <p:cNvPr id="184" name="Shape 7"/>
          <p:cNvSpPr/>
          <p:nvPr/>
        </p:nvSpPr>
        <p:spPr>
          <a:xfrm>
            <a:off x="6309359" y="2103120"/>
            <a:ext cx="5239513" cy="3886201"/>
          </a:xfrm>
          <a:prstGeom prst="roundRect">
            <a:avLst>
              <a:gd name="adj" fmla="val 3294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5" name="Text 8"/>
          <p:cNvSpPr txBox="1"/>
          <p:nvPr/>
        </p:nvSpPr>
        <p:spPr>
          <a:xfrm>
            <a:off x="6629400" y="2331720"/>
            <a:ext cx="4114800" cy="218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50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Reasons to return</a:t>
            </a:r>
          </a:p>
        </p:txBody>
      </p:sp>
      <p:sp>
        <p:nvSpPr>
          <p:cNvPr id="186" name="Shape 9"/>
          <p:cNvSpPr/>
          <p:nvPr/>
        </p:nvSpPr>
        <p:spPr>
          <a:xfrm>
            <a:off x="6629400" y="2971800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7" name="Text 10"/>
          <p:cNvSpPr txBox="1"/>
          <p:nvPr/>
        </p:nvSpPr>
        <p:spPr>
          <a:xfrm>
            <a:off x="6912864" y="2880360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Research and screening</a:t>
            </a:r>
          </a:p>
        </p:txBody>
      </p:sp>
      <p:sp>
        <p:nvSpPr>
          <p:cNvPr id="188" name="Text 11"/>
          <p:cNvSpPr txBox="1"/>
          <p:nvPr/>
        </p:nvSpPr>
        <p:spPr>
          <a:xfrm>
            <a:off x="6912864" y="3136392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New filings and saved criteria</a:t>
            </a:r>
          </a:p>
        </p:txBody>
      </p:sp>
      <p:sp>
        <p:nvSpPr>
          <p:cNvPr id="189" name="Text 12"/>
          <p:cNvSpPr txBox="1"/>
          <p:nvPr/>
        </p:nvSpPr>
        <p:spPr>
          <a:xfrm>
            <a:off x="9966959" y="2898648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RESEARCH</a:t>
            </a:r>
          </a:p>
        </p:txBody>
      </p:sp>
      <p:sp>
        <p:nvSpPr>
          <p:cNvPr id="190" name="Shape 13"/>
          <p:cNvSpPr/>
          <p:nvPr/>
        </p:nvSpPr>
        <p:spPr>
          <a:xfrm>
            <a:off x="6629400" y="3630167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1" name="Text 14"/>
          <p:cNvSpPr txBox="1"/>
          <p:nvPr/>
        </p:nvSpPr>
        <p:spPr>
          <a:xfrm>
            <a:off x="6912864" y="3538728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Backtesting and paper trading</a:t>
            </a:r>
          </a:p>
        </p:txBody>
      </p:sp>
      <p:sp>
        <p:nvSpPr>
          <p:cNvPr id="192" name="Text 15"/>
          <p:cNvSpPr txBox="1"/>
          <p:nvPr/>
        </p:nvSpPr>
        <p:spPr>
          <a:xfrm>
            <a:off x="6912864" y="3794759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Compare assumptions and review a journal</a:t>
            </a:r>
          </a:p>
        </p:txBody>
      </p:sp>
      <p:sp>
        <p:nvSpPr>
          <p:cNvPr id="193" name="Text 16"/>
          <p:cNvSpPr txBox="1"/>
          <p:nvPr/>
        </p:nvSpPr>
        <p:spPr>
          <a:xfrm>
            <a:off x="9966959" y="3557015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SIMULATE</a:t>
            </a:r>
          </a:p>
        </p:txBody>
      </p:sp>
      <p:sp>
        <p:nvSpPr>
          <p:cNvPr id="194" name="Shape 17"/>
          <p:cNvSpPr/>
          <p:nvPr/>
        </p:nvSpPr>
        <p:spPr>
          <a:xfrm>
            <a:off x="6629400" y="4288535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5" name="Text 18"/>
          <p:cNvSpPr txBox="1"/>
          <p:nvPr/>
        </p:nvSpPr>
        <p:spPr>
          <a:xfrm>
            <a:off x="6912864" y="4197096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Wealth and calculators</a:t>
            </a:r>
          </a:p>
        </p:txBody>
      </p:sp>
      <p:sp>
        <p:nvSpPr>
          <p:cNvPr id="196" name="Text 19"/>
          <p:cNvSpPr txBox="1"/>
          <p:nvPr/>
        </p:nvSpPr>
        <p:spPr>
          <a:xfrm>
            <a:off x="6912864" y="4453128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Revisit goals and financial scenarios</a:t>
            </a:r>
          </a:p>
        </p:txBody>
      </p:sp>
      <p:sp>
        <p:nvSpPr>
          <p:cNvPr id="197" name="Text 20"/>
          <p:cNvSpPr txBox="1"/>
          <p:nvPr/>
        </p:nvSpPr>
        <p:spPr>
          <a:xfrm>
            <a:off x="9966959" y="4215384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PLAN</a:t>
            </a:r>
          </a:p>
        </p:txBody>
      </p:sp>
      <p:sp>
        <p:nvSpPr>
          <p:cNvPr id="198" name="Shape 21"/>
          <p:cNvSpPr/>
          <p:nvPr/>
        </p:nvSpPr>
        <p:spPr>
          <a:xfrm>
            <a:off x="6629400" y="4946903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9" name="Text 22"/>
          <p:cNvSpPr txBox="1"/>
          <p:nvPr/>
        </p:nvSpPr>
        <p:spPr>
          <a:xfrm>
            <a:off x="6912864" y="4855464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Guides and explanations</a:t>
            </a:r>
          </a:p>
        </p:txBody>
      </p:sp>
      <p:sp>
        <p:nvSpPr>
          <p:cNvPr id="200" name="Text 23"/>
          <p:cNvSpPr txBox="1"/>
          <p:nvPr/>
        </p:nvSpPr>
        <p:spPr>
          <a:xfrm>
            <a:off x="6912864" y="5111496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Learn within the task at hand</a:t>
            </a:r>
          </a:p>
        </p:txBody>
      </p:sp>
      <p:sp>
        <p:nvSpPr>
          <p:cNvPr id="201" name="Text 24"/>
          <p:cNvSpPr txBox="1"/>
          <p:nvPr/>
        </p:nvSpPr>
        <p:spPr>
          <a:xfrm>
            <a:off x="9966959" y="4873752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LEARN</a:t>
            </a:r>
          </a:p>
        </p:txBody>
      </p:sp>
      <p:sp>
        <p:nvSpPr>
          <p:cNvPr id="202" name="Shape 25"/>
          <p:cNvSpPr/>
          <p:nvPr/>
        </p:nvSpPr>
        <p:spPr>
          <a:xfrm>
            <a:off x="6629400" y="5503824"/>
            <a:ext cx="4617721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3" name="Text 26"/>
          <p:cNvSpPr txBox="1"/>
          <p:nvPr/>
        </p:nvSpPr>
        <p:spPr>
          <a:xfrm>
            <a:off x="6629400" y="5632703"/>
            <a:ext cx="461772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Retention, cross-tool use and paid conversion will test the thesis.</a:t>
            </a:r>
          </a:p>
        </p:txBody>
      </p:sp>
      <p:sp>
        <p:nvSpPr>
          <p:cNvPr id="204" name="THE PRODUCT THESIS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PRODUCT THESIS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audience already exists.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 start with the professionals.</a:t>
            </a:r>
          </a:p>
        </p:txBody>
      </p:sp>
      <p:sp>
        <p:nvSpPr>
          <p:cNvPr id="207" name="Shape 2"/>
          <p:cNvSpPr/>
          <p:nvPr/>
        </p:nvSpPr>
        <p:spPr>
          <a:xfrm>
            <a:off x="640080" y="2651760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8" name="Text 3"/>
          <p:cNvSpPr txBox="1"/>
          <p:nvPr/>
        </p:nvSpPr>
        <p:spPr>
          <a:xfrm>
            <a:off x="879289" y="3095492"/>
            <a:ext cx="256032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13.4 Cr</a:t>
            </a:r>
          </a:p>
        </p:txBody>
      </p:sp>
      <p:sp>
        <p:nvSpPr>
          <p:cNvPr id="209" name="Text 4"/>
          <p:cNvSpPr txBox="1"/>
          <p:nvPr/>
        </p:nvSpPr>
        <p:spPr>
          <a:xfrm>
            <a:off x="914400" y="3456432"/>
            <a:ext cx="2514600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unique investors registered with NSE (Jul 2026)</a:t>
            </a:r>
          </a:p>
        </p:txBody>
      </p:sp>
      <p:sp>
        <p:nvSpPr>
          <p:cNvPr id="210" name="Shape 5"/>
          <p:cNvSpPr/>
          <p:nvPr/>
        </p:nvSpPr>
        <p:spPr>
          <a:xfrm>
            <a:off x="3886200" y="2651760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1" name="Text 6"/>
          <p:cNvSpPr txBox="1"/>
          <p:nvPr/>
        </p:nvSpPr>
        <p:spPr>
          <a:xfrm>
            <a:off x="4125409" y="3095492"/>
            <a:ext cx="256032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4.6 Cr</a:t>
            </a:r>
          </a:p>
        </p:txBody>
      </p:sp>
      <p:sp>
        <p:nvSpPr>
          <p:cNvPr id="212" name="Text 7"/>
          <p:cNvSpPr txBox="1"/>
          <p:nvPr/>
        </p:nvSpPr>
        <p:spPr>
          <a:xfrm>
            <a:off x="4160520" y="3456432"/>
            <a:ext cx="2514601" cy="16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active NSE clients (Aug 2026)</a:t>
            </a:r>
          </a:p>
        </p:txBody>
      </p:sp>
      <p:sp>
        <p:nvSpPr>
          <p:cNvPr id="213" name="Shape 8"/>
          <p:cNvSpPr/>
          <p:nvPr/>
        </p:nvSpPr>
        <p:spPr>
          <a:xfrm>
            <a:off x="64008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4" name="Text 9"/>
          <p:cNvSpPr txBox="1"/>
          <p:nvPr/>
        </p:nvSpPr>
        <p:spPr>
          <a:xfrm>
            <a:off x="879289" y="4668260"/>
            <a:ext cx="256032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1,584</a:t>
            </a:r>
          </a:p>
        </p:txBody>
      </p:sp>
      <p:sp>
        <p:nvSpPr>
          <p:cNvPr id="215" name="Text 10"/>
          <p:cNvSpPr txBox="1"/>
          <p:nvPr/>
        </p:nvSpPr>
        <p:spPr>
          <a:xfrm>
            <a:off x="914400" y="5029200"/>
            <a:ext cx="2514600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SEBI-registered research analysts (Jun 2025)</a:t>
            </a:r>
          </a:p>
        </p:txBody>
      </p:sp>
      <p:sp>
        <p:nvSpPr>
          <p:cNvPr id="216" name="Shape 11"/>
          <p:cNvSpPr/>
          <p:nvPr/>
        </p:nvSpPr>
        <p:spPr>
          <a:xfrm>
            <a:off x="388620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7" name="Text 12"/>
          <p:cNvSpPr txBox="1"/>
          <p:nvPr/>
        </p:nvSpPr>
        <p:spPr>
          <a:xfrm>
            <a:off x="4125409" y="4668260"/>
            <a:ext cx="256032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515</a:t>
            </a:r>
          </a:p>
        </p:txBody>
      </p:sp>
      <p:sp>
        <p:nvSpPr>
          <p:cNvPr id="218" name="Text 13"/>
          <p:cNvSpPr txBox="1"/>
          <p:nvPr/>
        </p:nvSpPr>
        <p:spPr>
          <a:xfrm>
            <a:off x="4160520" y="5029200"/>
            <a:ext cx="2514601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SEBI-registered portfolio managers (May 2026)</a:t>
            </a:r>
          </a:p>
        </p:txBody>
      </p:sp>
      <p:sp>
        <p:nvSpPr>
          <p:cNvPr id="219" name="Shape 14"/>
          <p:cNvSpPr/>
          <p:nvPr/>
        </p:nvSpPr>
        <p:spPr>
          <a:xfrm>
            <a:off x="7223759" y="2651760"/>
            <a:ext cx="4325113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0" name="Text 15"/>
          <p:cNvSpPr txBox="1"/>
          <p:nvPr/>
        </p:nvSpPr>
        <p:spPr>
          <a:xfrm>
            <a:off x="7543800" y="2834639"/>
            <a:ext cx="3657600" cy="6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pc="-60" sz="22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reachable first segment, not a share of the market.</a:t>
            </a:r>
          </a:p>
        </p:txBody>
      </p:sp>
      <p:sp>
        <p:nvSpPr>
          <p:cNvPr id="221" name="Text 16"/>
          <p:cNvSpPr txBox="1"/>
          <p:nvPr/>
        </p:nvSpPr>
        <p:spPr>
          <a:xfrm>
            <a:off x="7543800" y="3977640"/>
            <a:ext cx="36576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defRPr sz="1200">
                <a:solidFill>
                  <a:srgbClr val="434B6B"/>
                </a:solidFill>
              </a:defRPr>
            </a:pPr>
            <a:r>
              <a:t>First segment: SEBI-registered analysts, PMS and advisory desks, about 2,100 registrations combined.</a:t>
            </a:r>
          </a:p>
          <a:p>
            <a:pPr>
              <a:lnSpc>
                <a:spcPts val="1500"/>
              </a:lnSpc>
              <a:defRPr sz="1200">
                <a:solidFill>
                  <a:srgbClr val="434B6B"/>
                </a:solidFill>
              </a:defRPr>
            </a:pPr>
            <a:r>
              <a:t>Funnel to measure: prospects → demos → trials → paid → retained. Every rate is a hypothesis until measured.</a:t>
            </a:r>
          </a:p>
        </p:txBody>
      </p:sp>
      <p:sp>
        <p:nvSpPr>
          <p:cNvPr id="222" name="Shape 17"/>
          <p:cNvSpPr/>
          <p:nvPr/>
        </p:nvSpPr>
        <p:spPr>
          <a:xfrm>
            <a:off x="7543800" y="5138064"/>
            <a:ext cx="640081" cy="127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3" name="Text 18"/>
          <p:cNvSpPr txBox="1"/>
          <p:nvPr/>
        </p:nvSpPr>
        <p:spPr>
          <a:xfrm>
            <a:off x="7543800" y="5248655"/>
            <a:ext cx="3657600" cy="312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434B6B"/>
                </a:solidFill>
              </a:defRPr>
            </a:lvl1pPr>
          </a:lstStyle>
          <a:p>
            <a:pPr/>
            <a:r>
              <a:t>Screener.in draws ~8M visits a month (Similarweb): traffic, not customers.</a:t>
            </a:r>
          </a:p>
        </p:txBody>
      </p:sp>
      <p:sp>
        <p:nvSpPr>
          <p:cNvPr id="224" name="Text 19"/>
          <p:cNvSpPr txBox="1"/>
          <p:nvPr/>
        </p:nvSpPr>
        <p:spPr>
          <a:xfrm>
            <a:off x="640079" y="5943600"/>
            <a:ext cx="10908794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200">
                <a:solidFill>
                  <a:srgbClr val="C9D3F0"/>
                </a:solidFill>
              </a:defRPr>
            </a:lvl1pPr>
          </a:lstStyle>
          <a:p>
            <a:pPr/>
            <a:r>
              <a:t>Retail shows how far this can go. The ~2,100 registered professionals are where revenue starts.</a:t>
            </a:r>
          </a:p>
        </p:txBody>
      </p:sp>
      <p:sp>
        <p:nvSpPr>
          <p:cNvPr id="225" name="Text 20"/>
          <p:cNvSpPr txBox="1"/>
          <p:nvPr/>
        </p:nvSpPr>
        <p:spPr>
          <a:xfrm>
            <a:off x="640079" y="6419595"/>
            <a:ext cx="109087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C88B0"/>
                </a:solidFill>
              </a:defRPr>
            </a:lvl1pPr>
          </a:lstStyle>
          <a:p>
            <a:pPr/>
            <a:r>
              <a:t>NSE Market Pulse (Jul–Aug 2026) · SEBI data via Business Standard (Aug 2025) · SEBI PMS consultation (Jul 2026) · Similarweb, Jul 2026 (visits, not unique users)</a:t>
            </a:r>
          </a:p>
        </p:txBody>
      </p:sp>
      <p:sp>
        <p:nvSpPr>
          <p:cNvPr id="226" name="THE AUDIENCE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AUDIENCE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Professional seats first.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Then channels that compound.</a:t>
            </a:r>
          </a:p>
        </p:txBody>
      </p:sp>
      <p:sp>
        <p:nvSpPr>
          <p:cNvPr id="229" name="Shape 2"/>
          <p:cNvSpPr/>
          <p:nvPr/>
        </p:nvSpPr>
        <p:spPr>
          <a:xfrm>
            <a:off x="640080" y="2286000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0" name="Text 3"/>
          <p:cNvSpPr txBox="1"/>
          <p:nvPr/>
        </p:nvSpPr>
        <p:spPr>
          <a:xfrm>
            <a:off x="960119" y="2505455"/>
            <a:ext cx="822962" cy="25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C97F0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31" name="Text 4"/>
          <p:cNvSpPr txBox="1"/>
          <p:nvPr/>
        </p:nvSpPr>
        <p:spPr>
          <a:xfrm>
            <a:off x="1874520" y="2432304"/>
            <a:ext cx="320040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Professional seats</a:t>
            </a:r>
          </a:p>
        </p:txBody>
      </p:sp>
      <p:sp>
        <p:nvSpPr>
          <p:cNvPr id="232" name="Text 5"/>
          <p:cNvSpPr txBox="1"/>
          <p:nvPr/>
        </p:nvSpPr>
        <p:spPr>
          <a:xfrm>
            <a:off x="1874519" y="2761488"/>
            <a:ext cx="932688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SEBI-registered analysts, boutique PMS desks and wealth teams read filings by hand every day. A Desk seat is ₹2,999/month, a fraction of institutional research tools. Working hypothesis: ~40 seats from ~150 conversations, to be replaced by the measured rate.</a:t>
            </a:r>
          </a:p>
        </p:txBody>
      </p:sp>
      <p:sp>
        <p:nvSpPr>
          <p:cNvPr id="233" name="Shape 6"/>
          <p:cNvSpPr/>
          <p:nvPr/>
        </p:nvSpPr>
        <p:spPr>
          <a:xfrm>
            <a:off x="640080" y="3255264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4" name="Text 7"/>
          <p:cNvSpPr txBox="1"/>
          <p:nvPr/>
        </p:nvSpPr>
        <p:spPr>
          <a:xfrm>
            <a:off x="960119" y="3474720"/>
            <a:ext cx="822962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1874520" y="3401567"/>
            <a:ext cx="320040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Search, built from filings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1874519" y="3730752"/>
            <a:ext cx="9326882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6,137 company pages, each with cited analysis drawn from the company's own filings: long-tail search intent that a table of ratios doesn't answer.</a:t>
            </a:r>
          </a:p>
        </p:txBody>
      </p:sp>
      <p:sp>
        <p:nvSpPr>
          <p:cNvPr id="237" name="Shape 10"/>
          <p:cNvSpPr/>
          <p:nvPr/>
        </p:nvSpPr>
        <p:spPr>
          <a:xfrm>
            <a:off x="640080" y="4224528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8" name="Text 11"/>
          <p:cNvSpPr txBox="1"/>
          <p:nvPr/>
        </p:nvSpPr>
        <p:spPr>
          <a:xfrm>
            <a:off x="960119" y="4443984"/>
            <a:ext cx="822962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9" name="Text 12"/>
          <p:cNvSpPr txBox="1"/>
          <p:nvPr/>
        </p:nvSpPr>
        <p:spPr>
          <a:xfrm>
            <a:off x="1874520" y="4370832"/>
            <a:ext cx="320040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Creators, on referral terms</a:t>
            </a:r>
          </a:p>
        </p:txBody>
      </p:sp>
      <p:sp>
        <p:nvSpPr>
          <p:cNvPr id="240" name="Text 13"/>
          <p:cNvSpPr txBox="1"/>
          <p:nvPr/>
        </p:nvSpPr>
        <p:spPr>
          <a:xfrm>
            <a:off x="1874519" y="4700015"/>
            <a:ext cx="9326882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Fundamentals-focused education creators as referral partners rather than ad spend. No tip-sellers, and within SEBI's rules on finfluencers.</a:t>
            </a:r>
          </a:p>
        </p:txBody>
      </p:sp>
      <p:sp>
        <p:nvSpPr>
          <p:cNvPr id="241" name="Shape 14"/>
          <p:cNvSpPr/>
          <p:nvPr/>
        </p:nvSpPr>
        <p:spPr>
          <a:xfrm>
            <a:off x="640080" y="5193791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2" name="Text 15"/>
          <p:cNvSpPr txBox="1"/>
          <p:nvPr/>
        </p:nvSpPr>
        <p:spPr>
          <a:xfrm>
            <a:off x="960119" y="5413247"/>
            <a:ext cx="822962" cy="25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43" name="Text 16"/>
          <p:cNvSpPr txBox="1"/>
          <p:nvPr/>
        </p:nvSpPr>
        <p:spPr>
          <a:xfrm>
            <a:off x="1874520" y="5340096"/>
            <a:ext cx="320040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Retail tools and learning</a:t>
            </a:r>
          </a:p>
        </p:txBody>
      </p:sp>
      <p:sp>
        <p:nvSpPr>
          <p:cNvPr id="244" name="Text 17"/>
          <p:cNvSpPr txBox="1"/>
          <p:nvPr/>
        </p:nvSpPr>
        <p:spPr>
          <a:xfrm>
            <a:off x="1874519" y="5669279"/>
            <a:ext cx="9326882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Screening, backtests, paper trading, wealth tools and guides attract retail users. Measure which tasks repeat and convert before expanding spend.</a:t>
            </a:r>
          </a:p>
        </p:txBody>
      </p:sp>
      <p:sp>
        <p:nvSpPr>
          <p:cNvPr id="245" name="Text 18"/>
          <p:cNvSpPr txBox="1"/>
          <p:nvPr/>
        </p:nvSpPr>
        <p:spPr>
          <a:xfrm>
            <a:off x="640079" y="6263640"/>
            <a:ext cx="10908794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000">
                <a:solidFill>
                  <a:srgbClr val="C9D3F0"/>
                </a:solidFill>
              </a:defRPr>
            </a:lvl1pPr>
          </a:lstStyle>
          <a:p>
            <a:pPr/>
            <a:r>
              <a:t>Planned pricing:  Free  ·  Plus ₹199/mo  ·  Pro ₹599/mo or ₹4,999/yr  ·  Desk ₹2,999/seat/mo.     Screener Premium: ₹4,999/yr.</a:t>
            </a:r>
          </a:p>
        </p:txBody>
      </p:sp>
      <p:sp>
        <p:nvSpPr>
          <p:cNvPr id="246" name="HOW WE GET USERS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HOW WE GET USERS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focused raise. A broader platform.</a:t>
            </a:r>
          </a:p>
        </p:txBody>
      </p:sp>
      <p:sp>
        <p:nvSpPr>
          <p:cNvPr id="249" name="Shape 2"/>
          <p:cNvSpPr/>
          <p:nvPr/>
        </p:nvSpPr>
        <p:spPr>
          <a:xfrm>
            <a:off x="640080" y="196596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0" name="Shape 3"/>
          <p:cNvSpPr/>
          <p:nvPr/>
        </p:nvSpPr>
        <p:spPr>
          <a:xfrm>
            <a:off x="932688" y="220370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1" name="Text 4"/>
          <p:cNvSpPr txBox="1"/>
          <p:nvPr/>
        </p:nvSpPr>
        <p:spPr>
          <a:xfrm>
            <a:off x="932688" y="240267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H1</a:t>
            </a:r>
          </a:p>
        </p:txBody>
      </p:sp>
      <p:sp>
        <p:nvSpPr>
          <p:cNvPr id="252" name="Text 5"/>
          <p:cNvSpPr txBox="1"/>
          <p:nvPr/>
        </p:nvSpPr>
        <p:spPr>
          <a:xfrm>
            <a:off x="1810511" y="2148839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C97F0C"/>
                </a:solidFill>
              </a:defRPr>
            </a:lvl1pPr>
          </a:lstStyle>
          <a:p>
            <a:pPr/>
            <a:r>
              <a:t>THIS ROUND: 15–18 MONTHS</a:t>
            </a:r>
          </a:p>
        </p:txBody>
      </p:sp>
      <p:sp>
        <p:nvSpPr>
          <p:cNvPr id="253" name="Text 6"/>
          <p:cNvSpPr txBox="1"/>
          <p:nvPr/>
        </p:nvSpPr>
        <p:spPr>
          <a:xfrm>
            <a:off x="1810511" y="2404872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Validate paid demand</a:t>
            </a:r>
          </a:p>
        </p:txBody>
      </p:sp>
      <p:sp>
        <p:nvSpPr>
          <p:cNvPr id="254" name="Text 7"/>
          <p:cNvSpPr txBox="1"/>
          <p:nvPr/>
        </p:nvSpPr>
        <p:spPr>
          <a:xfrm>
            <a:off x="4649549" y="2315972"/>
            <a:ext cx="644652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Sell professional research pilots and improve reliability across the existing toolkit. Measure renewals, retail retention and paid conversion before scaling acquisition.</a:t>
            </a:r>
          </a:p>
        </p:txBody>
      </p:sp>
      <p:sp>
        <p:nvSpPr>
          <p:cNvPr id="255" name="Shape 8"/>
          <p:cNvSpPr/>
          <p:nvPr/>
        </p:nvSpPr>
        <p:spPr>
          <a:xfrm>
            <a:off x="640080" y="320040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6" name="Shape 9"/>
          <p:cNvSpPr/>
          <p:nvPr/>
        </p:nvSpPr>
        <p:spPr>
          <a:xfrm>
            <a:off x="932688" y="343814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7" name="Text 10"/>
          <p:cNvSpPr txBox="1"/>
          <p:nvPr/>
        </p:nvSpPr>
        <p:spPr>
          <a:xfrm>
            <a:off x="932688" y="363711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H2</a:t>
            </a:r>
          </a:p>
        </p:txBody>
      </p:sp>
      <p:sp>
        <p:nvSpPr>
          <p:cNvPr id="258" name="Text 11"/>
          <p:cNvSpPr txBox="1"/>
          <p:nvPr/>
        </p:nvSpPr>
        <p:spPr>
          <a:xfrm>
            <a:off x="1810511" y="3383279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F5A623"/>
                </a:solidFill>
              </a:defRPr>
            </a:lvl1pPr>
          </a:lstStyle>
          <a:p>
            <a:pPr/>
            <a:r>
              <a:t>AFTER RENEWALS</a:t>
            </a:r>
          </a:p>
        </p:txBody>
      </p:sp>
      <p:sp>
        <p:nvSpPr>
          <p:cNvPr id="259" name="Text 12"/>
          <p:cNvSpPr txBox="1"/>
          <p:nvPr/>
        </p:nvSpPr>
        <p:spPr>
          <a:xfrm>
            <a:off x="1810511" y="3639311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Deeper wealth and learning</a:t>
            </a:r>
          </a:p>
        </p:txBody>
      </p:sp>
      <p:sp>
        <p:nvSpPr>
          <p:cNvPr id="260" name="Text 13"/>
          <p:cNvSpPr txBox="1"/>
          <p:nvPr/>
        </p:nvSpPr>
        <p:spPr>
          <a:xfrm>
            <a:off x="4649549" y="3550411"/>
            <a:ext cx="644652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Extend planning scenarios, education and strategy workflows where customers show demand. Test broader retail subscriptions and partner distribution.</a:t>
            </a:r>
          </a:p>
        </p:txBody>
      </p:sp>
      <p:sp>
        <p:nvSpPr>
          <p:cNvPr id="261" name="Shape 14"/>
          <p:cNvSpPr/>
          <p:nvPr/>
        </p:nvSpPr>
        <p:spPr>
          <a:xfrm>
            <a:off x="640080" y="443484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Shape 15"/>
          <p:cNvSpPr/>
          <p:nvPr/>
        </p:nvSpPr>
        <p:spPr>
          <a:xfrm>
            <a:off x="932688" y="467258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3" name="Text 16"/>
          <p:cNvSpPr txBox="1"/>
          <p:nvPr/>
        </p:nvSpPr>
        <p:spPr>
          <a:xfrm>
            <a:off x="932688" y="487155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H3</a:t>
            </a:r>
          </a:p>
        </p:txBody>
      </p:sp>
      <p:sp>
        <p:nvSpPr>
          <p:cNvPr id="264" name="Text 17"/>
          <p:cNvSpPr txBox="1"/>
          <p:nvPr/>
        </p:nvSpPr>
        <p:spPr>
          <a:xfrm>
            <a:off x="1810511" y="4617720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F5A623"/>
                </a:solidFill>
              </a:defRPr>
            </a:lvl1pPr>
          </a:lstStyle>
          <a:p>
            <a:pPr/>
            <a:r>
              <a:t>DEMAND AND APPROVALS</a:t>
            </a:r>
          </a:p>
        </p:txBody>
      </p:sp>
      <p:sp>
        <p:nvSpPr>
          <p:cNvPr id="265" name="Text 18"/>
          <p:cNvSpPr txBox="1"/>
          <p:nvPr/>
        </p:nvSpPr>
        <p:spPr>
          <a:xfrm>
            <a:off x="1810511" y="4873752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Execution and new markets</a:t>
            </a:r>
          </a:p>
        </p:txBody>
      </p:sp>
      <p:sp>
        <p:nvSpPr>
          <p:cNvPr id="266" name="Text 19"/>
          <p:cNvSpPr txBox="1"/>
          <p:nvPr/>
        </p:nvSpPr>
        <p:spPr>
          <a:xfrm>
            <a:off x="4649549" y="4784852"/>
            <a:ext cx="644652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Explore broker-connected execution and algo trading, then licensed wealth services or brokerage. International expansion is a separate decision. Each requires its own business case and funding.</a:t>
            </a:r>
          </a:p>
        </p:txBody>
      </p:sp>
      <p:sp>
        <p:nvSpPr>
          <p:cNvPr id="267" name="Shape 20"/>
          <p:cNvSpPr/>
          <p:nvPr/>
        </p:nvSpPr>
        <p:spPr>
          <a:xfrm>
            <a:off x="640080" y="5715000"/>
            <a:ext cx="10908793" cy="749809"/>
          </a:xfrm>
          <a:prstGeom prst="roundRect">
            <a:avLst>
              <a:gd name="adj" fmla="val 17073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8" name="Text 21"/>
          <p:cNvSpPr txBox="1"/>
          <p:nvPr/>
        </p:nvSpPr>
        <p:spPr>
          <a:xfrm>
            <a:off x="1051560" y="5979413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The longer-term ambition is an integrated investing platform. Expansion follows customer demand, operating readiness and applicable approvals.</a:t>
            </a:r>
          </a:p>
        </p:txBody>
      </p:sp>
      <p:sp>
        <p:nvSpPr>
          <p:cNvPr id="269" name="WHERE THIS GOES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WHERE THIS GOES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Harsh Bhardwaj</a:t>
            </a:r>
          </a:p>
        </p:txBody>
      </p:sp>
      <p:sp>
        <p:nvSpPr>
          <p:cNvPr id="272" name="Shape 2"/>
          <p:cNvSpPr/>
          <p:nvPr/>
        </p:nvSpPr>
        <p:spPr>
          <a:xfrm>
            <a:off x="640080" y="2103120"/>
            <a:ext cx="5349241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3" name="Shape 3"/>
          <p:cNvSpPr/>
          <p:nvPr/>
        </p:nvSpPr>
        <p:spPr>
          <a:xfrm>
            <a:off x="1005839" y="2331720"/>
            <a:ext cx="1600201" cy="310897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4" name="Text 4"/>
          <p:cNvSpPr txBox="1"/>
          <p:nvPr/>
        </p:nvSpPr>
        <p:spPr>
          <a:xfrm>
            <a:off x="1005839" y="2418632"/>
            <a:ext cx="1600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4301E"/>
                </a:solidFill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275" name="Text 5"/>
          <p:cNvSpPr txBox="1"/>
          <p:nvPr/>
        </p:nvSpPr>
        <p:spPr>
          <a:xfrm>
            <a:off x="1005839" y="2834639"/>
            <a:ext cx="4617722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B.Tech, ECE, IIT Guwahati 2015-19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Senior Engineering Lead at New Relic, building agentic LLM systems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Seven years in backend and distributed systems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Previously Shiprocket, Weave and Jaguar Land Rover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Built Anvest's data layer and AI investing toolkit alone</a:t>
            </a:r>
          </a:p>
        </p:txBody>
      </p:sp>
      <p:sp>
        <p:nvSpPr>
          <p:cNvPr id="276" name="Shape 6"/>
          <p:cNvSpPr/>
          <p:nvPr/>
        </p:nvSpPr>
        <p:spPr>
          <a:xfrm>
            <a:off x="1005839" y="4936896"/>
            <a:ext cx="4617722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7" name="Text 7"/>
          <p:cNvSpPr txBox="1"/>
          <p:nvPr/>
        </p:nvSpPr>
        <p:spPr>
          <a:xfrm>
            <a:off x="1005839" y="5120640"/>
            <a:ext cx="46177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i="1" sz="1200">
                <a:solidFill>
                  <a:srgbClr val="DDDDDD"/>
                </a:solidFill>
              </a:defRPr>
            </a:lvl1pPr>
          </a:lstStyle>
          <a:p>
            <a:pPr/>
            <a:r>
              <a:t>Twelve months, no outside capital: what is already built is the evidence of execution.</a:t>
            </a:r>
          </a:p>
        </p:txBody>
      </p:sp>
      <p:sp>
        <p:nvSpPr>
          <p:cNvPr id="278" name="Shape 8"/>
          <p:cNvSpPr/>
          <p:nvPr/>
        </p:nvSpPr>
        <p:spPr>
          <a:xfrm>
            <a:off x="6524244" y="2076658"/>
            <a:ext cx="5102353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9" name="Shape 9"/>
          <p:cNvSpPr/>
          <p:nvPr/>
        </p:nvSpPr>
        <p:spPr>
          <a:xfrm>
            <a:off x="6812280" y="2331720"/>
            <a:ext cx="2240281" cy="310897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0" name="Text 10"/>
          <p:cNvSpPr txBox="1"/>
          <p:nvPr/>
        </p:nvSpPr>
        <p:spPr>
          <a:xfrm>
            <a:off x="6812280" y="2418632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B0E26"/>
                </a:solidFill>
              </a:defRPr>
            </a:lvl1pPr>
          </a:lstStyle>
          <a:p>
            <a:pPr/>
            <a:r>
              <a:t>HOW THE TEAM GROWS</a:t>
            </a:r>
          </a:p>
        </p:txBody>
      </p:sp>
      <p:sp>
        <p:nvSpPr>
          <p:cNvPr id="281" name="Text 11"/>
          <p:cNvSpPr txBox="1"/>
          <p:nvPr/>
        </p:nvSpPr>
        <p:spPr>
          <a:xfrm>
            <a:off x="6812280" y="2887480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Hires 1–2</a:t>
            </a:r>
          </a:p>
        </p:txBody>
      </p:sp>
      <p:sp>
        <p:nvSpPr>
          <p:cNvPr id="282" name="Text 12"/>
          <p:cNvSpPr txBox="1"/>
          <p:nvPr/>
        </p:nvSpPr>
        <p:spPr>
          <a:xfrm>
            <a:off x="8275319" y="2887480"/>
            <a:ext cx="3063241" cy="332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Customer-facing first, then a data engineer to own ingestion and data quality.</a:t>
            </a:r>
          </a:p>
        </p:txBody>
      </p:sp>
      <p:sp>
        <p:nvSpPr>
          <p:cNvPr id="283" name="Text 13"/>
          <p:cNvSpPr txBox="1"/>
          <p:nvPr/>
        </p:nvSpPr>
        <p:spPr>
          <a:xfrm>
            <a:off x="6812280" y="3355194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Hire 3</a:t>
            </a:r>
          </a:p>
        </p:txBody>
      </p:sp>
      <p:sp>
        <p:nvSpPr>
          <p:cNvPr id="284" name="Text 14"/>
          <p:cNvSpPr txBox="1"/>
          <p:nvPr/>
        </p:nvSpPr>
        <p:spPr>
          <a:xfrm>
            <a:off x="8275319" y="3415836"/>
            <a:ext cx="3063241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Sequenced by what pilot customers use and pay for.</a:t>
            </a:r>
          </a:p>
        </p:txBody>
      </p:sp>
      <p:sp>
        <p:nvSpPr>
          <p:cNvPr id="285" name="Text 15"/>
          <p:cNvSpPr txBox="1"/>
          <p:nvPr/>
        </p:nvSpPr>
        <p:spPr>
          <a:xfrm>
            <a:off x="6812280" y="3822908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286" name="Text 16"/>
          <p:cNvSpPr txBox="1"/>
          <p:nvPr/>
        </p:nvSpPr>
        <p:spPr>
          <a:xfrm>
            <a:off x="8275319" y="3822908"/>
            <a:ext cx="3063241" cy="332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Indian filing edge cases already solved: malformed XBRL dates, Q4-only annuals, scanned PDFs.</a:t>
            </a:r>
          </a:p>
        </p:txBody>
      </p:sp>
      <p:sp>
        <p:nvSpPr>
          <p:cNvPr id="287" name="Text 17"/>
          <p:cNvSpPr txBox="1"/>
          <p:nvPr/>
        </p:nvSpPr>
        <p:spPr>
          <a:xfrm>
            <a:off x="6812280" y="4290622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Continuity</a:t>
            </a:r>
          </a:p>
        </p:txBody>
      </p:sp>
      <p:sp>
        <p:nvSpPr>
          <p:cNvPr id="288" name="Text 18"/>
          <p:cNvSpPr txBox="1"/>
          <p:nvPr/>
        </p:nvSpPr>
        <p:spPr>
          <a:xfrm>
            <a:off x="8275319" y="4290622"/>
            <a:ext cx="3063241" cy="332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Architecture docs, runbooks and health-checked nightly jobs reduce key-person risk.</a:t>
            </a:r>
          </a:p>
        </p:txBody>
      </p:sp>
      <p:sp>
        <p:nvSpPr>
          <p:cNvPr id="289" name="Text 19"/>
          <p:cNvSpPr txBox="1"/>
          <p:nvPr/>
        </p:nvSpPr>
        <p:spPr>
          <a:xfrm>
            <a:off x="6812280" y="5207317"/>
            <a:ext cx="452628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i="1" sz="1200">
                <a:solidFill>
                  <a:srgbClr val="DDDDDD"/>
                </a:solidFill>
              </a:defRPr>
            </a:lvl1pPr>
          </a:lstStyle>
          <a:p>
            <a:pPr/>
            <a:r>
              <a:t>The round turns a solo build into a small team.</a:t>
            </a:r>
          </a:p>
        </p:txBody>
      </p:sp>
      <p:sp>
        <p:nvSpPr>
          <p:cNvPr id="290" name="THE FOUNDER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FOUNDER</a:t>
            </a:r>
          </a:p>
        </p:txBody>
      </p:sp>
      <p:sp>
        <p:nvSpPr>
          <p:cNvPr id="291" name="Shape 6"/>
          <p:cNvSpPr/>
          <p:nvPr/>
        </p:nvSpPr>
        <p:spPr>
          <a:xfrm>
            <a:off x="6766560" y="4936896"/>
            <a:ext cx="4617721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$3.5M cap. $400K base, Room to $700K.</a:t>
            </a:r>
          </a:p>
        </p:txBody>
      </p:sp>
      <p:sp>
        <p:nvSpPr>
          <p:cNvPr id="294" name="Text 2"/>
          <p:cNvSpPr txBox="1"/>
          <p:nvPr/>
        </p:nvSpPr>
        <p:spPr>
          <a:xfrm>
            <a:off x="666412" y="1742820"/>
            <a:ext cx="960120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9D3F0"/>
                </a:solidFill>
              </a:defRPr>
            </a:lvl1pPr>
          </a:lstStyle>
          <a:p>
            <a:pPr/>
            <a:r>
              <a:t>Convertible instrument (CCD/CCPS)  ·  same post-money cap for every investor in this round</a:t>
            </a:r>
          </a:p>
        </p:txBody>
      </p:sp>
      <p:sp>
        <p:nvSpPr>
          <p:cNvPr id="295" name="Shape 3"/>
          <p:cNvSpPr/>
          <p:nvPr/>
        </p:nvSpPr>
        <p:spPr>
          <a:xfrm>
            <a:off x="641603" y="2214986"/>
            <a:ext cx="3493009" cy="1828801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6" name="Text 4"/>
          <p:cNvSpPr txBox="1"/>
          <p:nvPr/>
        </p:nvSpPr>
        <p:spPr>
          <a:xfrm>
            <a:off x="925067" y="2568360"/>
            <a:ext cx="292608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4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$155K</a:t>
            </a:r>
          </a:p>
        </p:txBody>
      </p:sp>
      <p:sp>
        <p:nvSpPr>
          <p:cNvPr id="297" name="Text 5"/>
          <p:cNvSpPr txBox="1"/>
          <p:nvPr/>
        </p:nvSpPr>
        <p:spPr>
          <a:xfrm>
            <a:off x="925067" y="2930949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Three hires</a:t>
            </a:r>
          </a:p>
        </p:txBody>
      </p:sp>
      <p:sp>
        <p:nvSpPr>
          <p:cNvPr id="298" name="Text 6"/>
          <p:cNvSpPr txBox="1"/>
          <p:nvPr/>
        </p:nvSpPr>
        <p:spPr>
          <a:xfrm>
            <a:off x="934211" y="3284834"/>
            <a:ext cx="2926081" cy="461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Customer-facing and engineering hires first, sequenced by what pilots show customers retain and pay for. A fourth only if the round upsizes.</a:t>
            </a:r>
          </a:p>
        </p:txBody>
      </p:sp>
      <p:sp>
        <p:nvSpPr>
          <p:cNvPr id="299" name="Shape 7"/>
          <p:cNvSpPr/>
          <p:nvPr/>
        </p:nvSpPr>
        <p:spPr>
          <a:xfrm>
            <a:off x="4317491" y="2214986"/>
            <a:ext cx="3493009" cy="1828801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0" name="Text 8"/>
          <p:cNvSpPr txBox="1"/>
          <p:nvPr/>
        </p:nvSpPr>
        <p:spPr>
          <a:xfrm>
            <a:off x="4600955" y="2568360"/>
            <a:ext cx="292608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4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$70K</a:t>
            </a:r>
          </a:p>
        </p:txBody>
      </p:sp>
      <p:sp>
        <p:nvSpPr>
          <p:cNvPr id="301" name="Text 9"/>
          <p:cNvSpPr txBox="1"/>
          <p:nvPr/>
        </p:nvSpPr>
        <p:spPr>
          <a:xfrm>
            <a:off x="4600955" y="2930949"/>
            <a:ext cx="2926082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Compliance + infra</a:t>
            </a:r>
          </a:p>
        </p:txBody>
      </p:sp>
      <p:sp>
        <p:nvSpPr>
          <p:cNvPr id="302" name="Text 10"/>
          <p:cNvSpPr txBox="1"/>
          <p:nvPr/>
        </p:nvSpPr>
        <p:spPr>
          <a:xfrm>
            <a:off x="4610100" y="3284834"/>
            <a:ext cx="2926081" cy="461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SEBI research-analyst registration, scaled serving, inference, broker integrations, exchange data licence, data-provenance opinion.</a:t>
            </a:r>
          </a:p>
        </p:txBody>
      </p:sp>
      <p:sp>
        <p:nvSpPr>
          <p:cNvPr id="303" name="Shape 11"/>
          <p:cNvSpPr/>
          <p:nvPr/>
        </p:nvSpPr>
        <p:spPr>
          <a:xfrm>
            <a:off x="7993380" y="2214986"/>
            <a:ext cx="3493009" cy="1828801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4" name="Text 12"/>
          <p:cNvSpPr txBox="1"/>
          <p:nvPr/>
        </p:nvSpPr>
        <p:spPr>
          <a:xfrm>
            <a:off x="8276843" y="2568360"/>
            <a:ext cx="2926081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4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$175K</a:t>
            </a:r>
          </a:p>
        </p:txBody>
      </p:sp>
      <p:sp>
        <p:nvSpPr>
          <p:cNvPr id="305" name="Text 13"/>
          <p:cNvSpPr txBox="1"/>
          <p:nvPr/>
        </p:nvSpPr>
        <p:spPr>
          <a:xfrm>
            <a:off x="8276843" y="2930949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Growth, founder, reserve</a:t>
            </a:r>
          </a:p>
        </p:txBody>
      </p:sp>
      <p:sp>
        <p:nvSpPr>
          <p:cNvPr id="306" name="Text 14"/>
          <p:cNvSpPr txBox="1"/>
          <p:nvPr/>
        </p:nvSpPr>
        <p:spPr>
          <a:xfrm>
            <a:off x="8285988" y="3284834"/>
            <a:ext cx="2926081" cy="461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Founder-led sales, paid pilots, first CAC tests and founder salary, plus a 17.5% reserve that stretches 15 months toward 18.</a:t>
            </a:r>
          </a:p>
        </p:txBody>
      </p:sp>
      <p:sp>
        <p:nvSpPr>
          <p:cNvPr id="307" name="Text 15"/>
          <p:cNvSpPr txBox="1"/>
          <p:nvPr/>
        </p:nvSpPr>
        <p:spPr>
          <a:xfrm>
            <a:off x="673607" y="4209494"/>
            <a:ext cx="10908793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100">
                <a:solidFill>
                  <a:srgbClr val="7C88B0"/>
                </a:solidFill>
              </a:defRPr>
            </a:lvl1pPr>
          </a:lstStyle>
          <a:p>
            <a:pPr/>
            <a:r>
              <a:t>Room to $700K at the same $3.5M cap if there's demand — the extra capital funds hire #4 and the reserve, not a new line item.</a:t>
            </a:r>
          </a:p>
        </p:txBody>
      </p:sp>
      <p:sp>
        <p:nvSpPr>
          <p:cNvPr id="308" name="Shape 16"/>
          <p:cNvSpPr/>
          <p:nvPr/>
        </p:nvSpPr>
        <p:spPr>
          <a:xfrm>
            <a:off x="641603" y="4695334"/>
            <a:ext cx="10908794" cy="1146330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9" name="Text 17"/>
          <p:cNvSpPr txBox="1"/>
          <p:nvPr/>
        </p:nvSpPr>
        <p:spPr>
          <a:xfrm>
            <a:off x="935311" y="4814999"/>
            <a:ext cx="457200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1E2761"/>
                </a:solidFill>
              </a:defRPr>
            </a:lvl1pPr>
          </a:lstStyle>
          <a:p>
            <a:pPr/>
            <a:r>
              <a:t>Month-15 targets (bridge in appendix)</a:t>
            </a:r>
          </a:p>
        </p:txBody>
      </p:sp>
      <p:sp>
        <p:nvSpPr>
          <p:cNvPr id="310" name="Text 18"/>
          <p:cNvSpPr txBox="1"/>
          <p:nvPr/>
        </p:nvSpPr>
        <p:spPr>
          <a:xfrm>
            <a:off x="961643" y="5152534"/>
            <a:ext cx="1920241" cy="231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2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311" name="Text 19"/>
          <p:cNvSpPr txBox="1"/>
          <p:nvPr/>
        </p:nvSpPr>
        <p:spPr>
          <a:xfrm>
            <a:off x="961643" y="5426854"/>
            <a:ext cx="192024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paying teams (~150 seats)</a:t>
            </a:r>
          </a:p>
        </p:txBody>
      </p:sp>
      <p:sp>
        <p:nvSpPr>
          <p:cNvPr id="312" name="Text 20"/>
          <p:cNvSpPr txBox="1"/>
          <p:nvPr/>
        </p:nvSpPr>
        <p:spPr>
          <a:xfrm>
            <a:off x="3064763" y="5152534"/>
            <a:ext cx="1920241" cy="231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2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450</a:t>
            </a:r>
          </a:p>
        </p:txBody>
      </p:sp>
      <p:sp>
        <p:nvSpPr>
          <p:cNvPr id="313" name="Text 21"/>
          <p:cNvSpPr txBox="1"/>
          <p:nvPr/>
        </p:nvSpPr>
        <p:spPr>
          <a:xfrm>
            <a:off x="3064763" y="5426854"/>
            <a:ext cx="192024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retail subscribers</a:t>
            </a:r>
          </a:p>
        </p:txBody>
      </p:sp>
      <p:sp>
        <p:nvSpPr>
          <p:cNvPr id="314" name="Text 22"/>
          <p:cNvSpPr txBox="1"/>
          <p:nvPr/>
        </p:nvSpPr>
        <p:spPr>
          <a:xfrm>
            <a:off x="5167883" y="5152534"/>
            <a:ext cx="1920241" cy="23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2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₹4.3L</a:t>
            </a:r>
          </a:p>
        </p:txBody>
      </p:sp>
      <p:sp>
        <p:nvSpPr>
          <p:cNvPr id="315" name="Text 23"/>
          <p:cNvSpPr txBox="1"/>
          <p:nvPr/>
        </p:nvSpPr>
        <p:spPr>
          <a:xfrm>
            <a:off x="5167883" y="5426854"/>
            <a:ext cx="192024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net MRR (~$4.5K)</a:t>
            </a:r>
          </a:p>
        </p:txBody>
      </p:sp>
      <p:sp>
        <p:nvSpPr>
          <p:cNvPr id="316" name="Text 24"/>
          <p:cNvSpPr txBox="1"/>
          <p:nvPr/>
        </p:nvSpPr>
        <p:spPr>
          <a:xfrm>
            <a:off x="7261479" y="5152534"/>
            <a:ext cx="1920241" cy="231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2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25%+</a:t>
            </a:r>
          </a:p>
        </p:txBody>
      </p:sp>
      <p:sp>
        <p:nvSpPr>
          <p:cNvPr id="317" name="Text 25"/>
          <p:cNvSpPr txBox="1"/>
          <p:nvPr/>
        </p:nvSpPr>
        <p:spPr>
          <a:xfrm>
            <a:off x="7261479" y="5426854"/>
            <a:ext cx="192024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DAU/MAU</a:t>
            </a:r>
          </a:p>
        </p:txBody>
      </p:sp>
      <p:sp>
        <p:nvSpPr>
          <p:cNvPr id="318" name="Text 26"/>
          <p:cNvSpPr txBox="1"/>
          <p:nvPr/>
        </p:nvSpPr>
        <p:spPr>
          <a:xfrm>
            <a:off x="9364598" y="5152534"/>
            <a:ext cx="1920241" cy="231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2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0.85+</a:t>
            </a:r>
          </a:p>
        </p:txBody>
      </p:sp>
      <p:sp>
        <p:nvSpPr>
          <p:cNvPr id="319" name="Text 27"/>
          <p:cNvSpPr txBox="1"/>
          <p:nvPr/>
        </p:nvSpPr>
        <p:spPr>
          <a:xfrm>
            <a:off x="9364598" y="5426854"/>
            <a:ext cx="192024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Recall@5, published</a:t>
            </a:r>
          </a:p>
        </p:txBody>
      </p:sp>
      <p:sp>
        <p:nvSpPr>
          <p:cNvPr id="320" name="Text 28"/>
          <p:cNvSpPr txBox="1"/>
          <p:nvPr/>
        </p:nvSpPr>
        <p:spPr>
          <a:xfrm>
            <a:off x="643127" y="6078970"/>
            <a:ext cx="10908793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i="1" sz="1300">
                <a:solidFill>
                  <a:srgbClr val="F5A623"/>
                </a:solidFill>
              </a:defRPr>
            </a:lvl1pPr>
          </a:lstStyle>
          <a:p>
            <a:pPr/>
            <a:r>
              <a:t>Targets are set so the next round can be judged on evidence. We make no forecast of its size or price.</a:t>
            </a:r>
          </a:p>
        </p:txBody>
      </p:sp>
      <p:sp>
        <p:nvSpPr>
          <p:cNvPr id="321" name="THE ASK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 txBox="1"/>
          <p:nvPr/>
        </p:nvSpPr>
        <p:spPr>
          <a:xfrm>
            <a:off x="640080" y="1894656"/>
            <a:ext cx="10881360" cy="1239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5000"/>
              </a:lnSpc>
              <a:defRPr b="1" spc="-12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AI experience for research,</a:t>
            </a:r>
          </a:p>
          <a:p>
            <a:pPr>
              <a:lnSpc>
                <a:spcPts val="5000"/>
              </a:lnSpc>
              <a:defRPr b="1" spc="-12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strategy testing and planning.</a:t>
            </a:r>
          </a:p>
        </p:txBody>
      </p:sp>
      <p:sp>
        <p:nvSpPr>
          <p:cNvPr id="324" name="Text 1"/>
          <p:cNvSpPr txBox="1"/>
          <p:nvPr/>
        </p:nvSpPr>
        <p:spPr>
          <a:xfrm>
            <a:off x="640080" y="3357696"/>
            <a:ext cx="10881360" cy="1239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5000"/>
              </a:lnSpc>
              <a:defRPr b="1" spc="-120" sz="36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Professional research is</a:t>
            </a:r>
          </a:p>
          <a:p>
            <a:pPr>
              <a:lnSpc>
                <a:spcPts val="5000"/>
              </a:lnSpc>
              <a:defRPr b="1" spc="-120" sz="36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first revenue test.</a:t>
            </a:r>
          </a:p>
        </p:txBody>
      </p:sp>
      <p:sp>
        <p:nvSpPr>
          <p:cNvPr id="325" name="Shape 2"/>
          <p:cNvSpPr/>
          <p:nvPr/>
        </p:nvSpPr>
        <p:spPr>
          <a:xfrm>
            <a:off x="640080" y="4891176"/>
            <a:ext cx="1005840" cy="12701"/>
          </a:xfrm>
          <a:prstGeom prst="rect">
            <a:avLst/>
          </a:prstGeom>
          <a:solidFill>
            <a:srgbClr val="C9D3F0">
              <a:alpha val="60000"/>
            </a:srgbClr>
          </a:solidFill>
          <a:ln w="12700">
            <a:solidFill>
              <a:srgbClr val="C9D3F0">
                <a:alpha val="60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6" name="Text 3"/>
          <p:cNvSpPr txBox="1"/>
          <p:nvPr/>
        </p:nvSpPr>
        <p:spPr>
          <a:xfrm>
            <a:off x="640080" y="5120640"/>
            <a:ext cx="10881360" cy="233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900">
                <a:solidFill>
                  <a:srgbClr val="C9D3F0"/>
                </a:solidFill>
              </a:defRPr>
            </a:lvl1pPr>
          </a:lstStyle>
          <a:p>
            <a:pPr/>
            <a:r>
              <a:t>The platform is already broader. This round tests which workflows customers repeatedly use and pay for.</a:t>
            </a:r>
          </a:p>
        </p:txBody>
      </p:sp>
      <p:sp>
        <p:nvSpPr>
          <p:cNvPr id="327" name="Text 4"/>
          <p:cNvSpPr txBox="1"/>
          <p:nvPr/>
        </p:nvSpPr>
        <p:spPr>
          <a:xfrm>
            <a:off x="640080" y="6309359"/>
            <a:ext cx="10881360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Harsh Bhardwaj · harsh@anvest.in · anvest.in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we de-risk it</a:t>
            </a:r>
          </a:p>
        </p:txBody>
      </p:sp>
      <p:sp>
        <p:nvSpPr>
          <p:cNvPr id="330" name="Shape 2"/>
          <p:cNvSpPr/>
          <p:nvPr/>
        </p:nvSpPr>
        <p:spPr>
          <a:xfrm>
            <a:off x="640080" y="1874520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11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1" name="Text 3"/>
          <p:cNvSpPr txBox="1"/>
          <p:nvPr/>
        </p:nvSpPr>
        <p:spPr>
          <a:xfrm>
            <a:off x="952500" y="2140521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Data accuracy</a:t>
            </a:r>
          </a:p>
        </p:txBody>
      </p:sp>
      <p:sp>
        <p:nvSpPr>
          <p:cNvPr id="332" name="Text 4"/>
          <p:cNvSpPr txBox="1"/>
          <p:nvPr/>
        </p:nvSpPr>
        <p:spPr>
          <a:xfrm>
            <a:off x="4061459" y="2122233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Every answer is cited to its filing and numerically verified before it is returned. Known coverage gaps are flagged in-product rather than hidden, and corrections are tracked.</a:t>
            </a:r>
          </a:p>
        </p:txBody>
      </p:sp>
      <p:sp>
        <p:nvSpPr>
          <p:cNvPr id="333" name="Shape 5"/>
          <p:cNvSpPr/>
          <p:nvPr/>
        </p:nvSpPr>
        <p:spPr>
          <a:xfrm>
            <a:off x="640080" y="2770632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4" name="Text 6"/>
          <p:cNvSpPr txBox="1"/>
          <p:nvPr/>
        </p:nvSpPr>
        <p:spPr>
          <a:xfrm>
            <a:off x="952500" y="3064299"/>
            <a:ext cx="2834640" cy="387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Competition: Screener AI, StockGro, brokers</a:t>
            </a:r>
          </a:p>
        </p:txBody>
      </p:sp>
      <p:sp>
        <p:nvSpPr>
          <p:cNvPr id="335" name="Text 7"/>
          <p:cNvSpPr txBox="1"/>
          <p:nvPr/>
        </p:nvSpPr>
        <p:spPr>
          <a:xfrm>
            <a:off x="4061459" y="2976912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Screener already ships AI over filings and meters it. Rather than assert an advantage, we are running a head-to-head on accuracy, coverage, refusals and cost per successful task, and will share the results.</a:t>
            </a:r>
          </a:p>
        </p:txBody>
      </p:sp>
      <p:sp>
        <p:nvSpPr>
          <p:cNvPr id="336" name="Shape 8"/>
          <p:cNvSpPr/>
          <p:nvPr/>
        </p:nvSpPr>
        <p:spPr>
          <a:xfrm>
            <a:off x="640080" y="3666744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11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7" name="Text 9"/>
          <p:cNvSpPr txBox="1"/>
          <p:nvPr/>
        </p:nvSpPr>
        <p:spPr>
          <a:xfrm>
            <a:off x="952500" y="3960411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Regulation</a:t>
            </a:r>
          </a:p>
        </p:txBody>
      </p:sp>
      <p:sp>
        <p:nvSpPr>
          <p:cNvPr id="338" name="Text 10"/>
          <p:cNvSpPr txBox="1"/>
          <p:nvPr/>
        </p:nvSpPr>
        <p:spPr>
          <a:xfrm>
            <a:off x="4061459" y="3873024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The product is designed to stay informational (no buy/sell/hold, no target prices) and discloses its sources. Research-analyst registration is funded in this round, and counsel will confirm the product's position.</a:t>
            </a:r>
          </a:p>
        </p:txBody>
      </p:sp>
      <p:sp>
        <p:nvSpPr>
          <p:cNvPr id="339" name="Shape 11"/>
          <p:cNvSpPr/>
          <p:nvPr/>
        </p:nvSpPr>
        <p:spPr>
          <a:xfrm>
            <a:off x="640080" y="4562855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0" name="Text 12"/>
          <p:cNvSpPr txBox="1"/>
          <p:nvPr/>
        </p:nvSpPr>
        <p:spPr>
          <a:xfrm>
            <a:off x="952500" y="4856523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Market data</a:t>
            </a:r>
          </a:p>
        </p:txBody>
      </p:sp>
      <p:sp>
        <p:nvSpPr>
          <p:cNvPr id="341" name="Text 13"/>
          <p:cNvSpPr txBox="1"/>
          <p:nvPr/>
        </p:nvSpPr>
        <p:spPr>
          <a:xfrm>
            <a:off x="4061459" y="4769137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End-of-day exchange data today. Live prices would follow through the user's own broker connection and, for public pages, a licensed delayed feed; licence terms and cost to be confirmed.</a:t>
            </a:r>
          </a:p>
        </p:txBody>
      </p:sp>
      <p:sp>
        <p:nvSpPr>
          <p:cNvPr id="342" name="Shape 14"/>
          <p:cNvSpPr/>
          <p:nvPr/>
        </p:nvSpPr>
        <p:spPr>
          <a:xfrm>
            <a:off x="640080" y="5458967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11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3" name="Text 15"/>
          <p:cNvSpPr txBox="1"/>
          <p:nvPr/>
        </p:nvSpPr>
        <p:spPr>
          <a:xfrm>
            <a:off x="952500" y="5752636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Single founder</a:t>
            </a:r>
          </a:p>
        </p:txBody>
      </p:sp>
      <p:sp>
        <p:nvSpPr>
          <p:cNvPr id="344" name="Text 16"/>
          <p:cNvSpPr txBox="1"/>
          <p:nvPr/>
        </p:nvSpPr>
        <p:spPr>
          <a:xfrm>
            <a:off x="4061459" y="5665249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One engineer shipped the whole stack in twelve months. Hires 1–2 add customer-facing and data-engineering capacity; documentation and health-checked jobs reduce key-person risk.</a:t>
            </a:r>
          </a:p>
        </p:txBody>
      </p:sp>
      <p:sp>
        <p:nvSpPr>
          <p:cNvPr id="345" name="APPENDIX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Month-15 revenue bridge</a:t>
            </a:r>
          </a:p>
        </p:txBody>
      </p:sp>
      <p:sp>
        <p:nvSpPr>
          <p:cNvPr id="348" name="Shape 2"/>
          <p:cNvSpPr/>
          <p:nvPr/>
        </p:nvSpPr>
        <p:spPr>
          <a:xfrm>
            <a:off x="640080" y="2103120"/>
            <a:ext cx="10908793" cy="960121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9" name="Text 3"/>
          <p:cNvSpPr txBox="1"/>
          <p:nvPr/>
        </p:nvSpPr>
        <p:spPr>
          <a:xfrm>
            <a:off x="960119" y="2441003"/>
            <a:ext cx="237744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Retail</a:t>
            </a:r>
          </a:p>
        </p:txBody>
      </p:sp>
      <p:sp>
        <p:nvSpPr>
          <p:cNvPr id="350" name="Text 4"/>
          <p:cNvSpPr txBox="1"/>
          <p:nvPr/>
        </p:nvSpPr>
        <p:spPr>
          <a:xfrm>
            <a:off x="3474720" y="2457513"/>
            <a:ext cx="5669280" cy="18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15,000 monthly users × 3% paid = 450 subscribers × ~₹200 net per month</a:t>
            </a:r>
          </a:p>
        </p:txBody>
      </p:sp>
      <p:sp>
        <p:nvSpPr>
          <p:cNvPr id="351" name="Text 5"/>
          <p:cNvSpPr txBox="1"/>
          <p:nvPr/>
        </p:nvSpPr>
        <p:spPr>
          <a:xfrm>
            <a:off x="9235440" y="2435608"/>
            <a:ext cx="2011680" cy="2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700"/>
              </a:lnSpc>
              <a:defRPr b="1" sz="2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₹0.9L</a:t>
            </a:r>
          </a:p>
        </p:txBody>
      </p:sp>
      <p:sp>
        <p:nvSpPr>
          <p:cNvPr id="352" name="Shape 6"/>
          <p:cNvSpPr/>
          <p:nvPr/>
        </p:nvSpPr>
        <p:spPr>
          <a:xfrm>
            <a:off x="640080" y="3200400"/>
            <a:ext cx="10908793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3" name="Text 7"/>
          <p:cNvSpPr txBox="1"/>
          <p:nvPr/>
        </p:nvSpPr>
        <p:spPr>
          <a:xfrm>
            <a:off x="960119" y="3538283"/>
            <a:ext cx="237744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Professional</a:t>
            </a:r>
          </a:p>
        </p:txBody>
      </p:sp>
      <p:sp>
        <p:nvSpPr>
          <p:cNvPr id="354" name="Text 8"/>
          <p:cNvSpPr txBox="1"/>
          <p:nvPr/>
        </p:nvSpPr>
        <p:spPr>
          <a:xfrm>
            <a:off x="3474720" y="3554793"/>
            <a:ext cx="5669280" cy="18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30 teams × 5-seat minimum = 150 Desk seats × ~₹2,245 net per seat per month</a:t>
            </a:r>
          </a:p>
        </p:txBody>
      </p:sp>
      <p:sp>
        <p:nvSpPr>
          <p:cNvPr id="355" name="Text 9"/>
          <p:cNvSpPr txBox="1"/>
          <p:nvPr/>
        </p:nvSpPr>
        <p:spPr>
          <a:xfrm>
            <a:off x="9235440" y="3532888"/>
            <a:ext cx="2011680" cy="2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700"/>
              </a:lnSpc>
              <a:defRPr b="1" sz="2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₹3.4L</a:t>
            </a:r>
          </a:p>
        </p:txBody>
      </p:sp>
      <p:sp>
        <p:nvSpPr>
          <p:cNvPr id="356" name="Shape 10"/>
          <p:cNvSpPr/>
          <p:nvPr/>
        </p:nvSpPr>
        <p:spPr>
          <a:xfrm>
            <a:off x="640080" y="4297679"/>
            <a:ext cx="10908793" cy="960121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7" name="Text 11"/>
          <p:cNvSpPr txBox="1"/>
          <p:nvPr/>
        </p:nvSpPr>
        <p:spPr>
          <a:xfrm>
            <a:off x="960119" y="4635563"/>
            <a:ext cx="237744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Total net MRR</a:t>
            </a:r>
          </a:p>
        </p:txBody>
      </p:sp>
      <p:sp>
        <p:nvSpPr>
          <p:cNvPr id="358" name="Text 12"/>
          <p:cNvSpPr txBox="1"/>
          <p:nvPr/>
        </p:nvSpPr>
        <p:spPr>
          <a:xfrm>
            <a:off x="3474720" y="4652073"/>
            <a:ext cx="5669280" cy="18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After 18% GST and discounts, before churn and payment fees · ₹95.69/USD</a:t>
            </a:r>
          </a:p>
        </p:txBody>
      </p:sp>
      <p:sp>
        <p:nvSpPr>
          <p:cNvPr id="359" name="Text 13"/>
          <p:cNvSpPr txBox="1"/>
          <p:nvPr/>
        </p:nvSpPr>
        <p:spPr>
          <a:xfrm>
            <a:off x="9235440" y="4630168"/>
            <a:ext cx="2011680" cy="2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700"/>
              </a:lnSpc>
              <a:defRPr b="1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₹4.3L ≈ $4.5K</a:t>
            </a:r>
          </a:p>
        </p:txBody>
      </p:sp>
      <p:sp>
        <p:nvSpPr>
          <p:cNvPr id="360" name="Text 14"/>
          <p:cNvSpPr txBox="1"/>
          <p:nvPr/>
        </p:nvSpPr>
        <p:spPr>
          <a:xfrm>
            <a:off x="641603" y="5727448"/>
            <a:ext cx="1090879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Every input is a hypothesis: 3% free-to-paid conversion and a 5-seat team minimum come from our pricing model, not from measured conversion. They will be replaced with measured rates from the first pilots.</a:t>
            </a:r>
          </a:p>
        </p:txBody>
      </p:sp>
      <p:sp>
        <p:nvSpPr>
          <p:cNvPr id="361" name="APPENDIX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Expansion follows explicit gates</a:t>
            </a:r>
          </a:p>
        </p:txBody>
      </p:sp>
      <p:sp>
        <p:nvSpPr>
          <p:cNvPr id="364" name="Shape 2"/>
          <p:cNvSpPr/>
          <p:nvPr/>
        </p:nvSpPr>
        <p:spPr>
          <a:xfrm>
            <a:off x="640080" y="196596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5" name="Shape 3"/>
          <p:cNvSpPr/>
          <p:nvPr/>
        </p:nvSpPr>
        <p:spPr>
          <a:xfrm>
            <a:off x="932688" y="220370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6" name="Text 4"/>
          <p:cNvSpPr txBox="1"/>
          <p:nvPr/>
        </p:nvSpPr>
        <p:spPr>
          <a:xfrm>
            <a:off x="932688" y="240267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7" name="Text 5"/>
          <p:cNvSpPr txBox="1"/>
          <p:nvPr/>
        </p:nvSpPr>
        <p:spPr>
          <a:xfrm>
            <a:off x="1810511" y="2148839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C97F0C"/>
                </a:solidFill>
              </a:defRPr>
            </a:lvl1pPr>
          </a:lstStyle>
          <a:p>
            <a:pPr/>
            <a:r>
              <a:t>ADJACENT TO TODAY’S TOOLS</a:t>
            </a:r>
          </a:p>
        </p:txBody>
      </p:sp>
      <p:sp>
        <p:nvSpPr>
          <p:cNvPr id="368" name="Text 6"/>
          <p:cNvSpPr txBox="1"/>
          <p:nvPr/>
        </p:nvSpPr>
        <p:spPr>
          <a:xfrm>
            <a:off x="1810511" y="2404872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Education and wealth</a:t>
            </a:r>
          </a:p>
        </p:txBody>
      </p:sp>
      <p:sp>
        <p:nvSpPr>
          <p:cNvPr id="369" name="Text 7"/>
          <p:cNvSpPr txBox="1"/>
          <p:nvPr/>
        </p:nvSpPr>
        <p:spPr>
          <a:xfrm>
            <a:off x="4766817" y="2359977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Deeper education and planning build on existing tools. Gate: repeated use, paid demand and clear scope. Any personalised advisory service requires a separately reviewed model.</a:t>
            </a:r>
          </a:p>
        </p:txBody>
      </p:sp>
      <p:sp>
        <p:nvSpPr>
          <p:cNvPr id="370" name="Shape 8"/>
          <p:cNvSpPr/>
          <p:nvPr/>
        </p:nvSpPr>
        <p:spPr>
          <a:xfrm>
            <a:off x="640080" y="320040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1" name="Shape 9"/>
          <p:cNvSpPr/>
          <p:nvPr/>
        </p:nvSpPr>
        <p:spPr>
          <a:xfrm>
            <a:off x="932688" y="343814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2" name="Text 10"/>
          <p:cNvSpPr txBox="1"/>
          <p:nvPr/>
        </p:nvSpPr>
        <p:spPr>
          <a:xfrm>
            <a:off x="932688" y="363711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73" name="Text 11"/>
          <p:cNvSpPr txBox="1"/>
          <p:nvPr/>
        </p:nvSpPr>
        <p:spPr>
          <a:xfrm>
            <a:off x="1810511" y="3383279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F5A623"/>
                </a:solidFill>
              </a:defRPr>
            </a:lvl1pPr>
          </a:lstStyle>
          <a:p>
            <a:pPr/>
            <a:r>
              <a:t>SEPARATE FUNDING</a:t>
            </a:r>
          </a:p>
        </p:txBody>
      </p:sp>
      <p:sp>
        <p:nvSpPr>
          <p:cNvPr id="374" name="Text 12"/>
          <p:cNvSpPr txBox="1"/>
          <p:nvPr/>
        </p:nvSpPr>
        <p:spPr>
          <a:xfrm>
            <a:off x="1810511" y="3639311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Algo trading and brokerage</a:t>
            </a:r>
          </a:p>
        </p:txBody>
      </p:sp>
      <p:sp>
        <p:nvSpPr>
          <p:cNvPr id="375" name="Text 13"/>
          <p:cNvSpPr txBox="1"/>
          <p:nvPr/>
        </p:nvSpPr>
        <p:spPr>
          <a:xfrm>
            <a:off x="4766817" y="3594417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A possible progression from strategy simulation to approved broker execution, then brokerage. Gate: customer demand, risk controls, partner terms, required registrations and a sustainable business case.</a:t>
            </a:r>
          </a:p>
        </p:txBody>
      </p:sp>
      <p:sp>
        <p:nvSpPr>
          <p:cNvPr id="376" name="Shape 14"/>
          <p:cNvSpPr/>
          <p:nvPr/>
        </p:nvSpPr>
        <p:spPr>
          <a:xfrm>
            <a:off x="640080" y="443484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7" name="Shape 15"/>
          <p:cNvSpPr/>
          <p:nvPr/>
        </p:nvSpPr>
        <p:spPr>
          <a:xfrm>
            <a:off x="932688" y="467258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8" name="Text 16"/>
          <p:cNvSpPr txBox="1"/>
          <p:nvPr/>
        </p:nvSpPr>
        <p:spPr>
          <a:xfrm>
            <a:off x="932688" y="487155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79" name="Text 17"/>
          <p:cNvSpPr txBox="1"/>
          <p:nvPr/>
        </p:nvSpPr>
        <p:spPr>
          <a:xfrm>
            <a:off x="1810511" y="4617720"/>
            <a:ext cx="2194562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800">
                <a:solidFill>
                  <a:srgbClr val="F5A623"/>
                </a:solidFill>
              </a:defRPr>
            </a:lvl1pPr>
          </a:lstStyle>
          <a:p>
            <a:pPr/>
            <a:r>
              <a:t>DISTANT EXPLORATION</a:t>
            </a:r>
          </a:p>
        </p:txBody>
      </p:sp>
      <p:sp>
        <p:nvSpPr>
          <p:cNvPr id="380" name="Text 18"/>
          <p:cNvSpPr txBox="1"/>
          <p:nvPr/>
        </p:nvSpPr>
        <p:spPr>
          <a:xfrm>
            <a:off x="1810511" y="4873752"/>
            <a:ext cx="2743201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Advanced quant and HFT</a:t>
            </a:r>
          </a:p>
        </p:txBody>
      </p:sp>
      <p:sp>
        <p:nvSpPr>
          <p:cNvPr id="381" name="Text 19"/>
          <p:cNvSpPr txBox="1"/>
          <p:nvPr/>
        </p:nvSpPr>
        <p:spPr>
          <a:xfrm>
            <a:off x="4766817" y="4828857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HFT is a founder ambition, with no committed launch plan. It would need separate specialist talent, market access, infrastructure, capital and risk governance.</a:t>
            </a:r>
          </a:p>
        </p:txBody>
      </p:sp>
      <p:sp>
        <p:nvSpPr>
          <p:cNvPr id="382" name="Text 21"/>
          <p:cNvSpPr txBox="1"/>
          <p:nvPr/>
        </p:nvSpPr>
        <p:spPr>
          <a:xfrm>
            <a:off x="612683" y="6010866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Future businesses are excluded from this round’s revenue targets and budget. The main milestones remain paid research use, retention and renewals.</a:t>
            </a:r>
          </a:p>
        </p:txBody>
      </p:sp>
      <p:sp>
        <p:nvSpPr>
          <p:cNvPr id="383" name="APPENDIX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