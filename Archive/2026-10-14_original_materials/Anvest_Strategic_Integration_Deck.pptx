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8" name="Shape 38"/>
          <p:cNvSpPr/>
          <p:nvPr>
            <p:ph type="sldImg"/>
          </p:nvPr>
        </p:nvSpPr>
        <p:spPr>
          <a:xfrm>
            <a:off x="1143000" y="685800"/>
            <a:ext cx="4572000" cy="3429000"/>
          </a:xfrm>
          <a:prstGeom prst="rect">
            <a:avLst/>
          </a:prstGeom>
        </p:spPr>
        <p:txBody>
          <a:bodyPr/>
          <a:lstStyle/>
          <a:p>
            <a:pPr/>
          </a:p>
        </p:txBody>
      </p:sp>
      <p:sp>
        <p:nvSpPr>
          <p:cNvPr id="39" name="Shape 3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ERO">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IGH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rial"/>
          <a:ea typeface="Arial"/>
          <a:cs typeface="Arial"/>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Text 0"/>
          <p:cNvSpPr txBox="1"/>
          <p:nvPr/>
        </p:nvSpPr>
        <p:spPr>
          <a:xfrm>
            <a:off x="640080" y="1650646"/>
            <a:ext cx="8229601" cy="1270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9000">
                <a:solidFill>
                  <a:srgbClr val="FFFFFF"/>
                </a:solidFill>
                <a:latin typeface="Arial"/>
                <a:ea typeface="Arial"/>
                <a:cs typeface="Arial"/>
                <a:sym typeface="Arial"/>
              </a:defRPr>
            </a:lvl1pPr>
          </a:lstStyle>
          <a:p>
            <a:pPr/>
            <a:r>
              <a:t>Anvest</a:t>
            </a:r>
          </a:p>
        </p:txBody>
      </p:sp>
      <p:sp>
        <p:nvSpPr>
          <p:cNvPr id="42" name="Text 1"/>
          <p:cNvSpPr txBox="1"/>
          <p:nvPr/>
        </p:nvSpPr>
        <p:spPr>
          <a:xfrm>
            <a:off x="640080" y="2880360"/>
            <a:ext cx="8686801" cy="801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3200"/>
              </a:lnSpc>
              <a:defRPr sz="2200">
                <a:solidFill>
                  <a:srgbClr val="C9D3F0"/>
                </a:solidFill>
              </a:defRPr>
            </a:pPr>
            <a:r>
              <a:t>The AI research layer for your existing users —</a:t>
            </a:r>
          </a:p>
          <a:p>
            <a:pPr>
              <a:lnSpc>
                <a:spcPts val="3200"/>
              </a:lnSpc>
              <a:defRPr sz="2200">
                <a:solidFill>
                  <a:srgbClr val="C9D3F0"/>
                </a:solidFill>
              </a:defRPr>
            </a:pPr>
            <a:r>
              <a:t>not a new place for them to go.</a:t>
            </a:r>
          </a:p>
        </p:txBody>
      </p:sp>
      <p:sp>
        <p:nvSpPr>
          <p:cNvPr id="43" name="Shape 2"/>
          <p:cNvSpPr/>
          <p:nvPr/>
        </p:nvSpPr>
        <p:spPr>
          <a:xfrm>
            <a:off x="640080" y="3976776"/>
            <a:ext cx="1005840" cy="12701"/>
          </a:xfrm>
          <a:prstGeom prst="rect">
            <a:avLst/>
          </a:prstGeom>
          <a:solidFill>
            <a:srgbClr val="F5A623"/>
          </a:solidFill>
          <a:ln w="12700">
            <a:solidFill>
              <a:srgbClr val="F5A623"/>
            </a:solidFill>
          </a:ln>
        </p:spPr>
        <p:txBody>
          <a:bodyPr lIns="0" tIns="0" rIns="0" bIns="0"/>
          <a:lstStyle/>
          <a:p>
            <a:pPr/>
          </a:p>
        </p:txBody>
      </p:sp>
      <p:sp>
        <p:nvSpPr>
          <p:cNvPr id="44" name="Text 11"/>
          <p:cNvSpPr txBox="1"/>
          <p:nvPr/>
        </p:nvSpPr>
        <p:spPr>
          <a:xfrm>
            <a:off x="641603" y="5749466"/>
            <a:ext cx="10908794"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5A623"/>
                </a:solidFill>
              </a:defRPr>
            </a:lvl1pPr>
          </a:lstStyle>
          <a:p>
            <a:pPr/>
            <a:r>
              <a:t>Prepared for Zerodha</a:t>
            </a:r>
          </a:p>
        </p:txBody>
      </p:sp>
      <p:sp>
        <p:nvSpPr>
          <p:cNvPr id="45" name="Text 12"/>
          <p:cNvSpPr txBox="1"/>
          <p:nvPr/>
        </p:nvSpPr>
        <p:spPr>
          <a:xfrm>
            <a:off x="640079" y="6355079"/>
            <a:ext cx="10908794"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7C88B0"/>
                </a:solidFill>
              </a:defRPr>
            </a:lvl1pPr>
          </a:lstStyle>
          <a:p>
            <a:pPr/>
            <a:r>
              <a:t>Harsh Bhardwaj · harsh@anvest.in · anvest.in</a:t>
            </a:r>
          </a:p>
        </p:txBody>
      </p:sp>
      <p:sp>
        <p:nvSpPr>
          <p:cNvPr id="46" name="Text 3"/>
          <p:cNvSpPr txBox="1"/>
          <p:nvPr/>
        </p:nvSpPr>
        <p:spPr>
          <a:xfrm>
            <a:off x="610882" y="4362096"/>
            <a:ext cx="2468881"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4000">
                <a:solidFill>
                  <a:srgbClr val="F5A623"/>
                </a:solidFill>
                <a:latin typeface="Arial"/>
                <a:ea typeface="Arial"/>
                <a:cs typeface="Arial"/>
                <a:sym typeface="Arial"/>
              </a:defRPr>
            </a:lvl1pPr>
          </a:lstStyle>
          <a:p>
            <a:pPr/>
            <a:r>
              <a:t>6,137</a:t>
            </a:r>
          </a:p>
        </p:txBody>
      </p:sp>
      <p:sp>
        <p:nvSpPr>
          <p:cNvPr id="47" name="Text 4"/>
          <p:cNvSpPr txBox="1"/>
          <p:nvPr/>
        </p:nvSpPr>
        <p:spPr>
          <a:xfrm>
            <a:off x="610882" y="5167983"/>
            <a:ext cx="2468881" cy="1866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400">
                <a:solidFill>
                  <a:srgbClr val="7C88B0"/>
                </a:solidFill>
              </a:defRPr>
            </a:lvl1pPr>
          </a:lstStyle>
          <a:p>
            <a:pPr/>
            <a:r>
              <a:t>Listed Companies</a:t>
            </a:r>
          </a:p>
        </p:txBody>
      </p:sp>
      <p:sp>
        <p:nvSpPr>
          <p:cNvPr id="48" name="Text 5"/>
          <p:cNvSpPr txBox="1"/>
          <p:nvPr/>
        </p:nvSpPr>
        <p:spPr>
          <a:xfrm>
            <a:off x="3308362" y="4362096"/>
            <a:ext cx="2468881"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4000">
                <a:solidFill>
                  <a:srgbClr val="F5A623"/>
                </a:solidFill>
                <a:latin typeface="Arial"/>
                <a:ea typeface="Arial"/>
                <a:cs typeface="Arial"/>
                <a:sym typeface="Arial"/>
              </a:defRPr>
            </a:lvl1pPr>
          </a:lstStyle>
          <a:p>
            <a:pPr/>
            <a:r>
              <a:t>2.89M</a:t>
            </a:r>
          </a:p>
        </p:txBody>
      </p:sp>
      <p:sp>
        <p:nvSpPr>
          <p:cNvPr id="49" name="Text 6"/>
          <p:cNvSpPr txBox="1"/>
          <p:nvPr/>
        </p:nvSpPr>
        <p:spPr>
          <a:xfrm>
            <a:off x="3308362" y="5167983"/>
            <a:ext cx="2468881" cy="1866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400">
                <a:solidFill>
                  <a:srgbClr val="7C88B0"/>
                </a:solidFill>
              </a:defRPr>
            </a:lvl1pPr>
          </a:lstStyle>
          <a:p>
            <a:pPr/>
            <a:r>
              <a:t>Corporate Announcements</a:t>
            </a:r>
          </a:p>
        </p:txBody>
      </p:sp>
      <p:sp>
        <p:nvSpPr>
          <p:cNvPr id="50" name="Text 7"/>
          <p:cNvSpPr txBox="1"/>
          <p:nvPr/>
        </p:nvSpPr>
        <p:spPr>
          <a:xfrm>
            <a:off x="6005842" y="4362096"/>
            <a:ext cx="2468881"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4000">
                <a:solidFill>
                  <a:srgbClr val="F5A623"/>
                </a:solidFill>
                <a:latin typeface="Arial"/>
                <a:ea typeface="Arial"/>
                <a:cs typeface="Arial"/>
                <a:sym typeface="Arial"/>
              </a:defRPr>
            </a:lvl1pPr>
          </a:lstStyle>
          <a:p>
            <a:pPr/>
            <a:r>
              <a:t>1.35M</a:t>
            </a:r>
          </a:p>
        </p:txBody>
      </p:sp>
      <p:sp>
        <p:nvSpPr>
          <p:cNvPr id="51" name="Text 8"/>
          <p:cNvSpPr txBox="1"/>
          <p:nvPr/>
        </p:nvSpPr>
        <p:spPr>
          <a:xfrm>
            <a:off x="6005842" y="5167983"/>
            <a:ext cx="2468881" cy="1866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sz="1400">
                <a:solidFill>
                  <a:srgbClr val="7C88B0"/>
                </a:solidFill>
              </a:defRPr>
            </a:lvl1pPr>
          </a:lstStyle>
          <a:p>
            <a:pPr/>
            <a:r>
              <a:t>Vectors Indexed</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1"/>
          <p:cNvSpPr txBox="1"/>
          <p:nvPr/>
        </p:nvSpPr>
        <p:spPr>
          <a:xfrm>
            <a:off x="640079" y="914400"/>
            <a:ext cx="10908794" cy="11592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4600"/>
              </a:lnSpc>
              <a:defRPr b="1" spc="-100" sz="4000">
                <a:solidFill>
                  <a:srgbClr val="FFFFFF"/>
                </a:solidFill>
                <a:latin typeface="Arial"/>
                <a:ea typeface="Arial"/>
                <a:cs typeface="Arial"/>
                <a:sym typeface="Arial"/>
              </a:defRPr>
            </a:pPr>
            <a:r>
              <a:t>Your users own companies.</a:t>
            </a:r>
          </a:p>
          <a:p>
            <a:pPr>
              <a:lnSpc>
                <a:spcPts val="4600"/>
              </a:lnSpc>
              <a:defRPr b="1" spc="-100" sz="4000">
                <a:solidFill>
                  <a:srgbClr val="FFFFFF"/>
                </a:solidFill>
                <a:latin typeface="Arial"/>
                <a:ea typeface="Arial"/>
                <a:cs typeface="Arial"/>
                <a:sym typeface="Arial"/>
              </a:defRPr>
            </a:pPr>
            <a:r>
              <a:t>Few read what those companies file.</a:t>
            </a:r>
          </a:p>
        </p:txBody>
      </p:sp>
      <p:sp>
        <p:nvSpPr>
          <p:cNvPr id="54" name="Shape 5"/>
          <p:cNvSpPr/>
          <p:nvPr/>
        </p:nvSpPr>
        <p:spPr>
          <a:xfrm>
            <a:off x="673465" y="2529965"/>
            <a:ext cx="118873" cy="118873"/>
          </a:xfrm>
          <a:prstGeom prst="ellipse">
            <a:avLst/>
          </a:prstGeom>
          <a:solidFill>
            <a:srgbClr val="F5A623"/>
          </a:solidFill>
          <a:ln w="12700">
            <a:solidFill>
              <a:srgbClr val="F5A623"/>
            </a:solidFill>
          </a:ln>
        </p:spPr>
        <p:txBody>
          <a:bodyPr lIns="0" tIns="0" rIns="0" bIns="0"/>
          <a:lstStyle/>
          <a:p>
            <a:pPr/>
          </a:p>
        </p:txBody>
      </p:sp>
      <p:sp>
        <p:nvSpPr>
          <p:cNvPr id="55" name="Text 6"/>
          <p:cNvSpPr txBox="1"/>
          <p:nvPr/>
        </p:nvSpPr>
        <p:spPr>
          <a:xfrm>
            <a:off x="966440" y="2482403"/>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Filings rarely reach the holder</a:t>
            </a:r>
          </a:p>
        </p:txBody>
      </p:sp>
      <p:sp>
        <p:nvSpPr>
          <p:cNvPr id="56" name="Text 7"/>
          <p:cNvSpPr txBox="1"/>
          <p:nvPr/>
        </p:nvSpPr>
        <p:spPr>
          <a:xfrm>
            <a:off x="936970" y="2824587"/>
            <a:ext cx="9402615" cy="17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200">
                <a:solidFill>
                  <a:srgbClr val="7C88B0"/>
                </a:solidFill>
              </a:defRPr>
            </a:lvl1pPr>
          </a:lstStyle>
          <a:p>
            <a:pPr/>
            <a:r>
              <a:t>Results, pledges and board notices land on the exchanges every day. The filing behind a move seldom reaches the user who holds the stock.</a:t>
            </a:r>
          </a:p>
        </p:txBody>
      </p:sp>
      <p:sp>
        <p:nvSpPr>
          <p:cNvPr id="57" name="Shape 9"/>
          <p:cNvSpPr/>
          <p:nvPr/>
        </p:nvSpPr>
        <p:spPr>
          <a:xfrm>
            <a:off x="673465" y="3483641"/>
            <a:ext cx="118873" cy="118873"/>
          </a:xfrm>
          <a:prstGeom prst="ellipse">
            <a:avLst/>
          </a:prstGeom>
          <a:solidFill>
            <a:srgbClr val="F5A623"/>
          </a:solidFill>
          <a:ln w="12700">
            <a:solidFill>
              <a:srgbClr val="F5A623"/>
            </a:solidFill>
          </a:ln>
        </p:spPr>
        <p:txBody>
          <a:bodyPr lIns="0" tIns="0" rIns="0" bIns="0"/>
          <a:lstStyle/>
          <a:p>
            <a:pPr/>
          </a:p>
        </p:txBody>
      </p:sp>
      <p:sp>
        <p:nvSpPr>
          <p:cNvPr id="58" name="Text 10"/>
          <p:cNvSpPr txBox="1"/>
          <p:nvPr/>
        </p:nvSpPr>
        <p:spPr>
          <a:xfrm>
            <a:off x="966440" y="3436079"/>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Tables say what, not why</a:t>
            </a:r>
          </a:p>
        </p:txBody>
      </p:sp>
      <p:sp>
        <p:nvSpPr>
          <p:cNvPr id="59" name="Text 11"/>
          <p:cNvSpPr txBox="1"/>
          <p:nvPr/>
        </p:nvSpPr>
        <p:spPr>
          <a:xfrm>
            <a:off x="966440" y="3817929"/>
            <a:ext cx="9501670" cy="17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200">
                <a:solidFill>
                  <a:srgbClr val="7C88B0"/>
                </a:solidFill>
              </a:defRPr>
            </a:lvl1pPr>
          </a:lstStyle>
          <a:p>
            <a:pPr/>
            <a:r>
              <a:t>Ratios and charts show what the numbers are. Why they moved still sits in a PDF the user has to find and read.</a:t>
            </a:r>
          </a:p>
        </p:txBody>
      </p:sp>
      <p:sp>
        <p:nvSpPr>
          <p:cNvPr id="60" name="Shape 13"/>
          <p:cNvSpPr/>
          <p:nvPr/>
        </p:nvSpPr>
        <p:spPr>
          <a:xfrm>
            <a:off x="691020" y="4437317"/>
            <a:ext cx="118873" cy="118873"/>
          </a:xfrm>
          <a:prstGeom prst="ellipse">
            <a:avLst/>
          </a:prstGeom>
          <a:solidFill>
            <a:srgbClr val="F5A623"/>
          </a:solidFill>
          <a:ln w="12700">
            <a:solidFill>
              <a:srgbClr val="F5A623"/>
            </a:solidFill>
          </a:ln>
        </p:spPr>
        <p:txBody>
          <a:bodyPr lIns="0" tIns="0" rIns="0" bIns="0"/>
          <a:lstStyle/>
          <a:p>
            <a:pPr/>
          </a:p>
        </p:txBody>
      </p:sp>
      <p:sp>
        <p:nvSpPr>
          <p:cNvPr id="61" name="Text 14"/>
          <p:cNvSpPr txBox="1"/>
          <p:nvPr/>
        </p:nvSpPr>
        <p:spPr>
          <a:xfrm>
            <a:off x="983995" y="4389756"/>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The regulatory direction is clear</a:t>
            </a:r>
          </a:p>
        </p:txBody>
      </p:sp>
      <p:sp>
        <p:nvSpPr>
          <p:cNvPr id="62" name="Text 15"/>
          <p:cNvSpPr txBox="1"/>
          <p:nvPr/>
        </p:nvSpPr>
        <p:spPr>
          <a:xfrm>
            <a:off x="966440" y="4811271"/>
            <a:ext cx="9871321" cy="17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200">
                <a:solidFill>
                  <a:srgbClr val="7C88B0"/>
                </a:solidFill>
              </a:defRPr>
            </a:lvl1pPr>
          </a:lstStyle>
          <a:p>
            <a:pPr/>
            <a:r>
              <a:t>SEBI's FY25 F&amp;O study and its Dec-2024 rules on AI in research both point toward explained, accountable research, which a cited answer provides by design.</a:t>
            </a:r>
          </a:p>
        </p:txBody>
      </p:sp>
      <p:sp>
        <p:nvSpPr>
          <p:cNvPr id="63" name="Text 16"/>
          <p:cNvSpPr txBox="1"/>
          <p:nvPr/>
        </p:nvSpPr>
        <p:spPr>
          <a:xfrm>
            <a:off x="640079" y="6419595"/>
            <a:ext cx="109087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solidFill>
                  <a:srgbClr val="7C88B0"/>
                </a:solidFill>
              </a:defRPr>
            </a:lvl1pPr>
          </a:lstStyle>
          <a:p>
            <a:pPr/>
            <a:r>
              <a:t>SEBI FY25 derivatives study · SEBI AI-disclosure amendments, Dec 2024</a:t>
            </a:r>
          </a:p>
        </p:txBody>
      </p:sp>
      <p:sp>
        <p:nvSpPr>
          <p:cNvPr id="64" name="THE OPPORTUNITY, FROM YOUR SIDE"/>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THE OPPORTUNITY, FROM YOUR SIDE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Text 1"/>
          <p:cNvSpPr txBox="1"/>
          <p:nvPr/>
        </p:nvSpPr>
        <p:spPr>
          <a:xfrm>
            <a:off x="640079" y="914400"/>
            <a:ext cx="10908794" cy="11592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4600"/>
              </a:lnSpc>
              <a:defRPr b="1" spc="-100" sz="4000">
                <a:solidFill>
                  <a:srgbClr val="FFFFFF"/>
                </a:solidFill>
                <a:latin typeface="Arial"/>
                <a:ea typeface="Arial"/>
                <a:cs typeface="Arial"/>
                <a:sym typeface="Arial"/>
              </a:defRPr>
            </a:pPr>
            <a:r>
              <a:t>A grounded answer,</a:t>
            </a:r>
          </a:p>
          <a:p>
            <a:pPr>
              <a:lnSpc>
                <a:spcPts val="4600"/>
              </a:lnSpc>
              <a:defRPr b="1" spc="-100" sz="4000">
                <a:solidFill>
                  <a:srgbClr val="FFFFFF"/>
                </a:solidFill>
                <a:latin typeface="Arial"/>
                <a:ea typeface="Arial"/>
                <a:cs typeface="Arial"/>
                <a:sym typeface="Arial"/>
              </a:defRPr>
            </a:pPr>
            <a:r>
              <a:t>not another dashboard</a:t>
            </a:r>
          </a:p>
        </p:txBody>
      </p:sp>
      <p:sp>
        <p:nvSpPr>
          <p:cNvPr id="67" name="Shape 2"/>
          <p:cNvSpPr/>
          <p:nvPr/>
        </p:nvSpPr>
        <p:spPr>
          <a:xfrm>
            <a:off x="640080" y="2286000"/>
            <a:ext cx="5760721" cy="502920"/>
          </a:xfrm>
          <a:prstGeom prst="roundRect">
            <a:avLst>
              <a:gd name="adj" fmla="val 50000"/>
            </a:avLst>
          </a:prstGeom>
          <a:solidFill>
            <a:srgbClr val="FFFFFF">
              <a:alpha val="6000"/>
            </a:srgbClr>
          </a:solidFill>
          <a:ln>
            <a:solidFill>
              <a:srgbClr val="FFFFFF">
                <a:alpha val="22000"/>
              </a:srgbClr>
            </a:solidFill>
          </a:ln>
        </p:spPr>
        <p:txBody>
          <a:bodyPr lIns="0" tIns="0" rIns="0" bIns="0"/>
          <a:lstStyle/>
          <a:p>
            <a:pPr/>
          </a:p>
        </p:txBody>
      </p:sp>
      <p:sp>
        <p:nvSpPr>
          <p:cNvPr id="68" name="Text 3"/>
          <p:cNvSpPr txBox="1"/>
          <p:nvPr/>
        </p:nvSpPr>
        <p:spPr>
          <a:xfrm>
            <a:off x="1024127" y="2430461"/>
            <a:ext cx="502920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i="1" sz="1300">
                <a:solidFill>
                  <a:srgbClr val="FFFFFF"/>
                </a:solidFill>
              </a:defRPr>
            </a:lvl1pPr>
          </a:lstStyle>
          <a:p>
            <a:pPr/>
            <a:r>
              <a:t>“Why did operating margin fall last quarter?”</a:t>
            </a:r>
          </a:p>
        </p:txBody>
      </p:sp>
      <p:sp>
        <p:nvSpPr>
          <p:cNvPr id="69" name="Shape 4"/>
          <p:cNvSpPr/>
          <p:nvPr/>
        </p:nvSpPr>
        <p:spPr>
          <a:xfrm>
            <a:off x="640080" y="2926079"/>
            <a:ext cx="5760721" cy="2743201"/>
          </a:xfrm>
          <a:prstGeom prst="roundRect">
            <a:avLst>
              <a:gd name="adj" fmla="val 4667"/>
            </a:avLst>
          </a:prstGeom>
          <a:solidFill>
            <a:srgbClr val="FFFFFF">
              <a:alpha val="12000"/>
            </a:srgbClr>
          </a:solidFill>
          <a:ln>
            <a:solidFill>
              <a:srgbClr val="FFFFFF">
                <a:alpha val="22000"/>
              </a:srgbClr>
            </a:solidFill>
          </a:ln>
        </p:spPr>
        <p:txBody>
          <a:bodyPr lIns="0" tIns="0" rIns="0" bIns="0"/>
          <a:lstStyle/>
          <a:p>
            <a:pPr/>
          </a:p>
        </p:txBody>
      </p:sp>
      <p:sp>
        <p:nvSpPr>
          <p:cNvPr id="70" name="Text 5"/>
          <p:cNvSpPr txBox="1"/>
          <p:nvPr/>
        </p:nvSpPr>
        <p:spPr>
          <a:xfrm>
            <a:off x="1024127" y="3136392"/>
            <a:ext cx="2743201" cy="2012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200" sz="900">
                <a:solidFill>
                  <a:srgbClr val="F5A623"/>
                </a:solidFill>
              </a:defRPr>
            </a:lvl1pPr>
          </a:lstStyle>
          <a:p>
            <a:pPr/>
            <a:r>
              <a:t>ANSWER · ILLUSTRATIVE EXAMPLE</a:t>
            </a:r>
          </a:p>
        </p:txBody>
      </p:sp>
      <p:sp>
        <p:nvSpPr>
          <p:cNvPr id="71" name="Text 6"/>
          <p:cNvSpPr txBox="1"/>
          <p:nvPr/>
        </p:nvSpPr>
        <p:spPr>
          <a:xfrm>
            <a:off x="1024127" y="3474720"/>
            <a:ext cx="5029201" cy="5245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FFFFFF"/>
                </a:solidFill>
              </a:defRPr>
            </a:lvl1pPr>
          </a:lstStyle>
          <a:p>
            <a:pPr/>
            <a:r>
              <a:t>Operating margin fell 210 bps to 14.3% on higher raw-material costs, per the company's Q1 FY27 results filing dated 24 Jul 2026.</a:t>
            </a:r>
          </a:p>
        </p:txBody>
      </p:sp>
      <p:sp>
        <p:nvSpPr>
          <p:cNvPr id="72" name="Shape 7"/>
          <p:cNvSpPr/>
          <p:nvPr/>
        </p:nvSpPr>
        <p:spPr>
          <a:xfrm>
            <a:off x="1024127" y="4453128"/>
            <a:ext cx="3122940" cy="499746"/>
          </a:xfrm>
          <a:prstGeom prst="roundRect">
            <a:avLst>
              <a:gd name="adj" fmla="val 18298"/>
            </a:avLst>
          </a:prstGeom>
          <a:solidFill>
            <a:srgbClr val="F5A623"/>
          </a:solidFill>
          <a:ln w="12700">
            <a:solidFill>
              <a:srgbClr val="F5A623"/>
            </a:solidFill>
          </a:ln>
        </p:spPr>
        <p:txBody>
          <a:bodyPr lIns="0" tIns="0" rIns="0" bIns="0"/>
          <a:lstStyle/>
          <a:p>
            <a:pPr/>
          </a:p>
        </p:txBody>
      </p:sp>
      <p:sp>
        <p:nvSpPr>
          <p:cNvPr id="73" name="Text 8"/>
          <p:cNvSpPr txBox="1"/>
          <p:nvPr/>
        </p:nvSpPr>
        <p:spPr>
          <a:xfrm>
            <a:off x="1161288" y="4587049"/>
            <a:ext cx="3840480" cy="2076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b="1" sz="1100">
                <a:solidFill>
                  <a:srgbClr val="0B0E26"/>
                </a:solidFill>
              </a:defRPr>
            </a:lvl1pPr>
          </a:lstStyle>
          <a:p>
            <a:pPr/>
            <a:r>
              <a:t>Source: Q1 FY27 Results.pdf, p.4  →</a:t>
            </a:r>
          </a:p>
        </p:txBody>
      </p:sp>
      <p:sp>
        <p:nvSpPr>
          <p:cNvPr id="74" name="Text 9"/>
          <p:cNvSpPr txBox="1"/>
          <p:nvPr/>
        </p:nvSpPr>
        <p:spPr>
          <a:xfrm>
            <a:off x="1024127" y="5120640"/>
            <a:ext cx="502920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i="1" sz="1200">
                <a:solidFill>
                  <a:srgbClr val="7C88B0"/>
                </a:solidFill>
              </a:defRPr>
            </a:lvl1pPr>
          </a:lstStyle>
          <a:p>
            <a:pPr/>
            <a:r>
              <a:t>Numbers are read from the warehouse. The model never calculates.</a:t>
            </a:r>
          </a:p>
        </p:txBody>
      </p:sp>
      <p:sp>
        <p:nvSpPr>
          <p:cNvPr id="75" name="Shape 10"/>
          <p:cNvSpPr/>
          <p:nvPr/>
        </p:nvSpPr>
        <p:spPr>
          <a:xfrm>
            <a:off x="6874891" y="2394236"/>
            <a:ext cx="118873" cy="118873"/>
          </a:xfrm>
          <a:prstGeom prst="ellipse">
            <a:avLst/>
          </a:prstGeom>
          <a:solidFill>
            <a:srgbClr val="F5A623"/>
          </a:solidFill>
          <a:ln w="12700">
            <a:solidFill>
              <a:srgbClr val="F5A623"/>
            </a:solidFill>
          </a:ln>
        </p:spPr>
        <p:txBody>
          <a:bodyPr lIns="0" tIns="0" rIns="0" bIns="0"/>
          <a:lstStyle/>
          <a:p>
            <a:pPr/>
          </a:p>
        </p:txBody>
      </p:sp>
      <p:sp>
        <p:nvSpPr>
          <p:cNvPr id="76" name="Text 11"/>
          <p:cNvSpPr txBox="1"/>
          <p:nvPr/>
        </p:nvSpPr>
        <p:spPr>
          <a:xfrm>
            <a:off x="7176643" y="2346674"/>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A full-universe warehouse, already built</a:t>
            </a:r>
          </a:p>
        </p:txBody>
      </p:sp>
      <p:sp>
        <p:nvSpPr>
          <p:cNvPr id="77" name="Text 12"/>
          <p:cNvSpPr txBox="1"/>
          <p:nvPr/>
        </p:nvSpPr>
        <p:spPr>
          <a:xfrm>
            <a:off x="7176643" y="2682916"/>
            <a:ext cx="4898435" cy="3321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100">
                <a:solidFill>
                  <a:srgbClr val="7C88B0"/>
                </a:solidFill>
              </a:defRPr>
            </a:lvl1pPr>
          </a:lstStyle>
          <a:p>
            <a:pPr/>
            <a:r>
              <a:t>6,137 NSE/BSE symbols in the warehouse, with two years of filings OCR'd and indexed — a data-engineering investment a product team would otherwise have to fund.</a:t>
            </a:r>
          </a:p>
        </p:txBody>
      </p:sp>
      <p:sp>
        <p:nvSpPr>
          <p:cNvPr id="78" name="Shape 13"/>
          <p:cNvSpPr/>
          <p:nvPr/>
        </p:nvSpPr>
        <p:spPr>
          <a:xfrm>
            <a:off x="6874891" y="3374136"/>
            <a:ext cx="118873" cy="118873"/>
          </a:xfrm>
          <a:prstGeom prst="ellipse">
            <a:avLst/>
          </a:prstGeom>
          <a:solidFill>
            <a:srgbClr val="F5A623"/>
          </a:solidFill>
          <a:ln w="12700">
            <a:solidFill>
              <a:srgbClr val="F5A623"/>
            </a:solidFill>
          </a:ln>
        </p:spPr>
        <p:txBody>
          <a:bodyPr lIns="0" tIns="0" rIns="0" bIns="0"/>
          <a:lstStyle/>
          <a:p>
            <a:pPr/>
          </a:p>
        </p:txBody>
      </p:sp>
      <p:sp>
        <p:nvSpPr>
          <p:cNvPr id="79" name="Text 14"/>
          <p:cNvSpPr txBox="1"/>
          <p:nvPr/>
        </p:nvSpPr>
        <p:spPr>
          <a:xfrm>
            <a:off x="7176643" y="3328543"/>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Grounded or silent</a:t>
            </a:r>
          </a:p>
        </p:txBody>
      </p:sp>
      <p:sp>
        <p:nvSpPr>
          <p:cNvPr id="80" name="Text 15"/>
          <p:cNvSpPr txBox="1"/>
          <p:nvPr/>
        </p:nvSpPr>
        <p:spPr>
          <a:xfrm>
            <a:off x="7176643" y="3621151"/>
            <a:ext cx="4526281" cy="3321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100">
                <a:solidFill>
                  <a:srgbClr val="7C88B0"/>
                </a:solidFill>
              </a:defRPr>
            </a:lvl1pPr>
          </a:lstStyle>
          <a:p>
            <a:pPr/>
            <a:r>
              <a:t>If coverage is missing, it says so. No invented figures — the property that matters most once it's your logo next to the answer.</a:t>
            </a:r>
          </a:p>
        </p:txBody>
      </p:sp>
      <p:sp>
        <p:nvSpPr>
          <p:cNvPr id="81" name="Shape 16"/>
          <p:cNvSpPr/>
          <p:nvPr/>
        </p:nvSpPr>
        <p:spPr>
          <a:xfrm>
            <a:off x="6874891" y="4425696"/>
            <a:ext cx="118873" cy="118873"/>
          </a:xfrm>
          <a:prstGeom prst="ellipse">
            <a:avLst/>
          </a:prstGeom>
          <a:solidFill>
            <a:srgbClr val="F5A623"/>
          </a:solidFill>
          <a:ln w="12700">
            <a:solidFill>
              <a:srgbClr val="F5A623"/>
            </a:solidFill>
          </a:ln>
        </p:spPr>
        <p:txBody>
          <a:bodyPr lIns="0" tIns="0" rIns="0" bIns="0"/>
          <a:lstStyle/>
          <a:p>
            <a:pPr/>
          </a:p>
        </p:txBody>
      </p:sp>
      <p:sp>
        <p:nvSpPr>
          <p:cNvPr id="82" name="Text 17"/>
          <p:cNvSpPr txBox="1"/>
          <p:nvPr/>
        </p:nvSpPr>
        <p:spPr>
          <a:xfrm>
            <a:off x="7176643" y="4380103"/>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Portfolio-aware, on a read-only link</a:t>
            </a:r>
          </a:p>
        </p:txBody>
      </p:sp>
      <p:sp>
        <p:nvSpPr>
          <p:cNvPr id="83" name="Text 18"/>
          <p:cNvSpPr txBox="1"/>
          <p:nvPr/>
        </p:nvSpPr>
        <p:spPr>
          <a:xfrm>
            <a:off x="7176643" y="4672711"/>
            <a:ext cx="4526281" cy="4972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100">
                <a:solidFill>
                  <a:srgbClr val="7C88B0"/>
                </a:solidFill>
              </a:defRPr>
            </a:lvl1pPr>
          </a:lstStyle>
          <a:p>
            <a:pPr/>
            <a:r>
              <a:t>Answers ranked by what the user actually owns — the same read-only connection pattern as any broker API integration. Approvals and token handling to be agreed with you.</a:t>
            </a:r>
          </a:p>
        </p:txBody>
      </p:sp>
      <p:sp>
        <p:nvSpPr>
          <p:cNvPr id="84" name="Shape 19"/>
          <p:cNvSpPr/>
          <p:nvPr/>
        </p:nvSpPr>
        <p:spPr>
          <a:xfrm>
            <a:off x="6874891" y="5477256"/>
            <a:ext cx="118873" cy="118873"/>
          </a:xfrm>
          <a:prstGeom prst="ellipse">
            <a:avLst/>
          </a:prstGeom>
          <a:solidFill>
            <a:srgbClr val="F5A623"/>
          </a:solidFill>
          <a:ln w="12700">
            <a:solidFill>
              <a:srgbClr val="F5A623"/>
            </a:solidFill>
          </a:ln>
        </p:spPr>
        <p:txBody>
          <a:bodyPr lIns="0" tIns="0" rIns="0" bIns="0"/>
          <a:lstStyle/>
          <a:p>
            <a:pPr/>
          </a:p>
        </p:txBody>
      </p:sp>
      <p:sp>
        <p:nvSpPr>
          <p:cNvPr id="85" name="Text 20"/>
          <p:cNvSpPr txBox="1"/>
          <p:nvPr/>
        </p:nvSpPr>
        <p:spPr>
          <a:xfrm>
            <a:off x="7176643" y="5431663"/>
            <a:ext cx="4526281" cy="2139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300">
                <a:solidFill>
                  <a:srgbClr val="FFFFFF"/>
                </a:solidFill>
              </a:defRPr>
            </a:lvl1pPr>
          </a:lstStyle>
          <a:p>
            <a:pPr/>
            <a:r>
              <a:t>AI connects questions to tools</a:t>
            </a:r>
          </a:p>
        </p:txBody>
      </p:sp>
      <p:sp>
        <p:nvSpPr>
          <p:cNvPr id="86" name="Text 21"/>
          <p:cNvSpPr txBox="1"/>
          <p:nvPr/>
        </p:nvSpPr>
        <p:spPr>
          <a:xfrm>
            <a:off x="7176643" y="5724271"/>
            <a:ext cx="4526281" cy="4972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100">
                <a:solidFill>
                  <a:srgbClr val="7C88B0"/>
                </a:solidFill>
              </a:defRPr>
            </a:lvl1pPr>
          </a:lstStyle>
          <a:p>
            <a:pPr/>
            <a:r>
              <a:t>The AI interprets a question and returns an answer with relevant workflow links, including prepared stock screens. The pilot tests this experience inside your product.</a:t>
            </a:r>
          </a:p>
        </p:txBody>
      </p:sp>
      <p:sp>
        <p:nvSpPr>
          <p:cNvPr id="87" name="WHAT WE BRING"/>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WHAT WE BRING</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Text 1"/>
          <p:cNvSpPr txBox="1"/>
          <p:nvPr/>
        </p:nvSpPr>
        <p:spPr>
          <a:xfrm>
            <a:off x="640079" y="914400"/>
            <a:ext cx="10908794" cy="11592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4600"/>
              </a:lnSpc>
              <a:defRPr b="1" spc="-100" sz="4000">
                <a:solidFill>
                  <a:srgbClr val="FFFFFF"/>
                </a:solidFill>
                <a:latin typeface="Arial"/>
                <a:ea typeface="Arial"/>
                <a:cs typeface="Arial"/>
                <a:sym typeface="Arial"/>
              </a:defRPr>
            </a:pPr>
            <a:r>
              <a:t>The moat is the pipeline,</a:t>
            </a:r>
          </a:p>
          <a:p>
            <a:pPr>
              <a:lnSpc>
                <a:spcPts val="4600"/>
              </a:lnSpc>
              <a:defRPr b="1" spc="-100" sz="4000">
                <a:solidFill>
                  <a:srgbClr val="FFFFFF"/>
                </a:solidFill>
                <a:latin typeface="Arial"/>
                <a:ea typeface="Arial"/>
                <a:cs typeface="Arial"/>
                <a:sym typeface="Arial"/>
              </a:defRPr>
            </a:pPr>
            <a:r>
              <a:t>not the chat interface</a:t>
            </a:r>
          </a:p>
        </p:txBody>
      </p:sp>
      <p:sp>
        <p:nvSpPr>
          <p:cNvPr id="90" name="Shape 2"/>
          <p:cNvSpPr/>
          <p:nvPr/>
        </p:nvSpPr>
        <p:spPr>
          <a:xfrm>
            <a:off x="640810" y="2458654"/>
            <a:ext cx="3017521" cy="1371601"/>
          </a:xfrm>
          <a:prstGeom prst="roundRect">
            <a:avLst>
              <a:gd name="adj" fmla="val 9333"/>
            </a:avLst>
          </a:prstGeom>
          <a:solidFill>
            <a:srgbClr val="FFFFFF">
              <a:alpha val="8000"/>
            </a:srgbClr>
          </a:solidFill>
          <a:ln>
            <a:solidFill>
              <a:srgbClr val="FFFFFF">
                <a:alpha val="22000"/>
              </a:srgbClr>
            </a:solidFill>
          </a:ln>
        </p:spPr>
        <p:txBody>
          <a:bodyPr lIns="0" tIns="0" rIns="0" bIns="0"/>
          <a:lstStyle/>
          <a:p>
            <a:pPr/>
          </a:p>
        </p:txBody>
      </p:sp>
      <p:sp>
        <p:nvSpPr>
          <p:cNvPr id="91" name="Text 3"/>
          <p:cNvSpPr txBox="1"/>
          <p:nvPr/>
        </p:nvSpPr>
        <p:spPr>
          <a:xfrm>
            <a:off x="906352" y="2897004"/>
            <a:ext cx="2560321" cy="2534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32" sz="3000">
                <a:solidFill>
                  <a:srgbClr val="F5A623"/>
                </a:solidFill>
                <a:latin typeface="Arial"/>
                <a:ea typeface="Arial"/>
                <a:cs typeface="Arial"/>
                <a:sym typeface="Arial"/>
              </a:defRPr>
            </a:lvl1pPr>
          </a:lstStyle>
          <a:p>
            <a:pPr/>
            <a:r>
              <a:t>6,137</a:t>
            </a:r>
          </a:p>
        </p:txBody>
      </p:sp>
      <p:sp>
        <p:nvSpPr>
          <p:cNvPr id="92" name="Text 4"/>
          <p:cNvSpPr txBox="1"/>
          <p:nvPr/>
        </p:nvSpPr>
        <p:spPr>
          <a:xfrm>
            <a:off x="915130" y="3263326"/>
            <a:ext cx="2542766" cy="4616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defRPr sz="1100">
                <a:solidFill>
                  <a:srgbClr val="7C88B0"/>
                </a:solidFill>
              </a:defRPr>
            </a:lvl1pPr>
          </a:lstStyle>
          <a:p>
            <a:pPr/>
            <a:r>
              <a:t>symbols · full-universe XBRL, with a repair layer for the exchange's own malformed filings</a:t>
            </a:r>
          </a:p>
        </p:txBody>
      </p:sp>
      <p:sp>
        <p:nvSpPr>
          <p:cNvPr id="93" name="Shape 5"/>
          <p:cNvSpPr/>
          <p:nvPr/>
        </p:nvSpPr>
        <p:spPr>
          <a:xfrm>
            <a:off x="3886930" y="2458654"/>
            <a:ext cx="3017521" cy="1371601"/>
          </a:xfrm>
          <a:prstGeom prst="roundRect">
            <a:avLst>
              <a:gd name="adj" fmla="val 9333"/>
            </a:avLst>
          </a:prstGeom>
          <a:solidFill>
            <a:srgbClr val="FFFFFF">
              <a:alpha val="8000"/>
            </a:srgbClr>
          </a:solidFill>
          <a:ln>
            <a:solidFill>
              <a:srgbClr val="FFFFFF">
                <a:alpha val="22000"/>
              </a:srgbClr>
            </a:solidFill>
          </a:ln>
        </p:spPr>
        <p:txBody>
          <a:bodyPr lIns="0" tIns="0" rIns="0" bIns="0"/>
          <a:lstStyle/>
          <a:p>
            <a:pPr/>
          </a:p>
        </p:txBody>
      </p:sp>
      <p:sp>
        <p:nvSpPr>
          <p:cNvPr id="94" name="Text 6"/>
          <p:cNvSpPr txBox="1"/>
          <p:nvPr/>
        </p:nvSpPr>
        <p:spPr>
          <a:xfrm>
            <a:off x="4152472" y="2897004"/>
            <a:ext cx="2560321" cy="2534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32" sz="3000">
                <a:solidFill>
                  <a:srgbClr val="F5A623"/>
                </a:solidFill>
                <a:latin typeface="Arial"/>
                <a:ea typeface="Arial"/>
                <a:cs typeface="Arial"/>
                <a:sym typeface="Arial"/>
              </a:defRPr>
            </a:lvl1pPr>
          </a:lstStyle>
          <a:p>
            <a:pPr/>
            <a:r>
              <a:t>2.89M</a:t>
            </a:r>
          </a:p>
        </p:txBody>
      </p:sp>
      <p:sp>
        <p:nvSpPr>
          <p:cNvPr id="95" name="Text 7"/>
          <p:cNvSpPr txBox="1"/>
          <p:nvPr/>
        </p:nvSpPr>
        <p:spPr>
          <a:xfrm>
            <a:off x="4161250" y="3263326"/>
            <a:ext cx="2651761" cy="3092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defRPr sz="1100">
                <a:solidFill>
                  <a:srgbClr val="7C88B0"/>
                </a:solidFill>
              </a:defRPr>
            </a:lvl1pPr>
          </a:lstStyle>
          <a:p>
            <a:pPr/>
            <a:r>
              <a:t>corporate announcements in the warehouse, with scanned small-cap PDFs OCR'd</a:t>
            </a:r>
          </a:p>
        </p:txBody>
      </p:sp>
      <p:sp>
        <p:nvSpPr>
          <p:cNvPr id="96" name="Shape 8"/>
          <p:cNvSpPr/>
          <p:nvPr/>
        </p:nvSpPr>
        <p:spPr>
          <a:xfrm>
            <a:off x="640810" y="4031422"/>
            <a:ext cx="3017521" cy="1371601"/>
          </a:xfrm>
          <a:prstGeom prst="roundRect">
            <a:avLst>
              <a:gd name="adj" fmla="val 9333"/>
            </a:avLst>
          </a:prstGeom>
          <a:solidFill>
            <a:srgbClr val="FFFFFF">
              <a:alpha val="8000"/>
            </a:srgbClr>
          </a:solidFill>
          <a:ln>
            <a:solidFill>
              <a:srgbClr val="FFFFFF">
                <a:alpha val="22000"/>
              </a:srgbClr>
            </a:solidFill>
          </a:ln>
        </p:spPr>
        <p:txBody>
          <a:bodyPr lIns="0" tIns="0" rIns="0" bIns="0"/>
          <a:lstStyle/>
          <a:p>
            <a:pPr/>
          </a:p>
        </p:txBody>
      </p:sp>
      <p:sp>
        <p:nvSpPr>
          <p:cNvPr id="97" name="Text 9"/>
          <p:cNvSpPr txBox="1"/>
          <p:nvPr/>
        </p:nvSpPr>
        <p:spPr>
          <a:xfrm>
            <a:off x="906352" y="4469772"/>
            <a:ext cx="2560321" cy="2534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32" sz="3000">
                <a:solidFill>
                  <a:srgbClr val="F5A623"/>
                </a:solidFill>
                <a:latin typeface="Arial"/>
                <a:ea typeface="Arial"/>
                <a:cs typeface="Arial"/>
                <a:sym typeface="Arial"/>
              </a:defRPr>
            </a:lvl1pPr>
          </a:lstStyle>
          <a:p>
            <a:pPr/>
            <a:r>
              <a:t>1.35M</a:t>
            </a:r>
          </a:p>
        </p:txBody>
      </p:sp>
      <p:sp>
        <p:nvSpPr>
          <p:cNvPr id="98" name="Text 10"/>
          <p:cNvSpPr txBox="1"/>
          <p:nvPr/>
        </p:nvSpPr>
        <p:spPr>
          <a:xfrm>
            <a:off x="915130" y="4836094"/>
            <a:ext cx="2514601" cy="3092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defRPr sz="1100">
                <a:solidFill>
                  <a:srgbClr val="7C88B0"/>
                </a:solidFill>
              </a:defRPr>
            </a:lvl1pPr>
          </a:lstStyle>
          <a:p>
            <a:pPr/>
            <a:r>
              <a:t>embeddings in a vector index, refreshed by a daily incremental job</a:t>
            </a:r>
          </a:p>
        </p:txBody>
      </p:sp>
      <p:sp>
        <p:nvSpPr>
          <p:cNvPr id="99" name="Shape 11"/>
          <p:cNvSpPr/>
          <p:nvPr/>
        </p:nvSpPr>
        <p:spPr>
          <a:xfrm>
            <a:off x="3886930" y="4031422"/>
            <a:ext cx="3017521" cy="1371601"/>
          </a:xfrm>
          <a:prstGeom prst="roundRect">
            <a:avLst>
              <a:gd name="adj" fmla="val 9333"/>
            </a:avLst>
          </a:prstGeom>
          <a:solidFill>
            <a:srgbClr val="FFFFFF">
              <a:alpha val="8000"/>
            </a:srgbClr>
          </a:solidFill>
          <a:ln>
            <a:solidFill>
              <a:srgbClr val="FFFFFF">
                <a:alpha val="22000"/>
              </a:srgbClr>
            </a:solidFill>
          </a:ln>
        </p:spPr>
        <p:txBody>
          <a:bodyPr lIns="0" tIns="0" rIns="0" bIns="0"/>
          <a:lstStyle/>
          <a:p>
            <a:pPr/>
          </a:p>
        </p:txBody>
      </p:sp>
      <p:sp>
        <p:nvSpPr>
          <p:cNvPr id="100" name="Text 12"/>
          <p:cNvSpPr txBox="1"/>
          <p:nvPr/>
        </p:nvSpPr>
        <p:spPr>
          <a:xfrm>
            <a:off x="4152472" y="4469772"/>
            <a:ext cx="2560321" cy="2534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32" sz="3000">
                <a:solidFill>
                  <a:srgbClr val="F5A623"/>
                </a:solidFill>
                <a:latin typeface="Arial"/>
                <a:ea typeface="Arial"/>
                <a:cs typeface="Arial"/>
                <a:sym typeface="Arial"/>
              </a:defRPr>
            </a:lvl1pPr>
          </a:lstStyle>
          <a:p>
            <a:pPr/>
            <a:r>
              <a:t>5,405</a:t>
            </a:r>
          </a:p>
        </p:txBody>
      </p:sp>
      <p:sp>
        <p:nvSpPr>
          <p:cNvPr id="101" name="Text 13"/>
          <p:cNvSpPr txBox="1"/>
          <p:nvPr/>
        </p:nvSpPr>
        <p:spPr>
          <a:xfrm>
            <a:off x="4161250" y="4836094"/>
            <a:ext cx="2514601" cy="1568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defRPr sz="1100">
                <a:solidFill>
                  <a:srgbClr val="7C88B0"/>
                </a:solidFill>
              </a:defRPr>
            </a:lvl1pPr>
          </a:lstStyle>
          <a:p>
            <a:pPr/>
            <a:r>
              <a:t>company profiles generated from filings</a:t>
            </a:r>
          </a:p>
        </p:txBody>
      </p:sp>
      <p:sp>
        <p:nvSpPr>
          <p:cNvPr id="102" name="Shape 14"/>
          <p:cNvSpPr/>
          <p:nvPr/>
        </p:nvSpPr>
        <p:spPr>
          <a:xfrm>
            <a:off x="7224490" y="2458654"/>
            <a:ext cx="4325113" cy="2935313"/>
          </a:xfrm>
          <a:prstGeom prst="roundRect">
            <a:avLst>
              <a:gd name="adj" fmla="val 4361"/>
            </a:avLst>
          </a:prstGeom>
          <a:solidFill>
            <a:srgbClr val="FFFFFF"/>
          </a:solidFill>
          <a:ln w="12700">
            <a:solidFill>
              <a:srgbClr val="FFFFFF"/>
            </a:solidFill>
          </a:ln>
        </p:spPr>
        <p:txBody>
          <a:bodyPr lIns="0" tIns="0" rIns="0" bIns="0"/>
          <a:lstStyle/>
          <a:p>
            <a:pPr/>
          </a:p>
        </p:txBody>
      </p:sp>
      <p:sp>
        <p:nvSpPr>
          <p:cNvPr id="103" name="Text 15"/>
          <p:cNvSpPr txBox="1"/>
          <p:nvPr/>
        </p:nvSpPr>
        <p:spPr>
          <a:xfrm>
            <a:off x="7544530" y="2732974"/>
            <a:ext cx="3827460" cy="10904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pc="-60" sz="2200">
                <a:solidFill>
                  <a:srgbClr val="1E2761"/>
                </a:solidFill>
                <a:latin typeface="Arial"/>
                <a:ea typeface="Arial"/>
                <a:cs typeface="Arial"/>
                <a:sym typeface="Arial"/>
              </a:defRPr>
            </a:lvl1pPr>
          </a:lstStyle>
          <a:p>
            <a:pPr/>
            <a:r>
              <a:t>A product team could build this. It would take a year and a headcount line, not a sprint.</a:t>
            </a:r>
          </a:p>
        </p:txBody>
      </p:sp>
      <p:sp>
        <p:nvSpPr>
          <p:cNvPr id="104" name="Text 16"/>
          <p:cNvSpPr txBox="1"/>
          <p:nvPr/>
        </p:nvSpPr>
        <p:spPr>
          <a:xfrm>
            <a:off x="7544530" y="3998683"/>
            <a:ext cx="3657601" cy="4267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434B6B"/>
                </a:solidFill>
              </a:defRPr>
            </a:lvl1pPr>
          </a:lstStyle>
          <a:p>
            <a:pPr/>
            <a:r>
              <a:t>It already exists and is live, so a pilot starts from what is built, not from a roadmap.</a:t>
            </a:r>
          </a:p>
        </p:txBody>
      </p:sp>
      <p:sp>
        <p:nvSpPr>
          <p:cNvPr id="105" name="Shape 17"/>
          <p:cNvSpPr/>
          <p:nvPr/>
        </p:nvSpPr>
        <p:spPr>
          <a:xfrm>
            <a:off x="7553307" y="4602851"/>
            <a:ext cx="640081" cy="12701"/>
          </a:xfrm>
          <a:prstGeom prst="rect">
            <a:avLst/>
          </a:prstGeom>
          <a:solidFill>
            <a:srgbClr val="F5A623"/>
          </a:solidFill>
          <a:ln w="12700">
            <a:solidFill>
              <a:srgbClr val="F5A623"/>
            </a:solidFill>
          </a:ln>
        </p:spPr>
        <p:txBody>
          <a:bodyPr lIns="0" tIns="0" rIns="0" bIns="0"/>
          <a:lstStyle/>
          <a:p>
            <a:pPr/>
          </a:p>
        </p:txBody>
      </p:sp>
      <p:sp>
        <p:nvSpPr>
          <p:cNvPr id="106" name="Text 18"/>
          <p:cNvSpPr txBox="1"/>
          <p:nvPr/>
        </p:nvSpPr>
        <p:spPr>
          <a:xfrm>
            <a:off x="7544530" y="4792755"/>
            <a:ext cx="3657601" cy="4616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defRPr i="1" sz="1100">
                <a:solidFill>
                  <a:srgbClr val="434B6B"/>
                </a:solidFill>
              </a:defRPr>
            </a:lvl1pPr>
          </a:lstStyle>
          <a:p>
            <a:pPr/>
            <a:r>
              <a:t>The parsing quirks — malformed context dates, figures buried inside Q4 filings — are things you only learn by serving real queries against real filings for a year.</a:t>
            </a:r>
          </a:p>
        </p:txBody>
      </p:sp>
      <p:sp>
        <p:nvSpPr>
          <p:cNvPr id="107" name="Text 19"/>
          <p:cNvSpPr txBox="1"/>
          <p:nvPr/>
        </p:nvSpPr>
        <p:spPr>
          <a:xfrm>
            <a:off x="640079" y="5943600"/>
            <a:ext cx="10908794"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i="1" sz="1200">
                <a:solidFill>
                  <a:srgbClr val="C9D3F0"/>
                </a:solidFill>
              </a:defRPr>
            </a:lvl1pPr>
          </a:lstStyle>
          <a:p>
            <a:pPr/>
            <a:r>
              <a:t>Build vs. buy is the question. The proposed pilot is how to test it.</a:t>
            </a:r>
          </a:p>
        </p:txBody>
      </p:sp>
      <p:sp>
        <p:nvSpPr>
          <p:cNvPr id="108" name="PARTNER FOUNDATION"/>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PARTNER FOUNDATION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Text 1"/>
          <p:cNvSpPr txBox="1"/>
          <p:nvPr/>
        </p:nvSpPr>
        <p:spPr>
          <a:xfrm>
            <a:off x="640079" y="914400"/>
            <a:ext cx="10908794" cy="11592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4600"/>
              </a:lnSpc>
              <a:defRPr b="1" spc="-100" sz="4000">
                <a:solidFill>
                  <a:srgbClr val="FFFFFF"/>
                </a:solidFill>
                <a:latin typeface="Arial"/>
                <a:ea typeface="Arial"/>
                <a:cs typeface="Arial"/>
                <a:sym typeface="Arial"/>
              </a:defRPr>
            </a:pPr>
            <a:r>
              <a:t>You've already built</a:t>
            </a:r>
          </a:p>
          <a:p>
            <a:pPr>
              <a:lnSpc>
                <a:spcPts val="4600"/>
              </a:lnSpc>
              <a:defRPr b="1" spc="-100" sz="4000">
                <a:solidFill>
                  <a:srgbClr val="FFFFFF"/>
                </a:solidFill>
                <a:latin typeface="Arial"/>
                <a:ea typeface="Arial"/>
                <a:cs typeface="Arial"/>
                <a:sym typeface="Arial"/>
              </a:defRPr>
            </a:pPr>
            <a:r>
              <a:t>the other half of this</a:t>
            </a:r>
          </a:p>
        </p:txBody>
      </p:sp>
      <p:sp>
        <p:nvSpPr>
          <p:cNvPr id="111" name="Text 2"/>
          <p:cNvSpPr txBox="1"/>
          <p:nvPr/>
        </p:nvSpPr>
        <p:spPr>
          <a:xfrm>
            <a:off x="640080" y="2103120"/>
            <a:ext cx="10881360" cy="4756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solidFill>
                  <a:srgbClr val="C9D3F0"/>
                </a:solidFill>
              </a:defRPr>
            </a:lvl1pPr>
          </a:lstStyle>
          <a:p>
            <a:pPr/>
            <a:r>
              <a:t>Kite Connect exposes live account data to third-party software. Kite MCP goes further — it's account infrastructure built specifically to be readable by AI agents. That's not a coincidence we're reacting to; it's the exact shape of integration Anvest is built to sit behind.</a:t>
            </a:r>
          </a:p>
        </p:txBody>
      </p:sp>
      <p:sp>
        <p:nvSpPr>
          <p:cNvPr id="112" name="Shape 3"/>
          <p:cNvSpPr/>
          <p:nvPr/>
        </p:nvSpPr>
        <p:spPr>
          <a:xfrm>
            <a:off x="640080" y="2788920"/>
            <a:ext cx="3493009" cy="2283163"/>
          </a:xfrm>
          <a:prstGeom prst="roundRect">
            <a:avLst>
              <a:gd name="adj" fmla="val 5607"/>
            </a:avLst>
          </a:prstGeom>
          <a:solidFill>
            <a:srgbClr val="FFFFFF">
              <a:alpha val="8000"/>
            </a:srgbClr>
          </a:solidFill>
          <a:ln>
            <a:solidFill>
              <a:srgbClr val="FFFFFF">
                <a:alpha val="22000"/>
              </a:srgbClr>
            </a:solidFill>
          </a:ln>
        </p:spPr>
        <p:txBody>
          <a:bodyPr lIns="0" tIns="0" rIns="0" bIns="0"/>
          <a:lstStyle/>
          <a:p>
            <a:pPr/>
          </a:p>
        </p:txBody>
      </p:sp>
      <p:sp>
        <p:nvSpPr>
          <p:cNvPr id="113" name="Shape 4"/>
          <p:cNvSpPr/>
          <p:nvPr/>
        </p:nvSpPr>
        <p:spPr>
          <a:xfrm>
            <a:off x="932688" y="2999232"/>
            <a:ext cx="457201" cy="457201"/>
          </a:xfrm>
          <a:prstGeom prst="roundRect">
            <a:avLst>
              <a:gd name="adj" fmla="val 34000"/>
            </a:avLst>
          </a:prstGeom>
          <a:solidFill>
            <a:srgbClr val="F5A623"/>
          </a:solidFill>
          <a:ln w="12700">
            <a:solidFill>
              <a:srgbClr val="F5A623"/>
            </a:solidFill>
          </a:ln>
        </p:spPr>
        <p:txBody>
          <a:bodyPr lIns="0" tIns="0" rIns="0" bIns="0"/>
          <a:lstStyle/>
          <a:p>
            <a:pPr/>
          </a:p>
        </p:txBody>
      </p:sp>
      <p:sp>
        <p:nvSpPr>
          <p:cNvPr id="114" name="Text 5"/>
          <p:cNvSpPr txBox="1"/>
          <p:nvPr/>
        </p:nvSpPr>
        <p:spPr>
          <a:xfrm>
            <a:off x="932688" y="3149399"/>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1200">
                <a:solidFill>
                  <a:srgbClr val="0B0E26"/>
                </a:solidFill>
              </a:defRPr>
            </a:lvl1pPr>
          </a:lstStyle>
          <a:p>
            <a:pPr/>
            <a:r>
              <a:t>1</a:t>
            </a:r>
          </a:p>
        </p:txBody>
      </p:sp>
      <p:sp>
        <p:nvSpPr>
          <p:cNvPr id="115" name="Text 6"/>
          <p:cNvSpPr txBox="1"/>
          <p:nvPr/>
        </p:nvSpPr>
        <p:spPr>
          <a:xfrm>
            <a:off x="932687" y="3611879"/>
            <a:ext cx="2926082"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Live account link</a:t>
            </a:r>
          </a:p>
        </p:txBody>
      </p:sp>
      <p:sp>
        <p:nvSpPr>
          <p:cNvPr id="116" name="Text 7"/>
          <p:cNvSpPr txBox="1"/>
          <p:nvPr/>
        </p:nvSpPr>
        <p:spPr>
          <a:xfrm>
            <a:off x="932687" y="3977640"/>
            <a:ext cx="2926082" cy="2076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61" sz="1100">
                <a:solidFill>
                  <a:srgbClr val="F5A623"/>
                </a:solidFill>
              </a:defRPr>
            </a:lvl1pPr>
          </a:lstStyle>
          <a:p>
            <a:pPr/>
            <a:r>
              <a:t>Kite Connect / broker API</a:t>
            </a:r>
          </a:p>
        </p:txBody>
      </p:sp>
      <p:sp>
        <p:nvSpPr>
          <p:cNvPr id="117" name="Text 8"/>
          <p:cNvSpPr txBox="1"/>
          <p:nvPr/>
        </p:nvSpPr>
        <p:spPr>
          <a:xfrm>
            <a:off x="923543" y="4382051"/>
            <a:ext cx="2926082" cy="494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7C88B0"/>
                </a:solidFill>
              </a:defRPr>
            </a:lvl1pPr>
          </a:lstStyle>
          <a:p>
            <a:pPr/>
            <a:r>
              <a:t>User's holdings, positions, and order history — read-only and user-authorised. Approvals and data-handling terms to be agreed with you.</a:t>
            </a:r>
          </a:p>
        </p:txBody>
      </p:sp>
      <p:sp>
        <p:nvSpPr>
          <p:cNvPr id="118" name="Text 9"/>
          <p:cNvSpPr txBox="1"/>
          <p:nvPr/>
        </p:nvSpPr>
        <p:spPr>
          <a:xfrm>
            <a:off x="4005071" y="3931920"/>
            <a:ext cx="640081" cy="2425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700"/>
              </a:lnSpc>
              <a:defRPr sz="2200">
                <a:solidFill>
                  <a:srgbClr val="F5A623"/>
                </a:solidFill>
              </a:defRPr>
            </a:lvl1pPr>
          </a:lstStyle>
          <a:p>
            <a:pPr/>
            <a:r>
              <a:t>→</a:t>
            </a:r>
          </a:p>
        </p:txBody>
      </p:sp>
      <p:sp>
        <p:nvSpPr>
          <p:cNvPr id="119" name="Shape 10"/>
          <p:cNvSpPr/>
          <p:nvPr/>
        </p:nvSpPr>
        <p:spPr>
          <a:xfrm>
            <a:off x="4315967" y="2788920"/>
            <a:ext cx="3493010" cy="2283163"/>
          </a:xfrm>
          <a:prstGeom prst="roundRect">
            <a:avLst>
              <a:gd name="adj" fmla="val 5607"/>
            </a:avLst>
          </a:prstGeom>
          <a:solidFill>
            <a:srgbClr val="FFFFFF">
              <a:alpha val="8000"/>
            </a:srgbClr>
          </a:solidFill>
          <a:ln>
            <a:solidFill>
              <a:srgbClr val="FFFFFF">
                <a:alpha val="22000"/>
              </a:srgbClr>
            </a:solidFill>
          </a:ln>
        </p:spPr>
        <p:txBody>
          <a:bodyPr lIns="0" tIns="0" rIns="0" bIns="0"/>
          <a:lstStyle/>
          <a:p>
            <a:pPr/>
          </a:p>
        </p:txBody>
      </p:sp>
      <p:sp>
        <p:nvSpPr>
          <p:cNvPr id="120" name="Shape 11"/>
          <p:cNvSpPr/>
          <p:nvPr/>
        </p:nvSpPr>
        <p:spPr>
          <a:xfrm>
            <a:off x="4608576" y="2999232"/>
            <a:ext cx="457201" cy="457201"/>
          </a:xfrm>
          <a:prstGeom prst="roundRect">
            <a:avLst>
              <a:gd name="adj" fmla="val 34000"/>
            </a:avLst>
          </a:prstGeom>
          <a:solidFill>
            <a:srgbClr val="F5A623"/>
          </a:solidFill>
          <a:ln w="12700">
            <a:solidFill>
              <a:srgbClr val="F5A623"/>
            </a:solidFill>
          </a:ln>
        </p:spPr>
        <p:txBody>
          <a:bodyPr lIns="0" tIns="0" rIns="0" bIns="0"/>
          <a:lstStyle/>
          <a:p>
            <a:pPr/>
          </a:p>
        </p:txBody>
      </p:sp>
      <p:sp>
        <p:nvSpPr>
          <p:cNvPr id="121" name="Text 12"/>
          <p:cNvSpPr txBox="1"/>
          <p:nvPr/>
        </p:nvSpPr>
        <p:spPr>
          <a:xfrm>
            <a:off x="4608576" y="3149399"/>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1200">
                <a:solidFill>
                  <a:srgbClr val="0B0E26"/>
                </a:solidFill>
              </a:defRPr>
            </a:lvl1pPr>
          </a:lstStyle>
          <a:p>
            <a:pPr/>
            <a:r>
              <a:t>2</a:t>
            </a:r>
          </a:p>
        </p:txBody>
      </p:sp>
      <p:sp>
        <p:nvSpPr>
          <p:cNvPr id="122" name="Text 13"/>
          <p:cNvSpPr txBox="1"/>
          <p:nvPr/>
        </p:nvSpPr>
        <p:spPr>
          <a:xfrm>
            <a:off x="4608576" y="3611879"/>
            <a:ext cx="292608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Grounded reasoning layer</a:t>
            </a:r>
          </a:p>
        </p:txBody>
      </p:sp>
      <p:sp>
        <p:nvSpPr>
          <p:cNvPr id="123" name="Text 14"/>
          <p:cNvSpPr txBox="1"/>
          <p:nvPr/>
        </p:nvSpPr>
        <p:spPr>
          <a:xfrm>
            <a:off x="4608576" y="3977640"/>
            <a:ext cx="2926081" cy="2076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61" sz="1100">
                <a:solidFill>
                  <a:srgbClr val="F5A623"/>
                </a:solidFill>
              </a:defRPr>
            </a:lvl1pPr>
          </a:lstStyle>
          <a:p>
            <a:pPr/>
            <a:r>
              <a:t>Anvest's warehouse + retrieval</a:t>
            </a:r>
          </a:p>
        </p:txBody>
      </p:sp>
      <p:sp>
        <p:nvSpPr>
          <p:cNvPr id="124" name="Text 15"/>
          <p:cNvSpPr txBox="1"/>
          <p:nvPr/>
        </p:nvSpPr>
        <p:spPr>
          <a:xfrm>
            <a:off x="4599432" y="4382051"/>
            <a:ext cx="2926081" cy="494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7C88B0"/>
                </a:solidFill>
              </a:defRPr>
            </a:lvl1pPr>
          </a:lstStyle>
          <a:p>
            <a:pPr/>
            <a:r>
              <a:t>Every holding gets matched against the filing that explains it. The account link makes the research personal instead of generic.</a:t>
            </a:r>
          </a:p>
        </p:txBody>
      </p:sp>
      <p:sp>
        <p:nvSpPr>
          <p:cNvPr id="125" name="Text 16"/>
          <p:cNvSpPr txBox="1"/>
          <p:nvPr/>
        </p:nvSpPr>
        <p:spPr>
          <a:xfrm>
            <a:off x="7680959" y="3931920"/>
            <a:ext cx="640081" cy="2425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700"/>
              </a:lnSpc>
              <a:defRPr sz="2200">
                <a:solidFill>
                  <a:srgbClr val="F5A623"/>
                </a:solidFill>
              </a:defRPr>
            </a:lvl1pPr>
          </a:lstStyle>
          <a:p>
            <a:pPr/>
            <a:r>
              <a:t>→</a:t>
            </a:r>
          </a:p>
        </p:txBody>
      </p:sp>
      <p:sp>
        <p:nvSpPr>
          <p:cNvPr id="126" name="Shape 17"/>
          <p:cNvSpPr/>
          <p:nvPr/>
        </p:nvSpPr>
        <p:spPr>
          <a:xfrm>
            <a:off x="7991856" y="2788920"/>
            <a:ext cx="3493009" cy="2283163"/>
          </a:xfrm>
          <a:prstGeom prst="roundRect">
            <a:avLst>
              <a:gd name="adj" fmla="val 5607"/>
            </a:avLst>
          </a:prstGeom>
          <a:solidFill>
            <a:srgbClr val="FFFFFF">
              <a:alpha val="8000"/>
            </a:srgbClr>
          </a:solidFill>
          <a:ln>
            <a:solidFill>
              <a:srgbClr val="FFFFFF">
                <a:alpha val="22000"/>
              </a:srgbClr>
            </a:solidFill>
          </a:ln>
        </p:spPr>
        <p:txBody>
          <a:bodyPr lIns="0" tIns="0" rIns="0" bIns="0"/>
          <a:lstStyle/>
          <a:p>
            <a:pPr/>
          </a:p>
        </p:txBody>
      </p:sp>
      <p:sp>
        <p:nvSpPr>
          <p:cNvPr id="127" name="Shape 18"/>
          <p:cNvSpPr/>
          <p:nvPr/>
        </p:nvSpPr>
        <p:spPr>
          <a:xfrm>
            <a:off x="8284464" y="2999232"/>
            <a:ext cx="457201" cy="457201"/>
          </a:xfrm>
          <a:prstGeom prst="roundRect">
            <a:avLst>
              <a:gd name="adj" fmla="val 34000"/>
            </a:avLst>
          </a:prstGeom>
          <a:solidFill>
            <a:srgbClr val="F5A623"/>
          </a:solidFill>
          <a:ln w="12700">
            <a:solidFill>
              <a:srgbClr val="F5A623"/>
            </a:solidFill>
          </a:ln>
        </p:spPr>
        <p:txBody>
          <a:bodyPr lIns="0" tIns="0" rIns="0" bIns="0"/>
          <a:lstStyle/>
          <a:p>
            <a:pPr/>
          </a:p>
        </p:txBody>
      </p:sp>
      <p:sp>
        <p:nvSpPr>
          <p:cNvPr id="128" name="Text 19"/>
          <p:cNvSpPr txBox="1"/>
          <p:nvPr/>
        </p:nvSpPr>
        <p:spPr>
          <a:xfrm>
            <a:off x="8284464" y="3149399"/>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1200">
                <a:solidFill>
                  <a:srgbClr val="0B0E26"/>
                </a:solidFill>
              </a:defRPr>
            </a:lvl1pPr>
          </a:lstStyle>
          <a:p>
            <a:pPr/>
            <a:r>
              <a:t>3</a:t>
            </a:r>
          </a:p>
        </p:txBody>
      </p:sp>
      <p:sp>
        <p:nvSpPr>
          <p:cNvPr id="129" name="Text 20"/>
          <p:cNvSpPr txBox="1"/>
          <p:nvPr/>
        </p:nvSpPr>
        <p:spPr>
          <a:xfrm>
            <a:off x="8284464" y="3611879"/>
            <a:ext cx="292608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Agent-native surface</a:t>
            </a:r>
          </a:p>
        </p:txBody>
      </p:sp>
      <p:sp>
        <p:nvSpPr>
          <p:cNvPr id="130" name="Text 21"/>
          <p:cNvSpPr txBox="1"/>
          <p:nvPr/>
        </p:nvSpPr>
        <p:spPr>
          <a:xfrm>
            <a:off x="8284464" y="3977640"/>
            <a:ext cx="2926081" cy="2076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61" sz="1100">
                <a:solidFill>
                  <a:srgbClr val="F5A623"/>
                </a:solidFill>
              </a:defRPr>
            </a:lvl1pPr>
          </a:lstStyle>
          <a:p>
            <a:pPr/>
            <a:r>
              <a:t>Kite MCP / your assistant of choice</a:t>
            </a:r>
          </a:p>
        </p:txBody>
      </p:sp>
      <p:sp>
        <p:nvSpPr>
          <p:cNvPr id="131" name="Text 22"/>
          <p:cNvSpPr txBox="1"/>
          <p:nvPr/>
        </p:nvSpPr>
        <p:spPr>
          <a:xfrm>
            <a:off x="8275319" y="4382051"/>
            <a:ext cx="2926081" cy="494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7C88B0"/>
                </a:solidFill>
              </a:defRPr>
            </a:lvl1pPr>
          </a:lstStyle>
          <a:p>
            <a:pPr/>
            <a:r>
              <a:t>An AI agent — yours or a user's own — can ask Anvest a grounded question about a position it already sees, and get an answer with a citation, not a guess.</a:t>
            </a:r>
          </a:p>
        </p:txBody>
      </p:sp>
      <p:sp>
        <p:nvSpPr>
          <p:cNvPr id="132" name="Shape 23"/>
          <p:cNvSpPr/>
          <p:nvPr/>
        </p:nvSpPr>
        <p:spPr>
          <a:xfrm>
            <a:off x="640080" y="5623559"/>
            <a:ext cx="10908793" cy="777241"/>
          </a:xfrm>
          <a:prstGeom prst="roundRect">
            <a:avLst>
              <a:gd name="adj" fmla="val 16471"/>
            </a:avLst>
          </a:prstGeom>
          <a:solidFill>
            <a:srgbClr val="FFFFFF">
              <a:alpha val="12000"/>
            </a:srgbClr>
          </a:solidFill>
          <a:ln>
            <a:solidFill>
              <a:srgbClr val="FFFFFF">
                <a:alpha val="22000"/>
              </a:srgbClr>
            </a:solidFill>
          </a:ln>
        </p:spPr>
        <p:txBody>
          <a:bodyPr lIns="0" tIns="0" rIns="0" bIns="0"/>
          <a:lstStyle/>
          <a:p>
            <a:pPr/>
          </a:p>
        </p:txBody>
      </p:sp>
      <p:sp>
        <p:nvSpPr>
          <p:cNvPr id="133" name="Text 24"/>
          <p:cNvSpPr txBox="1"/>
          <p:nvPr/>
        </p:nvSpPr>
        <p:spPr>
          <a:xfrm>
            <a:off x="1051560" y="5787389"/>
            <a:ext cx="10085832" cy="4495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200">
                <a:solidFill>
                  <a:srgbClr val="FFFFFF"/>
                </a:solidFill>
              </a:defRPr>
            </a:lvl1pPr>
          </a:lstStyle>
          <a:p>
            <a:pPr/>
            <a:r>
              <a:t>Concretely: a user asks their Kite-connected assistant "what did the companies I hold disclose this week?", and the answer comes from Anvest's filing-grounded warehouse, each point cited to its filing.</a:t>
            </a:r>
          </a:p>
        </p:txBody>
      </p:sp>
      <p:sp>
        <p:nvSpPr>
          <p:cNvPr id="134" name="THE INTEGRATION"/>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THE INTEGRATION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ext 1"/>
          <p:cNvSpPr txBox="1"/>
          <p:nvPr/>
        </p:nvSpPr>
        <p:spPr>
          <a:xfrm>
            <a:off x="640079" y="914400"/>
            <a:ext cx="10908794" cy="5750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600"/>
              </a:lnSpc>
              <a:defRPr b="1" spc="-100" sz="4000">
                <a:solidFill>
                  <a:srgbClr val="FFFFFF"/>
                </a:solidFill>
                <a:latin typeface="Arial"/>
                <a:ea typeface="Arial"/>
                <a:cs typeface="Arial"/>
                <a:sym typeface="Arial"/>
              </a:defRPr>
            </a:lvl1pPr>
          </a:lstStyle>
          <a:p>
            <a:pPr/>
            <a:r>
              <a:t>“Don't we already compete?”</a:t>
            </a:r>
          </a:p>
        </p:txBody>
      </p:sp>
      <p:sp>
        <p:nvSpPr>
          <p:cNvPr id="137" name="Shape 2"/>
          <p:cNvSpPr/>
          <p:nvPr/>
        </p:nvSpPr>
        <p:spPr>
          <a:xfrm>
            <a:off x="640080" y="2286000"/>
            <a:ext cx="3493009" cy="2331721"/>
          </a:xfrm>
          <a:prstGeom prst="roundRect">
            <a:avLst>
              <a:gd name="adj" fmla="val 5490"/>
            </a:avLst>
          </a:prstGeom>
          <a:solidFill>
            <a:srgbClr val="FFFFFF">
              <a:alpha val="8000"/>
            </a:srgbClr>
          </a:solidFill>
          <a:ln>
            <a:solidFill>
              <a:srgbClr val="FFFFFF">
                <a:alpha val="22000"/>
              </a:srgbClr>
            </a:solidFill>
          </a:ln>
        </p:spPr>
        <p:txBody>
          <a:bodyPr lIns="0" tIns="0" rIns="0" bIns="0"/>
          <a:lstStyle/>
          <a:p>
            <a:pPr/>
          </a:p>
        </p:txBody>
      </p:sp>
      <p:sp>
        <p:nvSpPr>
          <p:cNvPr id="138" name="Shape 3"/>
          <p:cNvSpPr/>
          <p:nvPr/>
        </p:nvSpPr>
        <p:spPr>
          <a:xfrm>
            <a:off x="932688" y="2487167"/>
            <a:ext cx="2194561" cy="292609"/>
          </a:xfrm>
          <a:prstGeom prst="roundRect">
            <a:avLst>
              <a:gd name="adj" fmla="val 50000"/>
            </a:avLst>
          </a:prstGeom>
          <a:solidFill>
            <a:srgbClr val="4A3699"/>
          </a:solidFill>
          <a:ln w="12700">
            <a:solidFill>
              <a:srgbClr val="4A3699"/>
            </a:solidFill>
          </a:ln>
        </p:spPr>
        <p:txBody>
          <a:bodyPr lIns="0" tIns="0" rIns="0" bIns="0"/>
          <a:lstStyle/>
          <a:p>
            <a:pPr/>
          </a:p>
        </p:txBody>
      </p:sp>
      <p:sp>
        <p:nvSpPr>
          <p:cNvPr id="139" name="Text 4"/>
          <p:cNvSpPr txBox="1"/>
          <p:nvPr/>
        </p:nvSpPr>
        <p:spPr>
          <a:xfrm>
            <a:off x="932688" y="2569972"/>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800">
                <a:solidFill>
                  <a:srgbClr val="FFFFFF"/>
                </a:solidFill>
              </a:defRPr>
            </a:lvl1pPr>
          </a:lstStyle>
          <a:p>
            <a:pPr/>
            <a:r>
              <a:t>A DASHBOARD</a:t>
            </a:r>
          </a:p>
        </p:txBody>
      </p:sp>
      <p:sp>
        <p:nvSpPr>
          <p:cNvPr id="140" name="Text 5"/>
          <p:cNvSpPr txBox="1"/>
          <p:nvPr/>
        </p:nvSpPr>
        <p:spPr>
          <a:xfrm>
            <a:off x="932687" y="2907792"/>
            <a:ext cx="2926082"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What your research surface does</a:t>
            </a:r>
          </a:p>
        </p:txBody>
      </p:sp>
      <p:sp>
        <p:nvSpPr>
          <p:cNvPr id="141" name="Text 6"/>
          <p:cNvSpPr txBox="1"/>
          <p:nvPr/>
        </p:nvSpPr>
        <p:spPr>
          <a:xfrm>
            <a:off x="932687" y="3291840"/>
            <a:ext cx="2926082" cy="5327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100">
                <a:solidFill>
                  <a:srgbClr val="7C88B0"/>
                </a:solidFill>
              </a:defRPr>
            </a:lvl1pPr>
          </a:lstStyle>
          <a:p>
            <a:pPr/>
            <a:r>
              <a:t>Ratios, charts, screeners, watchlists. Built for someone who already knows what ROCE means and wants it fast.</a:t>
            </a:r>
          </a:p>
        </p:txBody>
      </p:sp>
      <p:sp>
        <p:nvSpPr>
          <p:cNvPr id="142" name="Shape 7"/>
          <p:cNvSpPr/>
          <p:nvPr/>
        </p:nvSpPr>
        <p:spPr>
          <a:xfrm>
            <a:off x="4315967" y="2286000"/>
            <a:ext cx="3493010" cy="2331721"/>
          </a:xfrm>
          <a:prstGeom prst="roundRect">
            <a:avLst>
              <a:gd name="adj" fmla="val 5490"/>
            </a:avLst>
          </a:prstGeom>
          <a:solidFill>
            <a:srgbClr val="FFFFFF">
              <a:alpha val="8000"/>
            </a:srgbClr>
          </a:solidFill>
          <a:ln>
            <a:solidFill>
              <a:srgbClr val="FFFFFF">
                <a:alpha val="22000"/>
              </a:srgbClr>
            </a:solidFill>
          </a:ln>
        </p:spPr>
        <p:txBody>
          <a:bodyPr lIns="0" tIns="0" rIns="0" bIns="0"/>
          <a:lstStyle/>
          <a:p>
            <a:pPr/>
          </a:p>
        </p:txBody>
      </p:sp>
      <p:sp>
        <p:nvSpPr>
          <p:cNvPr id="143" name="Shape 8"/>
          <p:cNvSpPr/>
          <p:nvPr/>
        </p:nvSpPr>
        <p:spPr>
          <a:xfrm>
            <a:off x="4608576" y="2487167"/>
            <a:ext cx="2194561" cy="292609"/>
          </a:xfrm>
          <a:prstGeom prst="roundRect">
            <a:avLst>
              <a:gd name="adj" fmla="val 50000"/>
            </a:avLst>
          </a:prstGeom>
          <a:solidFill>
            <a:srgbClr val="4A3699"/>
          </a:solidFill>
          <a:ln w="12700">
            <a:solidFill>
              <a:srgbClr val="4A3699"/>
            </a:solidFill>
          </a:ln>
        </p:spPr>
        <p:txBody>
          <a:bodyPr lIns="0" tIns="0" rIns="0" bIns="0"/>
          <a:lstStyle/>
          <a:p>
            <a:pPr/>
          </a:p>
        </p:txBody>
      </p:sp>
      <p:sp>
        <p:nvSpPr>
          <p:cNvPr id="144" name="Text 9"/>
          <p:cNvSpPr txBox="1"/>
          <p:nvPr/>
        </p:nvSpPr>
        <p:spPr>
          <a:xfrm>
            <a:off x="4608576" y="2569972"/>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800">
                <a:solidFill>
                  <a:srgbClr val="FFFFFF"/>
                </a:solidFill>
              </a:defRPr>
            </a:lvl1pPr>
          </a:lstStyle>
          <a:p>
            <a:pPr/>
            <a:r>
              <a:t>A GROUNDED-ANSWER LAYER</a:t>
            </a:r>
          </a:p>
        </p:txBody>
      </p:sp>
      <p:sp>
        <p:nvSpPr>
          <p:cNvPr id="145" name="Text 10"/>
          <p:cNvSpPr txBox="1"/>
          <p:nvPr/>
        </p:nvSpPr>
        <p:spPr>
          <a:xfrm>
            <a:off x="4608576" y="2907792"/>
            <a:ext cx="292608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What Anvest does</a:t>
            </a:r>
          </a:p>
        </p:txBody>
      </p:sp>
      <p:sp>
        <p:nvSpPr>
          <p:cNvPr id="146" name="Text 11"/>
          <p:cNvSpPr txBox="1"/>
          <p:nvPr/>
        </p:nvSpPr>
        <p:spPr>
          <a:xfrm>
            <a:off x="4608576" y="3291840"/>
            <a:ext cx="2926081" cy="354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100">
                <a:solidFill>
                  <a:srgbClr val="7C88B0"/>
                </a:solidFill>
              </a:defRPr>
            </a:lvl1pPr>
          </a:lstStyle>
          <a:p>
            <a:pPr/>
            <a:r>
              <a:t>Answers a question in plain English, cites the filing it came from, and says so when it doesn't know.</a:t>
            </a:r>
          </a:p>
        </p:txBody>
      </p:sp>
      <p:sp>
        <p:nvSpPr>
          <p:cNvPr id="147" name="Shape 12"/>
          <p:cNvSpPr/>
          <p:nvPr/>
        </p:nvSpPr>
        <p:spPr>
          <a:xfrm>
            <a:off x="7991856" y="2286000"/>
            <a:ext cx="3493009" cy="2331721"/>
          </a:xfrm>
          <a:prstGeom prst="roundRect">
            <a:avLst>
              <a:gd name="adj" fmla="val 5490"/>
            </a:avLst>
          </a:prstGeom>
          <a:solidFill>
            <a:srgbClr val="FFFFFF">
              <a:alpha val="8000"/>
            </a:srgbClr>
          </a:solidFill>
          <a:ln>
            <a:solidFill>
              <a:srgbClr val="FFFFFF">
                <a:alpha val="22000"/>
              </a:srgbClr>
            </a:solidFill>
          </a:ln>
        </p:spPr>
        <p:txBody>
          <a:bodyPr lIns="0" tIns="0" rIns="0" bIns="0"/>
          <a:lstStyle/>
          <a:p>
            <a:pPr/>
          </a:p>
        </p:txBody>
      </p:sp>
      <p:sp>
        <p:nvSpPr>
          <p:cNvPr id="148" name="Shape 13"/>
          <p:cNvSpPr/>
          <p:nvPr/>
        </p:nvSpPr>
        <p:spPr>
          <a:xfrm>
            <a:off x="8284464" y="2487167"/>
            <a:ext cx="2194561" cy="292609"/>
          </a:xfrm>
          <a:prstGeom prst="roundRect">
            <a:avLst>
              <a:gd name="adj" fmla="val 50000"/>
            </a:avLst>
          </a:prstGeom>
          <a:solidFill>
            <a:srgbClr val="F5A623"/>
          </a:solidFill>
          <a:ln w="12700">
            <a:solidFill>
              <a:srgbClr val="F5A623"/>
            </a:solidFill>
          </a:ln>
        </p:spPr>
        <p:txBody>
          <a:bodyPr lIns="0" tIns="0" rIns="0" bIns="0"/>
          <a:lstStyle/>
          <a:p>
            <a:pPr/>
          </a:p>
        </p:txBody>
      </p:sp>
      <p:sp>
        <p:nvSpPr>
          <p:cNvPr id="149" name="Text 14"/>
          <p:cNvSpPr txBox="1"/>
          <p:nvPr/>
        </p:nvSpPr>
        <p:spPr>
          <a:xfrm>
            <a:off x="8284464" y="2569972"/>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800">
                <a:solidFill>
                  <a:srgbClr val="0B0E26"/>
                </a:solidFill>
              </a:defRPr>
            </a:lvl1pPr>
          </a:lstStyle>
          <a:p>
            <a:pPr/>
            <a:r>
              <a:t>REAL OVERLAP</a:t>
            </a:r>
          </a:p>
        </p:txBody>
      </p:sp>
      <p:sp>
        <p:nvSpPr>
          <p:cNvPr id="150" name="Text 15"/>
          <p:cNvSpPr txBox="1"/>
          <p:nvPr/>
        </p:nvSpPr>
        <p:spPr>
          <a:xfrm>
            <a:off x="8284464" y="2907792"/>
            <a:ext cx="292608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Where they meet</a:t>
            </a:r>
          </a:p>
        </p:txBody>
      </p:sp>
      <p:sp>
        <p:nvSpPr>
          <p:cNvPr id="151" name="Text 16"/>
          <p:cNvSpPr txBox="1"/>
          <p:nvPr/>
        </p:nvSpPr>
        <p:spPr>
          <a:xfrm>
            <a:off x="8284464" y="3291840"/>
            <a:ext cx="2926081" cy="7105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100">
                <a:solidFill>
                  <a:srgbClr val="7C88B0"/>
                </a:solidFill>
              </a:defRPr>
            </a:lvl1pPr>
          </a:lstStyle>
          <a:p>
            <a:pPr/>
            <a:r>
              <a:t>Both help a user understand a company, and the overlap grows as each adds features. The real question is whether partnering beats building this layer yourself.</a:t>
            </a:r>
          </a:p>
        </p:txBody>
      </p:sp>
      <p:sp>
        <p:nvSpPr>
          <p:cNvPr id="152" name="Shape 17"/>
          <p:cNvSpPr/>
          <p:nvPr/>
        </p:nvSpPr>
        <p:spPr>
          <a:xfrm>
            <a:off x="640080" y="4892040"/>
            <a:ext cx="10908793" cy="1148406"/>
          </a:xfrm>
          <a:prstGeom prst="roundRect">
            <a:avLst>
              <a:gd name="adj" fmla="val 11147"/>
            </a:avLst>
          </a:prstGeom>
          <a:solidFill>
            <a:srgbClr val="FFFFFF"/>
          </a:solidFill>
          <a:ln w="12700">
            <a:solidFill>
              <a:srgbClr val="FFFFFF"/>
            </a:solidFill>
          </a:ln>
        </p:spPr>
        <p:txBody>
          <a:bodyPr lIns="0" tIns="0" rIns="0" bIns="0"/>
          <a:lstStyle/>
          <a:p>
            <a:pPr/>
          </a:p>
        </p:txBody>
      </p:sp>
      <p:sp>
        <p:nvSpPr>
          <p:cNvPr id="153" name="Text 18"/>
          <p:cNvSpPr txBox="1"/>
          <p:nvPr/>
        </p:nvSpPr>
        <p:spPr>
          <a:xfrm>
            <a:off x="1005839" y="5074920"/>
            <a:ext cx="10149842"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1E2761"/>
                </a:solidFill>
              </a:defRPr>
            </a:lvl1pPr>
          </a:lstStyle>
          <a:p>
            <a:pPr/>
            <a:r>
              <a:t>How we'd settle it</a:t>
            </a:r>
          </a:p>
        </p:txBody>
      </p:sp>
      <p:sp>
        <p:nvSpPr>
          <p:cNvPr id="154" name="Text 19"/>
          <p:cNvSpPr txBox="1"/>
          <p:nvPr/>
        </p:nvSpPr>
        <p:spPr>
          <a:xfrm>
            <a:off x="1005839" y="5394959"/>
            <a:ext cx="10149842" cy="4006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100">
                <a:solidFill>
                  <a:srgbClr val="434B6B"/>
                </a:solidFill>
              </a:defRPr>
            </a:lvl1pPr>
          </a:lstStyle>
          <a:p>
            <a:pPr/>
            <a:r>
              <a:t>A partner should integrate only if it beats building. A scoped pilot measures exactly that on answer accuracy, citation quality, coverage of difficult filings and cost per answered question, so the decision rests on evidence.</a:t>
            </a:r>
          </a:p>
        </p:txBody>
      </p:sp>
      <p:sp>
        <p:nvSpPr>
          <p:cNvPr id="155" name="PRODUCT OVERLAP"/>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PRODUCT OVERLAP</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ext 1"/>
          <p:cNvSpPr txBox="1"/>
          <p:nvPr/>
        </p:nvSpPr>
        <p:spPr>
          <a:xfrm>
            <a:off x="640079" y="914400"/>
            <a:ext cx="10908794" cy="5750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600"/>
              </a:lnSpc>
              <a:defRPr b="1" spc="-100" sz="4000">
                <a:solidFill>
                  <a:srgbClr val="FFFFFF"/>
                </a:solidFill>
                <a:latin typeface="Arial"/>
                <a:ea typeface="Arial"/>
                <a:cs typeface="Arial"/>
                <a:sym typeface="Arial"/>
              </a:defRPr>
            </a:lvl1pPr>
          </a:lstStyle>
          <a:p>
            <a:pPr/>
            <a:r>
              <a:t>Built. Live. Ready to pilot.</a:t>
            </a:r>
          </a:p>
        </p:txBody>
      </p:sp>
      <p:sp>
        <p:nvSpPr>
          <p:cNvPr id="158" name="Shape 2"/>
          <p:cNvSpPr/>
          <p:nvPr/>
        </p:nvSpPr>
        <p:spPr>
          <a:xfrm>
            <a:off x="640080" y="2103120"/>
            <a:ext cx="5349241" cy="3703321"/>
          </a:xfrm>
          <a:prstGeom prst="roundRect">
            <a:avLst>
              <a:gd name="adj" fmla="val 3457"/>
            </a:avLst>
          </a:prstGeom>
          <a:solidFill>
            <a:srgbClr val="FFFFFF">
              <a:alpha val="8000"/>
            </a:srgbClr>
          </a:solidFill>
          <a:ln>
            <a:solidFill>
              <a:srgbClr val="FFFFFF">
                <a:alpha val="22000"/>
              </a:srgbClr>
            </a:solidFill>
          </a:ln>
        </p:spPr>
        <p:txBody>
          <a:bodyPr lIns="0" tIns="0" rIns="0" bIns="0"/>
          <a:lstStyle/>
          <a:p>
            <a:pPr/>
          </a:p>
        </p:txBody>
      </p:sp>
      <p:sp>
        <p:nvSpPr>
          <p:cNvPr id="159" name="Shape 3"/>
          <p:cNvSpPr/>
          <p:nvPr/>
        </p:nvSpPr>
        <p:spPr>
          <a:xfrm>
            <a:off x="1005839" y="2331720"/>
            <a:ext cx="1371601" cy="310897"/>
          </a:xfrm>
          <a:prstGeom prst="roundRect">
            <a:avLst>
              <a:gd name="adj" fmla="val 50000"/>
            </a:avLst>
          </a:prstGeom>
          <a:solidFill>
            <a:srgbClr val="3DD68C"/>
          </a:solidFill>
          <a:ln w="12700">
            <a:solidFill>
              <a:srgbClr val="3DD68C"/>
            </a:solidFill>
          </a:ln>
        </p:spPr>
        <p:txBody>
          <a:bodyPr lIns="0" tIns="0" rIns="0" bIns="0"/>
          <a:lstStyle/>
          <a:p>
            <a:pPr/>
          </a:p>
        </p:txBody>
      </p:sp>
      <p:sp>
        <p:nvSpPr>
          <p:cNvPr id="160" name="Text 4"/>
          <p:cNvSpPr txBox="1"/>
          <p:nvPr/>
        </p:nvSpPr>
        <p:spPr>
          <a:xfrm>
            <a:off x="1005839" y="2418632"/>
            <a:ext cx="1371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1000">
                <a:solidFill>
                  <a:srgbClr val="04301E"/>
                </a:solidFill>
              </a:defRPr>
            </a:lvl1pPr>
          </a:lstStyle>
          <a:p>
            <a:pPr/>
            <a:r>
              <a:t>SHIPPED</a:t>
            </a:r>
          </a:p>
        </p:txBody>
      </p:sp>
      <p:sp>
        <p:nvSpPr>
          <p:cNvPr id="161" name="Text 5"/>
          <p:cNvSpPr txBox="1"/>
          <p:nvPr/>
        </p:nvSpPr>
        <p:spPr>
          <a:xfrm>
            <a:off x="1005839" y="2834639"/>
            <a:ext cx="4617722" cy="10102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1600"/>
              </a:lnSpc>
              <a:buSzPct val="100000"/>
              <a:buChar char="•"/>
              <a:defRPr sz="1100">
                <a:solidFill>
                  <a:srgbClr val="C9D3F0"/>
                </a:solidFill>
              </a:defRPr>
            </a:pPr>
            <a:r>
              <a:t>Full-universe data warehouse, nightly ingestion</a:t>
            </a:r>
          </a:p>
          <a:p>
            <a:pPr marL="342900" indent="-342900">
              <a:lnSpc>
                <a:spcPts val="1600"/>
              </a:lnSpc>
              <a:buSzPct val="100000"/>
              <a:buChar char="•"/>
              <a:defRPr sz="1100">
                <a:solidFill>
                  <a:srgbClr val="C9D3F0"/>
                </a:solidFill>
              </a:defRPr>
            </a:pPr>
            <a:r>
              <a:t>OCR + vector pipeline over two years of filings</a:t>
            </a:r>
          </a:p>
          <a:p>
            <a:pPr marL="342900" indent="-342900">
              <a:lnSpc>
                <a:spcPts val="1600"/>
              </a:lnSpc>
              <a:buSzPct val="100000"/>
              <a:buChar char="•"/>
              <a:defRPr sz="1100">
                <a:solidFill>
                  <a:srgbClr val="C9D3F0"/>
                </a:solidFill>
              </a:defRPr>
            </a:pPr>
            <a:r>
              <a:t>Grounded copilot with verify-and-repair loops</a:t>
            </a:r>
          </a:p>
          <a:p>
            <a:pPr marL="342900" indent="-342900">
              <a:lnSpc>
                <a:spcPts val="1600"/>
              </a:lnSpc>
              <a:buSzPct val="100000"/>
              <a:buChar char="•"/>
              <a:defRPr sz="1100">
                <a:solidFill>
                  <a:srgbClr val="C9D3F0"/>
                </a:solidFill>
              </a:defRPr>
            </a:pPr>
            <a:r>
              <a:t>AI screener, portfolio X-ray, backtesting and paper trading</a:t>
            </a:r>
          </a:p>
          <a:p>
            <a:pPr marL="342900" indent="-342900">
              <a:lnSpc>
                <a:spcPts val="1600"/>
              </a:lnSpc>
              <a:buSzPct val="100000"/>
              <a:buChar char="•"/>
              <a:defRPr sz="1100">
                <a:solidFill>
                  <a:srgbClr val="C9D3F0"/>
                </a:solidFill>
              </a:defRPr>
            </a:pPr>
            <a:r>
              <a:t>Wealth planning and calculators; read-only broker link pattern</a:t>
            </a:r>
          </a:p>
        </p:txBody>
      </p:sp>
      <p:sp>
        <p:nvSpPr>
          <p:cNvPr id="162" name="Shape 6"/>
          <p:cNvSpPr/>
          <p:nvPr/>
        </p:nvSpPr>
        <p:spPr>
          <a:xfrm>
            <a:off x="1005839" y="4936896"/>
            <a:ext cx="4617722" cy="12701"/>
          </a:xfrm>
          <a:prstGeom prst="rect">
            <a:avLst/>
          </a:prstGeom>
          <a:solidFill>
            <a:srgbClr val="FFFFFF">
              <a:alpha val="18000"/>
            </a:srgbClr>
          </a:solidFill>
          <a:ln w="12700">
            <a:solidFill>
              <a:srgbClr val="FFFFFF">
                <a:alpha val="18000"/>
              </a:srgbClr>
            </a:solidFill>
          </a:ln>
        </p:spPr>
        <p:txBody>
          <a:bodyPr lIns="0" tIns="0" rIns="0" bIns="0"/>
          <a:lstStyle/>
          <a:p>
            <a:pPr/>
          </a:p>
        </p:txBody>
      </p:sp>
      <p:sp>
        <p:nvSpPr>
          <p:cNvPr id="163" name="Text 7"/>
          <p:cNvSpPr txBox="1"/>
          <p:nvPr/>
        </p:nvSpPr>
        <p:spPr>
          <a:xfrm>
            <a:off x="1005839" y="5120640"/>
            <a:ext cx="4617722" cy="3778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i="1" sz="1100">
                <a:solidFill>
                  <a:srgbClr val="7C88B0"/>
                </a:solidFill>
              </a:defRPr>
            </a:lvl1pPr>
          </a:lstStyle>
          <a:p>
            <a:pPr/>
            <a:r>
              <a:t>The broader toolkit is live. This pilot tests only the cited research layer and approved read-only integration.</a:t>
            </a:r>
          </a:p>
        </p:txBody>
      </p:sp>
      <p:sp>
        <p:nvSpPr>
          <p:cNvPr id="164" name="Shape 8"/>
          <p:cNvSpPr/>
          <p:nvPr/>
        </p:nvSpPr>
        <p:spPr>
          <a:xfrm>
            <a:off x="6454023" y="2103120"/>
            <a:ext cx="5102354" cy="3703321"/>
          </a:xfrm>
          <a:prstGeom prst="roundRect">
            <a:avLst>
              <a:gd name="adj" fmla="val 3457"/>
            </a:avLst>
          </a:prstGeom>
          <a:solidFill>
            <a:srgbClr val="FFFFFF">
              <a:alpha val="6000"/>
            </a:srgbClr>
          </a:solidFill>
          <a:ln>
            <a:solidFill>
              <a:srgbClr val="FFFFFF">
                <a:alpha val="22000"/>
              </a:srgbClr>
            </a:solidFill>
          </a:ln>
        </p:spPr>
        <p:txBody>
          <a:bodyPr lIns="0" tIns="0" rIns="0" bIns="0"/>
          <a:lstStyle/>
          <a:p>
            <a:pPr/>
          </a:p>
        </p:txBody>
      </p:sp>
      <p:sp>
        <p:nvSpPr>
          <p:cNvPr id="165" name="Shape 9"/>
          <p:cNvSpPr/>
          <p:nvPr/>
        </p:nvSpPr>
        <p:spPr>
          <a:xfrm>
            <a:off x="6812280" y="2331720"/>
            <a:ext cx="1828801" cy="310897"/>
          </a:xfrm>
          <a:prstGeom prst="roundRect">
            <a:avLst>
              <a:gd name="adj" fmla="val 50000"/>
            </a:avLst>
          </a:prstGeom>
          <a:solidFill>
            <a:srgbClr val="F5A623"/>
          </a:solidFill>
          <a:ln w="12700">
            <a:solidFill>
              <a:srgbClr val="F5A623"/>
            </a:solidFill>
          </a:ln>
        </p:spPr>
        <p:txBody>
          <a:bodyPr lIns="0" tIns="0" rIns="0" bIns="0"/>
          <a:lstStyle/>
          <a:p>
            <a:pPr/>
          </a:p>
        </p:txBody>
      </p:sp>
      <p:sp>
        <p:nvSpPr>
          <p:cNvPr id="166" name="Text 10"/>
          <p:cNvSpPr txBox="1"/>
          <p:nvPr/>
        </p:nvSpPr>
        <p:spPr>
          <a:xfrm>
            <a:off x="6812280" y="2418632"/>
            <a:ext cx="18288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60" sz="1000">
                <a:solidFill>
                  <a:srgbClr val="0B0E26"/>
                </a:solidFill>
              </a:defRPr>
            </a:lvl1pPr>
          </a:lstStyle>
          <a:p>
            <a:pPr/>
            <a:r>
              <a:t>EARLY SIGNAL</a:t>
            </a:r>
          </a:p>
        </p:txBody>
      </p:sp>
      <p:sp>
        <p:nvSpPr>
          <p:cNvPr id="167" name="Text 11"/>
          <p:cNvSpPr txBox="1"/>
          <p:nvPr/>
        </p:nvSpPr>
        <p:spPr>
          <a:xfrm>
            <a:off x="6812280" y="2880360"/>
            <a:ext cx="137160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5A623"/>
                </a:solidFill>
              </a:defRPr>
            </a:lvl1pPr>
          </a:lstStyle>
          <a:p>
            <a:pPr/>
            <a:r>
              <a:t>Users</a:t>
            </a:r>
          </a:p>
        </p:txBody>
      </p:sp>
      <p:sp>
        <p:nvSpPr>
          <p:cNvPr id="168" name="Text 12"/>
          <p:cNvSpPr txBox="1"/>
          <p:nvPr/>
        </p:nvSpPr>
        <p:spPr>
          <a:xfrm>
            <a:off x="8275319" y="2880360"/>
            <a:ext cx="3063241" cy="3289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C9D3F0"/>
                </a:solidFill>
              </a:defRPr>
            </a:lvl1pPr>
          </a:lstStyle>
          <a:p>
            <a:pPr/>
            <a:r>
              <a:t>~100 registered users, all organic: no paid marketing, no launch campaign.</a:t>
            </a:r>
          </a:p>
        </p:txBody>
      </p:sp>
      <p:sp>
        <p:nvSpPr>
          <p:cNvPr id="169" name="Text 13"/>
          <p:cNvSpPr txBox="1"/>
          <p:nvPr/>
        </p:nvSpPr>
        <p:spPr>
          <a:xfrm>
            <a:off x="6809105" y="3354778"/>
            <a:ext cx="137160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5A623"/>
                </a:solidFill>
              </a:defRPr>
            </a:lvl1pPr>
          </a:lstStyle>
          <a:p>
            <a:pPr/>
            <a:r>
              <a:t>Coverage</a:t>
            </a:r>
          </a:p>
        </p:txBody>
      </p:sp>
      <p:sp>
        <p:nvSpPr>
          <p:cNvPr id="170" name="Text 14"/>
          <p:cNvSpPr txBox="1"/>
          <p:nvPr/>
        </p:nvSpPr>
        <p:spPr>
          <a:xfrm>
            <a:off x="8278494" y="3354778"/>
            <a:ext cx="3063241" cy="3289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C9D3F0"/>
                </a:solidFill>
              </a:defRPr>
            </a:lvl1pPr>
          </a:lstStyle>
          <a:p>
            <a:pPr/>
            <a:r>
              <a:t>6,137 NSE/BSE symbols in the warehouse, every answer cited to its filing.</a:t>
            </a:r>
          </a:p>
        </p:txBody>
      </p:sp>
      <p:sp>
        <p:nvSpPr>
          <p:cNvPr id="171" name="Text 15"/>
          <p:cNvSpPr txBox="1"/>
          <p:nvPr/>
        </p:nvSpPr>
        <p:spPr>
          <a:xfrm>
            <a:off x="6812280" y="3838171"/>
            <a:ext cx="137160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5A623"/>
                </a:solidFill>
              </a:defRPr>
            </a:lvl1pPr>
          </a:lstStyle>
          <a:p>
            <a:pPr/>
            <a:r>
              <a:t>Broker link</a:t>
            </a:r>
          </a:p>
        </p:txBody>
      </p:sp>
      <p:sp>
        <p:nvSpPr>
          <p:cNvPr id="172" name="Text 16"/>
          <p:cNvSpPr txBox="1"/>
          <p:nvPr/>
        </p:nvSpPr>
        <p:spPr>
          <a:xfrm>
            <a:off x="8275319" y="3838171"/>
            <a:ext cx="3063241" cy="3289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C9D3F0"/>
                </a:solidFill>
              </a:defRPr>
            </a:lvl1pPr>
          </a:lstStyle>
          <a:p>
            <a:pPr/>
            <a:r>
              <a:t>Read-only link pattern built; multi-user partner access and approvals to be agreed.</a:t>
            </a:r>
          </a:p>
        </p:txBody>
      </p:sp>
      <p:sp>
        <p:nvSpPr>
          <p:cNvPr id="173" name="Text 17"/>
          <p:cNvSpPr txBox="1"/>
          <p:nvPr/>
        </p:nvSpPr>
        <p:spPr>
          <a:xfrm>
            <a:off x="6812280" y="4271409"/>
            <a:ext cx="137160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5A623"/>
                </a:solidFill>
              </a:defRPr>
            </a:lvl1pPr>
          </a:lstStyle>
          <a:p>
            <a:pPr/>
            <a:r>
              <a:t>Next 90 days</a:t>
            </a:r>
          </a:p>
        </p:txBody>
      </p:sp>
      <p:sp>
        <p:nvSpPr>
          <p:cNvPr id="174" name="Text 18"/>
          <p:cNvSpPr txBox="1"/>
          <p:nvPr/>
        </p:nvSpPr>
        <p:spPr>
          <a:xfrm>
            <a:off x="8275319" y="4271409"/>
            <a:ext cx="3063241" cy="3289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C9D3F0"/>
                </a:solidFill>
              </a:defRPr>
            </a:lvl1pPr>
          </a:lstStyle>
          <a:p>
            <a:pPr/>
            <a:r>
              <a:t>Live filing alerts, broker-connected portfolios, professional seats.</a:t>
            </a:r>
          </a:p>
        </p:txBody>
      </p:sp>
      <p:sp>
        <p:nvSpPr>
          <p:cNvPr id="175" name="Text 19"/>
          <p:cNvSpPr txBox="1"/>
          <p:nvPr/>
        </p:nvSpPr>
        <p:spPr>
          <a:xfrm>
            <a:off x="6742059" y="5074780"/>
            <a:ext cx="4526281" cy="2044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i="1" sz="1000">
                <a:solidFill>
                  <a:srgbClr val="C9D3F0"/>
                </a:solidFill>
              </a:defRPr>
            </a:lvl1pPr>
          </a:lstStyle>
          <a:p>
            <a:pPr/>
            <a:r>
              <a:t>An early product, ready for a scoped pilot.</a:t>
            </a:r>
          </a:p>
        </p:txBody>
      </p:sp>
      <p:sp>
        <p:nvSpPr>
          <p:cNvPr id="176" name="WHERE WE ARE"/>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WHERE WE ARE</a:t>
            </a:r>
          </a:p>
        </p:txBody>
      </p:sp>
      <p:sp>
        <p:nvSpPr>
          <p:cNvPr id="177" name="Shape 6"/>
          <p:cNvSpPr/>
          <p:nvPr/>
        </p:nvSpPr>
        <p:spPr>
          <a:xfrm>
            <a:off x="6766560" y="4936896"/>
            <a:ext cx="4617721" cy="12701"/>
          </a:xfrm>
          <a:prstGeom prst="rect">
            <a:avLst/>
          </a:prstGeom>
          <a:solidFill>
            <a:srgbClr val="FFFFFF">
              <a:alpha val="18000"/>
            </a:srgbClr>
          </a:solidFill>
          <a:ln w="12700">
            <a:solidFill>
              <a:srgbClr val="FFFFFF">
                <a:alpha val="18000"/>
              </a:srgbClr>
            </a:solidFill>
          </a:ln>
        </p:spPr>
        <p:txBody>
          <a:bodyPr lIns="0" tIns="0" rIns="0" bIns="0"/>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ext 1"/>
          <p:cNvSpPr txBox="1"/>
          <p:nvPr/>
        </p:nvSpPr>
        <p:spPr>
          <a:xfrm>
            <a:off x="640079" y="914400"/>
            <a:ext cx="10908794" cy="5750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600"/>
              </a:lnSpc>
              <a:defRPr b="1" spc="-100" sz="4000">
                <a:solidFill>
                  <a:srgbClr val="FFFFFF"/>
                </a:solidFill>
                <a:latin typeface="Arial"/>
                <a:ea typeface="Arial"/>
                <a:cs typeface="Arial"/>
                <a:sym typeface="Arial"/>
              </a:defRPr>
            </a:lvl1pPr>
          </a:lstStyle>
          <a:p>
            <a:pPr/>
            <a:r>
              <a:t>An AI workflow inside your product</a:t>
            </a:r>
          </a:p>
        </p:txBody>
      </p:sp>
      <p:sp>
        <p:nvSpPr>
          <p:cNvPr id="180" name="Shape 2"/>
          <p:cNvSpPr/>
          <p:nvPr/>
        </p:nvSpPr>
        <p:spPr>
          <a:xfrm>
            <a:off x="641603" y="2298442"/>
            <a:ext cx="10908794" cy="1097281"/>
          </a:xfrm>
          <a:prstGeom prst="roundRect">
            <a:avLst>
              <a:gd name="adj" fmla="val 11667"/>
            </a:avLst>
          </a:prstGeom>
          <a:solidFill>
            <a:srgbClr val="FFFFFF"/>
          </a:solidFill>
          <a:ln w="12700">
            <a:solidFill>
              <a:srgbClr val="FFFFFF"/>
            </a:solidFill>
          </a:ln>
        </p:spPr>
        <p:txBody>
          <a:bodyPr lIns="0" tIns="0" rIns="0" bIns="0"/>
          <a:lstStyle/>
          <a:p>
            <a:pPr/>
          </a:p>
        </p:txBody>
      </p:sp>
      <p:sp>
        <p:nvSpPr>
          <p:cNvPr id="181" name="Text 3"/>
          <p:cNvSpPr txBox="1"/>
          <p:nvPr/>
        </p:nvSpPr>
        <p:spPr>
          <a:xfrm>
            <a:off x="960119" y="2673601"/>
            <a:ext cx="822962" cy="248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50" sz="2800">
                <a:solidFill>
                  <a:srgbClr val="C97F0C"/>
                </a:solidFill>
                <a:latin typeface="Arial"/>
                <a:ea typeface="Arial"/>
                <a:cs typeface="Arial"/>
                <a:sym typeface="Arial"/>
              </a:defRPr>
            </a:lvl1pPr>
          </a:lstStyle>
          <a:p>
            <a:pPr/>
            <a:r>
              <a:t>01</a:t>
            </a:r>
          </a:p>
        </p:txBody>
      </p:sp>
      <p:sp>
        <p:nvSpPr>
          <p:cNvPr id="182" name="Text 4"/>
          <p:cNvSpPr txBox="1"/>
          <p:nvPr/>
        </p:nvSpPr>
        <p:spPr>
          <a:xfrm>
            <a:off x="1874520" y="2542032"/>
            <a:ext cx="420624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1E2761"/>
                </a:solidFill>
              </a:defRPr>
            </a:lvl1pPr>
          </a:lstStyle>
          <a:p>
            <a:pPr/>
            <a:r>
              <a:t>Context on what users already hold</a:t>
            </a:r>
          </a:p>
        </p:txBody>
      </p:sp>
      <p:sp>
        <p:nvSpPr>
          <p:cNvPr id="183" name="Text 5"/>
          <p:cNvSpPr txBox="1"/>
          <p:nvPr/>
        </p:nvSpPr>
        <p:spPr>
          <a:xfrm>
            <a:off x="1874519" y="2944367"/>
            <a:ext cx="9326882" cy="17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200">
                <a:solidFill>
                  <a:srgbClr val="434B6B"/>
                </a:solidFill>
              </a:defRPr>
            </a:lvl1pPr>
          </a:lstStyle>
          <a:p>
            <a:pPr/>
            <a:r>
              <a:t>A daily digest grounded in filings, not price alerts: what each company in a user's portfolio actually disclosed, with the source one tap away.</a:t>
            </a:r>
          </a:p>
        </p:txBody>
      </p:sp>
      <p:sp>
        <p:nvSpPr>
          <p:cNvPr id="184" name="Shape 6"/>
          <p:cNvSpPr/>
          <p:nvPr/>
        </p:nvSpPr>
        <p:spPr>
          <a:xfrm>
            <a:off x="641603" y="3599438"/>
            <a:ext cx="10908794" cy="1097281"/>
          </a:xfrm>
          <a:prstGeom prst="roundRect">
            <a:avLst>
              <a:gd name="adj" fmla="val 11667"/>
            </a:avLst>
          </a:prstGeom>
          <a:solidFill>
            <a:srgbClr val="FFFFFF">
              <a:alpha val="8000"/>
            </a:srgbClr>
          </a:solidFill>
          <a:ln>
            <a:solidFill>
              <a:srgbClr val="FFFFFF">
                <a:alpha val="22000"/>
              </a:srgbClr>
            </a:solidFill>
          </a:ln>
        </p:spPr>
        <p:txBody>
          <a:bodyPr lIns="0" tIns="0" rIns="0" bIns="0"/>
          <a:lstStyle/>
          <a:p>
            <a:pPr/>
          </a:p>
        </p:txBody>
      </p:sp>
      <p:sp>
        <p:nvSpPr>
          <p:cNvPr id="185" name="Text 7"/>
          <p:cNvSpPr txBox="1"/>
          <p:nvPr/>
        </p:nvSpPr>
        <p:spPr>
          <a:xfrm>
            <a:off x="960119" y="3933001"/>
            <a:ext cx="822962" cy="248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50" sz="2800">
                <a:solidFill>
                  <a:srgbClr val="F5A623"/>
                </a:solidFill>
                <a:latin typeface="Arial"/>
                <a:ea typeface="Arial"/>
                <a:cs typeface="Arial"/>
                <a:sym typeface="Arial"/>
              </a:defRPr>
            </a:lvl1pPr>
          </a:lstStyle>
          <a:p>
            <a:pPr/>
            <a:r>
              <a:t>02</a:t>
            </a:r>
          </a:p>
        </p:txBody>
      </p:sp>
      <p:sp>
        <p:nvSpPr>
          <p:cNvPr id="186" name="Text 8"/>
          <p:cNvSpPr txBox="1"/>
          <p:nvPr/>
        </p:nvSpPr>
        <p:spPr>
          <a:xfrm>
            <a:off x="1874520" y="3843027"/>
            <a:ext cx="420624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Answers with sources, inside your product</a:t>
            </a:r>
          </a:p>
        </p:txBody>
      </p:sp>
      <p:sp>
        <p:nvSpPr>
          <p:cNvPr id="187" name="Text 9"/>
          <p:cNvSpPr txBox="1"/>
          <p:nvPr/>
        </p:nvSpPr>
        <p:spPr>
          <a:xfrm>
            <a:off x="1874519" y="4245363"/>
            <a:ext cx="9326882" cy="17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200">
                <a:solidFill>
                  <a:srgbClr val="7C88B0"/>
                </a:solidFill>
              </a:defRPr>
            </a:lvl1pPr>
          </a:lstStyle>
          <a:p>
            <a:pPr/>
            <a:r>
              <a:t>"Ask why" instead of "look at the table", with every answer traceable to a filing. Whether users value that is what the pilot tests.</a:t>
            </a:r>
          </a:p>
        </p:txBody>
      </p:sp>
      <p:sp>
        <p:nvSpPr>
          <p:cNvPr id="188" name="Shape 10"/>
          <p:cNvSpPr/>
          <p:nvPr/>
        </p:nvSpPr>
        <p:spPr>
          <a:xfrm>
            <a:off x="641603" y="4898846"/>
            <a:ext cx="10908794" cy="1236933"/>
          </a:xfrm>
          <a:prstGeom prst="roundRect">
            <a:avLst>
              <a:gd name="adj" fmla="val 10350"/>
            </a:avLst>
          </a:prstGeom>
          <a:solidFill>
            <a:srgbClr val="FFFFFF">
              <a:alpha val="8000"/>
            </a:srgbClr>
          </a:solidFill>
          <a:ln>
            <a:solidFill>
              <a:srgbClr val="FFFFFF">
                <a:alpha val="22000"/>
              </a:srgbClr>
            </a:solidFill>
          </a:ln>
        </p:spPr>
        <p:txBody>
          <a:bodyPr lIns="0" tIns="0" rIns="0" bIns="0"/>
          <a:lstStyle/>
          <a:p>
            <a:pPr/>
          </a:p>
        </p:txBody>
      </p:sp>
      <p:sp>
        <p:nvSpPr>
          <p:cNvPr id="189" name="Text 11"/>
          <p:cNvSpPr txBox="1"/>
          <p:nvPr/>
        </p:nvSpPr>
        <p:spPr>
          <a:xfrm>
            <a:off x="960119" y="5232410"/>
            <a:ext cx="822962" cy="2480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50" sz="2800">
                <a:solidFill>
                  <a:srgbClr val="F5A623"/>
                </a:solidFill>
                <a:latin typeface="Arial"/>
                <a:ea typeface="Arial"/>
                <a:cs typeface="Arial"/>
                <a:sym typeface="Arial"/>
              </a:defRPr>
            </a:lvl1pPr>
          </a:lstStyle>
          <a:p>
            <a:pPr/>
            <a:r>
              <a:t>03</a:t>
            </a:r>
          </a:p>
        </p:txBody>
      </p:sp>
      <p:sp>
        <p:nvSpPr>
          <p:cNvPr id="190" name="Text 12"/>
          <p:cNvSpPr txBox="1"/>
          <p:nvPr/>
        </p:nvSpPr>
        <p:spPr>
          <a:xfrm>
            <a:off x="1874520" y="5142436"/>
            <a:ext cx="4206241"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FFFFFF"/>
                </a:solidFill>
              </a:defRPr>
            </a:lvl1pPr>
          </a:lstStyle>
          <a:p>
            <a:pPr/>
            <a:r>
              <a:t>AI across the investing toolkit</a:t>
            </a:r>
          </a:p>
        </p:txBody>
      </p:sp>
      <p:sp>
        <p:nvSpPr>
          <p:cNvPr id="191" name="Text 13"/>
          <p:cNvSpPr txBox="1"/>
          <p:nvPr/>
        </p:nvSpPr>
        <p:spPr>
          <a:xfrm>
            <a:off x="1874519" y="5544772"/>
            <a:ext cx="9326882" cy="3352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200">
                <a:solidFill>
                  <a:srgbClr val="7C88B0"/>
                </a:solidFill>
              </a:defRPr>
            </a:lvl1pPr>
          </a:lstStyle>
          <a:p>
            <a:pPr/>
            <a:r>
              <a:t>AI supports screening, backtesting, paper trading, wealth tools and calculators. A useful answer can lead directly to the relevant tool. Further pilot scope follows the research results.</a:t>
            </a:r>
          </a:p>
        </p:txBody>
      </p:sp>
      <p:sp>
        <p:nvSpPr>
          <p:cNvPr id="192" name="PARTNER VALUE"/>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PARTNER VALUE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1"/>
          <p:cNvSpPr txBox="1"/>
          <p:nvPr/>
        </p:nvSpPr>
        <p:spPr>
          <a:xfrm>
            <a:off x="640079" y="914400"/>
            <a:ext cx="10908794" cy="11592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4600"/>
              </a:lnSpc>
              <a:defRPr b="1" spc="-100" sz="4000">
                <a:solidFill>
                  <a:srgbClr val="FFFFFF"/>
                </a:solidFill>
                <a:latin typeface="Arial"/>
                <a:ea typeface="Arial"/>
                <a:cs typeface="Arial"/>
                <a:sym typeface="Arial"/>
              </a:defRPr>
            </a:pPr>
            <a:r>
              <a:t>A scoped pilot,</a:t>
            </a:r>
          </a:p>
          <a:p>
            <a:pPr>
              <a:lnSpc>
                <a:spcPts val="4600"/>
              </a:lnSpc>
              <a:defRPr b="1" spc="-100" sz="4000">
                <a:solidFill>
                  <a:srgbClr val="FFFFFF"/>
                </a:solidFill>
                <a:latin typeface="Arial"/>
                <a:ea typeface="Arial"/>
                <a:cs typeface="Arial"/>
                <a:sym typeface="Arial"/>
              </a:defRPr>
            </a:pPr>
            <a:r>
              <a:t>not a big commitment</a:t>
            </a:r>
          </a:p>
        </p:txBody>
      </p:sp>
      <p:sp>
        <p:nvSpPr>
          <p:cNvPr id="195" name="Text 2"/>
          <p:cNvSpPr txBox="1"/>
          <p:nvPr/>
        </p:nvSpPr>
        <p:spPr>
          <a:xfrm>
            <a:off x="640080" y="2103120"/>
            <a:ext cx="10881360"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C9D3F0"/>
                </a:solidFill>
              </a:defRPr>
            </a:lvl1pPr>
          </a:lstStyle>
          <a:p>
            <a:pPr/>
            <a:r>
              <a:t>8–12 weeks  ·  a small cohort of your users  ·  read-only  ·  success criteria agreed up front</a:t>
            </a:r>
          </a:p>
        </p:txBody>
      </p:sp>
      <p:sp>
        <p:nvSpPr>
          <p:cNvPr id="196" name="Shape 3"/>
          <p:cNvSpPr/>
          <p:nvPr/>
        </p:nvSpPr>
        <p:spPr>
          <a:xfrm>
            <a:off x="640080" y="2560320"/>
            <a:ext cx="10908793" cy="1554481"/>
          </a:xfrm>
          <a:prstGeom prst="roundRect">
            <a:avLst>
              <a:gd name="adj" fmla="val 8235"/>
            </a:avLst>
          </a:prstGeom>
          <a:solidFill>
            <a:srgbClr val="FFFFFF"/>
          </a:solidFill>
          <a:ln w="12700">
            <a:solidFill>
              <a:srgbClr val="FFFFFF"/>
            </a:solidFill>
          </a:ln>
        </p:spPr>
        <p:txBody>
          <a:bodyPr lIns="0" tIns="0" rIns="0" bIns="0"/>
          <a:lstStyle/>
          <a:p>
            <a:pPr/>
          </a:p>
        </p:txBody>
      </p:sp>
      <p:sp>
        <p:nvSpPr>
          <p:cNvPr id="197" name="Text 4"/>
          <p:cNvSpPr txBox="1"/>
          <p:nvPr/>
        </p:nvSpPr>
        <p:spPr>
          <a:xfrm>
            <a:off x="1005839" y="2743200"/>
            <a:ext cx="10149842" cy="217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400">
                <a:solidFill>
                  <a:srgbClr val="1E2761"/>
                </a:solidFill>
              </a:defRPr>
            </a:lvl1pPr>
          </a:lstStyle>
          <a:p>
            <a:pPr/>
            <a:r>
              <a:t>What we'd propose</a:t>
            </a:r>
          </a:p>
        </p:txBody>
      </p:sp>
      <p:sp>
        <p:nvSpPr>
          <p:cNvPr id="198" name="Text 5"/>
          <p:cNvSpPr txBox="1"/>
          <p:nvPr/>
        </p:nvSpPr>
        <p:spPr>
          <a:xfrm>
            <a:off x="1005839" y="3108960"/>
            <a:ext cx="10149842" cy="571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434B6B"/>
                </a:solidFill>
              </a:defRPr>
            </a:lvl1pPr>
          </a:lstStyle>
          <a:p>
            <a:pPr/>
            <a:r>
              <a:t>An opted-in cohort of your users connects read-only and asks portfolio-aware research questions through your surface or an assistant. We measure answer accuracy and citation quality, repeat use and cost per answered question. If the results justify it, the next conversation is commercial terms: API access or a licence fee. Nothing about equity is part of this proposal.</a:t>
            </a:r>
          </a:p>
        </p:txBody>
      </p:sp>
      <p:sp>
        <p:nvSpPr>
          <p:cNvPr id="199" name="Shape 6"/>
          <p:cNvSpPr/>
          <p:nvPr/>
        </p:nvSpPr>
        <p:spPr>
          <a:xfrm>
            <a:off x="640080" y="4343400"/>
            <a:ext cx="3493009" cy="1417320"/>
          </a:xfrm>
          <a:prstGeom prst="roundRect">
            <a:avLst>
              <a:gd name="adj" fmla="val 9032"/>
            </a:avLst>
          </a:prstGeom>
          <a:solidFill>
            <a:srgbClr val="FFFFFF">
              <a:alpha val="8000"/>
            </a:srgbClr>
          </a:solidFill>
          <a:ln>
            <a:solidFill>
              <a:srgbClr val="FFFFFF">
                <a:alpha val="22000"/>
              </a:srgbClr>
            </a:solidFill>
          </a:ln>
        </p:spPr>
        <p:txBody>
          <a:bodyPr lIns="0" tIns="0" rIns="0" bIns="0"/>
          <a:lstStyle/>
          <a:p>
            <a:pPr/>
          </a:p>
        </p:txBody>
      </p:sp>
      <p:sp>
        <p:nvSpPr>
          <p:cNvPr id="200" name="Text 7"/>
          <p:cNvSpPr txBox="1"/>
          <p:nvPr/>
        </p:nvSpPr>
        <p:spPr>
          <a:xfrm>
            <a:off x="923543" y="4601507"/>
            <a:ext cx="2926082" cy="2426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50" sz="2600">
                <a:solidFill>
                  <a:srgbClr val="F5A623"/>
                </a:solidFill>
                <a:latin typeface="Arial"/>
                <a:ea typeface="Arial"/>
                <a:cs typeface="Arial"/>
                <a:sym typeface="Arial"/>
              </a:defRPr>
            </a:lvl1pPr>
          </a:lstStyle>
          <a:p>
            <a:pPr/>
            <a:r>
              <a:t>8–12 wks</a:t>
            </a:r>
          </a:p>
        </p:txBody>
      </p:sp>
      <p:sp>
        <p:nvSpPr>
          <p:cNvPr id="201" name="Text 8"/>
          <p:cNvSpPr txBox="1"/>
          <p:nvPr/>
        </p:nvSpPr>
        <p:spPr>
          <a:xfrm>
            <a:off x="914399" y="4919471"/>
            <a:ext cx="2926082"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FFFFF"/>
                </a:solidFill>
              </a:defRPr>
            </a:lvl1pPr>
          </a:lstStyle>
          <a:p>
            <a:pPr/>
            <a:r>
              <a:t>Pilot window</a:t>
            </a:r>
          </a:p>
        </p:txBody>
      </p:sp>
      <p:sp>
        <p:nvSpPr>
          <p:cNvPr id="202" name="Text 9"/>
          <p:cNvSpPr txBox="1"/>
          <p:nvPr/>
        </p:nvSpPr>
        <p:spPr>
          <a:xfrm>
            <a:off x="914399" y="5193791"/>
            <a:ext cx="2926082" cy="28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100"/>
              </a:lnSpc>
              <a:defRPr sz="1100">
                <a:solidFill>
                  <a:srgbClr val="7C88B0"/>
                </a:solidFill>
              </a:defRPr>
            </a:lvl1pPr>
          </a:lstStyle>
          <a:p>
            <a:pPr/>
            <a:r>
              <a:t>A small opted-in cohort. Dates and cohort size set together.</a:t>
            </a:r>
          </a:p>
        </p:txBody>
      </p:sp>
      <p:sp>
        <p:nvSpPr>
          <p:cNvPr id="203" name="Shape 10"/>
          <p:cNvSpPr/>
          <p:nvPr/>
        </p:nvSpPr>
        <p:spPr>
          <a:xfrm>
            <a:off x="4315967" y="4343400"/>
            <a:ext cx="3493010" cy="1417320"/>
          </a:xfrm>
          <a:prstGeom prst="roundRect">
            <a:avLst>
              <a:gd name="adj" fmla="val 9032"/>
            </a:avLst>
          </a:prstGeom>
          <a:solidFill>
            <a:srgbClr val="FFFFFF">
              <a:alpha val="8000"/>
            </a:srgbClr>
          </a:solidFill>
          <a:ln>
            <a:solidFill>
              <a:srgbClr val="FFFFFF">
                <a:alpha val="22000"/>
              </a:srgbClr>
            </a:solidFill>
          </a:ln>
        </p:spPr>
        <p:txBody>
          <a:bodyPr lIns="0" tIns="0" rIns="0" bIns="0"/>
          <a:lstStyle/>
          <a:p>
            <a:pPr/>
          </a:p>
        </p:txBody>
      </p:sp>
      <p:sp>
        <p:nvSpPr>
          <p:cNvPr id="204" name="Text 11"/>
          <p:cNvSpPr txBox="1"/>
          <p:nvPr/>
        </p:nvSpPr>
        <p:spPr>
          <a:xfrm>
            <a:off x="4599432" y="4601507"/>
            <a:ext cx="2926081" cy="2426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50" sz="2600">
                <a:solidFill>
                  <a:srgbClr val="F5A623"/>
                </a:solidFill>
                <a:latin typeface="Arial"/>
                <a:ea typeface="Arial"/>
                <a:cs typeface="Arial"/>
                <a:sym typeface="Arial"/>
              </a:defRPr>
            </a:lvl1pPr>
          </a:lstStyle>
          <a:p>
            <a:pPr/>
            <a:r>
              <a:t>Read-only</a:t>
            </a:r>
          </a:p>
        </p:txBody>
      </p:sp>
      <p:sp>
        <p:nvSpPr>
          <p:cNvPr id="205" name="Text 12"/>
          <p:cNvSpPr txBox="1"/>
          <p:nvPr/>
        </p:nvSpPr>
        <p:spPr>
          <a:xfrm>
            <a:off x="4590288" y="4919471"/>
            <a:ext cx="292608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FFFFF"/>
                </a:solidFill>
              </a:defRPr>
            </a:lvl1pPr>
          </a:lstStyle>
          <a:p>
            <a:pPr/>
            <a:r>
              <a:t>Access path</a:t>
            </a:r>
          </a:p>
        </p:txBody>
      </p:sp>
      <p:sp>
        <p:nvSpPr>
          <p:cNvPr id="206" name="Text 13"/>
          <p:cNvSpPr txBox="1"/>
          <p:nvPr/>
        </p:nvSpPr>
        <p:spPr>
          <a:xfrm>
            <a:off x="4590288" y="5193791"/>
            <a:ext cx="2926081" cy="28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100"/>
              </a:lnSpc>
              <a:defRPr sz="1100">
                <a:solidFill>
                  <a:srgbClr val="7C88B0"/>
                </a:solidFill>
              </a:defRPr>
            </a:lvl1pPr>
          </a:lstStyle>
          <a:p>
            <a:pPr/>
            <a:r>
              <a:t>An approved broker API or sandbox. Token handling and approvals agreed upfront; no unofficial access.</a:t>
            </a:r>
          </a:p>
        </p:txBody>
      </p:sp>
      <p:sp>
        <p:nvSpPr>
          <p:cNvPr id="207" name="Shape 14"/>
          <p:cNvSpPr/>
          <p:nvPr/>
        </p:nvSpPr>
        <p:spPr>
          <a:xfrm>
            <a:off x="7991856" y="4343400"/>
            <a:ext cx="3493009" cy="1417320"/>
          </a:xfrm>
          <a:prstGeom prst="roundRect">
            <a:avLst>
              <a:gd name="adj" fmla="val 9032"/>
            </a:avLst>
          </a:prstGeom>
          <a:solidFill>
            <a:srgbClr val="FFFFFF">
              <a:alpha val="8000"/>
            </a:srgbClr>
          </a:solidFill>
          <a:ln>
            <a:solidFill>
              <a:srgbClr val="FFFFFF">
                <a:alpha val="22000"/>
              </a:srgbClr>
            </a:solidFill>
          </a:ln>
        </p:spPr>
        <p:txBody>
          <a:bodyPr lIns="0" tIns="0" rIns="0" bIns="0"/>
          <a:lstStyle/>
          <a:p>
            <a:pPr/>
          </a:p>
        </p:txBody>
      </p:sp>
      <p:sp>
        <p:nvSpPr>
          <p:cNvPr id="208" name="Text 15"/>
          <p:cNvSpPr txBox="1"/>
          <p:nvPr/>
        </p:nvSpPr>
        <p:spPr>
          <a:xfrm>
            <a:off x="8275319" y="4601507"/>
            <a:ext cx="2926081" cy="2426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pc="-150" sz="2600">
                <a:solidFill>
                  <a:srgbClr val="F5A623"/>
                </a:solidFill>
                <a:latin typeface="Arial"/>
                <a:ea typeface="Arial"/>
                <a:cs typeface="Arial"/>
                <a:sym typeface="Arial"/>
              </a:defRPr>
            </a:lvl1pPr>
          </a:lstStyle>
          <a:p>
            <a:pPr/>
            <a:r>
              <a:t>3 metrics</a:t>
            </a:r>
          </a:p>
        </p:txBody>
      </p:sp>
      <p:sp>
        <p:nvSpPr>
          <p:cNvPr id="209" name="Text 16"/>
          <p:cNvSpPr txBox="1"/>
          <p:nvPr/>
        </p:nvSpPr>
        <p:spPr>
          <a:xfrm>
            <a:off x="8266176" y="4919471"/>
            <a:ext cx="2926081"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sz="1200">
                <a:solidFill>
                  <a:srgbClr val="FFFFFF"/>
                </a:solidFill>
              </a:defRPr>
            </a:lvl1pPr>
          </a:lstStyle>
          <a:p>
            <a:pPr/>
            <a:r>
              <a:t>Success criteria</a:t>
            </a:r>
          </a:p>
        </p:txBody>
      </p:sp>
      <p:sp>
        <p:nvSpPr>
          <p:cNvPr id="210" name="Text 17"/>
          <p:cNvSpPr txBox="1"/>
          <p:nvPr/>
        </p:nvSpPr>
        <p:spPr>
          <a:xfrm>
            <a:off x="8266176" y="5193791"/>
            <a:ext cx="2926081" cy="2863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100"/>
              </a:lnSpc>
              <a:defRPr sz="1100">
                <a:solidFill>
                  <a:srgbClr val="7C88B0"/>
                </a:solidFill>
              </a:defRPr>
            </a:lvl1pPr>
          </a:lstStyle>
          <a:p>
            <a:pPr/>
            <a:r>
              <a:t>Accuracy and citation quality · weekly repeat use · cost per answered question.</a:t>
            </a:r>
          </a:p>
        </p:txBody>
      </p:sp>
      <p:sp>
        <p:nvSpPr>
          <p:cNvPr id="211" name="Text 18"/>
          <p:cNvSpPr txBox="1"/>
          <p:nvPr/>
        </p:nvSpPr>
        <p:spPr>
          <a:xfrm>
            <a:off x="641603" y="6088224"/>
            <a:ext cx="10908794" cy="2076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b="1" i="1" sz="1100">
                <a:solidFill>
                  <a:srgbClr val="F5A623"/>
                </a:solidFill>
              </a:defRPr>
            </a:lvl1pPr>
          </a:lstStyle>
          <a:p>
            <a:pPr/>
            <a:r>
              <a:t>The pilot is the test of whether partnering beats building.</a:t>
            </a:r>
          </a:p>
        </p:txBody>
      </p:sp>
      <p:sp>
        <p:nvSpPr>
          <p:cNvPr id="212" name="THE PROPOSAL"/>
          <p:cNvSpPr txBox="1"/>
          <p:nvPr/>
        </p:nvSpPr>
        <p:spPr>
          <a:xfrm>
            <a:off x="640079" y="566927"/>
            <a:ext cx="109087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F5A623"/>
                </a:solidFill>
              </a:defRPr>
            </a:lvl1pPr>
          </a:lstStyle>
          <a:p>
            <a:pPr/>
            <a:r>
              <a:t>THE PROPOSAL</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Text 0"/>
          <p:cNvSpPr txBox="1"/>
          <p:nvPr/>
        </p:nvSpPr>
        <p:spPr>
          <a:xfrm>
            <a:off x="640080" y="2060059"/>
            <a:ext cx="10881360" cy="1091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4400"/>
              </a:lnSpc>
              <a:defRPr b="1" spc="-100" sz="3200">
                <a:solidFill>
                  <a:srgbClr val="FFFFFF"/>
                </a:solidFill>
                <a:latin typeface="Arial"/>
                <a:ea typeface="Arial"/>
                <a:cs typeface="Arial"/>
                <a:sym typeface="Arial"/>
              </a:defRPr>
            </a:pPr>
            <a:r>
              <a:t>Kite MCP means you're already building</a:t>
            </a:r>
          </a:p>
          <a:p>
            <a:pPr>
              <a:lnSpc>
                <a:spcPts val="4400"/>
              </a:lnSpc>
              <a:defRPr b="1" spc="-100" sz="3200">
                <a:solidFill>
                  <a:srgbClr val="FFFFFF"/>
                </a:solidFill>
                <a:latin typeface="Arial"/>
                <a:ea typeface="Arial"/>
                <a:cs typeface="Arial"/>
                <a:sym typeface="Arial"/>
              </a:defRPr>
            </a:pPr>
            <a:r>
              <a:t>for an agent-native brokerage.</a:t>
            </a:r>
          </a:p>
        </p:txBody>
      </p:sp>
      <p:sp>
        <p:nvSpPr>
          <p:cNvPr id="215" name="Text 1"/>
          <p:cNvSpPr txBox="1"/>
          <p:nvPr/>
        </p:nvSpPr>
        <p:spPr>
          <a:xfrm>
            <a:off x="640080" y="3385939"/>
            <a:ext cx="10881360" cy="1091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4400"/>
              </a:lnSpc>
              <a:defRPr b="1" spc="-100" sz="3200">
                <a:solidFill>
                  <a:srgbClr val="F5A623"/>
                </a:solidFill>
                <a:latin typeface="Arial"/>
                <a:ea typeface="Arial"/>
                <a:cs typeface="Arial"/>
                <a:sym typeface="Arial"/>
              </a:defRPr>
            </a:pPr>
            <a:r>
              <a:t>Anvest is the grounded-answer layer</a:t>
            </a:r>
          </a:p>
          <a:p>
            <a:pPr>
              <a:lnSpc>
                <a:spcPts val="4400"/>
              </a:lnSpc>
              <a:defRPr b="1" spc="-100" sz="3200">
                <a:solidFill>
                  <a:srgbClr val="F5A623"/>
                </a:solidFill>
                <a:latin typeface="Arial"/>
                <a:ea typeface="Arial"/>
                <a:cs typeface="Arial"/>
                <a:sym typeface="Arial"/>
              </a:defRPr>
            </a:pPr>
            <a:r>
              <a:t>that future needs underneath it.</a:t>
            </a:r>
          </a:p>
        </p:txBody>
      </p:sp>
      <p:sp>
        <p:nvSpPr>
          <p:cNvPr id="216" name="Shape 2"/>
          <p:cNvSpPr/>
          <p:nvPr/>
        </p:nvSpPr>
        <p:spPr>
          <a:xfrm>
            <a:off x="640080" y="4754016"/>
            <a:ext cx="1005840" cy="12701"/>
          </a:xfrm>
          <a:prstGeom prst="rect">
            <a:avLst/>
          </a:prstGeom>
          <a:solidFill>
            <a:srgbClr val="C9D3F0">
              <a:alpha val="60000"/>
            </a:srgbClr>
          </a:solidFill>
          <a:ln w="12700">
            <a:solidFill>
              <a:srgbClr val="C9D3F0">
                <a:alpha val="60000"/>
              </a:srgbClr>
            </a:solidFill>
          </a:ln>
        </p:spPr>
        <p:txBody>
          <a:bodyPr lIns="0" tIns="0" rIns="0" bIns="0"/>
          <a:lstStyle/>
          <a:p>
            <a:pPr/>
          </a:p>
        </p:txBody>
      </p:sp>
      <p:sp>
        <p:nvSpPr>
          <p:cNvPr id="217" name="Text 3"/>
          <p:cNvSpPr txBox="1"/>
          <p:nvPr/>
        </p:nvSpPr>
        <p:spPr>
          <a:xfrm>
            <a:off x="640080" y="4983479"/>
            <a:ext cx="10881360" cy="226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700">
                <a:solidFill>
                  <a:srgbClr val="C9D3F0"/>
                </a:solidFill>
              </a:defRPr>
            </a:lvl1pPr>
          </a:lstStyle>
          <a:p>
            <a:pPr/>
            <a:r>
              <a:t>Let's talk about what a scoped pilot looks like inside your product.</a:t>
            </a:r>
          </a:p>
        </p:txBody>
      </p:sp>
      <p:sp>
        <p:nvSpPr>
          <p:cNvPr id="218" name="Text 4"/>
          <p:cNvSpPr txBox="1"/>
          <p:nvPr/>
        </p:nvSpPr>
        <p:spPr>
          <a:xfrm>
            <a:off x="640080" y="6309359"/>
            <a:ext cx="10881360" cy="21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7C88B0"/>
                </a:solidFill>
              </a:defRPr>
            </a:lvl1pPr>
          </a:lstStyle>
          <a:p>
            <a:pPr/>
            <a:r>
              <a:t>Harsh Bhardwaj · harsh@anvest.in · anvest.in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